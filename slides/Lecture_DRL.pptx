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313" r:id="rId3"/>
    <p:sldId id="481" r:id="rId4"/>
    <p:sldId id="423" r:id="rId5"/>
    <p:sldId id="485" r:id="rId6"/>
    <p:sldId id="396" r:id="rId7"/>
    <p:sldId id="410" r:id="rId8"/>
    <p:sldId id="392" r:id="rId9"/>
    <p:sldId id="397" r:id="rId10"/>
    <p:sldId id="399" r:id="rId11"/>
    <p:sldId id="506" r:id="rId12"/>
    <p:sldId id="400" r:id="rId13"/>
    <p:sldId id="395" r:id="rId14"/>
    <p:sldId id="401" r:id="rId15"/>
    <p:sldId id="402" r:id="rId16"/>
    <p:sldId id="411" r:id="rId17"/>
    <p:sldId id="403" r:id="rId18"/>
    <p:sldId id="406" r:id="rId19"/>
    <p:sldId id="404" r:id="rId20"/>
    <p:sldId id="509" r:id="rId21"/>
    <p:sldId id="515" r:id="rId22"/>
    <p:sldId id="514" r:id="rId23"/>
    <p:sldId id="405" r:id="rId24"/>
    <p:sldId id="398" r:id="rId25"/>
    <p:sldId id="508" r:id="rId26"/>
    <p:sldId id="408" r:id="rId27"/>
    <p:sldId id="416" r:id="rId28"/>
    <p:sldId id="507" r:id="rId29"/>
    <p:sldId id="417" r:id="rId30"/>
    <p:sldId id="418" r:id="rId31"/>
    <p:sldId id="409" r:id="rId32"/>
    <p:sldId id="510" r:id="rId33"/>
    <p:sldId id="516" r:id="rId34"/>
    <p:sldId id="512" r:id="rId35"/>
    <p:sldId id="513" r:id="rId36"/>
    <p:sldId id="483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81"/>
            <p14:sldId id="423"/>
            <p14:sldId id="485"/>
          </p14:sldIdLst>
        </p14:section>
        <p14:section name="Value-based DRL" id="{67578A7E-6414-4247-9957-ABC1634F1E3F}">
          <p14:sldIdLst>
            <p14:sldId id="396"/>
            <p14:sldId id="410"/>
            <p14:sldId id="392"/>
            <p14:sldId id="397"/>
            <p14:sldId id="399"/>
            <p14:sldId id="506"/>
            <p14:sldId id="400"/>
            <p14:sldId id="395"/>
            <p14:sldId id="401"/>
            <p14:sldId id="402"/>
            <p14:sldId id="411"/>
            <p14:sldId id="403"/>
            <p14:sldId id="406"/>
          </p14:sldIdLst>
        </p14:section>
        <p14:section name="Policy Gradient DRL" id="{3BF9B721-8978-4F01-B115-537709387F8D}">
          <p14:sldIdLst>
            <p14:sldId id="404"/>
            <p14:sldId id="509"/>
            <p14:sldId id="515"/>
            <p14:sldId id="514"/>
            <p14:sldId id="405"/>
            <p14:sldId id="398"/>
            <p14:sldId id="508"/>
            <p14:sldId id="408"/>
            <p14:sldId id="416"/>
            <p14:sldId id="507"/>
            <p14:sldId id="417"/>
            <p14:sldId id="418"/>
            <p14:sldId id="409"/>
            <p14:sldId id="510"/>
            <p14:sldId id="516"/>
          </p14:sldIdLst>
        </p14:section>
        <p14:section name="Summary" id="{0ED63193-8E22-4B70-8EA7-62BE54B80842}">
          <p14:sldIdLst>
            <p14:sldId id="512"/>
            <p14:sldId id="513"/>
            <p14:sldId id="4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88" d="100"/>
          <a:sy n="88" d="100"/>
        </p:scale>
        <p:origin x="120" y="6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F94D61-C2E8-430B-BB84-E5583A65AE6C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783448-A914-4ED0-AB4F-81B36D53B2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2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783448-A914-4ED0-AB4F-81B36D53B27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7783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13" Type="http://schemas.openxmlformats.org/officeDocument/2006/relationships/image" Target="../media/image1410.png"/><Relationship Id="rId7" Type="http://schemas.openxmlformats.org/officeDocument/2006/relationships/image" Target="../media/image730.png"/><Relationship Id="rId12" Type="http://schemas.openxmlformats.org/officeDocument/2006/relationships/image" Target="../media/image131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1210.png"/><Relationship Id="rId10" Type="http://schemas.openxmlformats.org/officeDocument/2006/relationships/image" Target="../media/image1110.png"/><Relationship Id="rId9" Type="http://schemas.openxmlformats.org/officeDocument/2006/relationships/image" Target="../media/image75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7" Type="http://schemas.openxmlformats.org/officeDocument/2006/relationships/image" Target="../media/image160.png"/><Relationship Id="rId12" Type="http://schemas.openxmlformats.org/officeDocument/2006/relationships/image" Target="../media/image19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180.png"/><Relationship Id="rId10" Type="http://schemas.openxmlformats.org/officeDocument/2006/relationships/image" Target="../media/image170.png"/><Relationship Id="rId9" Type="http://schemas.openxmlformats.org/officeDocument/2006/relationships/image" Target="../media/image75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1.png"/><Relationship Id="rId2" Type="http://schemas.openxmlformats.org/officeDocument/2006/relationships/image" Target="../media/image29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7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0" Type="http://schemas.openxmlformats.org/officeDocument/2006/relationships/image" Target="../media/image37.png"/><Relationship Id="rId9" Type="http://schemas.openxmlformats.org/officeDocument/2006/relationships/image" Target="../media/image75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7" Type="http://schemas.openxmlformats.org/officeDocument/2006/relationships/image" Target="../media/image44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20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1.png"/><Relationship Id="rId3" Type="http://schemas.microsoft.com/office/2007/relationships/hdphoto" Target="../media/hdphoto1.wdp"/><Relationship Id="rId7" Type="http://schemas.openxmlformats.org/officeDocument/2006/relationships/image" Target="../media/image491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1.png"/><Relationship Id="rId4" Type="http://schemas.openxmlformats.org/officeDocument/2006/relationships/hyperlink" Target="https://medium.com/@kswagat1979/advantage-actor-critic-a2c-models-ab188ddfcb72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133" Type="http://schemas.openxmlformats.org/officeDocument/2006/relationships/image" Target="../media/image55.png"/><Relationship Id="rId138" Type="http://schemas.openxmlformats.org/officeDocument/2006/relationships/image" Target="../media/image60.png"/><Relationship Id="rId141" Type="http://schemas.openxmlformats.org/officeDocument/2006/relationships/image" Target="../media/image63.png"/><Relationship Id="rId129" Type="http://schemas.openxmlformats.org/officeDocument/2006/relationships/image" Target="../media/image480.png"/><Relationship Id="rId137" Type="http://schemas.openxmlformats.org/officeDocument/2006/relationships/image" Target="../media/image59.png"/><Relationship Id="rId2" Type="http://schemas.openxmlformats.org/officeDocument/2006/relationships/image" Target="../media/image50.png"/><Relationship Id="rId132" Type="http://schemas.openxmlformats.org/officeDocument/2006/relationships/image" Target="../media/image490.png"/><Relationship Id="rId140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36" Type="http://schemas.openxmlformats.org/officeDocument/2006/relationships/image" Target="../media/image58.png"/><Relationship Id="rId5" Type="http://schemas.openxmlformats.org/officeDocument/2006/relationships/image" Target="../media/image52.png"/><Relationship Id="rId130" Type="http://schemas.openxmlformats.org/officeDocument/2006/relationships/image" Target="../media/image54.png"/><Relationship Id="rId135" Type="http://schemas.openxmlformats.org/officeDocument/2006/relationships/image" Target="../media/image57.png"/><Relationship Id="rId4" Type="http://schemas.openxmlformats.org/officeDocument/2006/relationships/image" Target="../media/image51.png"/><Relationship Id="rId134" Type="http://schemas.openxmlformats.org/officeDocument/2006/relationships/image" Target="../media/image56.png"/><Relationship Id="rId139" Type="http://schemas.openxmlformats.org/officeDocument/2006/relationships/image" Target="../media/image6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31556" y="-1512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351930"/>
            <a:ext cx="4073080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Deep 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Based on An Introduction to Deep Reinforcement Learning**</a:t>
            </a:r>
            <a:br>
              <a:rPr lang="en-US" sz="1800" dirty="0">
                <a:solidFill>
                  <a:schemeClr val="bg1"/>
                </a:solidFill>
              </a:rPr>
            </a:b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+ Sutton/Barto* Sections 9.7 and 15.7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1" y="4894586"/>
            <a:ext cx="4169519" cy="1443894"/>
          </a:xfrm>
        </p:spPr>
        <p:txBody>
          <a:bodyPr>
            <a:normAutofit fontScale="55000" lnSpcReduction="20000"/>
          </a:bodyPr>
          <a:lstStyle/>
          <a:p>
            <a:pPr algn="l"/>
            <a:r>
              <a:rPr lang="en-US" sz="23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8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800" baseline="30000" dirty="0">
                <a:solidFill>
                  <a:schemeClr val="bg1"/>
                </a:solidFill>
              </a:rPr>
              <a:t>nd</a:t>
            </a:r>
            <a:r>
              <a:rPr lang="en-US" sz="1800" dirty="0">
                <a:solidFill>
                  <a:schemeClr val="bg1"/>
                </a:solidFill>
              </a:rPr>
              <a:t> edition, MIT Press, Cambridge, MA, 2018</a:t>
            </a: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700" dirty="0">
                <a:solidFill>
                  <a:schemeClr val="bg1"/>
                </a:solidFill>
              </a:rPr>
              <a:t>**Vincent François-Lavet, Peter Henderson, </a:t>
            </a:r>
            <a:r>
              <a:rPr lang="en-US" sz="1700" dirty="0" err="1">
                <a:solidFill>
                  <a:schemeClr val="bg1"/>
                </a:solidFill>
              </a:rPr>
              <a:t>Riashat</a:t>
            </a:r>
            <a:r>
              <a:rPr lang="en-US" sz="1700" dirty="0">
                <a:solidFill>
                  <a:schemeClr val="bg1"/>
                </a:solidFill>
              </a:rPr>
              <a:t> Islam, Marc G. Bellemare and Joelle Pineau (2018), “An Introduction to Deep Reinforcement Learning</a:t>
            </a:r>
            <a:r>
              <a:rPr lang="en-US" sz="1700" i="1" dirty="0">
                <a:solidFill>
                  <a:schemeClr val="bg1"/>
                </a:solidFill>
              </a:rPr>
              <a:t>”, Foundations and Trends in Machine Learning</a:t>
            </a:r>
            <a:r>
              <a:rPr lang="en-US" sz="1700" dirty="0">
                <a:solidFill>
                  <a:schemeClr val="bg1"/>
                </a:solidFill>
              </a:rPr>
              <a:t>: Vol. 11, No. 3-4. DOI: 10.1561/2200000071.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6" y="4854740"/>
            <a:ext cx="1037459" cy="1303078"/>
            <a:chOff x="5248582" y="2401735"/>
            <a:chExt cx="1694835" cy="205453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Looking Deeper</a:t>
            </a:r>
          </a:p>
          <a:p>
            <a:pPr lvl="1"/>
            <a:r>
              <a:rPr lang="en-US" b="1" dirty="0"/>
              <a:t>Deep Reinforcement Learning</a:t>
            </a:r>
          </a:p>
          <a:p>
            <a:pPr lvl="1"/>
            <a:r>
              <a:rPr lang="en-US" dirty="0"/>
              <a:t>Partial Observability</a:t>
            </a:r>
          </a:p>
          <a:p>
            <a:pPr lvl="1"/>
            <a:r>
              <a:rPr lang="en-US" dirty="0"/>
              <a:t>Reward Engineering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Notation*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2028"/>
                <a:ext cx="5273179" cy="159710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Approximation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on policy distribution (fraction of time spent in state)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step size (gradient descent learning rate)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action-value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mean squared value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gradient of function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evaluated 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2028"/>
                <a:ext cx="5273179" cy="15971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9E7F800-DE58-B920-0E6E-9C32EEC84232}"/>
              </a:ext>
            </a:extLst>
          </p:cNvPr>
          <p:cNvSpPr txBox="1"/>
          <p:nvPr/>
        </p:nvSpPr>
        <p:spPr>
          <a:xfrm>
            <a:off x="822817" y="6308208"/>
            <a:ext cx="4907559" cy="36933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*Some authors use a slightly different notation.</a:t>
            </a:r>
          </a:p>
        </p:txBody>
      </p:sp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393A2-3A52-0628-2793-673C8A990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Tabular RL to Deep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6B133-F6A6-FC0E-B898-C9D545BBB2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4389" y="1346215"/>
            <a:ext cx="2033424" cy="4429605"/>
          </a:xfr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endParaRPr lang="en-US" sz="2000" b="1" dirty="0"/>
          </a:p>
          <a:p>
            <a:pPr marL="0" indent="0" algn="ctr">
              <a:buNone/>
            </a:pPr>
            <a:r>
              <a:rPr lang="en-US" sz="2000" b="1" dirty="0"/>
              <a:t>Tabular Methods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800" dirty="0"/>
              <a:t>Table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Q-learning, Sarsa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With sufficient exploration, appropriate learning rates.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Table size for big state/action spaces.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2B1493-3CCF-6E7A-4B28-EB76CD56B373}"/>
              </a:ext>
            </a:extLst>
          </p:cNvPr>
          <p:cNvSpPr txBox="1">
            <a:spLocks/>
          </p:cNvSpPr>
          <p:nvPr/>
        </p:nvSpPr>
        <p:spPr>
          <a:xfrm>
            <a:off x="4850550" y="1346215"/>
            <a:ext cx="1990672" cy="446316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900" b="1" dirty="0">
              <a:solidFill>
                <a:schemeClr val="lt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300" b="1" dirty="0">
                <a:solidFill>
                  <a:schemeClr val="lt1"/>
                </a:solidFill>
              </a:rPr>
              <a:t>Linear Functions Approximation</a:t>
            </a:r>
          </a:p>
          <a:p>
            <a:endParaRPr lang="en-US" sz="1900" b="1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Linear combination of basis functions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Stochastic Gradient Descent (SGD) used in Sarsa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Can converge to a good approximation of the optimal value function or policy. 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Performance depends on choice of basis functions.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F618EC6-B70F-B1AA-A8ED-0BA8DD4642F8}"/>
              </a:ext>
            </a:extLst>
          </p:cNvPr>
          <p:cNvSpPr txBox="1">
            <a:spLocks/>
          </p:cNvSpPr>
          <p:nvPr/>
        </p:nvSpPr>
        <p:spPr>
          <a:xfrm>
            <a:off x="8563485" y="1368113"/>
            <a:ext cx="2073756" cy="44412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800" b="1" dirty="0">
              <a:solidFill>
                <a:schemeClr val="lt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600" b="1" dirty="0">
                <a:solidFill>
                  <a:schemeClr val="lt1"/>
                </a:solidFill>
              </a:rPr>
              <a:t>Deep RL (DRL)</a:t>
            </a:r>
          </a:p>
          <a:p>
            <a:endParaRPr lang="en-US" sz="1800" b="1" dirty="0">
              <a:solidFill>
                <a:schemeClr val="lt1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Deep ANN 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Stochastic Gradient Descent (SGD) used </a:t>
            </a:r>
            <a:r>
              <a:rPr lang="en-US" sz="1800">
                <a:solidFill>
                  <a:schemeClr val="lt1"/>
                </a:solidFill>
              </a:rPr>
              <a:t>in DQN </a:t>
            </a:r>
            <a:r>
              <a:rPr lang="en-US" sz="1800" dirty="0">
                <a:solidFill>
                  <a:schemeClr val="lt1"/>
                </a:solidFill>
              </a:rPr>
              <a:t>and Actor-Critic methods.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Non-linearity makes convergence challenging.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r>
              <a:rPr lang="en-US" sz="1400" dirty="0">
                <a:solidFill>
                  <a:schemeClr val="lt1"/>
                </a:solidFill>
              </a:rPr>
              <a:t>Converges to local optima</a:t>
            </a:r>
          </a:p>
          <a:p>
            <a:r>
              <a:rPr lang="en-US" sz="1400" dirty="0">
                <a:solidFill>
                  <a:schemeClr val="lt1"/>
                </a:solidFill>
              </a:rPr>
              <a:t>Instability</a:t>
            </a:r>
          </a:p>
          <a:p>
            <a:r>
              <a:rPr lang="en-US" sz="1400" dirty="0">
                <a:solidFill>
                  <a:schemeClr val="lt1"/>
                </a:solidFill>
              </a:rPr>
              <a:t>Hyperparameter sensitivity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19CB78-3A1E-E0AF-3A60-7F41B1573638}"/>
              </a:ext>
            </a:extLst>
          </p:cNvPr>
          <p:cNvSpPr txBox="1"/>
          <p:nvPr/>
        </p:nvSpPr>
        <p:spPr>
          <a:xfrm>
            <a:off x="217126" y="4998774"/>
            <a:ext cx="1029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en-US" sz="1200" dirty="0"/>
            </a:br>
            <a:r>
              <a:rPr lang="en-US" sz="1200" dirty="0"/>
              <a:t>Limitations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A66D07-2041-1F26-5CBE-44F830643AFF}"/>
              </a:ext>
            </a:extLst>
          </p:cNvPr>
          <p:cNvSpPr txBox="1"/>
          <p:nvPr/>
        </p:nvSpPr>
        <p:spPr>
          <a:xfrm>
            <a:off x="154005" y="4083554"/>
            <a:ext cx="10824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Convergence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09500E-A0E9-0BBD-A2AC-129CC4B6188A}"/>
              </a:ext>
            </a:extLst>
          </p:cNvPr>
          <p:cNvSpPr txBox="1"/>
          <p:nvPr/>
        </p:nvSpPr>
        <p:spPr>
          <a:xfrm>
            <a:off x="319747" y="3186890"/>
            <a:ext cx="916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Methods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4C628F-7D62-30F3-707E-27B50DB7CA6E}"/>
              </a:ext>
            </a:extLst>
          </p:cNvPr>
          <p:cNvSpPr txBox="1"/>
          <p:nvPr/>
        </p:nvSpPr>
        <p:spPr>
          <a:xfrm>
            <a:off x="76174" y="2206410"/>
            <a:ext cx="12381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Representation</a:t>
            </a:r>
            <a:br>
              <a:rPr lang="en-US" sz="1200" dirty="0"/>
            </a:br>
            <a:r>
              <a:rPr lang="en-US" sz="1200" dirty="0"/>
              <a:t>(value function or policy)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7D2E8DE-4746-FA54-6856-94C588AF19D4}"/>
              </a:ext>
            </a:extLst>
          </p:cNvPr>
          <p:cNvCxnSpPr/>
          <p:nvPr/>
        </p:nvCxnSpPr>
        <p:spPr>
          <a:xfrm>
            <a:off x="236799" y="2901486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6D89225-F495-82BE-4BF2-F3C0D79D9BC8}"/>
              </a:ext>
            </a:extLst>
          </p:cNvPr>
          <p:cNvCxnSpPr/>
          <p:nvPr/>
        </p:nvCxnSpPr>
        <p:spPr>
          <a:xfrm>
            <a:off x="236799" y="3691446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442813E-9F01-2B55-212F-377D25E29DBE}"/>
              </a:ext>
            </a:extLst>
          </p:cNvPr>
          <p:cNvCxnSpPr/>
          <p:nvPr/>
        </p:nvCxnSpPr>
        <p:spPr>
          <a:xfrm>
            <a:off x="236799" y="4786213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Arrow: Right 5">
            <a:extLst>
              <a:ext uri="{FF2B5EF4-FFF2-40B4-BE49-F238E27FC236}">
                <a16:creationId xmlns:a16="http://schemas.microsoft.com/office/drawing/2014/main" id="{A4CE0E24-0C93-0473-04A2-7C91D905000E}"/>
              </a:ext>
            </a:extLst>
          </p:cNvPr>
          <p:cNvSpPr/>
          <p:nvPr/>
        </p:nvSpPr>
        <p:spPr>
          <a:xfrm>
            <a:off x="3703914" y="3325389"/>
            <a:ext cx="907420" cy="7590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EFDC2A2-A59D-E4D4-D196-48A815D37A2C}"/>
              </a:ext>
            </a:extLst>
          </p:cNvPr>
          <p:cNvSpPr/>
          <p:nvPr/>
        </p:nvSpPr>
        <p:spPr>
          <a:xfrm>
            <a:off x="7188625" y="3311910"/>
            <a:ext cx="907420" cy="7590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E5C614-E299-9F4D-4716-1B91C940CC7D}"/>
              </a:ext>
            </a:extLst>
          </p:cNvPr>
          <p:cNvSpPr txBox="1"/>
          <p:nvPr/>
        </p:nvSpPr>
        <p:spPr>
          <a:xfrm>
            <a:off x="3537453" y="4222053"/>
            <a:ext cx="1148235" cy="13849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+ scales to large state/action spaces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+ generalizes over states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789D49-C5BF-68B5-59CB-8352F870EBD3}"/>
              </a:ext>
            </a:extLst>
          </p:cNvPr>
          <p:cNvSpPr txBox="1"/>
          <p:nvPr/>
        </p:nvSpPr>
        <p:spPr>
          <a:xfrm>
            <a:off x="7128236" y="4209469"/>
            <a:ext cx="1148235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+ more powerful approximation for high-dimensional and continuous state and action spaces</a:t>
            </a:r>
          </a:p>
        </p:txBody>
      </p:sp>
    </p:spTree>
    <p:extLst>
      <p:ext uri="{BB962C8B-B14F-4D97-AF65-F5344CB8AC3E}">
        <p14:creationId xmlns:p14="http://schemas.microsoft.com/office/powerpoint/2010/main" val="3078183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B8486-FEED-3AE4-C050-283D1E443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Disclaimer: Convergence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0E4EE-39BC-EA5B-575A-C11F62330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So far, we have had strong convergence guarantees:</a:t>
            </a:r>
          </a:p>
          <a:p>
            <a:pPr lvl="1"/>
            <a:r>
              <a:rPr lang="en-US" b="1" dirty="0"/>
              <a:t>Tabular RL </a:t>
            </a:r>
            <a:r>
              <a:rPr lang="en-US" dirty="0"/>
              <a:t>has the contraction mapping guarantee (Bellman Operator): guaranteed convergence to the optimal value function (a fixed point). The policy improvement theorem shows that the policy improves in every step.</a:t>
            </a:r>
          </a:p>
          <a:p>
            <a:pPr lvl="1"/>
            <a:r>
              <a:rPr lang="en-US" b="1" dirty="0"/>
              <a:t>TD/Q-learning </a:t>
            </a:r>
            <a:r>
              <a:rPr lang="en-US" dirty="0"/>
              <a:t>converges with sufficient exploration and diminishing learning rates.</a:t>
            </a:r>
          </a:p>
          <a:p>
            <a:pPr lvl="1"/>
            <a:r>
              <a:rPr lang="en-US" b="1" dirty="0"/>
              <a:t>Linear approximation: </a:t>
            </a:r>
            <a:r>
              <a:rPr lang="en-US" dirty="0"/>
              <a:t> Mean squared value error creates a convex optimization problem. On-policy learning converges to the global optimum.</a:t>
            </a:r>
            <a:br>
              <a:rPr lang="en-US" dirty="0"/>
            </a:br>
            <a:r>
              <a:rPr lang="en-US" dirty="0"/>
              <a:t>But off-Policy convergence is not guaranteed: Off-policy + bootstrapping + function approximation = </a:t>
            </a:r>
            <a:r>
              <a:rPr lang="en-US" b="1" dirty="0"/>
              <a:t>deadly triad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Non-linear approximation (DRL) breaks most guarantees in RL!</a:t>
            </a:r>
          </a:p>
          <a:p>
            <a:pPr lvl="1"/>
            <a:r>
              <a:rPr lang="en-US" b="1" dirty="0"/>
              <a:t>Loss of contraction mapping </a:t>
            </a:r>
            <a:r>
              <a:rPr lang="en-US" dirty="0"/>
              <a:t>due to a non-linear projection. A fixed point may not exist or be reachable.</a:t>
            </a:r>
          </a:p>
          <a:p>
            <a:pPr lvl="1"/>
            <a:r>
              <a:rPr lang="en-US" b="1" dirty="0"/>
              <a:t>Monotonic policy improvement is lost: </a:t>
            </a:r>
            <a:r>
              <a:rPr lang="en-US" dirty="0"/>
              <a:t>Policy can get worse.</a:t>
            </a:r>
          </a:p>
          <a:p>
            <a:pPr lvl="1"/>
            <a:r>
              <a:rPr lang="en-US" b="1" dirty="0"/>
              <a:t>Stochastic approximation guarantees break</a:t>
            </a:r>
            <a:r>
              <a:rPr lang="en-US" dirty="0"/>
              <a:t>: Targets depend on parameters (bootstrapping), and </a:t>
            </a:r>
            <a:r>
              <a:rPr lang="en-US" b="1" dirty="0"/>
              <a:t>gradients are biased.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025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89BDD76-DC2B-7000-DB38-1C210A26A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Value-based DRL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4055AC-D358-1E88-DB0E-AB53A1BC0D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ANNs to represent a parameterized value function that is updated via gradient descent.</a:t>
            </a:r>
          </a:p>
        </p:txBody>
      </p:sp>
    </p:spTree>
    <p:extLst>
      <p:ext uri="{BB962C8B-B14F-4D97-AF65-F5344CB8AC3E}">
        <p14:creationId xmlns:p14="http://schemas.microsoft.com/office/powerpoint/2010/main" val="2046941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458EF6-A107-0A9A-1840-241EF37D1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Value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498727-5D73-4D84-70D6-B2FAD05145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b="0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dirty="0"/>
              </a:p>
              <a:p>
                <a:r>
                  <a:rPr lang="en-US" b="0" dirty="0"/>
                  <a:t>Value functions: 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nary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nary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Bellman equation: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Optimality condition:</a:t>
                </a:r>
              </a:p>
              <a:p>
                <a:pPr marL="457200" lvl="1" indent="0">
                  <a:buNone/>
                </a:pPr>
                <a:r>
                  <a:rPr lang="en-US" b="0" dirty="0"/>
                  <a:t>                         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Π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    and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Π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Optimal policy: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498727-5D73-4D84-70D6-B2FAD05145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61437BC7-CDF4-31E8-14F6-91CFBC0BC7A9}"/>
              </a:ext>
            </a:extLst>
          </p:cNvPr>
          <p:cNvSpPr/>
          <p:nvPr/>
        </p:nvSpPr>
        <p:spPr>
          <a:xfrm>
            <a:off x="8380602" y="1765882"/>
            <a:ext cx="3150066" cy="1283515"/>
          </a:xfrm>
          <a:prstGeom prst="wedgeRoundRectCallout">
            <a:avLst>
              <a:gd name="adj1" fmla="val -129947"/>
              <a:gd name="adj2" fmla="val 1599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The expectation reflects all uncertainty: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Stochastic policy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Stochastic transitions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Stochastic reward model</a:t>
            </a:r>
          </a:p>
        </p:txBody>
      </p:sp>
    </p:spTree>
    <p:extLst>
      <p:ext uri="{BB962C8B-B14F-4D97-AF65-F5344CB8AC3E}">
        <p14:creationId xmlns:p14="http://schemas.microsoft.com/office/powerpoint/2010/main" val="198661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Tabular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Tabular update rule only uses Sars: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followed!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Off-policy</a:t>
                </a:r>
              </a:p>
              <a:p>
                <a:r>
                  <a:rPr lang="en-US" dirty="0"/>
                  <a:t>Converges to the optimal value function if</a:t>
                </a:r>
              </a:p>
              <a:p>
                <a:pPr lvl="1"/>
                <a:r>
                  <a:rPr lang="en-US" dirty="0"/>
                  <a:t>State-action pairs are represented discretely (in a table).</a:t>
                </a:r>
              </a:p>
              <a:p>
                <a:pPr lvl="1"/>
                <a:r>
                  <a:rPr lang="en-US" dirty="0"/>
                  <a:t>All action are repeatedly sampled in all states (behavior policy keeps exploring).</a:t>
                </a:r>
              </a:p>
              <a:p>
                <a:endParaRPr lang="en-US" b="1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can often not be represented in a table due to too many action-value pairs. Use a parameterized approximation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Deadly </a:t>
                </a:r>
                <a:r>
                  <a:rPr lang="en-US" dirty="0" err="1"/>
                  <a:t>triade</a:t>
                </a:r>
                <a:r>
                  <a:rPr lang="en-US" dirty="0"/>
                  <a:t>:  </a:t>
                </a:r>
              </a:p>
              <a:p>
                <a:pPr lvl="1"/>
                <a:r>
                  <a:rPr lang="en-US" dirty="0"/>
                  <a:t>Bootstrapping</a:t>
                </a:r>
              </a:p>
              <a:p>
                <a:pPr lvl="1"/>
                <a:r>
                  <a:rPr lang="en-US" dirty="0"/>
                  <a:t>off-policy learning</a:t>
                </a:r>
              </a:p>
              <a:p>
                <a:pPr lvl="1"/>
                <a:r>
                  <a:rPr lang="en-US" dirty="0"/>
                  <a:t>function approximation</a:t>
                </a:r>
              </a:p>
              <a:p>
                <a:r>
                  <a:rPr lang="en-US" dirty="0"/>
                  <a:t>Linear approximation converges for special cases. Non-linear approximation is an issue!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4" t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498327BA-1D9D-E7A5-5900-D16895A74482}"/>
              </a:ext>
            </a:extLst>
          </p:cNvPr>
          <p:cNvGrpSpPr/>
          <p:nvPr/>
        </p:nvGrpSpPr>
        <p:grpSpPr>
          <a:xfrm>
            <a:off x="5643135" y="1712423"/>
            <a:ext cx="3160042" cy="1158041"/>
            <a:chOff x="5502761" y="1996939"/>
            <a:chExt cx="4441087" cy="124297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213D399-5436-DD5C-3C09-991F8AE5AA15}"/>
                </a:ext>
              </a:extLst>
            </p:cNvPr>
            <p:cNvSpPr txBox="1"/>
            <p:nvPr/>
          </p:nvSpPr>
          <p:spPr>
            <a:xfrm>
              <a:off x="6414761" y="1996939"/>
              <a:ext cx="933217" cy="3303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accent2"/>
                  </a:solidFill>
                </a:rPr>
                <a:t>target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B2469E7-597A-6D5F-34FF-F1CEC74C31D2}"/>
                </a:ext>
              </a:extLst>
            </p:cNvPr>
            <p:cNvSpPr txBox="1"/>
            <p:nvPr/>
          </p:nvSpPr>
          <p:spPr>
            <a:xfrm>
              <a:off x="8504372" y="1996939"/>
              <a:ext cx="1439476" cy="3303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tx2"/>
                  </a:solidFill>
                </a:rPr>
                <a:t>prediction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64E7F2E-CD37-E643-C336-282CA98C2197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2" y="2359291"/>
              <a:ext cx="2768719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735DED0-7CD9-B356-3D6F-AE0DEAC31728}"/>
                </a:ext>
              </a:extLst>
            </p:cNvPr>
            <p:cNvCxnSpPr>
              <a:cxnSpLocks/>
            </p:cNvCxnSpPr>
            <p:nvPr/>
          </p:nvCxnSpPr>
          <p:spPr>
            <a:xfrm>
              <a:off x="8570463" y="2359291"/>
              <a:ext cx="11319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C989D5A-3C84-7EFE-4075-12A7DF0B1EC4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909560"/>
              <a:ext cx="4265740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2D040B2-06C2-0A8F-6120-ED33338A4B78}"/>
                </a:ext>
              </a:extLst>
            </p:cNvPr>
            <p:cNvSpPr txBox="1"/>
            <p:nvPr/>
          </p:nvSpPr>
          <p:spPr>
            <a:xfrm>
              <a:off x="7215301" y="2909560"/>
              <a:ext cx="1209685" cy="3303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accent3"/>
                  </a:solidFill>
                </a:rPr>
                <a:t>TD-error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04526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Q-Learning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87336" y="1927972"/>
            <a:ext cx="8154789" cy="342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C2ADE-7CC7-3066-8F13-622CC5762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Fitted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3A9D68-DE2F-5C7C-60D9-2E27F4D6A3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Use a parameterized approximation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Initial setting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such that all Q-value are close to 0 (helps with learning).</a:t>
                </a:r>
              </a:p>
              <a:p>
                <a:endParaRPr lang="en-US" dirty="0"/>
              </a:p>
              <a:p>
                <a:r>
                  <a:rPr lang="en-US" dirty="0"/>
                  <a:t>Bootstrapped target value at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Update: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baseline="-25000" dirty="0"/>
              </a:p>
              <a:p>
                <a:pPr marL="0" indent="0" algn="ctr">
                  <a:buNone/>
                </a:pPr>
                <a:endParaRPr lang="en-US" baseline="-25000" dirty="0"/>
              </a:p>
              <a:p>
                <a:endParaRPr lang="en-US" dirty="0"/>
              </a:p>
              <a:p>
                <a:r>
                  <a:rPr lang="en-US" dirty="0"/>
                  <a:t>Linear approximation with transformed state features can be used.</a:t>
                </a:r>
              </a:p>
              <a:p>
                <a:r>
                  <a:rPr lang="en-US" dirty="0"/>
                  <a:t>Next, we will consider an artificial neural network (ANN) as the approximator.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3A9D68-DE2F-5C7C-60D9-2E27F4D6A3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b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D8CB0364-C457-08BE-C26F-39D883758D83}"/>
                  </a:ext>
                </a:extLst>
              </p:cNvPr>
              <p:cNvSpPr/>
              <p:nvPr/>
            </p:nvSpPr>
            <p:spPr>
              <a:xfrm>
                <a:off x="8154098" y="301501"/>
                <a:ext cx="3754074" cy="759072"/>
              </a:xfrm>
              <a:prstGeom prst="round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/>
                  <a:t>Notation</a:t>
                </a:r>
                <a:r>
                  <a:rPr lang="en-US" dirty="0"/>
                  <a:t>: DRL literature uses often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where our textbook uses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D8CB0364-C457-08BE-C26F-39D883758D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4098" y="301501"/>
                <a:ext cx="3754074" cy="759072"/>
              </a:xfrm>
              <a:prstGeom prst="roundRect">
                <a:avLst/>
              </a:prstGeom>
              <a:blipFill>
                <a:blip r:embed="rId3"/>
                <a:stretch>
                  <a:fillRect r="-485" b="-3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9CF156B1-4DA9-C83B-FAA2-A2C18D6459FC}"/>
              </a:ext>
            </a:extLst>
          </p:cNvPr>
          <p:cNvSpPr/>
          <p:nvPr/>
        </p:nvSpPr>
        <p:spPr>
          <a:xfrm>
            <a:off x="7386507" y="3636145"/>
            <a:ext cx="2164360" cy="599812"/>
          </a:xfrm>
          <a:prstGeom prst="wedgeRoundRectCallout">
            <a:avLst>
              <a:gd name="adj1" fmla="val -99322"/>
              <a:gd name="adj2" fmla="val -8155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Q-learning assumes the best action will be taken</a:t>
            </a:r>
          </a:p>
        </p:txBody>
      </p:sp>
    </p:spTree>
    <p:extLst>
      <p:ext uri="{BB962C8B-B14F-4D97-AF65-F5344CB8AC3E}">
        <p14:creationId xmlns:p14="http://schemas.microsoft.com/office/powerpoint/2010/main" val="40123809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D7D0E-A67A-4382-B425-09B322BE1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8915400" cy="818384"/>
          </a:xfrm>
        </p:spPr>
        <p:txBody>
          <a:bodyPr>
            <a:normAutofit/>
          </a:bodyPr>
          <a:lstStyle/>
          <a:p>
            <a:r>
              <a:rPr lang="en-US" dirty="0"/>
              <a:t>Reminder: Artificial Neural Networks</a:t>
            </a:r>
          </a:p>
        </p:txBody>
      </p:sp>
      <p:grpSp>
        <p:nvGrpSpPr>
          <p:cNvPr id="13" name="Group 12" descr="A figure showing the topology of a neural network with a single hidden layer.">
            <a:extLst>
              <a:ext uri="{FF2B5EF4-FFF2-40B4-BE49-F238E27FC236}">
                <a16:creationId xmlns:a16="http://schemas.microsoft.com/office/drawing/2014/main" id="{75037A14-3AFB-5878-CDC0-BD0486D59593}"/>
              </a:ext>
            </a:extLst>
          </p:cNvPr>
          <p:cNvGrpSpPr/>
          <p:nvPr/>
        </p:nvGrpSpPr>
        <p:grpSpPr>
          <a:xfrm>
            <a:off x="45672" y="1164852"/>
            <a:ext cx="7992049" cy="5509792"/>
            <a:chOff x="45672" y="1164852"/>
            <a:chExt cx="7992049" cy="550979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9C505E5-264D-4512-B738-64315008EC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-2123" r="-1"/>
            <a:stretch/>
          </p:blipFill>
          <p:spPr>
            <a:xfrm>
              <a:off x="45672" y="1778000"/>
              <a:ext cx="7802930" cy="4576762"/>
            </a:xfrm>
            <a:prstGeom prst="rect">
              <a:avLst/>
            </a:prstGeom>
          </p:spPr>
        </p:pic>
        <p:sp>
          <p:nvSpPr>
            <p:cNvPr id="8" name="Speech Bubble: Rectangle 7">
              <a:extLst>
                <a:ext uri="{FF2B5EF4-FFF2-40B4-BE49-F238E27FC236}">
                  <a16:creationId xmlns:a16="http://schemas.microsoft.com/office/drawing/2014/main" id="{23257D05-D4F7-429A-8BEC-42DD062F3215}"/>
                </a:ext>
              </a:extLst>
            </p:cNvPr>
            <p:cNvSpPr/>
            <p:nvPr/>
          </p:nvSpPr>
          <p:spPr>
            <a:xfrm>
              <a:off x="2986312" y="6293644"/>
              <a:ext cx="976088" cy="381000"/>
            </a:xfrm>
            <a:prstGeom prst="wedgeRectCallout">
              <a:avLst>
                <a:gd name="adj1" fmla="val 58333"/>
                <a:gd name="adj2" fmla="val -124167"/>
              </a:avLst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Bias term</a:t>
              </a:r>
            </a:p>
          </p:txBody>
        </p:sp>
        <p:sp>
          <p:nvSpPr>
            <p:cNvPr id="9" name="Speech Bubble: Rectangle 8">
              <a:extLst>
                <a:ext uri="{FF2B5EF4-FFF2-40B4-BE49-F238E27FC236}">
                  <a16:creationId xmlns:a16="http://schemas.microsoft.com/office/drawing/2014/main" id="{8CE8AF8D-75D9-4426-918B-179C915BDA88}"/>
                </a:ext>
              </a:extLst>
            </p:cNvPr>
            <p:cNvSpPr/>
            <p:nvPr/>
          </p:nvSpPr>
          <p:spPr>
            <a:xfrm>
              <a:off x="4405570" y="6113461"/>
              <a:ext cx="2425700" cy="482600"/>
            </a:xfrm>
            <a:prstGeom prst="wedgeRectCallout">
              <a:avLst>
                <a:gd name="adj1" fmla="val -15845"/>
                <a:gd name="adj2" fmla="val -257736"/>
              </a:avLst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Non-linear activation function: often </a:t>
              </a:r>
              <a:r>
                <a:rPr lang="en-US" sz="1400" dirty="0" err="1"/>
                <a:t>ReLU</a:t>
              </a:r>
              <a:endParaRPr lang="en-US" sz="14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C5C019B-45E1-4EAF-A424-7EF300F014B2}"/>
                </a:ext>
              </a:extLst>
            </p:cNvPr>
            <p:cNvSpPr/>
            <p:nvPr/>
          </p:nvSpPr>
          <p:spPr>
            <a:xfrm>
              <a:off x="1143000" y="2316162"/>
              <a:ext cx="838200" cy="3128962"/>
            </a:xfrm>
            <a:prstGeom prst="rect">
              <a:avLst/>
            </a:prstGeom>
            <a:solidFill>
              <a:srgbClr val="70AD47">
                <a:alpha val="20000"/>
              </a:srgb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78A9B84-D447-4F07-A7BF-15162A2BC21C}"/>
                </a:ext>
              </a:extLst>
            </p:cNvPr>
            <p:cNvSpPr txBox="1"/>
            <p:nvPr/>
          </p:nvSpPr>
          <p:spPr>
            <a:xfrm>
              <a:off x="4240470" y="1164852"/>
              <a:ext cx="2590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Computational graph</a:t>
              </a:r>
            </a:p>
          </p:txBody>
        </p:sp>
        <p:sp>
          <p:nvSpPr>
            <p:cNvPr id="6" name="Speech Bubble: Rectangle 5">
              <a:extLst>
                <a:ext uri="{FF2B5EF4-FFF2-40B4-BE49-F238E27FC236}">
                  <a16:creationId xmlns:a16="http://schemas.microsoft.com/office/drawing/2014/main" id="{1D9991D3-82B3-3064-C52C-A229F1BFF3D7}"/>
                </a:ext>
              </a:extLst>
            </p:cNvPr>
            <p:cNvSpPr/>
            <p:nvPr/>
          </p:nvSpPr>
          <p:spPr>
            <a:xfrm>
              <a:off x="838200" y="6004187"/>
              <a:ext cx="1104900" cy="381000"/>
            </a:xfrm>
            <a:prstGeom prst="wedgeRectCallout">
              <a:avLst>
                <a:gd name="adj1" fmla="val 27371"/>
                <a:gd name="adj2" fmla="val -274915"/>
              </a:avLst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Neuron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17CB4B8-E50C-D9E2-1583-8D9F96D417B5}"/>
                </a:ext>
              </a:extLst>
            </p:cNvPr>
            <p:cNvSpPr/>
            <p:nvPr/>
          </p:nvSpPr>
          <p:spPr>
            <a:xfrm>
              <a:off x="3516088" y="1503391"/>
              <a:ext cx="1943100" cy="2590800"/>
            </a:xfrm>
            <a:prstGeom prst="ellipse">
              <a:avLst/>
            </a:prstGeom>
            <a:solidFill>
              <a:srgbClr val="70AD47">
                <a:alpha val="20000"/>
              </a:srgb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6AA2D06-82E0-6A3D-BC59-0D301E7633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488" y="1586428"/>
              <a:ext cx="2409626" cy="1138266"/>
            </a:xfrm>
            <a:prstGeom prst="line">
              <a:avLst/>
            </a:prstGeom>
            <a:ln w="9525" cap="flat" cmpd="sng" algn="ctr">
              <a:solidFill>
                <a:schemeClr val="accent6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9DDE38B-5A06-6C92-402E-28D279A27AE6}"/>
                </a:ext>
              </a:extLst>
            </p:cNvPr>
            <p:cNvCxnSpPr>
              <a:cxnSpLocks/>
            </p:cNvCxnSpPr>
            <p:nvPr/>
          </p:nvCxnSpPr>
          <p:spPr>
            <a:xfrm>
              <a:off x="1611487" y="3054894"/>
              <a:ext cx="2323321" cy="891103"/>
            </a:xfrm>
            <a:prstGeom prst="line">
              <a:avLst/>
            </a:prstGeom>
            <a:ln w="9525" cap="flat" cmpd="sng" algn="ctr">
              <a:solidFill>
                <a:schemeClr val="accent6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9" name="Speech Bubble: Rectangle 18">
              <a:extLst>
                <a:ext uri="{FF2B5EF4-FFF2-40B4-BE49-F238E27FC236}">
                  <a16:creationId xmlns:a16="http://schemas.microsoft.com/office/drawing/2014/main" id="{DA8F59EF-0737-AEA9-B801-2196F0A75E2C}"/>
                </a:ext>
              </a:extLst>
            </p:cNvPr>
            <p:cNvSpPr/>
            <p:nvPr/>
          </p:nvSpPr>
          <p:spPr>
            <a:xfrm>
              <a:off x="1143000" y="1717664"/>
              <a:ext cx="1600200" cy="278481"/>
            </a:xfrm>
            <a:prstGeom prst="wedgeRectCallout">
              <a:avLst>
                <a:gd name="adj1" fmla="val -19445"/>
                <a:gd name="adj2" fmla="val 170713"/>
              </a:avLst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Hidden Layer</a:t>
              </a:r>
            </a:p>
          </p:txBody>
        </p:sp>
        <p:sp>
          <p:nvSpPr>
            <p:cNvPr id="20" name="Speech Bubble: Rectangle 19">
              <a:extLst>
                <a:ext uri="{FF2B5EF4-FFF2-40B4-BE49-F238E27FC236}">
                  <a16:creationId xmlns:a16="http://schemas.microsoft.com/office/drawing/2014/main" id="{B94115DF-70E0-2559-C091-63FBF3DA0050}"/>
                </a:ext>
              </a:extLst>
            </p:cNvPr>
            <p:cNvSpPr/>
            <p:nvPr/>
          </p:nvSpPr>
          <p:spPr>
            <a:xfrm>
              <a:off x="5646560" y="1586428"/>
              <a:ext cx="2391161" cy="729734"/>
            </a:xfrm>
            <a:prstGeom prst="wedgeRectCallout">
              <a:avLst>
                <a:gd name="adj1" fmla="val 14694"/>
                <a:gd name="adj2" fmla="val 248730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Used activation functions:</a:t>
              </a:r>
            </a:p>
            <a:p>
              <a:pPr algn="ctr"/>
              <a:r>
                <a:rPr lang="en-US" sz="1400" dirty="0"/>
                <a:t>Value function: linear</a:t>
              </a:r>
            </a:p>
            <a:p>
              <a:pPr algn="ctr"/>
              <a:r>
                <a:rPr lang="en-US" sz="1400" dirty="0"/>
                <a:t>Policy: </a:t>
              </a:r>
              <a:r>
                <a:rPr lang="en-US" sz="1400" dirty="0" err="1"/>
                <a:t>Softmax</a:t>
              </a:r>
              <a:endParaRPr lang="en-US" sz="14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970AAE-D0C1-4D69-AE5D-06F79663B2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035974" y="1452988"/>
                <a:ext cx="3503083" cy="4289276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sz="1600" dirty="0"/>
                  <a:t>Represent </a:t>
                </a:r>
                <a:br>
                  <a:rPr lang="en-US" sz="1600" dirty="0"/>
                </a:br>
                <a:r>
                  <a:rPr lang="en-US" sz="1600" dirty="0"/>
                  <a:t> 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sup>
                    </m:sSup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[2]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p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  <m:d>
                          <m:dPr>
                            <m:ctrlPr>
                              <a:rPr lang="en-US" sz="16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m:rPr>
                                    <m:lit/>
                                  </m:r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sup>
                            </m:sSup>
                            <m:r>
                              <a:rPr lang="en-US" sz="16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</m:oMath>
                </a14:m>
                <a:br>
                  <a:rPr lang="en-US" sz="1600" dirty="0"/>
                </a:br>
                <a:r>
                  <a:rPr lang="en-US" sz="1600" dirty="0"/>
                  <a:t>as a network of weighted sums with non-linear </a:t>
                </a:r>
                <a:r>
                  <a:rPr lang="en-US" sz="1600" b="1" dirty="0"/>
                  <a:t>activation functions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sz="1600" dirty="0"/>
                  <a:t> (e.g., sigmoid, </a:t>
                </a:r>
                <a:r>
                  <a:rPr lang="en-US" sz="1600" dirty="0" err="1"/>
                  <a:t>ReLU</a:t>
                </a:r>
                <a:r>
                  <a:rPr lang="en-US" sz="1600" dirty="0"/>
                  <a:t>).</a:t>
                </a:r>
              </a:p>
              <a:p>
                <a:r>
                  <a:rPr lang="en-US" sz="1600" dirty="0"/>
                  <a:t>Learn weight matrices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600" dirty="0"/>
                  <a:t> from examples using gradient descent with </a:t>
                </a:r>
                <a:r>
                  <a:rPr lang="en-US" sz="1600" b="1" dirty="0"/>
                  <a:t>backpropagation</a:t>
                </a:r>
                <a:r>
                  <a:rPr lang="en-US" sz="1600" dirty="0"/>
                  <a:t> of prediction errors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600" b="0" i="0" dirty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r>
                  <a:rPr lang="en-US" sz="1600" dirty="0"/>
                  <a:t>ANNs are </a:t>
                </a:r>
                <a:r>
                  <a:rPr lang="en-US" sz="1600" b="1" dirty="0"/>
                  <a:t>universal approximators</a:t>
                </a:r>
                <a:r>
                  <a:rPr lang="en-US" sz="1600" dirty="0"/>
                  <a:t>. Large networks can approximate any function (has no bias). </a:t>
                </a:r>
                <a:r>
                  <a:rPr lang="en-US" sz="1600" b="1" dirty="0"/>
                  <a:t>Regularization</a:t>
                </a:r>
                <a:r>
                  <a:rPr lang="en-US" sz="1600" dirty="0"/>
                  <a:t> is typically needed to avoid overfitting.</a:t>
                </a:r>
              </a:p>
              <a:p>
                <a:r>
                  <a:rPr lang="en-US" sz="1600" b="1" dirty="0"/>
                  <a:t>End-to-end learning</a:t>
                </a:r>
                <a:r>
                  <a:rPr lang="en-US" sz="1600" dirty="0"/>
                  <a:t>: The hidden layer performs “automatic feature engineering.</a:t>
                </a:r>
              </a:p>
              <a:p>
                <a:r>
                  <a:rPr lang="en-US" sz="1600" b="1" dirty="0"/>
                  <a:t>Deep learning </a:t>
                </a:r>
                <a:r>
                  <a:rPr lang="en-US" sz="1600" dirty="0"/>
                  <a:t>adds more hidden layers and layer types (e.g., convolution layers) for more efficient learning and transfer learning.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970AAE-D0C1-4D69-AE5D-06F79663B2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035974" y="1452988"/>
                <a:ext cx="3503083" cy="4289276"/>
              </a:xfrm>
              <a:blipFill>
                <a:blip r:embed="rId3"/>
                <a:stretch>
                  <a:fillRect l="-522" t="-1420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29E56341-A356-BD0B-2B28-DCEA6620EAE6}"/>
              </a:ext>
            </a:extLst>
          </p:cNvPr>
          <p:cNvSpPr txBox="1"/>
          <p:nvPr/>
        </p:nvSpPr>
        <p:spPr>
          <a:xfrm>
            <a:off x="511753" y="1104517"/>
            <a:ext cx="259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Network Topology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13">
                <a:extLst>
                  <a:ext uri="{FF2B5EF4-FFF2-40B4-BE49-F238E27FC236}">
                    <a16:creationId xmlns:a16="http://schemas.microsoft.com/office/drawing/2014/main" id="{52ECC6E1-4A8F-8EF9-32E5-F4AB2AA7DFAE}"/>
                  </a:ext>
                </a:extLst>
              </p:cNvPr>
              <p:cNvSpPr/>
              <p:nvPr/>
            </p:nvSpPr>
            <p:spPr>
              <a:xfrm>
                <a:off x="9487949" y="277041"/>
                <a:ext cx="2340527" cy="722142"/>
              </a:xfrm>
              <a:prstGeom prst="wedgeRectCallout">
                <a:avLst>
                  <a:gd name="adj1" fmla="val -29484"/>
                  <a:gd name="adj2" fmla="val 132010"/>
                </a:avLst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Superscript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en-US" sz="1400" dirty="0"/>
                  <a:t>means the layer. Layer weights are collected in a matrix.</a:t>
                </a:r>
              </a:p>
            </p:txBody>
          </p:sp>
        </mc:Choice>
        <mc:Fallback xmlns="">
          <p:sp>
            <p:nvSpPr>
              <p:cNvPr id="14" name="Speech Bubble: Rectangle 13">
                <a:extLst>
                  <a:ext uri="{FF2B5EF4-FFF2-40B4-BE49-F238E27FC236}">
                    <a16:creationId xmlns:a16="http://schemas.microsoft.com/office/drawing/2014/main" id="{52ECC6E1-4A8F-8EF9-32E5-F4AB2AA7DF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7949" y="277041"/>
                <a:ext cx="2340527" cy="722142"/>
              </a:xfrm>
              <a:prstGeom prst="wedgeRectCallout">
                <a:avLst>
                  <a:gd name="adj1" fmla="val -29484"/>
                  <a:gd name="adj2" fmla="val 132010"/>
                </a:avLst>
              </a:prstGeom>
              <a:blipFill>
                <a:blip r:embed="rId4"/>
                <a:stretch>
                  <a:fillRect t="-4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020C5F7-04BC-D126-3FBC-549CF245ED02}"/>
                  </a:ext>
                </a:extLst>
              </p:cNvPr>
              <p:cNvSpPr txBox="1"/>
              <p:nvPr/>
            </p:nvSpPr>
            <p:spPr>
              <a:xfrm>
                <a:off x="8396681" y="5790295"/>
                <a:ext cx="2957119" cy="646331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Notation: We use for the network weights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dirty="0"/>
                  <a:t> often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020C5F7-04BC-D126-3FBC-549CF245E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6681" y="5790295"/>
                <a:ext cx="2957119" cy="646331"/>
              </a:xfrm>
              <a:prstGeom prst="rect">
                <a:avLst/>
              </a:prstGeom>
              <a:blipFill>
                <a:blip r:embed="rId5"/>
                <a:stretch>
                  <a:fillRect l="-1431"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5130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AFC18-3C9C-73E2-BCA4-8AFB6039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Neural fitted Q-learning (NFQ; Riedmiller, 2005)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147778-6CD7-27C6-105F-34C01A6D7F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44496"/>
                <a:ext cx="6483980" cy="4732467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Use an ANN called the </a:t>
                </a:r>
                <a:r>
                  <a:rPr lang="en-US" b="1" dirty="0"/>
                  <a:t>Q-network</a:t>
                </a:r>
                <a:r>
                  <a:rPr lang="en-US" dirty="0"/>
                  <a:t> as the approximator for the Q-function.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Online learning does not work well with our hardware. (GPUs only efficiently perform </a:t>
                </a:r>
                <a:r>
                  <a:rPr lang="en-US" b="1" dirty="0"/>
                  <a:t>many </a:t>
                </a:r>
                <a:r>
                  <a:rPr lang="en-US" dirty="0"/>
                  <a:t>matrix operations in parallel) </a:t>
                </a:r>
              </a:p>
              <a:p>
                <a:endParaRPr lang="en-US" b="1" dirty="0"/>
              </a:p>
              <a:p>
                <a:r>
                  <a:rPr lang="en-US" b="1" dirty="0"/>
                  <a:t>Solution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Learn the Q-network offline: </a:t>
                </a:r>
                <a:r>
                  <a:rPr lang="en-US" b="1" dirty="0"/>
                  <a:t>batch learning </a:t>
                </a:r>
                <a:r>
                  <a:rPr lang="en-US" dirty="0"/>
                  <a:t>with </a:t>
                </a:r>
                <a:r>
                  <a:rPr lang="en-US" b="1" dirty="0"/>
                  <a:t>experience replay </a:t>
                </a:r>
                <a:r>
                  <a:rPr lang="en-US" dirty="0"/>
                  <a:t>from a sample set of experience containing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tuples.</a:t>
                </a:r>
              </a:p>
              <a:p>
                <a:pPr lvl="1"/>
                <a:r>
                  <a:rPr lang="en-US" dirty="0"/>
                  <a:t>Needs off-policy learning: Use </a:t>
                </a:r>
                <a:r>
                  <a:rPr lang="en-US" b="1" dirty="0"/>
                  <a:t>supervised learning</a:t>
                </a:r>
                <a:r>
                  <a:rPr lang="en-US" dirty="0"/>
                  <a:t> </a:t>
                </a:r>
                <a:r>
                  <a:rPr lang="en-US" b="1" dirty="0"/>
                  <a:t>(regression) </a:t>
                </a:r>
                <a:r>
                  <a:rPr lang="en-US" dirty="0"/>
                  <a:t>with a sample from a replay buffer as the training set. </a:t>
                </a:r>
              </a:p>
              <a:p>
                <a:pPr lvl="1"/>
                <a:r>
                  <a:rPr lang="en-US" dirty="0"/>
                  <a:t>The regression target (Q-values) are estimated from the tuples using </a:t>
                </a:r>
                <a:r>
                  <a:rPr lang="en-US" b="1" dirty="0"/>
                  <a:t>temporal differencing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′)</m:t>
                        </m:r>
                      </m:e>
                    </m:func>
                  </m:oMath>
                </a14:m>
                <a:br>
                  <a:rPr lang="en-US" dirty="0"/>
                </a:br>
                <a:endParaRPr lang="en-US" b="1" dirty="0"/>
              </a:p>
              <a:p>
                <a:r>
                  <a:rPr lang="en-US" b="1" dirty="0"/>
                  <a:t>More 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May not converge or become unstable (uses non-linear approximation where the target moves).</a:t>
                </a:r>
              </a:p>
              <a:p>
                <a:pPr lvl="1"/>
                <a:r>
                  <a:rPr lang="en-US" dirty="0"/>
                  <a:t>Q-values tend to be overestimated due to the max operator in the target.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147778-6CD7-27C6-105F-34C01A6D7F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44496"/>
                <a:ext cx="6483980" cy="4732467"/>
              </a:xfrm>
              <a:blipFill>
                <a:blip r:embed="rId2"/>
                <a:stretch>
                  <a:fillRect l="-659" t="-2062" r="-1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1C8D63E2-853A-4D88-B50C-2C9161D01811}"/>
              </a:ext>
            </a:extLst>
          </p:cNvPr>
          <p:cNvGrpSpPr/>
          <p:nvPr/>
        </p:nvGrpSpPr>
        <p:grpSpPr>
          <a:xfrm>
            <a:off x="7649250" y="3875090"/>
            <a:ext cx="3920629" cy="2338707"/>
            <a:chOff x="7516627" y="1326818"/>
            <a:chExt cx="3920629" cy="233870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B54EC7C-D171-8AA9-BE89-738B6893D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16627" y="1326818"/>
              <a:ext cx="3920629" cy="2338707"/>
              <a:chOff x="1129787" y="3714030"/>
              <a:chExt cx="3920629" cy="2338707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05E84E7-DFB6-3020-4E33-38B44F19DD63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913708" y="5683405"/>
                <a:ext cx="191197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Q-network</a:t>
                </a:r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2DEEEB8-946F-863C-1F36-4ADAA0DC985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3724566C-39D6-29B6-7905-FF3ECF58DA49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C3A1418B-8EC5-4DF0-7BC4-02A7BC0A25BF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7CF8CA08-2DA4-C01B-DDA2-F70CB99F92B9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EC891C6-1CCE-753E-3794-95F99F530C50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A0BC46EE-55B1-6DDA-7DBE-5DF25C7C8E42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085CB45A-F923-2CB5-5F39-9010029849EF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77DE9C07-2295-F229-8B9D-82B2E67F2678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AA76387D-1AAD-7066-C2DE-01D6F748E57E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A1B146F7-89F4-560D-D9E6-6C31C1896F33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0CCBBE16-805D-4FE4-B85D-42CD0569D6D7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6430EC34-EBF7-18C2-9397-3C6DD384F3D2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9AB3AED0-BA3F-21B5-EBD4-8C42D79E35E2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401A57BE-AD72-D8B1-FCC9-660A301D88A2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BDC0BF13-8D7D-00A6-0464-2039A00FC02F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B07AE736-DAFF-C59D-6A4D-BF8A0D53E205}"/>
                    </a:ext>
                  </a:extLst>
                </p:cNvPr>
                <p:cNvCxnSpPr>
                  <a:cxnSpLocks/>
                  <a:stCxn id="14" idx="6"/>
                  <a:endCxn id="18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7FD1CA27-B703-55B5-B157-50502A5C425A}"/>
                    </a:ext>
                  </a:extLst>
                </p:cNvPr>
                <p:cNvCxnSpPr>
                  <a:cxnSpLocks/>
                  <a:stCxn id="15" idx="6"/>
                  <a:endCxn id="18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6C615A59-4692-7AD0-E640-992BC7E8052C}"/>
                    </a:ext>
                  </a:extLst>
                </p:cNvPr>
                <p:cNvCxnSpPr>
                  <a:cxnSpLocks/>
                  <a:stCxn id="16" idx="6"/>
                  <a:endCxn id="19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E32F5CB1-7D2D-B526-816A-C1D660D8C5D7}"/>
                    </a:ext>
                  </a:extLst>
                </p:cNvPr>
                <p:cNvCxnSpPr>
                  <a:cxnSpLocks/>
                  <a:stCxn id="15" idx="6"/>
                  <a:endCxn id="19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F9C9614B-8C56-E2B1-05B1-F92C16F9AFBD}"/>
                    </a:ext>
                  </a:extLst>
                </p:cNvPr>
                <p:cNvCxnSpPr>
                  <a:cxnSpLocks/>
                  <a:stCxn id="17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E65478ED-700D-8D2E-8AF6-58A4637271DB}"/>
                    </a:ext>
                  </a:extLst>
                </p:cNvPr>
                <p:cNvCxnSpPr>
                  <a:cxnSpLocks/>
                  <a:stCxn id="16" idx="6"/>
                  <a:endCxn id="20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B74DD7C0-8915-F0EB-B1E6-0002B3E73819}"/>
                    </a:ext>
                  </a:extLst>
                </p:cNvPr>
                <p:cNvCxnSpPr>
                  <a:cxnSpLocks/>
                  <a:stCxn id="17" idx="6"/>
                  <a:endCxn id="26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5772D83A-3C14-7BD5-1ACE-59F105595135}"/>
                    </a:ext>
                  </a:extLst>
                </p:cNvPr>
                <p:cNvCxnSpPr>
                  <a:cxnSpLocks/>
                  <a:stCxn id="25" idx="6"/>
                  <a:endCxn id="26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0DE98E75-626A-12A6-702D-A9D000A34A09}"/>
                    </a:ext>
                  </a:extLst>
                </p:cNvPr>
                <p:cNvCxnSpPr>
                  <a:cxnSpLocks/>
                  <a:stCxn id="25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EF618B2A-BFB6-A5A7-688B-E29AFD94513B}"/>
                    </a:ext>
                  </a:extLst>
                </p:cNvPr>
                <p:cNvCxnSpPr>
                  <a:cxnSpLocks/>
                  <a:stCxn id="17" idx="6"/>
                  <a:endCxn id="19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3BCE3775-7F37-8D4E-0E76-1DC53AF13D30}"/>
                    </a:ext>
                  </a:extLst>
                </p:cNvPr>
                <p:cNvCxnSpPr>
                  <a:cxnSpLocks/>
                  <a:stCxn id="16" idx="6"/>
                  <a:endCxn id="18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07CA96D3-2BA8-49B3-26A0-348693617A99}"/>
                    </a:ext>
                  </a:extLst>
                </p:cNvPr>
                <p:cNvCxnSpPr>
                  <a:cxnSpLocks/>
                  <a:stCxn id="14" idx="6"/>
                  <a:endCxn id="19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BEECB36-27EC-1504-0A9D-A2A35C694419}"/>
                    </a:ext>
                  </a:extLst>
                </p:cNvPr>
                <p:cNvCxnSpPr>
                  <a:cxnSpLocks/>
                  <a:stCxn id="16" idx="6"/>
                  <a:endCxn id="26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794B48A-691F-C224-B536-C1DE040DA019}"/>
                    </a:ext>
                  </a:extLst>
                </p:cNvPr>
                <p:cNvCxnSpPr>
                  <a:cxnSpLocks/>
                  <a:stCxn id="18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CC97ADC0-ECB4-4339-E8CD-3CEFC3F31FA0}"/>
                    </a:ext>
                  </a:extLst>
                </p:cNvPr>
                <p:cNvCxnSpPr>
                  <a:cxnSpLocks/>
                  <a:stCxn id="19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F70AF1FE-D035-EB4C-FEF7-1B2C576EFA91}"/>
                    </a:ext>
                  </a:extLst>
                </p:cNvPr>
                <p:cNvCxnSpPr>
                  <a:cxnSpLocks/>
                  <a:stCxn id="20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30E9A6A9-4562-94E1-B915-983E21D1C7AB}"/>
                    </a:ext>
                  </a:extLst>
                </p:cNvPr>
                <p:cNvCxnSpPr>
                  <a:cxnSpLocks/>
                  <a:stCxn id="26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10810105-2A93-4C26-6A41-60E3B80A5053}"/>
                    </a:ext>
                  </a:extLst>
                </p:cNvPr>
                <p:cNvCxnSpPr>
                  <a:cxnSpLocks/>
                  <a:stCxn id="26" idx="6"/>
                  <a:endCxn id="27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5556E5D2-BD41-391D-F5A7-BFC99C740084}"/>
                    </a:ext>
                  </a:extLst>
                </p:cNvPr>
                <p:cNvCxnSpPr>
                  <a:cxnSpLocks/>
                  <a:stCxn id="26" idx="6"/>
                  <a:endCxn id="24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9355AFE1-21D2-6BE0-F9F5-2C66036235E6}"/>
                    </a:ext>
                  </a:extLst>
                </p:cNvPr>
                <p:cNvCxnSpPr>
                  <a:cxnSpLocks/>
                  <a:stCxn id="20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D2ACFED-B941-95FE-A48E-7CBF38EC4912}"/>
                    </a:ext>
                  </a:extLst>
                </p:cNvPr>
                <p:cNvCxnSpPr>
                  <a:cxnSpLocks/>
                  <a:stCxn id="18" idx="6"/>
                  <a:endCxn id="22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2F714AB3-2FD6-C7BC-2B52-1AB15F88AD47}"/>
                    </a:ext>
                  </a:extLst>
                </p:cNvPr>
                <p:cNvCxnSpPr>
                  <a:cxnSpLocks/>
                  <a:stCxn id="19" idx="6"/>
                  <a:endCxn id="23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FA4AF753-F75D-0295-A2FA-2D7E8BCD89AC}"/>
                    </a:ext>
                  </a:extLst>
                </p:cNvPr>
                <p:cNvCxnSpPr>
                  <a:cxnSpLocks/>
                  <a:stCxn id="20" idx="6"/>
                  <a:endCxn id="24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CA5B85AD-F404-1EC9-72AD-6744361BF530}"/>
                    </a:ext>
                  </a:extLst>
                </p:cNvPr>
                <p:cNvCxnSpPr>
                  <a:cxnSpLocks/>
                  <a:stCxn id="18" idx="6"/>
                  <a:endCxn id="23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5CE13E24-CC83-0EDD-369F-AC9D7840D0B9}"/>
                    </a:ext>
                  </a:extLst>
                </p:cNvPr>
                <p:cNvCxnSpPr>
                  <a:cxnSpLocks/>
                  <a:stCxn id="20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4CA8944F-C502-F238-AF91-EE23020FE21C}"/>
                    </a:ext>
                  </a:extLst>
                </p:cNvPr>
                <p:cNvCxnSpPr>
                  <a:cxnSpLocks/>
                  <a:stCxn id="20" idx="6"/>
                  <a:endCxn id="27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779112CF-89F9-C0E3-9673-25C81D3B17D0}"/>
                    </a:ext>
                  </a:extLst>
                </p:cNvPr>
                <p:cNvCxnSpPr>
                  <a:cxnSpLocks/>
                  <a:stCxn id="26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E938FD58-9EA6-F1F8-6BDD-9744B77DFD5F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8CCB9014-6DB0-4172-3A96-B122F68C8C0E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D7661112-641C-448B-5717-9F7D6C408772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216AA8F4-C1C7-998E-E976-3F1BD17FB27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4071B329-36EA-0B29-5DEC-6A25709AB7E8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73A15E36-6BEE-8ACA-5018-2BCAC5A58861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20AD8FDB-F8B0-1680-5131-FF31B650E347}"/>
                    </a:ext>
                  </a:extLst>
                </p:cNvPr>
                <p:cNvCxnSpPr>
                  <a:cxnSpLocks/>
                  <a:stCxn id="55" idx="6"/>
                  <a:endCxn id="14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9097E652-DD2B-BE45-7390-54DB0EAE2837}"/>
                    </a:ext>
                  </a:extLst>
                </p:cNvPr>
                <p:cNvCxnSpPr>
                  <a:cxnSpLocks/>
                  <a:stCxn id="56" idx="6"/>
                  <a:endCxn id="15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01FD235B-FA9F-C8B7-E698-5887A05A7000}"/>
                    </a:ext>
                  </a:extLst>
                </p:cNvPr>
                <p:cNvCxnSpPr>
                  <a:cxnSpLocks/>
                  <a:stCxn id="57" idx="6"/>
                  <a:endCxn id="16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88724F59-E73E-A0AC-7C1A-37613B07DECD}"/>
                    </a:ext>
                  </a:extLst>
                </p:cNvPr>
                <p:cNvCxnSpPr>
                  <a:cxnSpLocks/>
                  <a:stCxn id="58" idx="6"/>
                  <a:endCxn id="17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B97CD670-87AB-B003-AE3D-8587CA2EC231}"/>
                    </a:ext>
                  </a:extLst>
                </p:cNvPr>
                <p:cNvCxnSpPr>
                  <a:cxnSpLocks/>
                  <a:stCxn id="59" idx="6"/>
                  <a:endCxn id="25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DA88C51B-395A-15EE-54C8-3C33D63F0C26}"/>
                    </a:ext>
                  </a:extLst>
                </p:cNvPr>
                <p:cNvCxnSpPr>
                  <a:cxnSpLocks/>
                  <a:stCxn id="60" idx="6"/>
                  <a:endCxn id="25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CD900165-2F3A-55EB-1A74-E22F5E9DC551}"/>
                    </a:ext>
                  </a:extLst>
                </p:cNvPr>
                <p:cNvCxnSpPr>
                  <a:cxnSpLocks/>
                  <a:stCxn id="59" idx="6"/>
                  <a:endCxn id="17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407B90F0-B901-9B68-A086-504AAEEF73B0}"/>
                    </a:ext>
                  </a:extLst>
                </p:cNvPr>
                <p:cNvCxnSpPr>
                  <a:cxnSpLocks/>
                  <a:stCxn id="57" idx="6"/>
                  <a:endCxn id="15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679748F9-EABB-530F-BEDB-CC3AEB4EFC0F}"/>
                    </a:ext>
                  </a:extLst>
                </p:cNvPr>
                <p:cNvCxnSpPr>
                  <a:cxnSpLocks/>
                  <a:stCxn id="56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EB156037-C1E7-0256-8F83-67DDCC67770B}"/>
                    </a:ext>
                  </a:extLst>
                </p:cNvPr>
                <p:cNvCxnSpPr>
                  <a:cxnSpLocks/>
                  <a:stCxn id="58" idx="6"/>
                  <a:endCxn id="25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F42772B-E325-4704-F3E5-11BB7E904198}"/>
                    </a:ext>
                  </a:extLst>
                </p:cNvPr>
                <p:cNvCxnSpPr>
                  <a:cxnSpLocks/>
                  <a:stCxn id="56" idx="6"/>
                  <a:endCxn id="17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B26C2193-670E-4D28-13A0-4C768D60E12D}"/>
                    </a:ext>
                  </a:extLst>
                </p:cNvPr>
                <p:cNvCxnSpPr>
                  <a:cxnSpLocks/>
                  <a:stCxn id="58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8BC8CE9F-AB24-C3D8-7480-92E14F4ED2CA}"/>
                    </a:ext>
                  </a:extLst>
                </p:cNvPr>
                <p:cNvCxnSpPr>
                  <a:cxnSpLocks/>
                  <a:stCxn id="60" idx="6"/>
                  <a:endCxn id="17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A9B77FB3-47AF-3096-790F-27BA98E1A553}"/>
                    </a:ext>
                  </a:extLst>
                </p:cNvPr>
                <p:cNvCxnSpPr>
                  <a:cxnSpLocks/>
                  <a:stCxn id="59" idx="6"/>
                  <a:endCxn id="16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258A3AE2-74DB-4569-1133-E2B2F3DE5E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96771D4B-B2A6-3805-B9FD-93491A1AD9CA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" name="Arrow: Right 8">
                <a:extLst>
                  <a:ext uri="{FF2B5EF4-FFF2-40B4-BE49-F238E27FC236}">
                    <a16:creationId xmlns:a16="http://schemas.microsoft.com/office/drawing/2014/main" id="{05AEA83A-9A19-7F8B-4BF8-85421685A4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2E10DA38-164C-6BE0-439E-83677CA4F1E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9247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6" name="TextBox 195">
                    <a:extLst>
                      <a:ext uri="{FF2B5EF4-FFF2-40B4-BE49-F238E27FC236}">
                        <a16:creationId xmlns:a16="http://schemas.microsoft.com/office/drawing/2014/main" id="{D64E343A-1D3A-216C-1B9D-C48B77179E88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92474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F0E4FA8-539B-1428-8C95-AC97DD783E40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CD6321C-F194-F363-0C4C-0B4453F807EC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Right Brace 12">
                <a:extLst>
                  <a:ext uri="{FF2B5EF4-FFF2-40B4-BE49-F238E27FC236}">
                    <a16:creationId xmlns:a16="http://schemas.microsoft.com/office/drawing/2014/main" id="{81798DE3-3E7D-6BAA-CB17-973E9462190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A4002B5-28B5-0BFD-E5E5-BFAEEA34D8D8}"/>
                    </a:ext>
                  </a:extLst>
                </p:cNvPr>
                <p:cNvSpPr txBox="1"/>
                <p:nvPr/>
              </p:nvSpPr>
              <p:spPr>
                <a:xfrm>
                  <a:off x="8909426" y="2084168"/>
                  <a:ext cx="629958" cy="404791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A4002B5-28B5-0BFD-E5E5-BFAEEA34D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9426" y="2084168"/>
                  <a:ext cx="629958" cy="40479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9" name="Table 78">
                <a:extLst>
                  <a:ext uri="{FF2B5EF4-FFF2-40B4-BE49-F238E27FC236}">
                    <a16:creationId xmlns:a16="http://schemas.microsoft.com/office/drawing/2014/main" id="{087F8568-16C0-C008-FD13-ADA22B9D38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4245818"/>
                  </p:ext>
                </p:extLst>
              </p:nvPr>
            </p:nvGraphicFramePr>
            <p:xfrm>
              <a:off x="8665465" y="1327672"/>
              <a:ext cx="1237920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94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27682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’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9" name="Table 78">
                <a:extLst>
                  <a:ext uri="{FF2B5EF4-FFF2-40B4-BE49-F238E27FC236}">
                    <a16:creationId xmlns:a16="http://schemas.microsoft.com/office/drawing/2014/main" id="{087F8568-16C0-C008-FD13-ADA22B9D38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4245818"/>
                  </p:ext>
                </p:extLst>
              </p:nvPr>
            </p:nvGraphicFramePr>
            <p:xfrm>
              <a:off x="8665465" y="1327672"/>
              <a:ext cx="1237920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94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1961" t="-2000" r="-3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101961" t="-2000" r="-2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201961" t="-2000" r="-1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301961" t="-2000" r="-7843" b="-20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8D642152-092D-9EC9-388B-C882CC9E7688}"/>
                  </a:ext>
                </a:extLst>
              </p:cNvPr>
              <p:cNvSpPr txBox="1"/>
              <p:nvPr/>
            </p:nvSpPr>
            <p:spPr>
              <a:xfrm>
                <a:off x="10034680" y="1132079"/>
                <a:ext cx="152822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Sampled</a:t>
                </a:r>
                <a:br>
                  <a:rPr lang="en-US" dirty="0"/>
                </a:br>
                <a:r>
                  <a:rPr lang="en-US" dirty="0"/>
                  <a:t>Experience with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8D642152-092D-9EC9-388B-C882CC9E76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4680" y="1132079"/>
                <a:ext cx="1528223" cy="1200329"/>
              </a:xfrm>
              <a:prstGeom prst="rect">
                <a:avLst/>
              </a:prstGeom>
              <a:blipFill>
                <a:blip r:embed="rId12"/>
                <a:stretch>
                  <a:fillRect t="-2538" r="-1195" b="-7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1" name="Table 80">
                <a:extLst>
                  <a:ext uri="{FF2B5EF4-FFF2-40B4-BE49-F238E27FC236}">
                    <a16:creationId xmlns:a16="http://schemas.microsoft.com/office/drawing/2014/main" id="{71E9565F-7E9F-A336-F5AA-820CA711CB6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1345900"/>
                  </p:ext>
                </p:extLst>
              </p:nvPr>
            </p:nvGraphicFramePr>
            <p:xfrm>
              <a:off x="8233106" y="2547797"/>
              <a:ext cx="2129583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744495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718956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457852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27682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1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1" name="Table 80">
                <a:extLst>
                  <a:ext uri="{FF2B5EF4-FFF2-40B4-BE49-F238E27FC236}">
                    <a16:creationId xmlns:a16="http://schemas.microsoft.com/office/drawing/2014/main" id="{71E9565F-7E9F-A336-F5AA-820CA711CB6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1345900"/>
                  </p:ext>
                </p:extLst>
              </p:nvPr>
            </p:nvGraphicFramePr>
            <p:xfrm>
              <a:off x="8233106" y="2547797"/>
              <a:ext cx="2129583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744495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718956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457852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2941" t="-2000" r="-944118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28455" t="-2000" r="-160976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133898" t="-2000" r="-67797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368000" t="-2000" r="-6667" b="-20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2" name="TextBox 81">
            <a:extLst>
              <a:ext uri="{FF2B5EF4-FFF2-40B4-BE49-F238E27FC236}">
                <a16:creationId xmlns:a16="http://schemas.microsoft.com/office/drawing/2014/main" id="{1D05005B-0C18-B507-AB1A-570FF1DE560B}"/>
              </a:ext>
            </a:extLst>
          </p:cNvPr>
          <p:cNvSpPr txBox="1"/>
          <p:nvPr/>
        </p:nvSpPr>
        <p:spPr>
          <a:xfrm>
            <a:off x="10374987" y="2820331"/>
            <a:ext cx="1987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Training data</a:t>
            </a: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984E1BA-B2A1-B813-0951-74D460478FA0}"/>
              </a:ext>
            </a:extLst>
          </p:cNvPr>
          <p:cNvGrpSpPr/>
          <p:nvPr/>
        </p:nvGrpSpPr>
        <p:grpSpPr>
          <a:xfrm>
            <a:off x="9327619" y="3499663"/>
            <a:ext cx="905285" cy="988724"/>
            <a:chOff x="9327619" y="3499663"/>
            <a:chExt cx="905285" cy="988724"/>
          </a:xfrm>
        </p:grpSpPr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A0F94964-1510-AC08-C3A0-7AC38CF5908E}"/>
                </a:ext>
              </a:extLst>
            </p:cNvPr>
            <p:cNvCxnSpPr>
              <a:cxnSpLocks/>
            </p:cNvCxnSpPr>
            <p:nvPr/>
          </p:nvCxnSpPr>
          <p:spPr>
            <a:xfrm>
              <a:off x="9327619" y="3499663"/>
              <a:ext cx="0" cy="988724"/>
            </a:xfrm>
            <a:prstGeom prst="straightConnector1">
              <a:avLst/>
            </a:pr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73FB76E-0D9C-0C3C-4C6C-C1294267BA93}"/>
                </a:ext>
              </a:extLst>
            </p:cNvPr>
            <p:cNvSpPr txBox="1"/>
            <p:nvPr/>
          </p:nvSpPr>
          <p:spPr>
            <a:xfrm>
              <a:off x="9390105" y="3556468"/>
              <a:ext cx="84279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Update network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56E8880-2A2B-A5EB-4A99-8FCBC027E06E}"/>
              </a:ext>
            </a:extLst>
          </p:cNvPr>
          <p:cNvGrpSpPr/>
          <p:nvPr/>
        </p:nvGrpSpPr>
        <p:grpSpPr>
          <a:xfrm>
            <a:off x="9297897" y="1936362"/>
            <a:ext cx="1051504" cy="611435"/>
            <a:chOff x="9297897" y="1936362"/>
            <a:chExt cx="1051504" cy="611435"/>
          </a:xfrm>
        </p:grpSpPr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AD339D77-8053-455B-B3D5-470DB97F107A}"/>
                </a:ext>
              </a:extLst>
            </p:cNvPr>
            <p:cNvCxnSpPr>
              <a:cxnSpLocks/>
              <a:endCxn id="81" idx="0"/>
            </p:cNvCxnSpPr>
            <p:nvPr/>
          </p:nvCxnSpPr>
          <p:spPr>
            <a:xfrm>
              <a:off x="9297897" y="1953638"/>
              <a:ext cx="0" cy="594159"/>
            </a:xfrm>
            <a:prstGeom prst="straightConnector1">
              <a:avLst/>
            </a:pr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DA4157E-5444-B082-7D5D-6084402D77C1}"/>
                </a:ext>
              </a:extLst>
            </p:cNvPr>
            <p:cNvSpPr txBox="1"/>
            <p:nvPr/>
          </p:nvSpPr>
          <p:spPr>
            <a:xfrm>
              <a:off x="9304363" y="1936362"/>
              <a:ext cx="104503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Estimate Q-values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6C5CD441-FBD1-9136-5AAE-986DF45097F6}"/>
              </a:ext>
            </a:extLst>
          </p:cNvPr>
          <p:cNvSpPr txBox="1"/>
          <p:nvPr/>
        </p:nvSpPr>
        <p:spPr>
          <a:xfrm>
            <a:off x="9225466" y="5351320"/>
            <a:ext cx="13270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Linear </a:t>
            </a:r>
            <a:br>
              <a:rPr lang="en-US" sz="1100" dirty="0"/>
            </a:br>
            <a:r>
              <a:rPr lang="en-US" sz="1100" dirty="0"/>
              <a:t>activation</a:t>
            </a:r>
          </a:p>
        </p:txBody>
      </p:sp>
    </p:spTree>
    <p:extLst>
      <p:ext uri="{BB962C8B-B14F-4D97-AF65-F5344CB8AC3E}">
        <p14:creationId xmlns:p14="http://schemas.microsoft.com/office/powerpoint/2010/main" val="2434878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" grpId="0"/>
      <p:bldP spid="8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B4F2E-6E5B-41A1-D21E-B8654373A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Deep Q-Network (DQN; Minh et al, 2015)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0386F8-3239-738F-814D-CCD921E328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54875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DNQ addresses the </a:t>
                </a:r>
                <a:r>
                  <a:rPr lang="en-US" b="1" dirty="0"/>
                  <a:t>instability</a:t>
                </a:r>
                <a:r>
                  <a:rPr lang="en-US" dirty="0"/>
                  <a:t> of NFQ.</a:t>
                </a:r>
              </a:p>
              <a:p>
                <a:r>
                  <a:rPr lang="en-US" b="1" dirty="0"/>
                  <a:t>Idea</a:t>
                </a:r>
                <a:r>
                  <a:rPr lang="en-US" dirty="0"/>
                  <a:t>: reduce instability by calculating the target from a second Q-network that is updated slowly: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r>
                  <a:rPr lang="en-US" b="1" dirty="0"/>
                  <a:t>Updates</a:t>
                </a:r>
                <a:r>
                  <a:rPr lang="en-US" dirty="0"/>
                  <a:t>:   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updated every iteration: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dirty="0"/>
                  <a:t> is updated only 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iterations by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Effect</a:t>
                </a:r>
                <a:r>
                  <a:rPr lang="en-US" dirty="0"/>
                  <a:t>: Target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estimates are kept constant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iterations, instabilities cannot propagate quickly.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0386F8-3239-738F-814D-CCD921E328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54875" cy="4779633"/>
              </a:xfrm>
              <a:blipFill>
                <a:blip r:embed="rId2"/>
                <a:stretch>
                  <a:fillRect l="-1264" t="-2806" r="-1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9" name="Group 148">
            <a:extLst>
              <a:ext uri="{FF2B5EF4-FFF2-40B4-BE49-F238E27FC236}">
                <a16:creationId xmlns:a16="http://schemas.microsoft.com/office/drawing/2014/main" id="{75F9EDBD-F79D-4B23-35B4-8E6A4C5882D9}"/>
              </a:ext>
            </a:extLst>
          </p:cNvPr>
          <p:cNvGrpSpPr/>
          <p:nvPr/>
        </p:nvGrpSpPr>
        <p:grpSpPr>
          <a:xfrm>
            <a:off x="7653675" y="3990120"/>
            <a:ext cx="4433206" cy="2296381"/>
            <a:chOff x="7689090" y="3699477"/>
            <a:chExt cx="4433206" cy="2296381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17B071E3-7BFD-D1A5-5568-571D7F49A5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689090" y="3699477"/>
              <a:ext cx="4433206" cy="2296381"/>
              <a:chOff x="1129787" y="3714030"/>
              <a:chExt cx="4433206" cy="2296381"/>
            </a:xfrm>
          </p:grpSpPr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137BB8D-431E-5930-D01B-1B5F67E50FA3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889929" y="5364080"/>
                <a:ext cx="191197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Target Q-network</a:t>
                </a:r>
                <a:br>
                  <a:rPr lang="en-US" dirty="0"/>
                </a:br>
                <a:r>
                  <a:rPr lang="en-US" dirty="0"/>
                  <a:t>(slow updates)</a:t>
                </a:r>
              </a:p>
            </p:txBody>
          </p: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E3B73F39-A1D0-E80E-0719-3F4DA6534E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85" name="Oval 84">
                  <a:extLst>
                    <a:ext uri="{FF2B5EF4-FFF2-40B4-BE49-F238E27FC236}">
                      <a16:creationId xmlns:a16="http://schemas.microsoft.com/office/drawing/2014/main" id="{07E42B9D-A8F3-9FAB-83AA-59CEEBD8B17C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Oval 85">
                  <a:extLst>
                    <a:ext uri="{FF2B5EF4-FFF2-40B4-BE49-F238E27FC236}">
                      <a16:creationId xmlns:a16="http://schemas.microsoft.com/office/drawing/2014/main" id="{4ED06E3D-9D9D-F904-0BAE-EC18019B3750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Oval 86">
                  <a:extLst>
                    <a:ext uri="{FF2B5EF4-FFF2-40B4-BE49-F238E27FC236}">
                      <a16:creationId xmlns:a16="http://schemas.microsoft.com/office/drawing/2014/main" id="{6A7922CB-2515-7F56-8ED7-4616CC4A0AE3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C337098A-5DDA-FA1D-2BDD-C55C44A168B2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29F6737C-47E0-8199-1B89-78D69695DA7D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898DAB0A-9C1C-9E09-96E7-BC3B08981EA7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E15CADC4-2A09-0F50-89C7-3DC90B3021BF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Oval 91">
                  <a:extLst>
                    <a:ext uri="{FF2B5EF4-FFF2-40B4-BE49-F238E27FC236}">
                      <a16:creationId xmlns:a16="http://schemas.microsoft.com/office/drawing/2014/main" id="{74E6B00B-5436-A649-27FD-06D391894B99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C76D074A-0404-86F5-AACC-E049A34A6E42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13B8A852-A991-1289-3116-1633D5C9C8E9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2BE43843-A69A-42A9-8F35-F1025E2BB726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0DDD4D2-7698-8FCD-C21C-9137378E73D5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9D178A9C-B523-D6D7-6958-4ACA8B483EF3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86D1A020-95EC-6834-EE56-66012F2E6EDC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B7EE9705-5B7B-BFFF-AC43-B46D432CC32B}"/>
                    </a:ext>
                  </a:extLst>
                </p:cNvPr>
                <p:cNvCxnSpPr>
                  <a:cxnSpLocks/>
                  <a:stCxn id="85" idx="6"/>
                  <a:endCxn id="89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E91DB885-6230-F976-1AF0-D5F824889A76}"/>
                    </a:ext>
                  </a:extLst>
                </p:cNvPr>
                <p:cNvCxnSpPr>
                  <a:cxnSpLocks/>
                  <a:stCxn id="86" idx="6"/>
                  <a:endCxn id="89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7362765A-2B12-1C06-8B2D-E00F9B959BEC}"/>
                    </a:ext>
                  </a:extLst>
                </p:cNvPr>
                <p:cNvCxnSpPr>
                  <a:cxnSpLocks/>
                  <a:stCxn id="87" idx="6"/>
                  <a:endCxn id="90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A4520809-F04E-31DF-A742-4BBDDDA4E083}"/>
                    </a:ext>
                  </a:extLst>
                </p:cNvPr>
                <p:cNvCxnSpPr>
                  <a:cxnSpLocks/>
                  <a:stCxn id="86" idx="6"/>
                  <a:endCxn id="90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617A8CD0-4B05-9CAC-5ABB-B8CD814D49D9}"/>
                    </a:ext>
                  </a:extLst>
                </p:cNvPr>
                <p:cNvCxnSpPr>
                  <a:cxnSpLocks/>
                  <a:stCxn id="88" idx="6"/>
                  <a:endCxn id="91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A06399DD-3867-E6CB-EC14-4EED01436CEC}"/>
                    </a:ext>
                  </a:extLst>
                </p:cNvPr>
                <p:cNvCxnSpPr>
                  <a:cxnSpLocks/>
                  <a:stCxn id="87" idx="6"/>
                  <a:endCxn id="91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187A3D28-F17B-5431-D230-6F5DA196F00B}"/>
                    </a:ext>
                  </a:extLst>
                </p:cNvPr>
                <p:cNvCxnSpPr>
                  <a:cxnSpLocks/>
                  <a:stCxn id="88" idx="6"/>
                  <a:endCxn id="97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A3189F60-BF15-F448-062C-22119F52F418}"/>
                    </a:ext>
                  </a:extLst>
                </p:cNvPr>
                <p:cNvCxnSpPr>
                  <a:cxnSpLocks/>
                  <a:stCxn id="96" idx="6"/>
                  <a:endCxn id="97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587E4CB9-6E37-96C2-C00F-E236EB24E163}"/>
                    </a:ext>
                  </a:extLst>
                </p:cNvPr>
                <p:cNvCxnSpPr>
                  <a:cxnSpLocks/>
                  <a:stCxn id="96" idx="6"/>
                  <a:endCxn id="91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8" name="Straight Connector 107">
                  <a:extLst>
                    <a:ext uri="{FF2B5EF4-FFF2-40B4-BE49-F238E27FC236}">
                      <a16:creationId xmlns:a16="http://schemas.microsoft.com/office/drawing/2014/main" id="{46FFDF35-CE72-2D5B-9FB8-EC0D9D0A2714}"/>
                    </a:ext>
                  </a:extLst>
                </p:cNvPr>
                <p:cNvCxnSpPr>
                  <a:cxnSpLocks/>
                  <a:stCxn id="88" idx="6"/>
                  <a:endCxn id="90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D2BD0F76-D3B1-CF6D-BDAC-F08A0F06AA5A}"/>
                    </a:ext>
                  </a:extLst>
                </p:cNvPr>
                <p:cNvCxnSpPr>
                  <a:cxnSpLocks/>
                  <a:stCxn id="87" idx="6"/>
                  <a:endCxn id="89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0" name="Straight Connector 109">
                  <a:extLst>
                    <a:ext uri="{FF2B5EF4-FFF2-40B4-BE49-F238E27FC236}">
                      <a16:creationId xmlns:a16="http://schemas.microsoft.com/office/drawing/2014/main" id="{144D9BCC-A917-F44C-5749-288395654195}"/>
                    </a:ext>
                  </a:extLst>
                </p:cNvPr>
                <p:cNvCxnSpPr>
                  <a:cxnSpLocks/>
                  <a:stCxn id="85" idx="6"/>
                  <a:endCxn id="90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E9BC331C-C277-5885-4997-659489902AA0}"/>
                    </a:ext>
                  </a:extLst>
                </p:cNvPr>
                <p:cNvCxnSpPr>
                  <a:cxnSpLocks/>
                  <a:stCxn id="87" idx="6"/>
                  <a:endCxn id="97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2" name="Straight Connector 111">
                  <a:extLst>
                    <a:ext uri="{FF2B5EF4-FFF2-40B4-BE49-F238E27FC236}">
                      <a16:creationId xmlns:a16="http://schemas.microsoft.com/office/drawing/2014/main" id="{233D3B38-B518-4129-466B-3AC1A439F48A}"/>
                    </a:ext>
                  </a:extLst>
                </p:cNvPr>
                <p:cNvCxnSpPr>
                  <a:cxnSpLocks/>
                  <a:stCxn id="89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B0BE2B9C-1220-AC5A-2145-F7C4FC4F2888}"/>
                    </a:ext>
                  </a:extLst>
                </p:cNvPr>
                <p:cNvCxnSpPr>
                  <a:cxnSpLocks/>
                  <a:stCxn id="90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4" name="Straight Connector 113">
                  <a:extLst>
                    <a:ext uri="{FF2B5EF4-FFF2-40B4-BE49-F238E27FC236}">
                      <a16:creationId xmlns:a16="http://schemas.microsoft.com/office/drawing/2014/main" id="{F4852322-F2E7-2CBE-BB2E-E557D652846D}"/>
                    </a:ext>
                  </a:extLst>
                </p:cNvPr>
                <p:cNvCxnSpPr>
                  <a:cxnSpLocks/>
                  <a:stCxn id="91" idx="6"/>
                  <a:endCxn id="93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DC56FED8-23C0-A743-6908-83E71EE9EDFB}"/>
                    </a:ext>
                  </a:extLst>
                </p:cNvPr>
                <p:cNvCxnSpPr>
                  <a:cxnSpLocks/>
                  <a:stCxn id="97" idx="6"/>
                  <a:endCxn id="94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6" name="Straight Connector 115">
                  <a:extLst>
                    <a:ext uri="{FF2B5EF4-FFF2-40B4-BE49-F238E27FC236}">
                      <a16:creationId xmlns:a16="http://schemas.microsoft.com/office/drawing/2014/main" id="{D6DE6AE1-C28C-0920-FCEA-0858CD297C0F}"/>
                    </a:ext>
                  </a:extLst>
                </p:cNvPr>
                <p:cNvCxnSpPr>
                  <a:cxnSpLocks/>
                  <a:stCxn id="97" idx="6"/>
                  <a:endCxn id="98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7" name="Straight Connector 116">
                  <a:extLst>
                    <a:ext uri="{FF2B5EF4-FFF2-40B4-BE49-F238E27FC236}">
                      <a16:creationId xmlns:a16="http://schemas.microsoft.com/office/drawing/2014/main" id="{17DE63D0-41C1-CBD1-88AF-7256700502D2}"/>
                    </a:ext>
                  </a:extLst>
                </p:cNvPr>
                <p:cNvCxnSpPr>
                  <a:cxnSpLocks/>
                  <a:stCxn id="97" idx="6"/>
                  <a:endCxn id="95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8" name="Straight Connector 117">
                  <a:extLst>
                    <a:ext uri="{FF2B5EF4-FFF2-40B4-BE49-F238E27FC236}">
                      <a16:creationId xmlns:a16="http://schemas.microsoft.com/office/drawing/2014/main" id="{5DF7CEE8-CBCD-0A94-91AA-35B5F6A3DB28}"/>
                    </a:ext>
                  </a:extLst>
                </p:cNvPr>
                <p:cNvCxnSpPr>
                  <a:cxnSpLocks/>
                  <a:stCxn id="91" idx="6"/>
                  <a:endCxn id="94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AC16034E-11E9-2B42-1815-FAFDB0A00871}"/>
                    </a:ext>
                  </a:extLst>
                </p:cNvPr>
                <p:cNvCxnSpPr>
                  <a:cxnSpLocks/>
                  <a:stCxn id="89" idx="6"/>
                  <a:endCxn id="93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0" name="Straight Connector 119">
                  <a:extLst>
                    <a:ext uri="{FF2B5EF4-FFF2-40B4-BE49-F238E27FC236}">
                      <a16:creationId xmlns:a16="http://schemas.microsoft.com/office/drawing/2014/main" id="{C7BB65B6-12F0-EF49-427B-361BDB6A4174}"/>
                    </a:ext>
                  </a:extLst>
                </p:cNvPr>
                <p:cNvCxnSpPr>
                  <a:cxnSpLocks/>
                  <a:stCxn id="90" idx="6"/>
                  <a:endCxn id="94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1" name="Straight Connector 120">
                  <a:extLst>
                    <a:ext uri="{FF2B5EF4-FFF2-40B4-BE49-F238E27FC236}">
                      <a16:creationId xmlns:a16="http://schemas.microsoft.com/office/drawing/2014/main" id="{62D6EF11-EB3B-B08B-44A8-DB0EEC9B2FA5}"/>
                    </a:ext>
                  </a:extLst>
                </p:cNvPr>
                <p:cNvCxnSpPr>
                  <a:cxnSpLocks/>
                  <a:stCxn id="91" idx="6"/>
                  <a:endCxn id="95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8BDECBC5-04C3-4C17-6394-8969BB10A279}"/>
                    </a:ext>
                  </a:extLst>
                </p:cNvPr>
                <p:cNvCxnSpPr>
                  <a:cxnSpLocks/>
                  <a:stCxn id="89" idx="6"/>
                  <a:endCxn id="94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3" name="Straight Connector 122">
                  <a:extLst>
                    <a:ext uri="{FF2B5EF4-FFF2-40B4-BE49-F238E27FC236}">
                      <a16:creationId xmlns:a16="http://schemas.microsoft.com/office/drawing/2014/main" id="{FF30C031-713B-C485-F0A2-A8A212145E2E}"/>
                    </a:ext>
                  </a:extLst>
                </p:cNvPr>
                <p:cNvCxnSpPr>
                  <a:cxnSpLocks/>
                  <a:stCxn id="91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4" name="Straight Connector 123">
                  <a:extLst>
                    <a:ext uri="{FF2B5EF4-FFF2-40B4-BE49-F238E27FC236}">
                      <a16:creationId xmlns:a16="http://schemas.microsoft.com/office/drawing/2014/main" id="{E6C3E0DE-99BF-BE6F-94CD-B1DE7CB686B4}"/>
                    </a:ext>
                  </a:extLst>
                </p:cNvPr>
                <p:cNvCxnSpPr>
                  <a:cxnSpLocks/>
                  <a:stCxn id="91" idx="6"/>
                  <a:endCxn id="98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5" name="Straight Connector 124">
                  <a:extLst>
                    <a:ext uri="{FF2B5EF4-FFF2-40B4-BE49-F238E27FC236}">
                      <a16:creationId xmlns:a16="http://schemas.microsoft.com/office/drawing/2014/main" id="{D101F243-0B69-1408-3235-938F7446B43E}"/>
                    </a:ext>
                  </a:extLst>
                </p:cNvPr>
                <p:cNvCxnSpPr>
                  <a:cxnSpLocks/>
                  <a:stCxn id="97" idx="6"/>
                  <a:endCxn id="93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0728937D-2289-CB1D-B0E2-8C16F5CE007E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Oval 126">
                  <a:extLst>
                    <a:ext uri="{FF2B5EF4-FFF2-40B4-BE49-F238E27FC236}">
                      <a16:creationId xmlns:a16="http://schemas.microsoft.com/office/drawing/2014/main" id="{302EAB97-67A2-E198-5E4C-E212C2EF7E4F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C025C051-035D-3832-057E-C800DDD0BF8C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73EFAB-2035-D17B-683A-B04DFF13E03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CCDBB7E1-1FC0-D57E-6A7C-F026A79EA1F9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Oval 130">
                  <a:extLst>
                    <a:ext uri="{FF2B5EF4-FFF2-40B4-BE49-F238E27FC236}">
                      <a16:creationId xmlns:a16="http://schemas.microsoft.com/office/drawing/2014/main" id="{E7A2B2E8-870B-3314-C6F1-A94508022E28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7BD2FF29-149A-DD1B-0127-A7F4EF631C6C}"/>
                    </a:ext>
                  </a:extLst>
                </p:cNvPr>
                <p:cNvCxnSpPr>
                  <a:cxnSpLocks/>
                  <a:stCxn id="126" idx="6"/>
                  <a:endCxn id="85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3" name="Straight Connector 132">
                  <a:extLst>
                    <a:ext uri="{FF2B5EF4-FFF2-40B4-BE49-F238E27FC236}">
                      <a16:creationId xmlns:a16="http://schemas.microsoft.com/office/drawing/2014/main" id="{98E645E6-9BEE-2462-51C4-2630423213E1}"/>
                    </a:ext>
                  </a:extLst>
                </p:cNvPr>
                <p:cNvCxnSpPr>
                  <a:cxnSpLocks/>
                  <a:stCxn id="127" idx="6"/>
                  <a:endCxn id="86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0B6A2464-55AB-3D6F-C3AA-2E3C34B39216}"/>
                    </a:ext>
                  </a:extLst>
                </p:cNvPr>
                <p:cNvCxnSpPr>
                  <a:cxnSpLocks/>
                  <a:stCxn id="128" idx="6"/>
                  <a:endCxn id="87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5" name="Straight Connector 134">
                  <a:extLst>
                    <a:ext uri="{FF2B5EF4-FFF2-40B4-BE49-F238E27FC236}">
                      <a16:creationId xmlns:a16="http://schemas.microsoft.com/office/drawing/2014/main" id="{9A2C0D35-6B37-93BE-92B5-62B61B0E7145}"/>
                    </a:ext>
                  </a:extLst>
                </p:cNvPr>
                <p:cNvCxnSpPr>
                  <a:cxnSpLocks/>
                  <a:stCxn id="129" idx="6"/>
                  <a:endCxn id="88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6" name="Straight Connector 135">
                  <a:extLst>
                    <a:ext uri="{FF2B5EF4-FFF2-40B4-BE49-F238E27FC236}">
                      <a16:creationId xmlns:a16="http://schemas.microsoft.com/office/drawing/2014/main" id="{D5F106E0-EF48-9BAE-4FB4-58D167C1270A}"/>
                    </a:ext>
                  </a:extLst>
                </p:cNvPr>
                <p:cNvCxnSpPr>
                  <a:cxnSpLocks/>
                  <a:stCxn id="130" idx="6"/>
                  <a:endCxn id="96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D684E00F-6433-AD04-B3A3-A767EDABCFC8}"/>
                    </a:ext>
                  </a:extLst>
                </p:cNvPr>
                <p:cNvCxnSpPr>
                  <a:cxnSpLocks/>
                  <a:stCxn id="131" idx="6"/>
                  <a:endCxn id="96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8" name="Straight Connector 137">
                  <a:extLst>
                    <a:ext uri="{FF2B5EF4-FFF2-40B4-BE49-F238E27FC236}">
                      <a16:creationId xmlns:a16="http://schemas.microsoft.com/office/drawing/2014/main" id="{C5EFBF30-83AC-A030-533A-9E8F11B2C582}"/>
                    </a:ext>
                  </a:extLst>
                </p:cNvPr>
                <p:cNvCxnSpPr>
                  <a:cxnSpLocks/>
                  <a:stCxn id="130" idx="6"/>
                  <a:endCxn id="88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153ABF5A-8223-601C-E619-FCD54C671F74}"/>
                    </a:ext>
                  </a:extLst>
                </p:cNvPr>
                <p:cNvCxnSpPr>
                  <a:cxnSpLocks/>
                  <a:stCxn id="128" idx="6"/>
                  <a:endCxn id="86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06429D10-30F1-9F74-CE2A-2BA86F5B4137}"/>
                    </a:ext>
                  </a:extLst>
                </p:cNvPr>
                <p:cNvCxnSpPr>
                  <a:cxnSpLocks/>
                  <a:stCxn id="127" idx="6"/>
                  <a:endCxn id="85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624D76A1-BB36-122F-EAFF-9A53D64FB552}"/>
                    </a:ext>
                  </a:extLst>
                </p:cNvPr>
                <p:cNvCxnSpPr>
                  <a:cxnSpLocks/>
                  <a:stCxn id="129" idx="6"/>
                  <a:endCxn id="96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FDEB9E69-B567-CC12-72AE-BDFC312072CF}"/>
                    </a:ext>
                  </a:extLst>
                </p:cNvPr>
                <p:cNvCxnSpPr>
                  <a:cxnSpLocks/>
                  <a:stCxn id="127" idx="6"/>
                  <a:endCxn id="88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4C8818CD-D843-3703-41E6-2AA41A322D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87051" y="5181058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0748769B-1BB4-92F0-D084-4651F4B8B704}"/>
                    </a:ext>
                  </a:extLst>
                </p:cNvPr>
                <p:cNvCxnSpPr>
                  <a:cxnSpLocks/>
                  <a:stCxn id="131" idx="6"/>
                  <a:endCxn id="88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D2179119-114B-F2AD-0405-603CA452FCA2}"/>
                    </a:ext>
                  </a:extLst>
                </p:cNvPr>
                <p:cNvCxnSpPr>
                  <a:cxnSpLocks/>
                  <a:stCxn id="130" idx="6"/>
                  <a:endCxn id="87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8" name="Arrow: Right 77">
                <a:extLst>
                  <a:ext uri="{FF2B5EF4-FFF2-40B4-BE49-F238E27FC236}">
                    <a16:creationId xmlns:a16="http://schemas.microsoft.com/office/drawing/2014/main" id="{4C13843C-57A2-1F6A-7902-111CCFD124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TextBox 78">
                    <a:extLst>
                      <a:ext uri="{FF2B5EF4-FFF2-40B4-BE49-F238E27FC236}">
                        <a16:creationId xmlns:a16="http://schemas.microsoft.com/office/drawing/2014/main" id="{15F74D2E-6858-EB2F-F12B-B1B771911CD6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0" name="Arrow: Right 79">
                <a:extLst>
                  <a:ext uri="{FF2B5EF4-FFF2-40B4-BE49-F238E27FC236}">
                    <a16:creationId xmlns:a16="http://schemas.microsoft.com/office/drawing/2014/main" id="{D06714FA-AD58-50CF-4B8A-F6966B2E78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BC8D477E-6F57-237D-2B37-A109E7CC4AE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1437317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BC8D477E-6F57-237D-2B37-A109E7CC4AE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143731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Box 81">
                    <a:extLst>
                      <a:ext uri="{FF2B5EF4-FFF2-40B4-BE49-F238E27FC236}">
                        <a16:creationId xmlns:a16="http://schemas.microsoft.com/office/drawing/2014/main" id="{7E3F3479-6484-8A71-9DEC-CDD5474DC1A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Box 82">
                    <a:extLst>
                      <a:ext uri="{FF2B5EF4-FFF2-40B4-BE49-F238E27FC236}">
                        <a16:creationId xmlns:a16="http://schemas.microsoft.com/office/drawing/2014/main" id="{7C5F5CFF-2096-0224-3ACE-B83048721FE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4" name="Right Brace 83">
                <a:extLst>
                  <a:ext uri="{FF2B5EF4-FFF2-40B4-BE49-F238E27FC236}">
                    <a16:creationId xmlns:a16="http://schemas.microsoft.com/office/drawing/2014/main" id="{9EE6A799-DA3B-0FD1-0208-54C74C1289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7373CFF3-70E1-2A4C-0371-7B953A8185A0}"/>
                    </a:ext>
                  </a:extLst>
                </p:cNvPr>
                <p:cNvSpPr txBox="1"/>
                <p:nvPr/>
              </p:nvSpPr>
              <p:spPr>
                <a:xfrm>
                  <a:off x="9038922" y="4476805"/>
                  <a:ext cx="629958" cy="369332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7373CFF3-70E1-2A4C-0371-7B953A8185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8922" y="4476805"/>
                  <a:ext cx="62995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2638D313-55B0-4CE5-BE23-F9273293A176}"/>
              </a:ext>
            </a:extLst>
          </p:cNvPr>
          <p:cNvGrpSpPr/>
          <p:nvPr/>
        </p:nvGrpSpPr>
        <p:grpSpPr>
          <a:xfrm>
            <a:off x="7580237" y="1165565"/>
            <a:ext cx="4322919" cy="2172703"/>
            <a:chOff x="7678230" y="878146"/>
            <a:chExt cx="4322919" cy="217270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CFF53E6-1258-AA36-8607-9E89FD06AB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678230" y="878146"/>
              <a:ext cx="4322919" cy="2172703"/>
              <a:chOff x="1129787" y="3142186"/>
              <a:chExt cx="4322919" cy="2172703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AC26CF-A932-4106-C104-07850D73EFA9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655515" y="3142186"/>
                <a:ext cx="249293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Prediction Q-network </a:t>
                </a:r>
                <a:br>
                  <a:rPr lang="en-US" dirty="0"/>
                </a:br>
                <a:r>
                  <a:rPr lang="en-US" dirty="0"/>
                  <a:t>(fast updates)</a:t>
                </a:r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4A78A1E6-7BE5-7A99-2C6D-ACA9DC714DE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FBFA378B-5601-E75E-45DB-CD0B4F7860A5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DBE6A94-E514-8BFC-8E3C-72F5B8094310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5663EE61-2212-A93D-6AF2-30A6AAD53415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4A1F6D70-270A-F392-85EC-6A84C23FADF3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20117B64-1840-14E2-4FA8-8F15132903ED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E4929AA-0DB0-5538-F6AB-81F3154048EB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96F71936-17DE-39D2-B7D0-C8C5E4ADC820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3A1286EC-908E-1E47-D8B5-5A05B1A54C98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C9D2EF4C-2FB3-82C0-0E45-99D0EABB9E8C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BA7C2B93-F450-2269-6586-58F964CF81DC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5142E9DB-665B-DE63-C77E-F7BA319955C0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7A85CDE0-BDA5-9594-C890-76CBE6BFCA0D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00FC17D0-0550-ED2E-7CC3-C7EA352772C2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F563A177-903A-3ED8-3CCF-01E0D63F56FD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7F7ECC0D-F47F-1E9E-0FCC-8C72E8BEBF4D}"/>
                    </a:ext>
                  </a:extLst>
                </p:cNvPr>
                <p:cNvCxnSpPr>
                  <a:cxnSpLocks/>
                  <a:stCxn id="14" idx="6"/>
                  <a:endCxn id="18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EDB66A27-8863-47FF-AA63-056A192E48ED}"/>
                    </a:ext>
                  </a:extLst>
                </p:cNvPr>
                <p:cNvCxnSpPr>
                  <a:cxnSpLocks/>
                  <a:stCxn id="15" idx="6"/>
                  <a:endCxn id="18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84C6C656-9AFB-6441-2BBA-AA01F61ED083}"/>
                    </a:ext>
                  </a:extLst>
                </p:cNvPr>
                <p:cNvCxnSpPr>
                  <a:cxnSpLocks/>
                  <a:stCxn id="16" idx="6"/>
                  <a:endCxn id="19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5D97206B-25D3-38A0-7291-885A28B90F17}"/>
                    </a:ext>
                  </a:extLst>
                </p:cNvPr>
                <p:cNvCxnSpPr>
                  <a:cxnSpLocks/>
                  <a:stCxn id="15" idx="6"/>
                  <a:endCxn id="19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39A68EFB-97E3-8F2E-4D52-6B3971E12C5C}"/>
                    </a:ext>
                  </a:extLst>
                </p:cNvPr>
                <p:cNvCxnSpPr>
                  <a:cxnSpLocks/>
                  <a:stCxn id="17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0FB23C3F-4676-38B5-E171-5FD80555044A}"/>
                    </a:ext>
                  </a:extLst>
                </p:cNvPr>
                <p:cNvCxnSpPr>
                  <a:cxnSpLocks/>
                  <a:stCxn id="16" idx="6"/>
                  <a:endCxn id="20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DA341D57-AD6A-6B73-AD85-8A718DE53D8F}"/>
                    </a:ext>
                  </a:extLst>
                </p:cNvPr>
                <p:cNvCxnSpPr>
                  <a:cxnSpLocks/>
                  <a:stCxn id="17" idx="6"/>
                  <a:endCxn id="26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0DD54631-D113-EB29-D352-6E6D93B4B521}"/>
                    </a:ext>
                  </a:extLst>
                </p:cNvPr>
                <p:cNvCxnSpPr>
                  <a:cxnSpLocks/>
                  <a:stCxn id="25" idx="6"/>
                  <a:endCxn id="26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CB6F8F83-A371-B7C3-9A78-6C71D0870207}"/>
                    </a:ext>
                  </a:extLst>
                </p:cNvPr>
                <p:cNvCxnSpPr>
                  <a:cxnSpLocks/>
                  <a:stCxn id="25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51123978-C095-7A44-4F8B-A91AAF978535}"/>
                    </a:ext>
                  </a:extLst>
                </p:cNvPr>
                <p:cNvCxnSpPr>
                  <a:cxnSpLocks/>
                  <a:stCxn id="17" idx="6"/>
                  <a:endCxn id="19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993B9A35-D2FB-FD37-4944-D51A592119B4}"/>
                    </a:ext>
                  </a:extLst>
                </p:cNvPr>
                <p:cNvCxnSpPr>
                  <a:cxnSpLocks/>
                  <a:stCxn id="16" idx="6"/>
                  <a:endCxn id="18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BD6A63A1-798C-173C-BA37-CE3CBA2BA3D4}"/>
                    </a:ext>
                  </a:extLst>
                </p:cNvPr>
                <p:cNvCxnSpPr>
                  <a:cxnSpLocks/>
                  <a:stCxn id="14" idx="6"/>
                  <a:endCxn id="19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2F10B29E-F519-DE27-4EA2-754E960C7C53}"/>
                    </a:ext>
                  </a:extLst>
                </p:cNvPr>
                <p:cNvCxnSpPr>
                  <a:cxnSpLocks/>
                  <a:stCxn id="16" idx="6"/>
                  <a:endCxn id="26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D8371E46-2549-17B4-00B4-8BC99B2059C9}"/>
                    </a:ext>
                  </a:extLst>
                </p:cNvPr>
                <p:cNvCxnSpPr>
                  <a:cxnSpLocks/>
                  <a:stCxn id="18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BA5A5EA9-37A9-8996-1C3A-B201CB52BC6C}"/>
                    </a:ext>
                  </a:extLst>
                </p:cNvPr>
                <p:cNvCxnSpPr>
                  <a:cxnSpLocks/>
                  <a:stCxn id="19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CCAF399D-0128-EDF8-00EB-F0CAFD8DCF3D}"/>
                    </a:ext>
                  </a:extLst>
                </p:cNvPr>
                <p:cNvCxnSpPr>
                  <a:cxnSpLocks/>
                  <a:stCxn id="20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734D7B0C-31AD-6414-97B7-99611D152C57}"/>
                    </a:ext>
                  </a:extLst>
                </p:cNvPr>
                <p:cNvCxnSpPr>
                  <a:cxnSpLocks/>
                  <a:stCxn id="26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D8073E-C69A-2035-8ED3-19D58D709179}"/>
                    </a:ext>
                  </a:extLst>
                </p:cNvPr>
                <p:cNvCxnSpPr>
                  <a:cxnSpLocks/>
                  <a:stCxn id="26" idx="6"/>
                  <a:endCxn id="27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8752B82E-0366-09F4-0925-5D8D05904379}"/>
                    </a:ext>
                  </a:extLst>
                </p:cNvPr>
                <p:cNvCxnSpPr>
                  <a:cxnSpLocks/>
                  <a:stCxn id="26" idx="6"/>
                  <a:endCxn id="24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CC341615-5EAF-EA2F-ABAA-0B41C9D32670}"/>
                    </a:ext>
                  </a:extLst>
                </p:cNvPr>
                <p:cNvCxnSpPr>
                  <a:cxnSpLocks/>
                  <a:stCxn id="20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5BBC305C-894F-9AB4-F977-0A2BB464AA23}"/>
                    </a:ext>
                  </a:extLst>
                </p:cNvPr>
                <p:cNvCxnSpPr>
                  <a:cxnSpLocks/>
                  <a:stCxn id="18" idx="6"/>
                  <a:endCxn id="22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956A20A6-8F56-B7D0-79E7-FC5B3FD4EBE6}"/>
                    </a:ext>
                  </a:extLst>
                </p:cNvPr>
                <p:cNvCxnSpPr>
                  <a:cxnSpLocks/>
                  <a:stCxn id="19" idx="6"/>
                  <a:endCxn id="23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A1CB0EFD-3FE9-DE43-EDC2-CDFC48E01E33}"/>
                    </a:ext>
                  </a:extLst>
                </p:cNvPr>
                <p:cNvCxnSpPr>
                  <a:cxnSpLocks/>
                  <a:stCxn id="20" idx="6"/>
                  <a:endCxn id="24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E61D3EF6-F6B3-E3B8-11E7-9EA85D01E69E}"/>
                    </a:ext>
                  </a:extLst>
                </p:cNvPr>
                <p:cNvCxnSpPr>
                  <a:cxnSpLocks/>
                  <a:stCxn id="18" idx="6"/>
                  <a:endCxn id="23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E31970A3-CFC2-1E4F-C8BD-5DDC62645E2F}"/>
                    </a:ext>
                  </a:extLst>
                </p:cNvPr>
                <p:cNvCxnSpPr>
                  <a:cxnSpLocks/>
                  <a:stCxn id="20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9F29710B-71F7-39B5-8B03-F94F311AEE1B}"/>
                    </a:ext>
                  </a:extLst>
                </p:cNvPr>
                <p:cNvCxnSpPr>
                  <a:cxnSpLocks/>
                  <a:stCxn id="20" idx="6"/>
                  <a:endCxn id="27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F69DBE57-A99E-7FCE-0FD5-1FC3F93D06C2}"/>
                    </a:ext>
                  </a:extLst>
                </p:cNvPr>
                <p:cNvCxnSpPr>
                  <a:cxnSpLocks/>
                  <a:stCxn id="26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89043505-47B7-EA28-3AF4-5AB03D533FC0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AC1B8C40-CDD3-3DC0-CB5B-253A081B6A90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1F910D10-EEB9-0626-A307-D1FFFD54B6BC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918366DF-A3C7-2D18-97D8-3EFB88A5A4F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760086A9-2F6C-7DF1-6ED3-C0B2F666EA08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225A7C9F-4D4A-557A-3B70-EE5574A4908B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084B519D-7D1E-2083-4963-45CC73EE5763}"/>
                    </a:ext>
                  </a:extLst>
                </p:cNvPr>
                <p:cNvCxnSpPr>
                  <a:cxnSpLocks/>
                  <a:stCxn id="55" idx="6"/>
                  <a:endCxn id="14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FE7124D0-330D-9B22-1E36-95E86D084DD1}"/>
                    </a:ext>
                  </a:extLst>
                </p:cNvPr>
                <p:cNvCxnSpPr>
                  <a:cxnSpLocks/>
                  <a:stCxn id="56" idx="6"/>
                  <a:endCxn id="15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2F7D347D-083D-9E82-40EF-93E1E018B63C}"/>
                    </a:ext>
                  </a:extLst>
                </p:cNvPr>
                <p:cNvCxnSpPr>
                  <a:cxnSpLocks/>
                  <a:stCxn id="57" idx="6"/>
                  <a:endCxn id="16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7A4C01EE-80D6-B137-A50F-7287537E9027}"/>
                    </a:ext>
                  </a:extLst>
                </p:cNvPr>
                <p:cNvCxnSpPr>
                  <a:cxnSpLocks/>
                  <a:stCxn id="58" idx="6"/>
                  <a:endCxn id="17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E766549F-23BF-87D3-E0EC-94ACB573C747}"/>
                    </a:ext>
                  </a:extLst>
                </p:cNvPr>
                <p:cNvCxnSpPr>
                  <a:cxnSpLocks/>
                  <a:stCxn id="59" idx="6"/>
                  <a:endCxn id="25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7CBEA83-0B6A-9070-8216-B595DB40C288}"/>
                    </a:ext>
                  </a:extLst>
                </p:cNvPr>
                <p:cNvCxnSpPr>
                  <a:cxnSpLocks/>
                  <a:stCxn id="60" idx="6"/>
                  <a:endCxn id="25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257023F4-3FCB-01C0-B421-BAE84E3EC143}"/>
                    </a:ext>
                  </a:extLst>
                </p:cNvPr>
                <p:cNvCxnSpPr>
                  <a:cxnSpLocks/>
                  <a:stCxn id="59" idx="6"/>
                  <a:endCxn id="17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8CB20997-922F-5436-881E-2894DA5E0341}"/>
                    </a:ext>
                  </a:extLst>
                </p:cNvPr>
                <p:cNvCxnSpPr>
                  <a:cxnSpLocks/>
                  <a:stCxn id="57" idx="6"/>
                  <a:endCxn id="15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E0EE9119-8A47-5FDF-D687-F8B52B97D368}"/>
                    </a:ext>
                  </a:extLst>
                </p:cNvPr>
                <p:cNvCxnSpPr>
                  <a:cxnSpLocks/>
                  <a:stCxn id="56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94A0C115-C5D5-DF91-DB72-28E3A8A73333}"/>
                    </a:ext>
                  </a:extLst>
                </p:cNvPr>
                <p:cNvCxnSpPr>
                  <a:cxnSpLocks/>
                  <a:stCxn id="58" idx="6"/>
                  <a:endCxn id="25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10522BB-474C-2668-34D8-3C405A94639A}"/>
                    </a:ext>
                  </a:extLst>
                </p:cNvPr>
                <p:cNvCxnSpPr>
                  <a:cxnSpLocks/>
                  <a:stCxn id="56" idx="6"/>
                  <a:endCxn id="17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D12D8991-6247-371D-90CD-FB4327368979}"/>
                    </a:ext>
                  </a:extLst>
                </p:cNvPr>
                <p:cNvCxnSpPr>
                  <a:cxnSpLocks/>
                  <a:stCxn id="58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3567297C-EA18-34F1-94D1-6F0C5FD45737}"/>
                    </a:ext>
                  </a:extLst>
                </p:cNvPr>
                <p:cNvCxnSpPr>
                  <a:cxnSpLocks/>
                  <a:stCxn id="60" idx="6"/>
                  <a:endCxn id="17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49CEA3F1-70E2-179C-B1A5-B39E2162A718}"/>
                    </a:ext>
                  </a:extLst>
                </p:cNvPr>
                <p:cNvCxnSpPr>
                  <a:cxnSpLocks/>
                  <a:stCxn id="59" idx="6"/>
                  <a:endCxn id="16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BF6BD3C9-7AA0-A3B0-5B46-F54940A2784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F07E70A4-2967-9C72-ED54-660990C19C8D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" name="Arrow: Right 8">
                <a:extLst>
                  <a:ext uri="{FF2B5EF4-FFF2-40B4-BE49-F238E27FC236}">
                    <a16:creationId xmlns:a16="http://schemas.microsoft.com/office/drawing/2014/main" id="{757CB128-7A94-D900-F090-5091C5C259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0E2E66A-A399-9CD1-935E-BA528D1A9A7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1327030" cy="40479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;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</m:sSub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0E2E66A-A399-9CD1-935E-BA528D1A9A7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1327030" cy="404791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194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2FD54B5D-922B-C9F1-EF9F-DA360C2F91A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65FE383-5C49-D70F-9731-401B621D759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Right Brace 12">
                <a:extLst>
                  <a:ext uri="{FF2B5EF4-FFF2-40B4-BE49-F238E27FC236}">
                    <a16:creationId xmlns:a16="http://schemas.microsoft.com/office/drawing/2014/main" id="{3D13B5F6-CFCD-6F25-2658-70FBA0B7D2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5DE21D42-5BF0-B9AB-A9DA-D642AFD08B7B}"/>
                    </a:ext>
                  </a:extLst>
                </p:cNvPr>
                <p:cNvSpPr txBox="1"/>
                <p:nvPr/>
              </p:nvSpPr>
              <p:spPr>
                <a:xfrm>
                  <a:off x="9076066" y="2236436"/>
                  <a:ext cx="629958" cy="404791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5DE21D42-5BF0-B9AB-A9DA-D642AFD08B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76066" y="2236436"/>
                  <a:ext cx="629958" cy="40479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44215EF4-AB94-4544-8517-9B99EE4DC971}"/>
              </a:ext>
            </a:extLst>
          </p:cNvPr>
          <p:cNvGrpSpPr/>
          <p:nvPr/>
        </p:nvGrpSpPr>
        <p:grpSpPr>
          <a:xfrm>
            <a:off x="9374345" y="2959585"/>
            <a:ext cx="1800822" cy="1873068"/>
            <a:chOff x="9374345" y="2959585"/>
            <a:chExt cx="1703157" cy="1765978"/>
          </a:xfrm>
        </p:grpSpPr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639805B6-EEA9-43C4-BB54-D4112D7B2D22}"/>
                </a:ext>
              </a:extLst>
            </p:cNvPr>
            <p:cNvSpPr/>
            <p:nvPr/>
          </p:nvSpPr>
          <p:spPr>
            <a:xfrm>
              <a:off x="9499988" y="2959585"/>
              <a:ext cx="1451872" cy="677462"/>
            </a:xfrm>
            <a:custGeom>
              <a:avLst/>
              <a:gdLst>
                <a:gd name="connsiteX0" fmla="*/ 1451872 w 1451872"/>
                <a:gd name="connsiteY0" fmla="*/ 76781 h 677462"/>
                <a:gd name="connsiteX1" fmla="*/ 621233 w 1451872"/>
                <a:gd name="connsiteY1" fmla="*/ 677075 h 677462"/>
                <a:gd name="connsiteX2" fmla="*/ 0 w 1451872"/>
                <a:gd name="connsiteY2" fmla="*/ 0 h 67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51872" h="677462">
                  <a:moveTo>
                    <a:pt x="1451872" y="76781"/>
                  </a:moveTo>
                  <a:cubicBezTo>
                    <a:pt x="1157542" y="383326"/>
                    <a:pt x="863212" y="689872"/>
                    <a:pt x="621233" y="677075"/>
                  </a:cubicBezTo>
                  <a:cubicBezTo>
                    <a:pt x="379254" y="664278"/>
                    <a:pt x="189627" y="332139"/>
                    <a:pt x="0" y="0"/>
                  </a:cubicBezTo>
                </a:path>
              </a:pathLst>
            </a:cu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97BFB5F1-F07E-64E7-1A6D-15F6253D3783}"/>
                </a:ext>
              </a:extLst>
            </p:cNvPr>
            <p:cNvSpPr/>
            <p:nvPr/>
          </p:nvSpPr>
          <p:spPr>
            <a:xfrm>
              <a:off x="9374345" y="3043347"/>
              <a:ext cx="1703157" cy="1682216"/>
            </a:xfrm>
            <a:custGeom>
              <a:avLst/>
              <a:gdLst>
                <a:gd name="connsiteX0" fmla="*/ 1703157 w 1703157"/>
                <a:gd name="connsiteY0" fmla="*/ 1682216 h 1682216"/>
                <a:gd name="connsiteX1" fmla="*/ 328067 w 1703157"/>
                <a:gd name="connsiteY1" fmla="*/ 1088903 h 1682216"/>
                <a:gd name="connsiteX2" fmla="*/ 0 w 1703157"/>
                <a:gd name="connsiteY2" fmla="*/ 0 h 1682216"/>
                <a:gd name="connsiteX3" fmla="*/ 0 w 1703157"/>
                <a:gd name="connsiteY3" fmla="*/ 0 h 1682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03157" h="1682216">
                  <a:moveTo>
                    <a:pt x="1703157" y="1682216"/>
                  </a:moveTo>
                  <a:cubicBezTo>
                    <a:pt x="1157541" y="1525744"/>
                    <a:pt x="611926" y="1369272"/>
                    <a:pt x="328067" y="1088903"/>
                  </a:cubicBezTo>
                  <a:cubicBezTo>
                    <a:pt x="44208" y="808534"/>
                    <a:pt x="0" y="0"/>
                    <a:pt x="0" y="0"/>
                  </a:cubicBezTo>
                  <a:lnTo>
                    <a:pt x="0" y="0"/>
                  </a:lnTo>
                </a:path>
              </a:pathLst>
            </a:cu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9A8053FA-5BB8-0F1E-F093-4E17C9234D64}"/>
              </a:ext>
            </a:extLst>
          </p:cNvPr>
          <p:cNvCxnSpPr>
            <a:endCxn id="86" idx="7"/>
          </p:cNvCxnSpPr>
          <p:nvPr/>
        </p:nvCxnSpPr>
        <p:spPr>
          <a:xfrm>
            <a:off x="9104452" y="2998280"/>
            <a:ext cx="44016" cy="1682531"/>
          </a:xfrm>
          <a:prstGeom prst="straightConnector1">
            <a:avLst/>
          </a:prstGeom>
          <a:noFill/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311547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4BB5A9-7380-AA26-8171-CDEB9C35D9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343493"/>
                <a:ext cx="10515600" cy="2993487"/>
              </a:xfr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Algorithm: DQN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/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so that all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are close to 0.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Use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based on the current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to collect experience in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tuples and add them to the replay memory. If the memory is full, then old tuples will be overwritten.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Mini-batches (e.g., 32 elements) are taken randomly from the replay memory calculate gradients and to update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/>
                    </m:sSub>
                  </m:oMath>
                </a14:m>
                <a:r>
                  <a:rPr lang="en-US" b="1" dirty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/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set 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iterations.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Go back to step 2 till the maximum number of iterations is reached.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4BB5A9-7380-AA26-8171-CDEB9C35D9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343493"/>
                <a:ext cx="10515600" cy="2993487"/>
              </a:xfrm>
              <a:blipFill>
                <a:blip r:embed="rId2"/>
                <a:stretch>
                  <a:fillRect l="-463" t="-2828" r="-6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EE9DD004-9735-AB0A-131E-22E68B791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037006" cy="1484614"/>
          </a:xfrm>
        </p:spPr>
        <p:txBody>
          <a:bodyPr>
            <a:normAutofit/>
          </a:bodyPr>
          <a:lstStyle/>
          <a:p>
            <a:r>
              <a:rPr lang="en-US" dirty="0"/>
              <a:t>DQN is Not a Truly  </a:t>
            </a:r>
            <a:br>
              <a:rPr lang="en-US" dirty="0"/>
            </a:br>
            <a:r>
              <a:rPr lang="en-US" dirty="0"/>
              <a:t>Online Algorithm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42D2E24-5C82-BA01-086B-446BBBD9CD5E}"/>
              </a:ext>
            </a:extLst>
          </p:cNvPr>
          <p:cNvGrpSpPr/>
          <p:nvPr/>
        </p:nvGrpSpPr>
        <p:grpSpPr>
          <a:xfrm>
            <a:off x="5901695" y="521020"/>
            <a:ext cx="6069029" cy="2468491"/>
            <a:chOff x="5901695" y="521020"/>
            <a:chExt cx="6069029" cy="246849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A20CA2E-FC5C-5EB6-DD2C-F9DFA076A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01695" y="521020"/>
              <a:ext cx="6069029" cy="2468491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BB5DC80-D0CF-2E8A-5694-A4E4F6D57B4F}"/>
                </a:ext>
              </a:extLst>
            </p:cNvPr>
            <p:cNvSpPr txBox="1"/>
            <p:nvPr/>
          </p:nvSpPr>
          <p:spPr>
            <a:xfrm>
              <a:off x="10923940" y="2463994"/>
              <a:ext cx="73291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Target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19F3AA1-E6A1-3E05-E750-26656A461929}"/>
                </a:ext>
              </a:extLst>
            </p:cNvPr>
            <p:cNvSpPr txBox="1"/>
            <p:nvPr/>
          </p:nvSpPr>
          <p:spPr>
            <a:xfrm>
              <a:off x="7385453" y="898550"/>
              <a:ext cx="155075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Replay memory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F164F65-DF76-A956-6F7F-87E56C8F40D9}"/>
                </a:ext>
              </a:extLst>
            </p:cNvPr>
            <p:cNvSpPr txBox="1"/>
            <p:nvPr/>
          </p:nvSpPr>
          <p:spPr>
            <a:xfrm>
              <a:off x="9421751" y="744662"/>
              <a:ext cx="10387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Prediction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1D2CB56-3297-E3A0-338F-9B9ED69B0324}"/>
              </a:ext>
            </a:extLst>
          </p:cNvPr>
          <p:cNvCxnSpPr/>
          <p:nvPr/>
        </p:nvCxnSpPr>
        <p:spPr>
          <a:xfrm>
            <a:off x="6433127" y="727023"/>
            <a:ext cx="0" cy="94438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0575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72FFE-7C05-73D9-58B6-2C419BA0C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DQN (DDQN; Van Hasselt, 2016)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4FCEF7-86B6-3B1D-7590-0BC7DB5440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172832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Q-learning and DQN use one function in the target to choose the action and evaluate its value. The max creates an </a:t>
                </a:r>
                <a:r>
                  <a:rPr lang="en-US" b="1" dirty="0"/>
                  <a:t>overestimation bias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lim>
                            </m:limLow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DDQN </a:t>
                </a:r>
                <a:r>
                  <a:rPr lang="en-US" b="1" dirty="0"/>
                  <a:t>decoupling the action selection and evaluation </a:t>
                </a:r>
                <a:r>
                  <a:rPr lang="en-US" dirty="0"/>
                  <a:t>by using different parameters:</a:t>
                </a: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;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4FCEF7-86B6-3B1D-7590-0BC7DB544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172832"/>
              </a:xfrm>
              <a:blipFill>
                <a:blip r:embed="rId2"/>
                <a:stretch>
                  <a:fillRect l="-928" t="-3650" r="-12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1E097796-E62F-E6B1-D6A2-67F49518C848}"/>
              </a:ext>
            </a:extLst>
          </p:cNvPr>
          <p:cNvGrpSpPr/>
          <p:nvPr/>
        </p:nvGrpSpPr>
        <p:grpSpPr>
          <a:xfrm>
            <a:off x="3708861" y="2016100"/>
            <a:ext cx="5463059" cy="1407596"/>
            <a:chOff x="5502761" y="1871296"/>
            <a:chExt cx="4320949" cy="140759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155D0C3-9EF2-C45E-2C11-60D96C510ABC}"/>
                </a:ext>
              </a:extLst>
            </p:cNvPr>
            <p:cNvSpPr txBox="1"/>
            <p:nvPr/>
          </p:nvSpPr>
          <p:spPr>
            <a:xfrm>
              <a:off x="6684781" y="1871296"/>
              <a:ext cx="8005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target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6220656-2E44-CD86-BC7D-295D0BAF3BB0}"/>
                </a:ext>
              </a:extLst>
            </p:cNvPr>
            <p:cNvSpPr txBox="1"/>
            <p:nvPr/>
          </p:nvSpPr>
          <p:spPr>
            <a:xfrm>
              <a:off x="8559581" y="1871296"/>
              <a:ext cx="12641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tx2"/>
                  </a:solidFill>
                </a:rPr>
                <a:t>prediction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C397B37-3CF0-08E8-7284-099769C58D52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240628"/>
              <a:ext cx="2768719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54022BA-E787-4F2C-F30A-4B8F521FEEAE}"/>
                </a:ext>
              </a:extLst>
            </p:cNvPr>
            <p:cNvCxnSpPr>
              <a:cxnSpLocks/>
            </p:cNvCxnSpPr>
            <p:nvPr/>
          </p:nvCxnSpPr>
          <p:spPr>
            <a:xfrm>
              <a:off x="8504372" y="2244152"/>
              <a:ext cx="11319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4614A7A-72A3-245F-866E-B423DBB26AFA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909560"/>
              <a:ext cx="4265740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0F5A8C-B3CA-BA99-82D6-37EB8271853A}"/>
                </a:ext>
              </a:extLst>
            </p:cNvPr>
            <p:cNvSpPr txBox="1"/>
            <p:nvPr/>
          </p:nvSpPr>
          <p:spPr>
            <a:xfrm>
              <a:off x="7215301" y="2909560"/>
              <a:ext cx="10573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TD-error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2EFC944D-66A9-83F5-8011-DAE32D2AAF1F}"/>
              </a:ext>
            </a:extLst>
          </p:cNvPr>
          <p:cNvSpPr/>
          <p:nvPr/>
        </p:nvSpPr>
        <p:spPr>
          <a:xfrm>
            <a:off x="4544078" y="2444181"/>
            <a:ext cx="2484935" cy="55143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B7FF2EB-2D85-C205-877A-05671A8E90F8}"/>
                  </a:ext>
                </a:extLst>
              </p:cNvPr>
              <p:cNvSpPr/>
              <p:nvPr/>
            </p:nvSpPr>
            <p:spPr>
              <a:xfrm>
                <a:off x="6530230" y="5733615"/>
                <a:ext cx="2126590" cy="600289"/>
              </a:xfrm>
              <a:prstGeom prst="wedgeRoundRectCallout">
                <a:avLst>
                  <a:gd name="adj1" fmla="val -37775"/>
                  <a:gd name="adj2" fmla="val -1293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Action selection uses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B7FF2EB-2D85-C205-877A-05671A8E90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230" y="5733615"/>
                <a:ext cx="2126590" cy="600289"/>
              </a:xfrm>
              <a:prstGeom prst="wedgeRoundRectCallout">
                <a:avLst>
                  <a:gd name="adj1" fmla="val -37775"/>
                  <a:gd name="adj2" fmla="val -129362"/>
                  <a:gd name="adj3" fmla="val 16667"/>
                </a:avLst>
              </a:prstGeom>
              <a:blipFill>
                <a:blip r:embed="rId3"/>
                <a:stretch>
                  <a:fillRect b="-116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C5C8C09D-AF70-EC54-16B6-DF710A156EAC}"/>
                  </a:ext>
                </a:extLst>
              </p:cNvPr>
              <p:cNvSpPr/>
              <p:nvPr/>
            </p:nvSpPr>
            <p:spPr>
              <a:xfrm>
                <a:off x="2773180" y="5712673"/>
                <a:ext cx="2615497" cy="600289"/>
              </a:xfrm>
              <a:prstGeom prst="wedgeRoundRectCallout">
                <a:avLst>
                  <a:gd name="adj1" fmla="val 28519"/>
                  <a:gd name="adj2" fmla="val -13228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Action evaluation uses more stable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C5C8C09D-AF70-EC54-16B6-DF710A156E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3180" y="5712673"/>
                <a:ext cx="2615497" cy="600289"/>
              </a:xfrm>
              <a:prstGeom prst="wedgeRoundRectCallout">
                <a:avLst>
                  <a:gd name="adj1" fmla="val 28519"/>
                  <a:gd name="adj2" fmla="val -132288"/>
                  <a:gd name="adj3" fmla="val 16667"/>
                </a:avLst>
              </a:prstGeom>
              <a:blipFill>
                <a:blip r:embed="rId4"/>
                <a:stretch>
                  <a:fillRect b="-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B5214B32-9B72-354C-3EDF-797EE94CB9AC}"/>
              </a:ext>
            </a:extLst>
          </p:cNvPr>
          <p:cNvSpPr/>
          <p:nvPr/>
        </p:nvSpPr>
        <p:spPr>
          <a:xfrm>
            <a:off x="4675506" y="4743016"/>
            <a:ext cx="4426612" cy="55143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1923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DE2CB-D8A5-D8DB-65EA-BEEFA2071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4B048F-2414-B0FC-139F-67B8DC01B7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“advantage” of choosing action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over the baseline given by the state value is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Positive advantage means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better than the action that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b="0" dirty="0"/>
                  <a:t> chooses.</a:t>
                </a:r>
                <a:br>
                  <a:rPr lang="en-US" b="0" dirty="0"/>
                </a:br>
                <a:br>
                  <a:rPr lang="en-US" b="0" dirty="0"/>
                </a:br>
                <a:r>
                  <a:rPr lang="en-US" dirty="0"/>
                  <a:t>For the optimal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&lt;0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Benefit</a:t>
                </a:r>
                <a:r>
                  <a:rPr lang="en-US" dirty="0"/>
                  <a:t>: Advantage typically produces a </a:t>
                </a:r>
                <a:r>
                  <a:rPr lang="en-US" b="1" dirty="0"/>
                  <a:t>stronger, lower variance signal </a:t>
                </a:r>
                <a:r>
                  <a:rPr lang="en-US" dirty="0"/>
                  <a:t>to improve the policy.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4B048F-2414-B0FC-139F-67B8DC01B7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7693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08A56-9868-C99D-54A8-B27367266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Dueling Network Architecture (Wang, 2015)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513638-CFC7-6B54-0B7F-4B2B5E12AF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1"/>
                <a:ext cx="5243113" cy="409605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Dueling Network Architecture only changes the ANN architecture. It learns two components:</a:t>
                </a:r>
              </a:p>
              <a:p>
                <a:pPr lvl="1"/>
                <a:r>
                  <a:rPr lang="en-US" dirty="0"/>
                  <a:t>Value network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Advantage network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calculated using the equation below.</a:t>
                </a:r>
              </a:p>
              <a:p>
                <a:endParaRPr lang="en-US" dirty="0"/>
              </a:p>
              <a:p>
                <a:r>
                  <a:rPr lang="en-US" dirty="0"/>
                  <a:t>Reminder: Advantage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gives the “advantage” of choosing action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over the state value.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This approach typically leads to improved performance.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513638-CFC7-6B54-0B7F-4B2B5E12AF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1"/>
                <a:ext cx="5243113" cy="4096050"/>
              </a:xfrm>
              <a:blipFill>
                <a:blip r:embed="rId2"/>
                <a:stretch>
                  <a:fillRect l="-697" t="-2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1F24E-40ED-CD44-ADBB-882D0AE0613D}"/>
                  </a:ext>
                </a:extLst>
              </p:cNvPr>
              <p:cNvSpPr txBox="1"/>
              <p:nvPr/>
            </p:nvSpPr>
            <p:spPr>
              <a:xfrm>
                <a:off x="1691981" y="5558801"/>
                <a:ext cx="8587166" cy="58214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A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d>
                                </m:sup>
                              </m:sSup>
                            </m:e>
                          </m:d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</m:lim>
                              </m:limLow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</m:d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1F24E-40ED-CD44-ADBB-882D0AE06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1981" y="5558801"/>
                <a:ext cx="8587166" cy="58214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Brace 7">
            <a:extLst>
              <a:ext uri="{FF2B5EF4-FFF2-40B4-BE49-F238E27FC236}">
                <a16:creationId xmlns:a16="http://schemas.microsoft.com/office/drawing/2014/main" id="{3D1D6CD2-DC69-97EC-FAD0-0A338B4A03D4}"/>
              </a:ext>
            </a:extLst>
          </p:cNvPr>
          <p:cNvSpPr/>
          <p:nvPr/>
        </p:nvSpPr>
        <p:spPr>
          <a:xfrm rot="5400000">
            <a:off x="7935894" y="4110771"/>
            <a:ext cx="241844" cy="43242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574524-DD76-B303-75C8-B0EF9D64B95C}"/>
                  </a:ext>
                </a:extLst>
              </p:cNvPr>
              <p:cNvSpPr txBox="1"/>
              <p:nvPr/>
            </p:nvSpPr>
            <p:spPr>
              <a:xfrm>
                <a:off x="6819610" y="6393820"/>
                <a:ext cx="235231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Becomes 0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574524-DD76-B303-75C8-B0EF9D64B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9610" y="6393820"/>
                <a:ext cx="2352312" cy="369332"/>
              </a:xfrm>
              <a:prstGeom prst="rect">
                <a:avLst/>
              </a:prstGeom>
              <a:blipFill>
                <a:blip r:embed="rId5"/>
                <a:stretch>
                  <a:fillRect l="-2332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AF2F485-520A-5766-2FE9-A0D9972EBAE1}"/>
              </a:ext>
            </a:extLst>
          </p:cNvPr>
          <p:cNvSpPr/>
          <p:nvPr/>
        </p:nvSpPr>
        <p:spPr>
          <a:xfrm flipV="1">
            <a:off x="7216168" y="2224269"/>
            <a:ext cx="2205728" cy="636938"/>
          </a:xfrm>
          <a:custGeom>
            <a:avLst/>
            <a:gdLst>
              <a:gd name="connsiteX0" fmla="*/ 0 w 2205728"/>
              <a:gd name="connsiteY0" fmla="*/ 0 h 1089934"/>
              <a:gd name="connsiteX1" fmla="*/ 1074943 w 2205728"/>
              <a:gd name="connsiteY1" fmla="*/ 1033062 h 1089934"/>
              <a:gd name="connsiteX2" fmla="*/ 2205728 w 2205728"/>
              <a:gd name="connsiteY2" fmla="*/ 963261 h 1089934"/>
              <a:gd name="connsiteX3" fmla="*/ 2205728 w 2205728"/>
              <a:gd name="connsiteY3" fmla="*/ 963261 h 1089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5728" h="1089934">
                <a:moveTo>
                  <a:pt x="0" y="0"/>
                </a:moveTo>
                <a:cubicBezTo>
                  <a:pt x="353661" y="436259"/>
                  <a:pt x="707322" y="872519"/>
                  <a:pt x="1074943" y="1033062"/>
                </a:cubicBezTo>
                <a:cubicBezTo>
                  <a:pt x="1442564" y="1193605"/>
                  <a:pt x="2205728" y="963261"/>
                  <a:pt x="2205728" y="963261"/>
                </a:cubicBezTo>
                <a:lnTo>
                  <a:pt x="2205728" y="963261"/>
                </a:lnTo>
              </a:path>
            </a:pathLst>
          </a:custGeom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1BF4EDC-516B-55FD-19B0-6076A0C6D999}"/>
              </a:ext>
            </a:extLst>
          </p:cNvPr>
          <p:cNvSpPr/>
          <p:nvPr/>
        </p:nvSpPr>
        <p:spPr>
          <a:xfrm>
            <a:off x="10115176" y="4006608"/>
            <a:ext cx="384843" cy="1877661"/>
          </a:xfrm>
          <a:custGeom>
            <a:avLst/>
            <a:gdLst>
              <a:gd name="connsiteX0" fmla="*/ 0 w 384843"/>
              <a:gd name="connsiteY0" fmla="*/ 1710137 h 1710137"/>
              <a:gd name="connsiteX1" fmla="*/ 335048 w 384843"/>
              <a:gd name="connsiteY1" fmla="*/ 1228506 h 1710137"/>
              <a:gd name="connsiteX2" fmla="*/ 376929 w 384843"/>
              <a:gd name="connsiteY2" fmla="*/ 0 h 1710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4843" h="1710137">
                <a:moveTo>
                  <a:pt x="0" y="1710137"/>
                </a:moveTo>
                <a:cubicBezTo>
                  <a:pt x="136113" y="1611833"/>
                  <a:pt x="272227" y="1513529"/>
                  <a:pt x="335048" y="1228506"/>
                </a:cubicBezTo>
                <a:cubicBezTo>
                  <a:pt x="397869" y="943483"/>
                  <a:pt x="387399" y="471741"/>
                  <a:pt x="376929" y="0"/>
                </a:cubicBezTo>
              </a:path>
            </a:pathLst>
          </a:custGeom>
          <a:noFill/>
          <a:ln w="5715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78D395-591A-56CD-D7CE-4EAE938304A8}"/>
              </a:ext>
            </a:extLst>
          </p:cNvPr>
          <p:cNvSpPr/>
          <p:nvPr/>
        </p:nvSpPr>
        <p:spPr>
          <a:xfrm>
            <a:off x="10218944" y="2477954"/>
            <a:ext cx="538293" cy="1271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B8EC7D9-C864-EA1F-681E-59561F65E206}"/>
              </a:ext>
            </a:extLst>
          </p:cNvPr>
          <p:cNvCxnSpPr/>
          <p:nvPr/>
        </p:nvCxnSpPr>
        <p:spPr>
          <a:xfrm>
            <a:off x="9618650" y="2224269"/>
            <a:ext cx="600294" cy="5747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6703875-FB79-26B3-A1ED-3A25D441F192}"/>
              </a:ext>
            </a:extLst>
          </p:cNvPr>
          <p:cNvCxnSpPr>
            <a:cxnSpLocks/>
          </p:cNvCxnSpPr>
          <p:nvPr/>
        </p:nvCxnSpPr>
        <p:spPr>
          <a:xfrm flipV="1">
            <a:off x="9618650" y="3190680"/>
            <a:ext cx="600294" cy="674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C6B66CC1-9ED6-8E81-EB92-CE4F091D27F5}"/>
              </a:ext>
            </a:extLst>
          </p:cNvPr>
          <p:cNvSpPr/>
          <p:nvPr/>
        </p:nvSpPr>
        <p:spPr>
          <a:xfrm>
            <a:off x="6743116" y="1357141"/>
            <a:ext cx="836970" cy="344389"/>
          </a:xfrm>
          <a:prstGeom prst="wedgeRoundRectCallout">
            <a:avLst>
              <a:gd name="adj1" fmla="val 25689"/>
              <a:gd name="adj2" fmla="val 278935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shared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B9D4F09-A3F5-D275-00EC-1B526CF09BB5}"/>
              </a:ext>
            </a:extLst>
          </p:cNvPr>
          <p:cNvGrpSpPr/>
          <p:nvPr/>
        </p:nvGrpSpPr>
        <p:grpSpPr>
          <a:xfrm>
            <a:off x="5762066" y="1034289"/>
            <a:ext cx="5591734" cy="4542454"/>
            <a:chOff x="5762066" y="1034289"/>
            <a:chExt cx="5591734" cy="454245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E22A800-3431-0EE8-619E-6A2627C3BF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62066" y="1034289"/>
              <a:ext cx="5591734" cy="4542454"/>
            </a:xfrm>
            <a:prstGeom prst="rect">
              <a:avLst/>
            </a:prstGeom>
          </p:spPr>
        </p:pic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49063A-A00B-11AA-F830-45F8920527FB}"/>
                </a:ext>
              </a:extLst>
            </p:cNvPr>
            <p:cNvSpPr/>
            <p:nvPr/>
          </p:nvSpPr>
          <p:spPr>
            <a:xfrm>
              <a:off x="7252379" y="3050327"/>
              <a:ext cx="2205728" cy="1089934"/>
            </a:xfrm>
            <a:custGeom>
              <a:avLst/>
              <a:gdLst>
                <a:gd name="connsiteX0" fmla="*/ 0 w 2205728"/>
                <a:gd name="connsiteY0" fmla="*/ 0 h 1089934"/>
                <a:gd name="connsiteX1" fmla="*/ 1074943 w 2205728"/>
                <a:gd name="connsiteY1" fmla="*/ 1033062 h 1089934"/>
                <a:gd name="connsiteX2" fmla="*/ 2205728 w 2205728"/>
                <a:gd name="connsiteY2" fmla="*/ 963261 h 1089934"/>
                <a:gd name="connsiteX3" fmla="*/ 2205728 w 2205728"/>
                <a:gd name="connsiteY3" fmla="*/ 963261 h 1089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5728" h="1089934">
                  <a:moveTo>
                    <a:pt x="0" y="0"/>
                  </a:moveTo>
                  <a:cubicBezTo>
                    <a:pt x="353661" y="436259"/>
                    <a:pt x="707322" y="872519"/>
                    <a:pt x="1074943" y="1033062"/>
                  </a:cubicBezTo>
                  <a:cubicBezTo>
                    <a:pt x="1442564" y="1193605"/>
                    <a:pt x="2205728" y="963261"/>
                    <a:pt x="2205728" y="963261"/>
                  </a:cubicBezTo>
                  <a:lnTo>
                    <a:pt x="2205728" y="963261"/>
                  </a:lnTo>
                </a:path>
              </a:pathLst>
            </a:custGeom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23A7DFC3-0E21-748F-7AF5-C562BD92D9F0}"/>
                </a:ext>
              </a:extLst>
            </p:cNvPr>
            <p:cNvSpPr/>
            <p:nvPr/>
          </p:nvSpPr>
          <p:spPr>
            <a:xfrm flipV="1">
              <a:off x="7231906" y="2224269"/>
              <a:ext cx="2205728" cy="636938"/>
            </a:xfrm>
            <a:custGeom>
              <a:avLst/>
              <a:gdLst>
                <a:gd name="connsiteX0" fmla="*/ 0 w 2205728"/>
                <a:gd name="connsiteY0" fmla="*/ 0 h 1089934"/>
                <a:gd name="connsiteX1" fmla="*/ 1074943 w 2205728"/>
                <a:gd name="connsiteY1" fmla="*/ 1033062 h 1089934"/>
                <a:gd name="connsiteX2" fmla="*/ 2205728 w 2205728"/>
                <a:gd name="connsiteY2" fmla="*/ 963261 h 1089934"/>
                <a:gd name="connsiteX3" fmla="*/ 2205728 w 2205728"/>
                <a:gd name="connsiteY3" fmla="*/ 963261 h 1089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5728" h="1089934">
                  <a:moveTo>
                    <a:pt x="0" y="0"/>
                  </a:moveTo>
                  <a:cubicBezTo>
                    <a:pt x="353661" y="436259"/>
                    <a:pt x="707322" y="872519"/>
                    <a:pt x="1074943" y="1033062"/>
                  </a:cubicBezTo>
                  <a:cubicBezTo>
                    <a:pt x="1442564" y="1193605"/>
                    <a:pt x="2205728" y="963261"/>
                    <a:pt x="2205728" y="963261"/>
                  </a:cubicBezTo>
                  <a:lnTo>
                    <a:pt x="2205728" y="963261"/>
                  </a:lnTo>
                </a:path>
              </a:pathLst>
            </a:custGeom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Speech Bubble: Rectangle with Corners Rounded 9">
              <a:extLst>
                <a:ext uri="{FF2B5EF4-FFF2-40B4-BE49-F238E27FC236}">
                  <a16:creationId xmlns:a16="http://schemas.microsoft.com/office/drawing/2014/main" id="{FAAAD2B2-BFA8-BF78-7863-4C4115E8D199}"/>
                </a:ext>
              </a:extLst>
            </p:cNvPr>
            <p:cNvSpPr/>
            <p:nvPr/>
          </p:nvSpPr>
          <p:spPr>
            <a:xfrm>
              <a:off x="6758854" y="1357141"/>
              <a:ext cx="836970" cy="344389"/>
            </a:xfrm>
            <a:prstGeom prst="wedgeRoundRectCallout">
              <a:avLst>
                <a:gd name="adj1" fmla="val 25689"/>
                <a:gd name="adj2" fmla="val 278935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shared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035375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7A84E8-1615-9449-0CE4-1037DEA5869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Methods in DQN-type Algorithms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7A84E8-1615-9449-0CE4-1037DEA586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3D9D0D-F042-181A-EF17-8ABC2143A7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259" y="3728300"/>
                <a:ext cx="10515600" cy="2623238"/>
              </a:xfrm>
            </p:spPr>
            <p:txBody>
              <a:bodyPr>
                <a:normAutofit fontScale="775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</a:t>
                </a:r>
                <a:r>
                  <a:rPr lang="en-US" dirty="0"/>
                  <a:t>methods are between Q-learning (one-step) and MC, which does not bootstrap.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target for DQN-type algorithms: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b="1"/>
              </a:p>
              <a:p>
                <a:r>
                  <a:rPr lang="en-US" b="1"/>
                  <a:t>Traces</a:t>
                </a:r>
                <a:r>
                  <a:rPr lang="en-US"/>
                  <a:t> </a:t>
                </a:r>
                <a:r>
                  <a:rPr lang="en-US" dirty="0"/>
                  <a:t>can also be used.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3D9D0D-F042-181A-EF17-8ABC2143A7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259" y="3728300"/>
                <a:ext cx="10515600" cy="2623238"/>
              </a:xfrm>
              <a:blipFill>
                <a:blip r:embed="rId3"/>
                <a:stretch>
                  <a:fillRect l="-696" t="-8140" b="-35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9912B6C-BFEF-847D-F6D9-B1C21791920C}"/>
              </a:ext>
            </a:extLst>
          </p:cNvPr>
          <p:cNvSpPr txBox="1"/>
          <p:nvPr/>
        </p:nvSpPr>
        <p:spPr>
          <a:xfrm>
            <a:off x="583371" y="1394648"/>
            <a:ext cx="3586345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Bootstrapping (one-step)</a:t>
            </a:r>
          </a:p>
          <a:p>
            <a:endParaRPr lang="en-US" dirty="0"/>
          </a:p>
          <a:p>
            <a:pPr marL="285750" indent="-285750">
              <a:buFontTx/>
              <a:buChar char="-"/>
            </a:pPr>
            <a:r>
              <a:rPr lang="en-US" u="sng" dirty="0"/>
              <a:t>Instability</a:t>
            </a:r>
            <a:r>
              <a:rPr lang="en-US" dirty="0"/>
              <a:t> with function approximation (uses its own prediction).</a:t>
            </a:r>
          </a:p>
          <a:p>
            <a:r>
              <a:rPr lang="en-US" dirty="0"/>
              <a:t>+    Can use </a:t>
            </a:r>
            <a:r>
              <a:rPr lang="en-US" u="sng" dirty="0"/>
              <a:t>off-policy learning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CAA29-D5E9-0B02-1CF9-BA39F2B431F4}"/>
                  </a:ext>
                </a:extLst>
              </p:cNvPr>
              <p:cNvSpPr txBox="1"/>
              <p:nvPr/>
            </p:nvSpPr>
            <p:spPr>
              <a:xfrm>
                <a:off x="4374177" y="1394648"/>
                <a:ext cx="3447614" cy="1754326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Less Bootstrapping (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-step)</a:t>
                </a:r>
              </a:p>
              <a:p>
                <a:endParaRPr lang="en-US" dirty="0"/>
              </a:p>
              <a:p>
                <a:r>
                  <a:rPr lang="en-US" dirty="0"/>
                  <a:t>+    </a:t>
                </a:r>
                <a:r>
                  <a:rPr lang="en-US" u="sng" dirty="0"/>
                  <a:t>Less instability</a:t>
                </a:r>
              </a:p>
              <a:p>
                <a:r>
                  <a:rPr lang="en-US" dirty="0"/>
                  <a:t>+    Quicker information </a:t>
                </a:r>
                <a:br>
                  <a:rPr lang="en-US" dirty="0"/>
                </a:br>
                <a:r>
                  <a:rPr lang="en-US" dirty="0"/>
                  <a:t>       propagation   </a:t>
                </a:r>
                <a:br>
                  <a:rPr lang="en-US" dirty="0"/>
                </a:br>
                <a:r>
                  <a:rPr lang="en-US" dirty="0"/>
                  <a:t>       for </a:t>
                </a:r>
                <a:r>
                  <a:rPr lang="en-US" u="sng" dirty="0"/>
                  <a:t>delayed rewards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CAA29-D5E9-0B02-1CF9-BA39F2B43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4177" y="1394648"/>
                <a:ext cx="3447614" cy="1754326"/>
              </a:xfrm>
              <a:prstGeom prst="rect">
                <a:avLst/>
              </a:prstGeom>
              <a:blipFill>
                <a:blip r:embed="rId4"/>
                <a:stretch>
                  <a:fillRect l="-1408" t="-1375" b="-4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78764291-FF90-CA4D-2C21-61F8F992C5D0}"/>
              </a:ext>
            </a:extLst>
          </p:cNvPr>
          <p:cNvSpPr txBox="1"/>
          <p:nvPr/>
        </p:nvSpPr>
        <p:spPr>
          <a:xfrm>
            <a:off x="8026252" y="1394648"/>
            <a:ext cx="3751251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MC (no bootstrapping)</a:t>
            </a:r>
          </a:p>
          <a:p>
            <a:endParaRPr lang="en-US" dirty="0"/>
          </a:p>
          <a:p>
            <a:r>
              <a:rPr lang="en-US" dirty="0"/>
              <a:t>+    </a:t>
            </a:r>
            <a:r>
              <a:rPr lang="en-US" u="sng" dirty="0"/>
              <a:t>Stable</a:t>
            </a:r>
          </a:p>
          <a:p>
            <a:r>
              <a:rPr lang="en-US" dirty="0"/>
              <a:t>-     Only on-policy learning leads to</a:t>
            </a:r>
            <a:br>
              <a:rPr lang="en-US" dirty="0"/>
            </a:br>
            <a:r>
              <a:rPr lang="en-US" dirty="0"/>
              <a:t>       sample inefficiency </a:t>
            </a:r>
            <a:br>
              <a:rPr lang="en-US" dirty="0"/>
            </a:br>
            <a:r>
              <a:rPr lang="en-US" dirty="0"/>
              <a:t>       (cannot use replay memory).</a:t>
            </a:r>
          </a:p>
        </p:txBody>
      </p:sp>
      <p:sp>
        <p:nvSpPr>
          <p:cNvPr id="12" name="Arrow: Left-Right 11">
            <a:extLst>
              <a:ext uri="{FF2B5EF4-FFF2-40B4-BE49-F238E27FC236}">
                <a16:creationId xmlns:a16="http://schemas.microsoft.com/office/drawing/2014/main" id="{E7867777-EEB4-08ED-78B0-A64540D4C39F}"/>
              </a:ext>
            </a:extLst>
          </p:cNvPr>
          <p:cNvSpPr/>
          <p:nvPr/>
        </p:nvSpPr>
        <p:spPr>
          <a:xfrm>
            <a:off x="1503860" y="3056167"/>
            <a:ext cx="9004397" cy="46069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126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BE940-853F-395A-280D-A3FCED07E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583AD1-9E59-C08F-55E1-5694B3A94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 DRL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E1A29D-88B4-7A4C-10EF-DE50F3A37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ANNs to represent and learn a parameterized policy.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00681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D5E72-C906-6C2F-5031-49860A43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Remember: Policy Gradient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We define the performance measure as the true value of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from the start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The </a:t>
                </a:r>
                <a:r>
                  <a:rPr lang="en-US" b="1" dirty="0"/>
                  <a:t>policy gradient theorem </a:t>
                </a:r>
                <a:r>
                  <a:rPr lang="en-US" dirty="0"/>
                  <a:t>gives us an analytical expression for the unbiased gradient of the performance with respect to the policy parameters: 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e>
                        </m:nary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Convergence?</a:t>
                </a:r>
              </a:p>
              <a:p>
                <a:pPr lvl="1"/>
                <a:r>
                  <a:rPr lang="en-US" dirty="0"/>
                  <a:t>Does </a:t>
                </a:r>
                <a:r>
                  <a:rPr lang="en-US" b="1" dirty="0"/>
                  <a:t>NOT</a:t>
                </a:r>
                <a:r>
                  <a:rPr lang="en-US" dirty="0"/>
                  <a:t> guarantee: convergence to (global) optimum, fast convergence or stability!</a:t>
                </a:r>
              </a:p>
              <a:p>
                <a:pPr lvl="1"/>
                <a:r>
                  <a:rPr lang="en-US" dirty="0"/>
                  <a:t>REINFORCE provides some guarantees of convergence to local optima </a:t>
                </a:r>
                <a:r>
                  <a:rPr lang="en-US" b="1" dirty="0"/>
                  <a:t>only for linear approximation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  <a:blipFill>
                <a:blip r:embed="rId2"/>
                <a:stretch>
                  <a:fillRect l="-406" t="-15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/>
              <p:nvPr/>
            </p:nvSpPr>
            <p:spPr>
              <a:xfrm>
                <a:off x="4680110" y="4359765"/>
                <a:ext cx="2013018" cy="540281"/>
              </a:xfrm>
              <a:prstGeom prst="wedgeRoundRectCallout">
                <a:avLst>
                  <a:gd name="adj1" fmla="val 49742"/>
                  <a:gd name="adj2" fmla="val -11172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On-policy distribution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0110" y="4359765"/>
                <a:ext cx="2013018" cy="540281"/>
              </a:xfrm>
              <a:prstGeom prst="wedgeRoundRectCallout">
                <a:avLst>
                  <a:gd name="adj1" fmla="val 49742"/>
                  <a:gd name="adj2" fmla="val -111724"/>
                  <a:gd name="adj3" fmla="val 16667"/>
                </a:avLst>
              </a:prstGeom>
              <a:blipFill>
                <a:blip r:embed="rId3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97DAF61-031E-194F-48E3-7DEA0929C087}"/>
              </a:ext>
            </a:extLst>
          </p:cNvPr>
          <p:cNvSpPr/>
          <p:nvPr/>
        </p:nvSpPr>
        <p:spPr>
          <a:xfrm>
            <a:off x="8875851" y="4355175"/>
            <a:ext cx="2459919" cy="540281"/>
          </a:xfrm>
          <a:prstGeom prst="wedgeRoundRectCallout">
            <a:avLst>
              <a:gd name="adj1" fmla="val -49892"/>
              <a:gd name="adj2" fmla="val -127564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Gradient of the policy approximation function.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/>
              <p:nvPr/>
            </p:nvSpPr>
            <p:spPr>
              <a:xfrm>
                <a:off x="6897647" y="4350789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Depends on estimates for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7647" y="4350789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  <a:blipFill>
                <a:blip r:embed="rId4"/>
                <a:stretch>
                  <a:fillRect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868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490FF7-FB80-1D9B-38E9-C97243C86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Network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CDCDF42-FC2C-CA0A-5BD4-2A1393E660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982164"/>
                <a:ext cx="10515600" cy="2194799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Use an ANN to approximate a </a:t>
                </a:r>
                <a:r>
                  <a:rPr lang="en-US" b="1" dirty="0"/>
                  <a:t>stochastic policy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Output layer uses </a:t>
                </a:r>
                <a:r>
                  <a:rPr lang="en-US" b="1" dirty="0" err="1"/>
                  <a:t>softmax</a:t>
                </a:r>
                <a:r>
                  <a:rPr lang="en-US" b="1" dirty="0"/>
                  <a:t> activation </a:t>
                </a:r>
                <a:r>
                  <a:rPr lang="en-US" dirty="0"/>
                  <a:t>to produce the probability distribution for a stochastic policy.</a:t>
                </a:r>
              </a:p>
              <a:p>
                <a:endParaRPr lang="en-US" b="1" dirty="0"/>
              </a:p>
              <a:p>
                <a:r>
                  <a:rPr lang="en-US" b="1" dirty="0"/>
                  <a:t>Goal</a:t>
                </a:r>
                <a:r>
                  <a:rPr lang="en-US" dirty="0"/>
                  <a:t>:      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1" dirty="0">
                  <a:ea typeface="Cambria Math" panose="02040503050406030204" pitchFamily="18" charset="0"/>
                </a:endParaRPr>
              </a:p>
              <a:p>
                <a:r>
                  <a:rPr lang="en-US" b="1" dirty="0">
                    <a:ea typeface="Cambria Math" panose="02040503050406030204" pitchFamily="18" charset="0"/>
                  </a:rPr>
                  <a:t>Loss</a:t>
                </a:r>
                <a:r>
                  <a:rPr lang="en-US" dirty="0">
                    <a:ea typeface="Cambria Math" panose="02040503050406030204" pitchFamily="18" charset="0"/>
                  </a:rPr>
                  <a:t>:       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− </m:t>
                    </m:r>
                    <m:r>
                      <m:rPr>
                        <m:sty m:val="p"/>
                      </m:rP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ln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 err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 dirty="0" err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 dirty="0" err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 dirty="0" err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dirty="0" err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</m:oMath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b="1" dirty="0">
                    <a:ea typeface="Cambria Math" panose="02040503050406030204" pitchFamily="18" charset="0"/>
                  </a:rPr>
                  <a:t>Update</a:t>
                </a:r>
                <a:r>
                  <a:rPr lang="en-US" dirty="0">
                    <a:ea typeface="Cambria Math" panose="020405030504060302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m:rPr>
                        <m:nor/>
                      </m:rPr>
                      <a:rPr lang="en-US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nor/>
                      </m:rPr>
                      <a:rPr lang="en-US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m:rPr>
                        <m:nor/>
                      </m:rPr>
                      <a:rPr lang="en-US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𝛻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CDCDF42-FC2C-CA0A-5BD4-2A1393E660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982164"/>
                <a:ext cx="10515600" cy="2194799"/>
              </a:xfrm>
              <a:blipFill>
                <a:blip r:embed="rId2"/>
                <a:stretch>
                  <a:fillRect l="-406" t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B01567BB-EC09-BA34-E1AB-5633074E95C9}"/>
              </a:ext>
            </a:extLst>
          </p:cNvPr>
          <p:cNvGrpSpPr/>
          <p:nvPr/>
        </p:nvGrpSpPr>
        <p:grpSpPr>
          <a:xfrm>
            <a:off x="3559888" y="1124198"/>
            <a:ext cx="5948606" cy="2760290"/>
            <a:chOff x="3559888" y="1124198"/>
            <a:chExt cx="5948606" cy="276029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56E614C-B6FC-DC99-2196-DF822E73A6BB}"/>
                </a:ext>
              </a:extLst>
            </p:cNvPr>
            <p:cNvGrpSpPr/>
            <p:nvPr/>
          </p:nvGrpSpPr>
          <p:grpSpPr>
            <a:xfrm>
              <a:off x="3559888" y="1124198"/>
              <a:ext cx="5948606" cy="2088193"/>
              <a:chOff x="7516627" y="1326818"/>
              <a:chExt cx="4487639" cy="1600859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7C684DB7-75BD-74CA-C546-6F1967A6E5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7516627" y="1326818"/>
                <a:ext cx="4487639" cy="1600859"/>
                <a:chOff x="1129787" y="3714030"/>
                <a:chExt cx="4487639" cy="1600859"/>
              </a:xfrm>
            </p:grpSpPr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1328A43F-FE56-1454-9ACE-D81B2FC2D42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/>
                <p:nvPr/>
              </p:nvGrpSpPr>
              <p:grpSpPr>
                <a:xfrm>
                  <a:off x="2124428" y="4079165"/>
                  <a:ext cx="1295400" cy="1235724"/>
                  <a:chOff x="4410942" y="4599774"/>
                  <a:chExt cx="1577400" cy="1648626"/>
                </a:xfrm>
              </p:grpSpPr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B38843E2-E3B4-A26B-8D7E-F5447B3CD7FA}"/>
                      </a:ext>
                    </a:extLst>
                  </p:cNvPr>
                  <p:cNvSpPr/>
                  <p:nvPr/>
                </p:nvSpPr>
                <p:spPr>
                  <a:xfrm>
                    <a:off x="4889892" y="4752174"/>
                    <a:ext cx="152400" cy="179456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" name="Oval 18">
                    <a:extLst>
                      <a:ext uri="{FF2B5EF4-FFF2-40B4-BE49-F238E27FC236}">
                        <a16:creationId xmlns:a16="http://schemas.microsoft.com/office/drawing/2014/main" id="{8BE1555D-A11A-805A-6309-E71C5B658705}"/>
                      </a:ext>
                    </a:extLst>
                  </p:cNvPr>
                  <p:cNvSpPr/>
                  <p:nvPr/>
                </p:nvSpPr>
                <p:spPr>
                  <a:xfrm>
                    <a:off x="4889892" y="5007830"/>
                    <a:ext cx="152400" cy="179456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" name="Oval 19">
                    <a:extLst>
                      <a:ext uri="{FF2B5EF4-FFF2-40B4-BE49-F238E27FC236}">
                        <a16:creationId xmlns:a16="http://schemas.microsoft.com/office/drawing/2014/main" id="{067E8634-32E0-2550-D5D5-60B53B063355}"/>
                      </a:ext>
                    </a:extLst>
                  </p:cNvPr>
                  <p:cNvSpPr/>
                  <p:nvPr/>
                </p:nvSpPr>
                <p:spPr>
                  <a:xfrm>
                    <a:off x="4889892" y="5285574"/>
                    <a:ext cx="152400" cy="179456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" name="Oval 20">
                    <a:extLst>
                      <a:ext uri="{FF2B5EF4-FFF2-40B4-BE49-F238E27FC236}">
                        <a16:creationId xmlns:a16="http://schemas.microsoft.com/office/drawing/2014/main" id="{4D262169-C419-ACFF-1432-DACA77B83A82}"/>
                      </a:ext>
                    </a:extLst>
                  </p:cNvPr>
                  <p:cNvSpPr/>
                  <p:nvPr/>
                </p:nvSpPr>
                <p:spPr>
                  <a:xfrm>
                    <a:off x="4889892" y="5590374"/>
                    <a:ext cx="152400" cy="179456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58F5014A-0A63-BE50-A656-1929EEEE8412}"/>
                      </a:ext>
                    </a:extLst>
                  </p:cNvPr>
                  <p:cNvSpPr/>
                  <p:nvPr/>
                </p:nvSpPr>
                <p:spPr>
                  <a:xfrm>
                    <a:off x="5347092" y="4904574"/>
                    <a:ext cx="152400" cy="179456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E0D81911-0706-1164-8AC3-81814F8719C5}"/>
                      </a:ext>
                    </a:extLst>
                  </p:cNvPr>
                  <p:cNvSpPr/>
                  <p:nvPr/>
                </p:nvSpPr>
                <p:spPr>
                  <a:xfrm>
                    <a:off x="5347092" y="5133174"/>
                    <a:ext cx="152400" cy="179456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63AFAA28-D56F-9865-B174-EC00CBDB762E}"/>
                      </a:ext>
                    </a:extLst>
                  </p:cNvPr>
                  <p:cNvSpPr/>
                  <p:nvPr/>
                </p:nvSpPr>
                <p:spPr>
                  <a:xfrm>
                    <a:off x="5347092" y="5437974"/>
                    <a:ext cx="152400" cy="179456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94576E24-775C-B2C7-87F6-2295224B3690}"/>
                      </a:ext>
                    </a:extLst>
                  </p:cNvPr>
                  <p:cNvSpPr/>
                  <p:nvPr/>
                </p:nvSpPr>
                <p:spPr>
                  <a:xfrm>
                    <a:off x="5835942" y="4752949"/>
                    <a:ext cx="152400" cy="179456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" name="Oval 25">
                    <a:extLst>
                      <a:ext uri="{FF2B5EF4-FFF2-40B4-BE49-F238E27FC236}">
                        <a16:creationId xmlns:a16="http://schemas.microsoft.com/office/drawing/2014/main" id="{A3CA994B-1BCC-4160-F83C-950BE27D14B1}"/>
                      </a:ext>
                    </a:extLst>
                  </p:cNvPr>
                  <p:cNvSpPr/>
                  <p:nvPr/>
                </p:nvSpPr>
                <p:spPr>
                  <a:xfrm>
                    <a:off x="5835942" y="5030693"/>
                    <a:ext cx="152400" cy="179456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" name="Oval 26">
                    <a:extLst>
                      <a:ext uri="{FF2B5EF4-FFF2-40B4-BE49-F238E27FC236}">
                        <a16:creationId xmlns:a16="http://schemas.microsoft.com/office/drawing/2014/main" id="{204A7097-CBDA-4AC7-BCF2-A8BA0E20A299}"/>
                      </a:ext>
                    </a:extLst>
                  </p:cNvPr>
                  <p:cNvSpPr/>
                  <p:nvPr/>
                </p:nvSpPr>
                <p:spPr>
                  <a:xfrm>
                    <a:off x="5835942" y="5335493"/>
                    <a:ext cx="152400" cy="179456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149DD7F9-6C90-CE19-35DF-4A8191DE3A46}"/>
                      </a:ext>
                    </a:extLst>
                  </p:cNvPr>
                  <p:cNvSpPr/>
                  <p:nvPr/>
                </p:nvSpPr>
                <p:spPr>
                  <a:xfrm>
                    <a:off x="5835942" y="5640293"/>
                    <a:ext cx="152400" cy="179456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35C6F2CE-5451-0CEE-AD72-F23E157C3C6F}"/>
                      </a:ext>
                    </a:extLst>
                  </p:cNvPr>
                  <p:cNvSpPr/>
                  <p:nvPr/>
                </p:nvSpPr>
                <p:spPr>
                  <a:xfrm>
                    <a:off x="4889892" y="5895174"/>
                    <a:ext cx="152400" cy="179456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1A8D09CD-7BF6-9A57-29A2-77F65DAD45C7}"/>
                      </a:ext>
                    </a:extLst>
                  </p:cNvPr>
                  <p:cNvSpPr/>
                  <p:nvPr/>
                </p:nvSpPr>
                <p:spPr>
                  <a:xfrm>
                    <a:off x="5347092" y="5742774"/>
                    <a:ext cx="152400" cy="179456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F65FABDF-894F-8882-B067-2FEBBA93460E}"/>
                      </a:ext>
                    </a:extLst>
                  </p:cNvPr>
                  <p:cNvSpPr/>
                  <p:nvPr/>
                </p:nvSpPr>
                <p:spPr>
                  <a:xfrm>
                    <a:off x="5835942" y="5945093"/>
                    <a:ext cx="152400" cy="179456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32" name="Straight Connector 31">
                    <a:extLst>
                      <a:ext uri="{FF2B5EF4-FFF2-40B4-BE49-F238E27FC236}">
                        <a16:creationId xmlns:a16="http://schemas.microsoft.com/office/drawing/2014/main" id="{D6755D28-B168-1E43-21FA-0C61EDC42B45}"/>
                      </a:ext>
                    </a:extLst>
                  </p:cNvPr>
                  <p:cNvCxnSpPr>
                    <a:cxnSpLocks/>
                    <a:stCxn id="18" idx="6"/>
                    <a:endCxn id="22" idx="1"/>
                  </p:cNvCxnSpPr>
                  <p:nvPr/>
                </p:nvCxnSpPr>
                <p:spPr>
                  <a:xfrm>
                    <a:off x="5042292" y="4841902"/>
                    <a:ext cx="327118" cy="88953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33" name="Straight Connector 32">
                    <a:extLst>
                      <a:ext uri="{FF2B5EF4-FFF2-40B4-BE49-F238E27FC236}">
                        <a16:creationId xmlns:a16="http://schemas.microsoft.com/office/drawing/2014/main" id="{B04535CE-B657-8299-8441-93DD47F29F94}"/>
                      </a:ext>
                    </a:extLst>
                  </p:cNvPr>
                  <p:cNvCxnSpPr>
                    <a:cxnSpLocks/>
                    <a:stCxn id="19" idx="6"/>
                    <a:endCxn id="22" idx="2"/>
                  </p:cNvCxnSpPr>
                  <p:nvPr/>
                </p:nvCxnSpPr>
                <p:spPr>
                  <a:xfrm flipV="1">
                    <a:off x="5042292" y="4994302"/>
                    <a:ext cx="304800" cy="103256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34" name="Straight Connector 33">
                    <a:extLst>
                      <a:ext uri="{FF2B5EF4-FFF2-40B4-BE49-F238E27FC236}">
                        <a16:creationId xmlns:a16="http://schemas.microsoft.com/office/drawing/2014/main" id="{9D560AEA-1C37-606A-6125-2E9542C98491}"/>
                      </a:ext>
                    </a:extLst>
                  </p:cNvPr>
                  <p:cNvCxnSpPr>
                    <a:cxnSpLocks/>
                    <a:stCxn id="20" idx="6"/>
                    <a:endCxn id="23" idx="2"/>
                  </p:cNvCxnSpPr>
                  <p:nvPr/>
                </p:nvCxnSpPr>
                <p:spPr>
                  <a:xfrm flipV="1">
                    <a:off x="5042292" y="5222902"/>
                    <a:ext cx="304800" cy="152400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35" name="Straight Connector 34">
                    <a:extLst>
                      <a:ext uri="{FF2B5EF4-FFF2-40B4-BE49-F238E27FC236}">
                        <a16:creationId xmlns:a16="http://schemas.microsoft.com/office/drawing/2014/main" id="{EE97423B-8F96-960A-3CA1-303478427027}"/>
                      </a:ext>
                    </a:extLst>
                  </p:cNvPr>
                  <p:cNvCxnSpPr>
                    <a:cxnSpLocks/>
                    <a:stCxn id="19" idx="6"/>
                    <a:endCxn id="23" idx="2"/>
                  </p:cNvCxnSpPr>
                  <p:nvPr/>
                </p:nvCxnSpPr>
                <p:spPr>
                  <a:xfrm>
                    <a:off x="5042292" y="5097558"/>
                    <a:ext cx="304800" cy="125344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36" name="Straight Connector 35">
                    <a:extLst>
                      <a:ext uri="{FF2B5EF4-FFF2-40B4-BE49-F238E27FC236}">
                        <a16:creationId xmlns:a16="http://schemas.microsoft.com/office/drawing/2014/main" id="{A6197898-D4CC-8AF9-AA5A-66011356C20D}"/>
                      </a:ext>
                    </a:extLst>
                  </p:cNvPr>
                  <p:cNvCxnSpPr>
                    <a:cxnSpLocks/>
                    <a:stCxn id="21" idx="6"/>
                    <a:endCxn id="24" idx="2"/>
                  </p:cNvCxnSpPr>
                  <p:nvPr/>
                </p:nvCxnSpPr>
                <p:spPr>
                  <a:xfrm flipV="1">
                    <a:off x="5042292" y="5527702"/>
                    <a:ext cx="304800" cy="152400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37" name="Straight Connector 36">
                    <a:extLst>
                      <a:ext uri="{FF2B5EF4-FFF2-40B4-BE49-F238E27FC236}">
                        <a16:creationId xmlns:a16="http://schemas.microsoft.com/office/drawing/2014/main" id="{D0410EA1-C3AA-989D-FFE4-52BA388BD0BF}"/>
                      </a:ext>
                    </a:extLst>
                  </p:cNvPr>
                  <p:cNvCxnSpPr>
                    <a:cxnSpLocks/>
                    <a:stCxn id="20" idx="6"/>
                    <a:endCxn id="24" idx="2"/>
                  </p:cNvCxnSpPr>
                  <p:nvPr/>
                </p:nvCxnSpPr>
                <p:spPr>
                  <a:xfrm>
                    <a:off x="5042293" y="5375303"/>
                    <a:ext cx="304800" cy="152400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38" name="Straight Connector 37">
                    <a:extLst>
                      <a:ext uri="{FF2B5EF4-FFF2-40B4-BE49-F238E27FC236}">
                        <a16:creationId xmlns:a16="http://schemas.microsoft.com/office/drawing/2014/main" id="{C0F67036-40AB-A885-8CA7-4C0D715F1E66}"/>
                      </a:ext>
                    </a:extLst>
                  </p:cNvPr>
                  <p:cNvCxnSpPr>
                    <a:cxnSpLocks/>
                    <a:stCxn id="21" idx="6"/>
                    <a:endCxn id="30" idx="2"/>
                  </p:cNvCxnSpPr>
                  <p:nvPr/>
                </p:nvCxnSpPr>
                <p:spPr>
                  <a:xfrm>
                    <a:off x="5042292" y="5680102"/>
                    <a:ext cx="304800" cy="152400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39" name="Straight Connector 38">
                    <a:extLst>
                      <a:ext uri="{FF2B5EF4-FFF2-40B4-BE49-F238E27FC236}">
                        <a16:creationId xmlns:a16="http://schemas.microsoft.com/office/drawing/2014/main" id="{D1B940C5-0D5F-420A-B7B8-D6800A37C8BB}"/>
                      </a:ext>
                    </a:extLst>
                  </p:cNvPr>
                  <p:cNvCxnSpPr>
                    <a:cxnSpLocks/>
                    <a:stCxn id="29" idx="6"/>
                    <a:endCxn id="30" idx="2"/>
                  </p:cNvCxnSpPr>
                  <p:nvPr/>
                </p:nvCxnSpPr>
                <p:spPr>
                  <a:xfrm flipV="1">
                    <a:off x="5042292" y="5832502"/>
                    <a:ext cx="304800" cy="152400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40" name="Straight Connector 39">
                    <a:extLst>
                      <a:ext uri="{FF2B5EF4-FFF2-40B4-BE49-F238E27FC236}">
                        <a16:creationId xmlns:a16="http://schemas.microsoft.com/office/drawing/2014/main" id="{C8E0B099-FEE8-5ECE-0394-05AD67FAE6FE}"/>
                      </a:ext>
                    </a:extLst>
                  </p:cNvPr>
                  <p:cNvCxnSpPr>
                    <a:cxnSpLocks/>
                    <a:stCxn id="29" idx="6"/>
                    <a:endCxn id="24" idx="2"/>
                  </p:cNvCxnSpPr>
                  <p:nvPr/>
                </p:nvCxnSpPr>
                <p:spPr>
                  <a:xfrm flipV="1">
                    <a:off x="5042292" y="5527702"/>
                    <a:ext cx="304800" cy="457200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41" name="Straight Connector 40">
                    <a:extLst>
                      <a:ext uri="{FF2B5EF4-FFF2-40B4-BE49-F238E27FC236}">
                        <a16:creationId xmlns:a16="http://schemas.microsoft.com/office/drawing/2014/main" id="{8D700F35-DFD0-3F9D-9ED2-78B5DE027326}"/>
                      </a:ext>
                    </a:extLst>
                  </p:cNvPr>
                  <p:cNvCxnSpPr>
                    <a:cxnSpLocks/>
                    <a:stCxn id="21" idx="6"/>
                    <a:endCxn id="23" idx="3"/>
                  </p:cNvCxnSpPr>
                  <p:nvPr/>
                </p:nvCxnSpPr>
                <p:spPr>
                  <a:xfrm flipV="1">
                    <a:off x="5042292" y="5286349"/>
                    <a:ext cx="327118" cy="393753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42" name="Straight Connector 41">
                    <a:extLst>
                      <a:ext uri="{FF2B5EF4-FFF2-40B4-BE49-F238E27FC236}">
                        <a16:creationId xmlns:a16="http://schemas.microsoft.com/office/drawing/2014/main" id="{4EB1210E-FB9B-816E-33E2-768DC1432076}"/>
                      </a:ext>
                    </a:extLst>
                  </p:cNvPr>
                  <p:cNvCxnSpPr>
                    <a:cxnSpLocks/>
                    <a:stCxn id="20" idx="6"/>
                    <a:endCxn id="22" idx="3"/>
                  </p:cNvCxnSpPr>
                  <p:nvPr/>
                </p:nvCxnSpPr>
                <p:spPr>
                  <a:xfrm flipV="1">
                    <a:off x="5042292" y="5057749"/>
                    <a:ext cx="327118" cy="317553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43" name="Straight Connector 42">
                    <a:extLst>
                      <a:ext uri="{FF2B5EF4-FFF2-40B4-BE49-F238E27FC236}">
                        <a16:creationId xmlns:a16="http://schemas.microsoft.com/office/drawing/2014/main" id="{205016AB-0C14-69C8-9B84-B5DA9681ED9D}"/>
                      </a:ext>
                    </a:extLst>
                  </p:cNvPr>
                  <p:cNvCxnSpPr>
                    <a:cxnSpLocks/>
                    <a:stCxn id="18" idx="6"/>
                    <a:endCxn id="23" idx="1"/>
                  </p:cNvCxnSpPr>
                  <p:nvPr/>
                </p:nvCxnSpPr>
                <p:spPr>
                  <a:xfrm>
                    <a:off x="5042292" y="4841902"/>
                    <a:ext cx="327118" cy="317553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44" name="Straight Connector 43">
                    <a:extLst>
                      <a:ext uri="{FF2B5EF4-FFF2-40B4-BE49-F238E27FC236}">
                        <a16:creationId xmlns:a16="http://schemas.microsoft.com/office/drawing/2014/main" id="{4153C3D4-6C40-F42D-9CF2-63878BE8A937}"/>
                      </a:ext>
                    </a:extLst>
                  </p:cNvPr>
                  <p:cNvCxnSpPr>
                    <a:cxnSpLocks/>
                    <a:stCxn id="20" idx="6"/>
                    <a:endCxn id="30" idx="2"/>
                  </p:cNvCxnSpPr>
                  <p:nvPr/>
                </p:nvCxnSpPr>
                <p:spPr>
                  <a:xfrm>
                    <a:off x="5042292" y="5375302"/>
                    <a:ext cx="304800" cy="457200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45" name="Straight Connector 44">
                    <a:extLst>
                      <a:ext uri="{FF2B5EF4-FFF2-40B4-BE49-F238E27FC236}">
                        <a16:creationId xmlns:a16="http://schemas.microsoft.com/office/drawing/2014/main" id="{EE82DF43-CB97-6893-00D5-B3D40774E6B8}"/>
                      </a:ext>
                    </a:extLst>
                  </p:cNvPr>
                  <p:cNvCxnSpPr>
                    <a:cxnSpLocks/>
                    <a:stCxn id="22" idx="6"/>
                    <a:endCxn id="25" idx="2"/>
                  </p:cNvCxnSpPr>
                  <p:nvPr/>
                </p:nvCxnSpPr>
                <p:spPr>
                  <a:xfrm flipV="1">
                    <a:off x="5499492" y="4842677"/>
                    <a:ext cx="336450" cy="151625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074C30DD-D7E9-9619-4469-B864E5818E34}"/>
                      </a:ext>
                    </a:extLst>
                  </p:cNvPr>
                  <p:cNvCxnSpPr>
                    <a:cxnSpLocks/>
                    <a:stCxn id="23" idx="6"/>
                    <a:endCxn id="25" idx="2"/>
                  </p:cNvCxnSpPr>
                  <p:nvPr/>
                </p:nvCxnSpPr>
                <p:spPr>
                  <a:xfrm flipV="1">
                    <a:off x="5499492" y="4842677"/>
                    <a:ext cx="336450" cy="380225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940A84DD-AB69-1AE2-CDA3-E3BF8266FA4B}"/>
                      </a:ext>
                    </a:extLst>
                  </p:cNvPr>
                  <p:cNvCxnSpPr>
                    <a:cxnSpLocks/>
                    <a:stCxn id="24" idx="6"/>
                    <a:endCxn id="26" idx="2"/>
                  </p:cNvCxnSpPr>
                  <p:nvPr/>
                </p:nvCxnSpPr>
                <p:spPr>
                  <a:xfrm flipV="1">
                    <a:off x="5499492" y="5120421"/>
                    <a:ext cx="336450" cy="407281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968CDC8C-673C-B028-5DBA-13F66A8C9D1E}"/>
                      </a:ext>
                    </a:extLst>
                  </p:cNvPr>
                  <p:cNvCxnSpPr>
                    <a:cxnSpLocks/>
                    <a:stCxn id="30" idx="6"/>
                    <a:endCxn id="27" idx="2"/>
                  </p:cNvCxnSpPr>
                  <p:nvPr/>
                </p:nvCxnSpPr>
                <p:spPr>
                  <a:xfrm flipV="1">
                    <a:off x="5499492" y="5425221"/>
                    <a:ext cx="336450" cy="407281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49" name="Straight Connector 48">
                    <a:extLst>
                      <a:ext uri="{FF2B5EF4-FFF2-40B4-BE49-F238E27FC236}">
                        <a16:creationId xmlns:a16="http://schemas.microsoft.com/office/drawing/2014/main" id="{C7C66528-7A5E-5C60-1D76-A7FF391194AF}"/>
                      </a:ext>
                    </a:extLst>
                  </p:cNvPr>
                  <p:cNvCxnSpPr>
                    <a:cxnSpLocks/>
                    <a:stCxn id="30" idx="6"/>
                    <a:endCxn id="31" idx="1"/>
                  </p:cNvCxnSpPr>
                  <p:nvPr/>
                </p:nvCxnSpPr>
                <p:spPr>
                  <a:xfrm>
                    <a:off x="5499492" y="5832502"/>
                    <a:ext cx="358768" cy="138872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50" name="Straight Connector 49">
                    <a:extLst>
                      <a:ext uri="{FF2B5EF4-FFF2-40B4-BE49-F238E27FC236}">
                        <a16:creationId xmlns:a16="http://schemas.microsoft.com/office/drawing/2014/main" id="{AC552767-5D23-11F1-B50A-D04A62B640F4}"/>
                      </a:ext>
                    </a:extLst>
                  </p:cNvPr>
                  <p:cNvCxnSpPr>
                    <a:cxnSpLocks/>
                    <a:stCxn id="30" idx="6"/>
                    <a:endCxn id="28" idx="2"/>
                  </p:cNvCxnSpPr>
                  <p:nvPr/>
                </p:nvCxnSpPr>
                <p:spPr>
                  <a:xfrm flipV="1">
                    <a:off x="5499492" y="5730021"/>
                    <a:ext cx="336450" cy="102481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51" name="Straight Connector 50">
                    <a:extLst>
                      <a:ext uri="{FF2B5EF4-FFF2-40B4-BE49-F238E27FC236}">
                        <a16:creationId xmlns:a16="http://schemas.microsoft.com/office/drawing/2014/main" id="{0039CAD9-5434-1A4E-BFA1-A7A8725B9048}"/>
                      </a:ext>
                    </a:extLst>
                  </p:cNvPr>
                  <p:cNvCxnSpPr>
                    <a:cxnSpLocks/>
                    <a:stCxn id="24" idx="6"/>
                    <a:endCxn id="27" idx="2"/>
                  </p:cNvCxnSpPr>
                  <p:nvPr/>
                </p:nvCxnSpPr>
                <p:spPr>
                  <a:xfrm flipV="1">
                    <a:off x="5499492" y="5425221"/>
                    <a:ext cx="336450" cy="102481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52" name="Straight Connector 51">
                    <a:extLst>
                      <a:ext uri="{FF2B5EF4-FFF2-40B4-BE49-F238E27FC236}">
                        <a16:creationId xmlns:a16="http://schemas.microsoft.com/office/drawing/2014/main" id="{A18AF778-75AB-0B75-62E4-2E2B17F3BB49}"/>
                      </a:ext>
                    </a:extLst>
                  </p:cNvPr>
                  <p:cNvCxnSpPr>
                    <a:cxnSpLocks/>
                    <a:stCxn id="22" idx="6"/>
                    <a:endCxn id="26" idx="2"/>
                  </p:cNvCxnSpPr>
                  <p:nvPr/>
                </p:nvCxnSpPr>
                <p:spPr>
                  <a:xfrm>
                    <a:off x="5499493" y="4994303"/>
                    <a:ext cx="336449" cy="126119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53" name="Straight Connector 52">
                    <a:extLst>
                      <a:ext uri="{FF2B5EF4-FFF2-40B4-BE49-F238E27FC236}">
                        <a16:creationId xmlns:a16="http://schemas.microsoft.com/office/drawing/2014/main" id="{CFF393A3-E9B3-11EC-31D6-FE357CC4D151}"/>
                      </a:ext>
                    </a:extLst>
                  </p:cNvPr>
                  <p:cNvCxnSpPr>
                    <a:cxnSpLocks/>
                    <a:stCxn id="23" idx="6"/>
                    <a:endCxn id="27" idx="2"/>
                  </p:cNvCxnSpPr>
                  <p:nvPr/>
                </p:nvCxnSpPr>
                <p:spPr>
                  <a:xfrm>
                    <a:off x="5499492" y="5222902"/>
                    <a:ext cx="336450" cy="202319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54" name="Straight Connector 53">
                    <a:extLst>
                      <a:ext uri="{FF2B5EF4-FFF2-40B4-BE49-F238E27FC236}">
                        <a16:creationId xmlns:a16="http://schemas.microsoft.com/office/drawing/2014/main" id="{C9406BC8-EBC0-4E26-524A-8784C41D1D6E}"/>
                      </a:ext>
                    </a:extLst>
                  </p:cNvPr>
                  <p:cNvCxnSpPr>
                    <a:cxnSpLocks/>
                    <a:stCxn id="24" idx="6"/>
                    <a:endCxn id="28" idx="2"/>
                  </p:cNvCxnSpPr>
                  <p:nvPr/>
                </p:nvCxnSpPr>
                <p:spPr>
                  <a:xfrm>
                    <a:off x="5499492" y="5527702"/>
                    <a:ext cx="336450" cy="202319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55" name="Straight Connector 54">
                    <a:extLst>
                      <a:ext uri="{FF2B5EF4-FFF2-40B4-BE49-F238E27FC236}">
                        <a16:creationId xmlns:a16="http://schemas.microsoft.com/office/drawing/2014/main" id="{B0C82BFF-D16A-81D5-B83A-BBEFA80A6C56}"/>
                      </a:ext>
                    </a:extLst>
                  </p:cNvPr>
                  <p:cNvCxnSpPr>
                    <a:cxnSpLocks/>
                    <a:stCxn id="22" idx="6"/>
                    <a:endCxn id="27" idx="2"/>
                  </p:cNvCxnSpPr>
                  <p:nvPr/>
                </p:nvCxnSpPr>
                <p:spPr>
                  <a:xfrm>
                    <a:off x="5499492" y="4994302"/>
                    <a:ext cx="336450" cy="430919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56" name="Straight Connector 55">
                    <a:extLst>
                      <a:ext uri="{FF2B5EF4-FFF2-40B4-BE49-F238E27FC236}">
                        <a16:creationId xmlns:a16="http://schemas.microsoft.com/office/drawing/2014/main" id="{EC7F004F-A54E-A6B1-6AD6-D728047DE606}"/>
                      </a:ext>
                    </a:extLst>
                  </p:cNvPr>
                  <p:cNvCxnSpPr>
                    <a:cxnSpLocks/>
                    <a:stCxn id="24" idx="6"/>
                    <a:endCxn id="25" idx="2"/>
                  </p:cNvCxnSpPr>
                  <p:nvPr/>
                </p:nvCxnSpPr>
                <p:spPr>
                  <a:xfrm flipV="1">
                    <a:off x="5499492" y="4842677"/>
                    <a:ext cx="336450" cy="685025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57" name="Straight Connector 56">
                    <a:extLst>
                      <a:ext uri="{FF2B5EF4-FFF2-40B4-BE49-F238E27FC236}">
                        <a16:creationId xmlns:a16="http://schemas.microsoft.com/office/drawing/2014/main" id="{7490D471-CE68-0AD5-3657-E90F84C926B8}"/>
                      </a:ext>
                    </a:extLst>
                  </p:cNvPr>
                  <p:cNvCxnSpPr>
                    <a:cxnSpLocks/>
                    <a:stCxn id="24" idx="6"/>
                    <a:endCxn id="31" idx="1"/>
                  </p:cNvCxnSpPr>
                  <p:nvPr/>
                </p:nvCxnSpPr>
                <p:spPr>
                  <a:xfrm>
                    <a:off x="5499492" y="5527702"/>
                    <a:ext cx="358768" cy="443672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58" name="Straight Connector 57">
                    <a:extLst>
                      <a:ext uri="{FF2B5EF4-FFF2-40B4-BE49-F238E27FC236}">
                        <a16:creationId xmlns:a16="http://schemas.microsoft.com/office/drawing/2014/main" id="{98B1212C-FB9A-6B05-8AF7-DEA3B9CA2E24}"/>
                      </a:ext>
                    </a:extLst>
                  </p:cNvPr>
                  <p:cNvCxnSpPr>
                    <a:cxnSpLocks/>
                    <a:stCxn id="30" idx="6"/>
                    <a:endCxn id="26" idx="2"/>
                  </p:cNvCxnSpPr>
                  <p:nvPr/>
                </p:nvCxnSpPr>
                <p:spPr>
                  <a:xfrm flipV="1">
                    <a:off x="5499492" y="5120421"/>
                    <a:ext cx="336450" cy="712081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sp>
                <p:nvSpPr>
                  <p:cNvPr id="59" name="Oval 58">
                    <a:extLst>
                      <a:ext uri="{FF2B5EF4-FFF2-40B4-BE49-F238E27FC236}">
                        <a16:creationId xmlns:a16="http://schemas.microsoft.com/office/drawing/2014/main" id="{5CE20097-55F4-EF7D-0A82-DEA4D8035A88}"/>
                      </a:ext>
                    </a:extLst>
                  </p:cNvPr>
                  <p:cNvSpPr/>
                  <p:nvPr/>
                </p:nvSpPr>
                <p:spPr>
                  <a:xfrm>
                    <a:off x="4410942" y="4599774"/>
                    <a:ext cx="152400" cy="179456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0" name="Oval 59">
                    <a:extLst>
                      <a:ext uri="{FF2B5EF4-FFF2-40B4-BE49-F238E27FC236}">
                        <a16:creationId xmlns:a16="http://schemas.microsoft.com/office/drawing/2014/main" id="{FEF1D8EB-9C47-0FA5-968C-E17B13F99BD8}"/>
                      </a:ext>
                    </a:extLst>
                  </p:cNvPr>
                  <p:cNvSpPr/>
                  <p:nvPr/>
                </p:nvSpPr>
                <p:spPr>
                  <a:xfrm>
                    <a:off x="4410942" y="4855430"/>
                    <a:ext cx="152400" cy="179456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" name="Oval 60">
                    <a:extLst>
                      <a:ext uri="{FF2B5EF4-FFF2-40B4-BE49-F238E27FC236}">
                        <a16:creationId xmlns:a16="http://schemas.microsoft.com/office/drawing/2014/main" id="{C6BF6D64-CED0-FA8C-D07D-EB88CC7E0CB3}"/>
                      </a:ext>
                    </a:extLst>
                  </p:cNvPr>
                  <p:cNvSpPr/>
                  <p:nvPr/>
                </p:nvSpPr>
                <p:spPr>
                  <a:xfrm>
                    <a:off x="4410942" y="5133174"/>
                    <a:ext cx="152400" cy="179456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2" name="Oval 61">
                    <a:extLst>
                      <a:ext uri="{FF2B5EF4-FFF2-40B4-BE49-F238E27FC236}">
                        <a16:creationId xmlns:a16="http://schemas.microsoft.com/office/drawing/2014/main" id="{5CC692BA-F646-0F37-6CC0-069F69A500A4}"/>
                      </a:ext>
                    </a:extLst>
                  </p:cNvPr>
                  <p:cNvSpPr/>
                  <p:nvPr/>
                </p:nvSpPr>
                <p:spPr>
                  <a:xfrm>
                    <a:off x="4410942" y="5437974"/>
                    <a:ext cx="152400" cy="179456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" name="Oval 62">
                    <a:extLst>
                      <a:ext uri="{FF2B5EF4-FFF2-40B4-BE49-F238E27FC236}">
                        <a16:creationId xmlns:a16="http://schemas.microsoft.com/office/drawing/2014/main" id="{AB4EAF1B-45F1-6876-4C79-B5EDA911CF0B}"/>
                      </a:ext>
                    </a:extLst>
                  </p:cNvPr>
                  <p:cNvSpPr/>
                  <p:nvPr/>
                </p:nvSpPr>
                <p:spPr>
                  <a:xfrm>
                    <a:off x="4410942" y="5742774"/>
                    <a:ext cx="152400" cy="179456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4" name="Oval 63">
                    <a:extLst>
                      <a:ext uri="{FF2B5EF4-FFF2-40B4-BE49-F238E27FC236}">
                        <a16:creationId xmlns:a16="http://schemas.microsoft.com/office/drawing/2014/main" id="{7E48E036-FFD0-5659-B255-527C0E321666}"/>
                      </a:ext>
                    </a:extLst>
                  </p:cNvPr>
                  <p:cNvSpPr/>
                  <p:nvPr/>
                </p:nvSpPr>
                <p:spPr>
                  <a:xfrm>
                    <a:off x="4419600" y="6068944"/>
                    <a:ext cx="152400" cy="179456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65" name="Straight Connector 64">
                    <a:extLst>
                      <a:ext uri="{FF2B5EF4-FFF2-40B4-BE49-F238E27FC236}">
                        <a16:creationId xmlns:a16="http://schemas.microsoft.com/office/drawing/2014/main" id="{6A69E911-5FBF-8700-4A41-66D934E56CD4}"/>
                      </a:ext>
                    </a:extLst>
                  </p:cNvPr>
                  <p:cNvCxnSpPr>
                    <a:cxnSpLocks/>
                    <a:stCxn id="59" idx="6"/>
                    <a:endCxn id="18" idx="2"/>
                  </p:cNvCxnSpPr>
                  <p:nvPr/>
                </p:nvCxnSpPr>
                <p:spPr>
                  <a:xfrm>
                    <a:off x="4563342" y="4689502"/>
                    <a:ext cx="326550" cy="152400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66" name="Straight Connector 65">
                    <a:extLst>
                      <a:ext uri="{FF2B5EF4-FFF2-40B4-BE49-F238E27FC236}">
                        <a16:creationId xmlns:a16="http://schemas.microsoft.com/office/drawing/2014/main" id="{58649232-0CE9-BB9C-698D-3E5E8CA9A0E0}"/>
                      </a:ext>
                    </a:extLst>
                  </p:cNvPr>
                  <p:cNvCxnSpPr>
                    <a:cxnSpLocks/>
                    <a:stCxn id="60" idx="6"/>
                    <a:endCxn id="19" idx="2"/>
                  </p:cNvCxnSpPr>
                  <p:nvPr/>
                </p:nvCxnSpPr>
                <p:spPr>
                  <a:xfrm>
                    <a:off x="4563342" y="4945158"/>
                    <a:ext cx="326550" cy="152400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67" name="Straight Connector 66">
                    <a:extLst>
                      <a:ext uri="{FF2B5EF4-FFF2-40B4-BE49-F238E27FC236}">
                        <a16:creationId xmlns:a16="http://schemas.microsoft.com/office/drawing/2014/main" id="{893A9EB9-0FFF-15D3-2AF3-AAC6B9338717}"/>
                      </a:ext>
                    </a:extLst>
                  </p:cNvPr>
                  <p:cNvCxnSpPr>
                    <a:cxnSpLocks/>
                    <a:stCxn id="61" idx="6"/>
                    <a:endCxn id="20" idx="2"/>
                  </p:cNvCxnSpPr>
                  <p:nvPr/>
                </p:nvCxnSpPr>
                <p:spPr>
                  <a:xfrm>
                    <a:off x="4563342" y="5222902"/>
                    <a:ext cx="326550" cy="152400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68" name="Straight Connector 67">
                    <a:extLst>
                      <a:ext uri="{FF2B5EF4-FFF2-40B4-BE49-F238E27FC236}">
                        <a16:creationId xmlns:a16="http://schemas.microsoft.com/office/drawing/2014/main" id="{B3621B44-848E-6DCD-1AC3-925F3EAE8D79}"/>
                      </a:ext>
                    </a:extLst>
                  </p:cNvPr>
                  <p:cNvCxnSpPr>
                    <a:cxnSpLocks/>
                    <a:stCxn id="62" idx="6"/>
                    <a:endCxn id="21" idx="2"/>
                  </p:cNvCxnSpPr>
                  <p:nvPr/>
                </p:nvCxnSpPr>
                <p:spPr>
                  <a:xfrm>
                    <a:off x="4563342" y="5527702"/>
                    <a:ext cx="326550" cy="152400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69" name="Straight Connector 68">
                    <a:extLst>
                      <a:ext uri="{FF2B5EF4-FFF2-40B4-BE49-F238E27FC236}">
                        <a16:creationId xmlns:a16="http://schemas.microsoft.com/office/drawing/2014/main" id="{56572019-AA5A-1FBD-C063-7007674ED064}"/>
                      </a:ext>
                    </a:extLst>
                  </p:cNvPr>
                  <p:cNvCxnSpPr>
                    <a:cxnSpLocks/>
                    <a:stCxn id="63" idx="6"/>
                    <a:endCxn id="29" idx="2"/>
                  </p:cNvCxnSpPr>
                  <p:nvPr/>
                </p:nvCxnSpPr>
                <p:spPr>
                  <a:xfrm>
                    <a:off x="4563342" y="5832502"/>
                    <a:ext cx="326550" cy="152400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70" name="Straight Connector 69">
                    <a:extLst>
                      <a:ext uri="{FF2B5EF4-FFF2-40B4-BE49-F238E27FC236}">
                        <a16:creationId xmlns:a16="http://schemas.microsoft.com/office/drawing/2014/main" id="{7D3B3180-FC31-3ECF-D436-CEC01C7FDA90}"/>
                      </a:ext>
                    </a:extLst>
                  </p:cNvPr>
                  <p:cNvCxnSpPr>
                    <a:cxnSpLocks/>
                    <a:stCxn id="64" idx="6"/>
                    <a:endCxn id="29" idx="2"/>
                  </p:cNvCxnSpPr>
                  <p:nvPr/>
                </p:nvCxnSpPr>
                <p:spPr>
                  <a:xfrm flipV="1">
                    <a:off x="4572000" y="5984902"/>
                    <a:ext cx="317892" cy="173770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71" name="Straight Connector 70">
                    <a:extLst>
                      <a:ext uri="{FF2B5EF4-FFF2-40B4-BE49-F238E27FC236}">
                        <a16:creationId xmlns:a16="http://schemas.microsoft.com/office/drawing/2014/main" id="{852348F5-9411-A35F-67CB-775F51AABF34}"/>
                      </a:ext>
                    </a:extLst>
                  </p:cNvPr>
                  <p:cNvCxnSpPr>
                    <a:cxnSpLocks/>
                    <a:stCxn id="63" idx="6"/>
                    <a:endCxn id="21" idx="2"/>
                  </p:cNvCxnSpPr>
                  <p:nvPr/>
                </p:nvCxnSpPr>
                <p:spPr>
                  <a:xfrm flipV="1">
                    <a:off x="4563342" y="5680102"/>
                    <a:ext cx="326550" cy="152400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72" name="Straight Connector 71">
                    <a:extLst>
                      <a:ext uri="{FF2B5EF4-FFF2-40B4-BE49-F238E27FC236}">
                        <a16:creationId xmlns:a16="http://schemas.microsoft.com/office/drawing/2014/main" id="{5476176C-A402-5900-AD63-1FD970220E84}"/>
                      </a:ext>
                    </a:extLst>
                  </p:cNvPr>
                  <p:cNvCxnSpPr>
                    <a:cxnSpLocks/>
                    <a:stCxn id="61" idx="6"/>
                    <a:endCxn id="19" idx="2"/>
                  </p:cNvCxnSpPr>
                  <p:nvPr/>
                </p:nvCxnSpPr>
                <p:spPr>
                  <a:xfrm flipV="1">
                    <a:off x="4563342" y="5097558"/>
                    <a:ext cx="326550" cy="125344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73" name="Straight Connector 72">
                    <a:extLst>
                      <a:ext uri="{FF2B5EF4-FFF2-40B4-BE49-F238E27FC236}">
                        <a16:creationId xmlns:a16="http://schemas.microsoft.com/office/drawing/2014/main" id="{74E5BBB2-219C-B0DA-1CBF-3927171DFA08}"/>
                      </a:ext>
                    </a:extLst>
                  </p:cNvPr>
                  <p:cNvCxnSpPr>
                    <a:cxnSpLocks/>
                    <a:stCxn id="60" idx="6"/>
                    <a:endCxn id="18" idx="2"/>
                  </p:cNvCxnSpPr>
                  <p:nvPr/>
                </p:nvCxnSpPr>
                <p:spPr>
                  <a:xfrm flipV="1">
                    <a:off x="4563342" y="4841902"/>
                    <a:ext cx="326550" cy="103256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74" name="Straight Connector 73">
                    <a:extLst>
                      <a:ext uri="{FF2B5EF4-FFF2-40B4-BE49-F238E27FC236}">
                        <a16:creationId xmlns:a16="http://schemas.microsoft.com/office/drawing/2014/main" id="{F28C30CC-E0B4-1A07-D20E-607986AACD14}"/>
                      </a:ext>
                    </a:extLst>
                  </p:cNvPr>
                  <p:cNvCxnSpPr>
                    <a:cxnSpLocks/>
                    <a:stCxn id="62" idx="6"/>
                    <a:endCxn id="29" idx="2"/>
                  </p:cNvCxnSpPr>
                  <p:nvPr/>
                </p:nvCxnSpPr>
                <p:spPr>
                  <a:xfrm>
                    <a:off x="4563342" y="5527702"/>
                    <a:ext cx="326550" cy="457200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75" name="Straight Connector 74">
                    <a:extLst>
                      <a:ext uri="{FF2B5EF4-FFF2-40B4-BE49-F238E27FC236}">
                        <a16:creationId xmlns:a16="http://schemas.microsoft.com/office/drawing/2014/main" id="{0BE3FB96-1AA8-12F4-A62A-4F1A1D75A44D}"/>
                      </a:ext>
                    </a:extLst>
                  </p:cNvPr>
                  <p:cNvCxnSpPr>
                    <a:cxnSpLocks/>
                    <a:stCxn id="60" idx="6"/>
                    <a:endCxn id="21" idx="2"/>
                  </p:cNvCxnSpPr>
                  <p:nvPr/>
                </p:nvCxnSpPr>
                <p:spPr>
                  <a:xfrm>
                    <a:off x="4563342" y="4945158"/>
                    <a:ext cx="326550" cy="734944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76" name="Straight Connector 75">
                    <a:extLst>
                      <a:ext uri="{FF2B5EF4-FFF2-40B4-BE49-F238E27FC236}">
                        <a16:creationId xmlns:a16="http://schemas.microsoft.com/office/drawing/2014/main" id="{9CA45C5E-81FB-B53A-2C2A-28E92ED688B6}"/>
                      </a:ext>
                    </a:extLst>
                  </p:cNvPr>
                  <p:cNvCxnSpPr>
                    <a:cxnSpLocks/>
                    <a:stCxn id="62" idx="6"/>
                    <a:endCxn id="18" idx="2"/>
                  </p:cNvCxnSpPr>
                  <p:nvPr/>
                </p:nvCxnSpPr>
                <p:spPr>
                  <a:xfrm flipV="1">
                    <a:off x="4563342" y="4841902"/>
                    <a:ext cx="326550" cy="685800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77" name="Straight Connector 76">
                    <a:extLst>
                      <a:ext uri="{FF2B5EF4-FFF2-40B4-BE49-F238E27FC236}">
                        <a16:creationId xmlns:a16="http://schemas.microsoft.com/office/drawing/2014/main" id="{E8DAE0A9-B4BB-44AD-6A59-2C6946BCEF05}"/>
                      </a:ext>
                    </a:extLst>
                  </p:cNvPr>
                  <p:cNvCxnSpPr>
                    <a:cxnSpLocks/>
                    <a:stCxn id="64" idx="6"/>
                    <a:endCxn id="21" idx="2"/>
                  </p:cNvCxnSpPr>
                  <p:nvPr/>
                </p:nvCxnSpPr>
                <p:spPr>
                  <a:xfrm flipV="1">
                    <a:off x="4572000" y="5680102"/>
                    <a:ext cx="317892" cy="478570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78" name="Straight Connector 77">
                    <a:extLst>
                      <a:ext uri="{FF2B5EF4-FFF2-40B4-BE49-F238E27FC236}">
                        <a16:creationId xmlns:a16="http://schemas.microsoft.com/office/drawing/2014/main" id="{55089B56-946C-924D-38E2-BAADD3A1B31A}"/>
                      </a:ext>
                    </a:extLst>
                  </p:cNvPr>
                  <p:cNvCxnSpPr>
                    <a:cxnSpLocks/>
                    <a:stCxn id="63" idx="6"/>
                    <a:endCxn id="20" idx="2"/>
                  </p:cNvCxnSpPr>
                  <p:nvPr/>
                </p:nvCxnSpPr>
                <p:spPr>
                  <a:xfrm flipV="1">
                    <a:off x="4563342" y="5375302"/>
                    <a:ext cx="326550" cy="457200"/>
                  </a:xfrm>
                  <a:prstGeom prst="lin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</p:cxnSp>
            </p:grpSp>
            <p:sp>
              <p:nvSpPr>
                <p:cNvPr id="11" name="Arrow: Right 10">
                  <a:extLst>
                    <a:ext uri="{FF2B5EF4-FFF2-40B4-BE49-F238E27FC236}">
                      <a16:creationId xmlns:a16="http://schemas.microsoft.com/office/drawing/2014/main" id="{83EE3A9B-58AA-10F5-C17C-063957BEBF6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1442560" y="4430327"/>
                  <a:ext cx="425911" cy="533400"/>
                </a:xfrm>
                <a:prstGeom prst="rightArrow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6"/>
                </a:fillRef>
                <a:effectRef idx="1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6E77607E-FCE6-7380-E032-853C20EDFC9D}"/>
                        </a:ext>
                        <a:ext uri="{C183D7F6-B498-43B3-948B-1728B52AA6E4}">
                          <adec:decorative xmlns:adec="http://schemas.microsoft.com/office/drawing/2017/decorative" val="1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29787" y="4514865"/>
                      <a:ext cx="34971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94" name="TextBox 193">
                      <a:extLst>
                        <a:ext uri="{FF2B5EF4-FFF2-40B4-BE49-F238E27FC236}">
                          <a16:creationId xmlns:a16="http://schemas.microsoft.com/office/drawing/2014/main" id="{5FAAFD66-2140-E45A-471D-39F874312E32}"/>
                        </a:ext>
                        <a:ext uri="{C183D7F6-B498-43B3-948B-1728B52AA6E4}">
                          <adec:decorative xmlns:adec="http://schemas.microsoft.com/office/drawing/2017/decorative" val="1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29787" y="4514865"/>
                      <a:ext cx="349711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3" name="Arrow: Right 12">
                  <a:extLst>
                    <a:ext uri="{FF2B5EF4-FFF2-40B4-BE49-F238E27FC236}">
                      <a16:creationId xmlns:a16="http://schemas.microsoft.com/office/drawing/2014/main" id="{B129BAC3-6F47-0881-BBC2-1D963667FD5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3810000" y="4491358"/>
                  <a:ext cx="384215" cy="503703"/>
                </a:xfrm>
                <a:prstGeom prst="rightArrow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6"/>
                </a:fillRef>
                <a:effectRef idx="1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A4C0F609-44D6-0314-CA4F-8C87486BC408}"/>
                        </a:ext>
                        <a:ext uri="{C183D7F6-B498-43B3-948B-1728B52AA6E4}">
                          <adec:decorative xmlns:adec="http://schemas.microsoft.com/office/drawing/2017/decorative" val="1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94215" y="4430845"/>
                      <a:ext cx="1423211" cy="49549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dirty="0"/>
                        <a:t>Stochastic Policy</a:t>
                      </a:r>
                    </a:p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A4C0F609-44D6-0314-CA4F-8C87486BC408}"/>
                        </a:ext>
                        <a:ext uri="{C183D7F6-B498-43B3-948B-1728B52AA6E4}">
                          <adec:decorative xmlns:adec="http://schemas.microsoft.com/office/drawing/2017/decorative" val="1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94215" y="4430845"/>
                      <a:ext cx="1423211" cy="495493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2581" t="-4717" r="-2581" b="-660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537665EB-0BC7-F108-E105-22123F60CD99}"/>
                        </a:ext>
                        <a:ext uri="{C183D7F6-B498-43B3-948B-1728B52AA6E4}">
                          <adec:decorative xmlns:adec="http://schemas.microsoft.com/office/drawing/2017/decorative" val="1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4915" y="3714030"/>
                      <a:ext cx="36388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97" name="TextBox 196">
                      <a:extLst>
                        <a:ext uri="{FF2B5EF4-FFF2-40B4-BE49-F238E27FC236}">
                          <a16:creationId xmlns:a16="http://schemas.microsoft.com/office/drawing/2014/main" id="{25BA0203-B417-18D9-5155-AC948C3DB147}"/>
                        </a:ext>
                        <a:ext uri="{C183D7F6-B498-43B3-948B-1728B52AA6E4}">
                          <adec:decorative xmlns:adec="http://schemas.microsoft.com/office/drawing/2017/decorative" val="1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4915" y="3714030"/>
                      <a:ext cx="363881" cy="36933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TextBox 15">
                      <a:extLst>
                        <a:ext uri="{FF2B5EF4-FFF2-40B4-BE49-F238E27FC236}">
                          <a16:creationId xmlns:a16="http://schemas.microsoft.com/office/drawing/2014/main" id="{F2DE7CDB-0594-A78F-634E-73F48DB93B05}"/>
                        </a:ext>
                        <a:ext uri="{C183D7F6-B498-43B3-948B-1728B52AA6E4}">
                          <adec:decorative xmlns:adec="http://schemas.microsoft.com/office/drawing/2017/decorative" val="1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82394" y="3851318"/>
                      <a:ext cx="385683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98" name="TextBox 197">
                      <a:extLst>
                        <a:ext uri="{FF2B5EF4-FFF2-40B4-BE49-F238E27FC236}">
                          <a16:creationId xmlns:a16="http://schemas.microsoft.com/office/drawing/2014/main" id="{5F8BBD95-CC36-0F7B-4420-D48D811414FE}"/>
                        </a:ext>
                        <a:ext uri="{C183D7F6-B498-43B3-948B-1728B52AA6E4}">
                          <adec:decorative xmlns:adec="http://schemas.microsoft.com/office/drawing/2017/decorative" val="1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82394" y="3851318"/>
                      <a:ext cx="385683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7" name="Right Brace 16">
                  <a:extLst>
                    <a:ext uri="{FF2B5EF4-FFF2-40B4-BE49-F238E27FC236}">
                      <a16:creationId xmlns:a16="http://schemas.microsoft.com/office/drawing/2014/main" id="{B0056B51-6525-5F1D-332C-25FE43E811D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3515217" y="4209556"/>
                  <a:ext cx="113460" cy="1038077"/>
                </a:xfrm>
                <a:prstGeom prst="rightBrace">
                  <a:avLst/>
                </a:prstGeom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1F3FC51C-4913-4AA3-7157-CD1870665EE2}"/>
                      </a:ext>
                    </a:extLst>
                  </p:cNvPr>
                  <p:cNvSpPr txBox="1"/>
                  <p:nvPr/>
                </p:nvSpPr>
                <p:spPr>
                  <a:xfrm>
                    <a:off x="8909426" y="2084168"/>
                    <a:ext cx="629958" cy="283139"/>
                  </a:xfrm>
                  <a:prstGeom prst="rect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1F3FC51C-4913-4AA3-7157-CD1870665E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909426" y="2084168"/>
                    <a:ext cx="629958" cy="28313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3621200-6B4F-6018-514A-5A74990CC3FC}"/>
                </a:ext>
              </a:extLst>
            </p:cNvPr>
            <p:cNvSpPr txBox="1"/>
            <p:nvPr/>
          </p:nvSpPr>
          <p:spPr>
            <a:xfrm>
              <a:off x="6022689" y="3361268"/>
              <a:ext cx="10072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/>
                <a:t>Softmax</a:t>
              </a:r>
              <a:br>
                <a:rPr lang="en-US" sz="1400" dirty="0"/>
              </a:br>
              <a:r>
                <a:rPr lang="en-US" sz="1400" dirty="0"/>
                <a:t>activation</a:t>
              </a:r>
              <a:endParaRPr lang="en-US" sz="1600" dirty="0"/>
            </a:p>
          </p:txBody>
        </p: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DD8681B6-A915-9F9F-B147-E37470DF4526}"/>
                </a:ext>
              </a:extLst>
            </p:cNvPr>
            <p:cNvCxnSpPr>
              <a:cxnSpLocks/>
              <a:stCxn id="2" idx="0"/>
            </p:cNvCxnSpPr>
            <p:nvPr/>
          </p:nvCxnSpPr>
          <p:spPr>
            <a:xfrm flipV="1">
              <a:off x="6526332" y="3201382"/>
              <a:ext cx="0" cy="1598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Speech Bubble: Rectangle with Corners Rounded 88">
            <a:extLst>
              <a:ext uri="{FF2B5EF4-FFF2-40B4-BE49-F238E27FC236}">
                <a16:creationId xmlns:a16="http://schemas.microsoft.com/office/drawing/2014/main" id="{F7F689BC-52A4-7689-B8ED-49688B14F270}"/>
              </a:ext>
            </a:extLst>
          </p:cNvPr>
          <p:cNvSpPr/>
          <p:nvPr/>
        </p:nvSpPr>
        <p:spPr>
          <a:xfrm>
            <a:off x="6646343" y="4953505"/>
            <a:ext cx="2761909" cy="1029122"/>
          </a:xfrm>
          <a:prstGeom prst="wedgeRoundRectCallout">
            <a:avLst>
              <a:gd name="adj1" fmla="val -156311"/>
              <a:gd name="adj2" fmla="val -3980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/>
              <a:t>Means that the highest probability action leads to the largest return. Can be reformulated as a loss.</a:t>
            </a:r>
          </a:p>
        </p:txBody>
      </p:sp>
    </p:spTree>
    <p:extLst>
      <p:ext uri="{BB962C8B-B14F-4D97-AF65-F5344CB8AC3E}">
        <p14:creationId xmlns:p14="http://schemas.microsoft.com/office/powerpoint/2010/main" val="701213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A846B-68DA-9665-F3C8-EFD6C97E6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2F899-1499-8E06-0445-BD2138EDB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 With Policy Network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8D09B2D-712D-AE80-53DC-7F52CE6976E7}"/>
              </a:ext>
            </a:extLst>
          </p:cNvPr>
          <p:cNvGrpSpPr/>
          <p:nvPr/>
        </p:nvGrpSpPr>
        <p:grpSpPr>
          <a:xfrm>
            <a:off x="1216159" y="1375484"/>
            <a:ext cx="9759682" cy="4373514"/>
            <a:chOff x="1216159" y="1375484"/>
            <a:chExt cx="9759682" cy="437351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A46DFC6-5448-DD38-1C4B-9AD716BBC7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6159" y="1375484"/>
              <a:ext cx="9759682" cy="359686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Speech Bubble: Rectangle with Corners Rounded 2">
                  <a:extLst>
                    <a:ext uri="{FF2B5EF4-FFF2-40B4-BE49-F238E27FC236}">
                      <a16:creationId xmlns:a16="http://schemas.microsoft.com/office/drawing/2014/main" id="{76A60ADD-253C-A167-3E0C-CB59A308D338}"/>
                    </a:ext>
                  </a:extLst>
                </p:cNvPr>
                <p:cNvSpPr/>
                <p:nvPr/>
              </p:nvSpPr>
              <p:spPr>
                <a:xfrm>
                  <a:off x="6245375" y="4600136"/>
                  <a:ext cx="3911499" cy="1148862"/>
                </a:xfrm>
                <a:prstGeom prst="wedgeRoundRectCallout">
                  <a:avLst>
                    <a:gd name="adj1" fmla="val -72231"/>
                    <a:gd name="adj2" fmla="val -42086"/>
                    <a:gd name="adj3" fmla="val 16667"/>
                  </a:avLst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1600" dirty="0"/>
                    <a:t>Represent the policy as a policy network.  </a:t>
                  </a:r>
                  <a:br>
                    <a:rPr lang="en-US" sz="1600" dirty="0"/>
                  </a:br>
                  <a:r>
                    <a:rPr lang="en-US" sz="1600" dirty="0"/>
                    <a:t>This is equivalent to : 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en-US" sz="16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r>
                          <a:rPr lang="en-US" sz="16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 − </m:t>
                        </m:r>
                        <m:r>
                          <m:rPr>
                            <m:sty m:val="p"/>
                          </m:rPr>
                          <a:rPr lang="en-US" sz="16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ln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sz="16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 dirty="0" err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600" i="1" dirty="0" err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sz="1600" i="1" dirty="0" err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600" i="1" dirty="0" err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16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16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r>
                          <a:rPr lang="en-US" sz="16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600" i="1" dirty="0" err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oMath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m:rPr>
                            <m:nor/>
                          </m:rPr>
                          <a:rPr lang="en-US" sz="16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←</m:t>
                        </m:r>
                        <m:r>
                          <m:rPr>
                            <m:nor/>
                          </m:rPr>
                          <a:rPr lang="en-US" sz="16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m:rPr>
                            <m:nor/>
                          </m:rPr>
                          <a:rPr lang="en-US" sz="16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𝛻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r>
                          <a:rPr lang="en-US" sz="16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en-US" sz="16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oMath>
                    </m:oMathPara>
                  </a14:m>
                  <a:endPara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" name="Speech Bubble: Rectangle with Corners Rounded 2">
                  <a:extLst>
                    <a:ext uri="{FF2B5EF4-FFF2-40B4-BE49-F238E27FC236}">
                      <a16:creationId xmlns:a16="http://schemas.microsoft.com/office/drawing/2014/main" id="{76A60ADD-253C-A167-3E0C-CB59A308D33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5375" y="4600136"/>
                  <a:ext cx="3911499" cy="1148862"/>
                </a:xfrm>
                <a:prstGeom prst="wedgeRoundRectCallout">
                  <a:avLst>
                    <a:gd name="adj1" fmla="val -72231"/>
                    <a:gd name="adj2" fmla="val -42086"/>
                    <a:gd name="adj3" fmla="val 16667"/>
                  </a:avLst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810A3E2-C03E-42BB-0B6B-06421786D8CF}"/>
              </a:ext>
            </a:extLst>
          </p:cNvPr>
          <p:cNvSpPr txBox="1"/>
          <p:nvPr/>
        </p:nvSpPr>
        <p:spPr>
          <a:xfrm>
            <a:off x="1383430" y="5903148"/>
            <a:ext cx="5033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MC leads to instability!</a:t>
            </a:r>
          </a:p>
        </p:txBody>
      </p:sp>
    </p:spTree>
    <p:extLst>
      <p:ext uri="{BB962C8B-B14F-4D97-AF65-F5344CB8AC3E}">
        <p14:creationId xmlns:p14="http://schemas.microsoft.com/office/powerpoint/2010/main" val="26934999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91620C6-C80F-5592-8155-B389EE672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E6BD750-A7A5-B3CD-0CB1-69EC41046B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703669" cy="509554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stochastic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is parameterized using parameter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b="1" dirty="0"/>
                  <a:t>.</a:t>
                </a:r>
              </a:p>
              <a:p>
                <a:r>
                  <a:rPr lang="en-US" dirty="0"/>
                  <a:t>Expected return</a:t>
                </a: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sub>
                          <m:sup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𝑑𝑎</m:t>
                            </m:r>
                          </m:e>
                        </m:nary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𝑑𝑠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</a:t>
                </a:r>
                <a:r>
                  <a:rPr lang="en-US" b="0" dirty="0"/>
                  <a:t>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𝑃𝑟</m:t>
                            </m:r>
                          </m:fName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func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Gradient: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sup>
                            </m:s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𝑑𝑎</m:t>
                            </m:r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𝑑𝑠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Estimate: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(the ANN):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E6BD750-A7A5-B3CD-0CB1-69EC41046B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703669" cy="5095544"/>
              </a:xfrm>
              <a:blipFill>
                <a:blip r:embed="rId2"/>
                <a:stretch>
                  <a:fillRect l="-841" t="-17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DC560BF-3963-5C9B-02DB-0D3E3718D787}"/>
              </a:ext>
            </a:extLst>
          </p:cNvPr>
          <p:cNvSpPr txBox="1"/>
          <p:nvPr/>
        </p:nvSpPr>
        <p:spPr>
          <a:xfrm>
            <a:off x="9669858" y="813679"/>
            <a:ext cx="2149887" cy="14773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Integrals work for cont. state and action spaces. Replace with sums for discrete spaces.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53B616-DCF3-E9A4-0923-E0155A385B10}"/>
              </a:ext>
            </a:extLst>
          </p:cNvPr>
          <p:cNvCxnSpPr>
            <a:cxnSpLocks/>
          </p:cNvCxnSpPr>
          <p:nvPr/>
        </p:nvCxnSpPr>
        <p:spPr>
          <a:xfrm flipH="1">
            <a:off x="4516108" y="3849599"/>
            <a:ext cx="223672" cy="474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A75C525-A7EC-CA1F-1EC7-2FE3C5631389}"/>
              </a:ext>
            </a:extLst>
          </p:cNvPr>
          <p:cNvCxnSpPr>
            <a:cxnSpLocks/>
          </p:cNvCxnSpPr>
          <p:nvPr/>
        </p:nvCxnSpPr>
        <p:spPr>
          <a:xfrm flipH="1">
            <a:off x="5101922" y="3849599"/>
            <a:ext cx="852348" cy="4988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FEE30A-C51E-5516-7DED-4969A3D51A8D}"/>
              </a:ext>
            </a:extLst>
          </p:cNvPr>
          <p:cNvCxnSpPr>
            <a:cxnSpLocks/>
          </p:cNvCxnSpPr>
          <p:nvPr/>
        </p:nvCxnSpPr>
        <p:spPr>
          <a:xfrm>
            <a:off x="7472984" y="3826593"/>
            <a:ext cx="427096" cy="419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39B8FA0-CBBB-D39E-709B-816BE35AB319}"/>
              </a:ext>
            </a:extLst>
          </p:cNvPr>
          <p:cNvCxnSpPr>
            <a:cxnSpLocks/>
          </p:cNvCxnSpPr>
          <p:nvPr/>
        </p:nvCxnSpPr>
        <p:spPr>
          <a:xfrm>
            <a:off x="6000261" y="3849599"/>
            <a:ext cx="147962" cy="3711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74916E7-6917-C309-943A-0B5958442C08}"/>
                  </a:ext>
                </a:extLst>
              </p:cNvPr>
              <p:cNvSpPr txBox="1"/>
              <p:nvPr/>
            </p:nvSpPr>
            <p:spPr>
              <a:xfrm>
                <a:off x="9669858" y="4220711"/>
                <a:ext cx="2352310" cy="916982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Math trick: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log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74916E7-6917-C309-943A-0B5958442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9858" y="4220711"/>
                <a:ext cx="2352310" cy="916982"/>
              </a:xfrm>
              <a:prstGeom prst="rect">
                <a:avLst/>
              </a:prstGeom>
              <a:blipFill>
                <a:blip r:embed="rId3"/>
                <a:stretch>
                  <a:fillRect l="-1799" t="-1948" b="-84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9F3F36E-4E02-3F6B-263C-922607CB2DC4}"/>
              </a:ext>
            </a:extLst>
          </p:cNvPr>
          <p:cNvSpPr/>
          <p:nvPr/>
        </p:nvSpPr>
        <p:spPr>
          <a:xfrm>
            <a:off x="2571226" y="6098796"/>
            <a:ext cx="2705449" cy="574646"/>
          </a:xfrm>
          <a:prstGeom prst="wedgeRoundRectCallout">
            <a:avLst>
              <a:gd name="adj1" fmla="val 66565"/>
              <a:gd name="adj2" fmla="val -10611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 be estimated with MC roll outs or TD</a:t>
            </a:r>
          </a:p>
        </p:txBody>
      </p:sp>
      <p:sp>
        <p:nvSpPr>
          <p:cNvPr id="24" name="Speech Bubble: Rectangle with Corners Rounded 23">
            <a:extLst>
              <a:ext uri="{FF2B5EF4-FFF2-40B4-BE49-F238E27FC236}">
                <a16:creationId xmlns:a16="http://schemas.microsoft.com/office/drawing/2014/main" id="{3C91998E-A716-D963-0C25-03A93ED60C42}"/>
              </a:ext>
            </a:extLst>
          </p:cNvPr>
          <p:cNvSpPr/>
          <p:nvPr/>
        </p:nvSpPr>
        <p:spPr>
          <a:xfrm>
            <a:off x="5528096" y="6098796"/>
            <a:ext cx="2705449" cy="574646"/>
          </a:xfrm>
          <a:prstGeom prst="wedgeRoundRectCallout">
            <a:avLst>
              <a:gd name="adj1" fmla="val 829"/>
              <a:gd name="adj2" fmla="val -10903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Needed: Value function estimate</a:t>
            </a:r>
          </a:p>
        </p:txBody>
      </p:sp>
      <p:sp>
        <p:nvSpPr>
          <p:cNvPr id="25" name="Speech Bubble: Rectangle with Corners Rounded 24">
            <a:extLst>
              <a:ext uri="{FF2B5EF4-FFF2-40B4-BE49-F238E27FC236}">
                <a16:creationId xmlns:a16="http://schemas.microsoft.com/office/drawing/2014/main" id="{13861FF8-FD25-6673-0789-B14F8B771B34}"/>
              </a:ext>
            </a:extLst>
          </p:cNvPr>
          <p:cNvSpPr/>
          <p:nvPr/>
        </p:nvSpPr>
        <p:spPr>
          <a:xfrm>
            <a:off x="8384589" y="6098796"/>
            <a:ext cx="2705449" cy="574646"/>
          </a:xfrm>
          <a:prstGeom prst="wedgeRoundRectCallout">
            <a:avLst>
              <a:gd name="adj1" fmla="val -57776"/>
              <a:gd name="adj2" fmla="val -11268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Needed: 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CD22A5-5F40-D497-8630-6E9352F633B8}"/>
                  </a:ext>
                </a:extLst>
              </p:cNvPr>
              <p:cNvSpPr txBox="1"/>
              <p:nvPr/>
            </p:nvSpPr>
            <p:spPr>
              <a:xfrm>
                <a:off x="9669857" y="2467774"/>
                <a:ext cx="2149887" cy="1477328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is the expected reward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the state distribution under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CD22A5-5F40-D497-8630-6E9352F63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9857" y="2467774"/>
                <a:ext cx="2149887" cy="1477328"/>
              </a:xfrm>
              <a:prstGeom prst="rect">
                <a:avLst/>
              </a:prstGeom>
              <a:blipFill>
                <a:blip r:embed="rId4"/>
                <a:stretch>
                  <a:fillRect l="-1404" t="-1633" b="-5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8754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50240-7BA9-7642-1F93-C6143DD4F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466E1B6-24E8-6321-946D-84853845B0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021614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Following the ideas of REINFORCE.</a:t>
                </a:r>
              </a:p>
              <a:p>
                <a:r>
                  <a:rPr lang="en-US" dirty="0"/>
                  <a:t>Gradient of a stochastic policy</a:t>
                </a: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US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p>
                          </m:s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>
                    <a:ea typeface="Cambria Math" panose="02040503050406030204" pitchFamily="18" charset="0"/>
                  </a:rPr>
                  <a:t>Gradient of a differentiable deterministic policy  </a:t>
                </a: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 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466E1B6-24E8-6321-946D-84853845B0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021614"/>
              </a:xfrm>
              <a:blipFill>
                <a:blip r:embed="rId2"/>
                <a:stretch>
                  <a:fillRect l="-928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67A4CE81-DDBA-44FC-8527-846777D3CE97}"/>
              </a:ext>
            </a:extLst>
          </p:cNvPr>
          <p:cNvSpPr/>
          <p:nvPr/>
        </p:nvSpPr>
        <p:spPr>
          <a:xfrm>
            <a:off x="5868649" y="5673777"/>
            <a:ext cx="2121108" cy="667062"/>
          </a:xfrm>
          <a:prstGeom prst="wedgeRoundRectCallout">
            <a:avLst>
              <a:gd name="adj1" fmla="val -17653"/>
              <a:gd name="adj2" fmla="val -11390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Also requires this gradient!</a:t>
            </a:r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97703D44-BC96-F918-65BE-C2CB45056AF4}"/>
              </a:ext>
            </a:extLst>
          </p:cNvPr>
          <p:cNvSpPr/>
          <p:nvPr/>
        </p:nvSpPr>
        <p:spPr>
          <a:xfrm>
            <a:off x="3896193" y="3247869"/>
            <a:ext cx="4399613" cy="667062"/>
          </a:xfrm>
          <a:prstGeom prst="wedgeRoundRectCallout">
            <a:avLst>
              <a:gd name="adj1" fmla="val -24013"/>
              <a:gd name="adj2" fmla="val -6783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 state from the on-policy distribution and action from the policy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D48A573E-50A2-B4E7-A1E9-437EB77764C7}"/>
              </a:ext>
            </a:extLst>
          </p:cNvPr>
          <p:cNvSpPr/>
          <p:nvPr/>
        </p:nvSpPr>
        <p:spPr>
          <a:xfrm>
            <a:off x="8170889" y="1743855"/>
            <a:ext cx="2104870" cy="667062"/>
          </a:xfrm>
          <a:prstGeom prst="wedgeRoundRectCallout">
            <a:avLst>
              <a:gd name="adj1" fmla="val -21164"/>
              <a:gd name="adj2" fmla="val 7823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Needs a value function estimate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EA3526-E926-7E48-B6E5-B8BDA4021C8C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EA3526-E926-7E48-B6E5-B8BDA4021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3180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5DEE8-3A5A-1680-25D9-56A4677DF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The Policy Gradient Update Signal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2662DD-E598-030D-12ED-27652D3DF7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True policy gradient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The update can use any signal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</m:oMath>
                </a14:m>
                <a:b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b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r>
                  <a:rPr lang="en-US" dirty="0"/>
                  <a:t>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, i.e., if it tells us how good an action is.</a:t>
                </a: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Examples of valid signals:</a:t>
                </a:r>
              </a:p>
              <a:p>
                <a:pPr lvl="1"/>
                <a:r>
                  <a:rPr lang="en-US" dirty="0"/>
                  <a:t>MC (REINFORCE):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Advantage function: </a:t>
                </a:r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)−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TD error: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                   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2662DD-E598-030D-12ED-27652D3DF7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DDDB97C-A0EC-DBE3-8245-FF3B04A2682A}"/>
                  </a:ext>
                </a:extLst>
              </p:cNvPr>
              <p:cNvSpPr/>
              <p:nvPr/>
            </p:nvSpPr>
            <p:spPr>
              <a:xfrm>
                <a:off x="9613783" y="4655890"/>
                <a:ext cx="2369890" cy="935372"/>
              </a:xfrm>
              <a:prstGeom prst="wedgeRoundRectCallout">
                <a:avLst>
                  <a:gd name="adj1" fmla="val -134651"/>
                  <a:gd name="adj2" fmla="val 3200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Advantage: Measures how much better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400" dirty="0"/>
                  <a:t> is compared with the current action 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DDDB97C-A0EC-DBE3-8245-FF3B04A268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3783" y="4655890"/>
                <a:ext cx="2369890" cy="935372"/>
              </a:xfrm>
              <a:prstGeom prst="wedgeRoundRectCallout">
                <a:avLst>
                  <a:gd name="adj1" fmla="val -134651"/>
                  <a:gd name="adj2" fmla="val 32007"/>
                  <a:gd name="adj3" fmla="val 16667"/>
                </a:avLst>
              </a:prstGeom>
              <a:blipFill>
                <a:blip r:embed="rId3"/>
                <a:stretch>
                  <a:fillRect t="-1282" b="-5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8715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03CD8-DFE9-4B6E-0E58-23708485B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Actor-Critic Method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BEC5BA6-C4ED-6B21-2C2F-53E8C37311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8011"/>
            <a:ext cx="10515600" cy="6382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a value network and a policy network for </a:t>
            </a:r>
            <a:r>
              <a:rPr lang="en-US" b="1" dirty="0"/>
              <a:t>on-policy</a:t>
            </a:r>
            <a:r>
              <a:rPr lang="en-US" dirty="0"/>
              <a:t> control.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A1DAEDB-09C3-52FA-9051-6791E5321F1B}"/>
              </a:ext>
            </a:extLst>
          </p:cNvPr>
          <p:cNvGrpSpPr/>
          <p:nvPr/>
        </p:nvGrpSpPr>
        <p:grpSpPr>
          <a:xfrm>
            <a:off x="2916454" y="1983074"/>
            <a:ext cx="3966523" cy="4684149"/>
            <a:chOff x="2916454" y="1983074"/>
            <a:chExt cx="3966523" cy="4684149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4CA59DA-C384-9934-DA31-D690B06CC7F8}"/>
                </a:ext>
              </a:extLst>
            </p:cNvPr>
            <p:cNvGrpSpPr/>
            <p:nvPr/>
          </p:nvGrpSpPr>
          <p:grpSpPr>
            <a:xfrm>
              <a:off x="2916454" y="1983074"/>
              <a:ext cx="3966523" cy="4684149"/>
              <a:chOff x="4672668" y="1864394"/>
              <a:chExt cx="3966523" cy="4684149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03733CC3-7D80-20C7-49C7-43D9925CE693}"/>
                  </a:ext>
                </a:extLst>
              </p:cNvPr>
              <p:cNvGrpSpPr/>
              <p:nvPr/>
            </p:nvGrpSpPr>
            <p:grpSpPr>
              <a:xfrm>
                <a:off x="4672668" y="1864394"/>
                <a:ext cx="3966523" cy="4684149"/>
                <a:chOff x="7053631" y="365126"/>
                <a:chExt cx="4526399" cy="5335476"/>
              </a:xfrm>
            </p:grpSpPr>
            <p:pic>
              <p:nvPicPr>
                <p:cNvPr id="7" name="Picture 6">
                  <a:extLst>
                    <a:ext uri="{FF2B5EF4-FFF2-40B4-BE49-F238E27FC236}">
                      <a16:creationId xmlns:a16="http://schemas.microsoft.com/office/drawing/2014/main" id="{469FE11E-8F30-F6C6-F507-D07E7D80E3F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7053631" y="365126"/>
                  <a:ext cx="4526399" cy="5046046"/>
                </a:xfrm>
                <a:prstGeom prst="rect">
                  <a:avLst/>
                </a:prstGeom>
              </p:spPr>
            </p:pic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8131A2D-4FF9-A481-0B8C-8F0A4204D406}"/>
                    </a:ext>
                  </a:extLst>
                </p:cNvPr>
                <p:cNvSpPr txBox="1"/>
                <p:nvPr/>
              </p:nvSpPr>
              <p:spPr>
                <a:xfrm>
                  <a:off x="7381698" y="5314972"/>
                  <a:ext cx="4135554" cy="3856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600" dirty="0"/>
                    <a:t>Section 15.7 in Sutton and Barto (2018)</a:t>
                  </a:r>
                </a:p>
              </p:txBody>
            </p:sp>
          </p:grp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50F0FC97-1FE2-9C5B-F39D-4646836564D9}"/>
                  </a:ext>
                </a:extLst>
              </p:cNvPr>
              <p:cNvCxnSpPr/>
              <p:nvPr/>
            </p:nvCxnSpPr>
            <p:spPr>
              <a:xfrm>
                <a:off x="7436840" y="2743200"/>
                <a:ext cx="0" cy="7172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01514E9-2007-E74A-0CE5-5D9D02E57689}"/>
                </a:ext>
              </a:extLst>
            </p:cNvPr>
            <p:cNvSpPr txBox="1"/>
            <p:nvPr/>
          </p:nvSpPr>
          <p:spPr>
            <a:xfrm rot="16200000">
              <a:off x="2625511" y="4668373"/>
              <a:ext cx="11384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Observations: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C3A2928-5C6C-6F91-1904-2D893A5AFCA6}"/>
                    </a:ext>
                  </a:extLst>
                </p:cNvPr>
                <p:cNvSpPr/>
                <p:nvPr/>
              </p:nvSpPr>
              <p:spPr>
                <a:xfrm>
                  <a:off x="4238488" y="3557242"/>
                  <a:ext cx="279584" cy="598629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1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400" b="1" i="1" dirty="0">
                            <a:latin typeface="Cambria Math" panose="02040503050406030204" pitchFamily="18" charset="0"/>
                          </a:rPr>
                          <m:t>𝒘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C3A2928-5C6C-6F91-1904-2D893A5AFC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8488" y="3557242"/>
                  <a:ext cx="279584" cy="59862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ADC93DDE-27E4-F76F-A38A-5653BDD3F106}"/>
                    </a:ext>
                  </a:extLst>
                </p:cNvPr>
                <p:cNvSpPr/>
                <p:nvPr/>
              </p:nvSpPr>
              <p:spPr>
                <a:xfrm>
                  <a:off x="4238488" y="4573708"/>
                  <a:ext cx="279584" cy="1277613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ADC93DDE-27E4-F76F-A38A-5653BDD3F10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8488" y="4573708"/>
                  <a:ext cx="279584" cy="127761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A4AD9D-54CF-9DD7-A506-B2544DF8C76C}"/>
                </a:ext>
              </a:extLst>
            </p:cNvPr>
            <p:cNvSpPr txBox="1"/>
            <p:nvPr/>
          </p:nvSpPr>
          <p:spPr>
            <a:xfrm>
              <a:off x="4027062" y="4155871"/>
              <a:ext cx="702436" cy="461665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Hidden </a:t>
              </a:r>
              <a:br>
                <a:rPr lang="en-US" sz="1200" dirty="0"/>
              </a:br>
              <a:r>
                <a:rPr lang="en-US" sz="1200" dirty="0"/>
                <a:t>layers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08EE161B-EA62-43B2-B217-194D2485ED38}"/>
                  </a:ext>
                </a:extLst>
              </p:cNvPr>
              <p:cNvSpPr/>
              <p:nvPr/>
            </p:nvSpPr>
            <p:spPr>
              <a:xfrm>
                <a:off x="7174226" y="2290194"/>
                <a:ext cx="3223928" cy="1947430"/>
              </a:xfrm>
              <a:prstGeom prst="wedgeRoundRectCallout">
                <a:avLst>
                  <a:gd name="adj1" fmla="val -85666"/>
                  <a:gd name="adj2" fmla="val 2282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Critic</a:t>
                </a:r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b="1" dirty="0"/>
                  <a:t>Value network </a:t>
                </a:r>
                <a:r>
                  <a:rPr lang="en-US" sz="1400" dirty="0"/>
                  <a:t>approximates the value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400" b="1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400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Produces the TD error from the reward signal using its network’s state-value predictions.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Adjusts the state-value network using the TD error.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Does not select actions!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08EE161B-EA62-43B2-B217-194D2485ED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226" y="2290194"/>
                <a:ext cx="3223928" cy="1947430"/>
              </a:xfrm>
              <a:prstGeom prst="wedgeRoundRectCallout">
                <a:avLst>
                  <a:gd name="adj1" fmla="val -85666"/>
                  <a:gd name="adj2" fmla="val 22824"/>
                  <a:gd name="adj3" fmla="val 16667"/>
                </a:avLst>
              </a:prstGeom>
              <a:blipFill>
                <a:blip r:embed="rId7"/>
                <a:stretch>
                  <a:fillRect t="-1863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A6894DC4-71AF-0A61-4961-533BFE6FE45F}"/>
                  </a:ext>
                </a:extLst>
              </p:cNvPr>
              <p:cNvSpPr/>
              <p:nvPr/>
            </p:nvSpPr>
            <p:spPr>
              <a:xfrm>
                <a:off x="7174225" y="4530064"/>
                <a:ext cx="3324597" cy="1589705"/>
              </a:xfrm>
              <a:prstGeom prst="wedgeRoundRectCallout">
                <a:avLst>
                  <a:gd name="adj1" fmla="val -113307"/>
                  <a:gd name="adj2" fmla="val 7931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Actor</a:t>
                </a:r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b="1" dirty="0"/>
                  <a:t>Policy network </a:t>
                </a:r>
                <a:r>
                  <a:rPr lang="en-US" sz="1400" dirty="0"/>
                  <a:t>approximates the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Selects actions.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Adjusts the policy network based on the TD error.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No direct access to reward signal!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A6894DC4-71AF-0A61-4961-533BFE6FE4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225" y="4530064"/>
                <a:ext cx="3324597" cy="1589705"/>
              </a:xfrm>
              <a:prstGeom prst="wedgeRoundRectCallout">
                <a:avLst>
                  <a:gd name="adj1" fmla="val -113307"/>
                  <a:gd name="adj2" fmla="val 7931"/>
                  <a:gd name="adj3" fmla="val 16667"/>
                </a:avLst>
              </a:prstGeom>
              <a:blipFill>
                <a:blip r:embed="rId8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35620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2DFE1-72DC-68CD-CBDF-6806168FD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Neural Actor-Critic Method: One-Step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127B90-B61D-6A2E-A61B-CCCEFCCC5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6302" y="1255362"/>
            <a:ext cx="8537689" cy="4736005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D8C230AF-79C2-A184-7ED5-1506ABF95837}"/>
              </a:ext>
            </a:extLst>
          </p:cNvPr>
          <p:cNvSpPr/>
          <p:nvPr/>
        </p:nvSpPr>
        <p:spPr>
          <a:xfrm>
            <a:off x="8997357" y="2158177"/>
            <a:ext cx="865538" cy="259172"/>
          </a:xfrm>
          <a:prstGeom prst="wedgeRoundRectCallout">
            <a:avLst>
              <a:gd name="adj1" fmla="val -84315"/>
              <a:gd name="adj2" fmla="val 2488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critic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F7A4F288-A0A2-EAB0-0BC3-B1E0033FD846}"/>
              </a:ext>
            </a:extLst>
          </p:cNvPr>
          <p:cNvSpPr/>
          <p:nvPr/>
        </p:nvSpPr>
        <p:spPr>
          <a:xfrm>
            <a:off x="8131819" y="1733051"/>
            <a:ext cx="865538" cy="259172"/>
          </a:xfrm>
          <a:prstGeom prst="wedgeRoundRectCallout">
            <a:avLst>
              <a:gd name="adj1" fmla="val -121411"/>
              <a:gd name="adj2" fmla="val 6736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/>
              <p:nvPr/>
            </p:nvSpPr>
            <p:spPr>
              <a:xfrm>
                <a:off x="315592" y="3056965"/>
                <a:ext cx="1758998" cy="670095"/>
              </a:xfrm>
              <a:prstGeom prst="wedgeRoundRectCallout">
                <a:avLst>
                  <a:gd name="adj1" fmla="val 73313"/>
                  <a:gd name="adj2" fmla="val 2269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Takes care of discounting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592" y="3056965"/>
                <a:ext cx="1758998" cy="670095"/>
              </a:xfrm>
              <a:prstGeom prst="wedgeRoundRectCallout">
                <a:avLst>
                  <a:gd name="adj1" fmla="val 73313"/>
                  <a:gd name="adj2" fmla="val 22694"/>
                  <a:gd name="adj3" fmla="val 16667"/>
                </a:avLst>
              </a:prstGeom>
              <a:blipFill>
                <a:blip r:embed="rId4"/>
                <a:stretch>
                  <a:fillRect t="-885" b="-11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A146F52F-E240-1E59-4A1F-E600F82492DF}"/>
              </a:ext>
            </a:extLst>
          </p:cNvPr>
          <p:cNvGrpSpPr/>
          <p:nvPr/>
        </p:nvGrpSpPr>
        <p:grpSpPr>
          <a:xfrm>
            <a:off x="2644590" y="4018446"/>
            <a:ext cx="7564407" cy="696309"/>
            <a:chOff x="2644590" y="4018446"/>
            <a:chExt cx="7564407" cy="696309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5DCB902-4519-6052-12CC-ADD3BFE4DF5D}"/>
                </a:ext>
              </a:extLst>
            </p:cNvPr>
            <p:cNvSpPr/>
            <p:nvPr/>
          </p:nvSpPr>
          <p:spPr>
            <a:xfrm>
              <a:off x="2644590" y="4442529"/>
              <a:ext cx="3093036" cy="272226"/>
            </a:xfrm>
            <a:prstGeom prst="rect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Speech Bubble: Rectangle with Corners Rounded 11">
                  <a:extLst>
                    <a:ext uri="{FF2B5EF4-FFF2-40B4-BE49-F238E27FC236}">
                      <a16:creationId xmlns:a16="http://schemas.microsoft.com/office/drawing/2014/main" id="{A8ECFCE4-C642-EBAF-5270-39245F140766}"/>
                    </a:ext>
                  </a:extLst>
                </p:cNvPr>
                <p:cNvSpPr/>
                <p:nvPr/>
              </p:nvSpPr>
              <p:spPr>
                <a:xfrm>
                  <a:off x="6696811" y="4018446"/>
                  <a:ext cx="3512186" cy="336241"/>
                </a:xfrm>
                <a:prstGeom prst="wedgeRoundRectCallout">
                  <a:avLst>
                    <a:gd name="adj1" fmla="val -77776"/>
                    <a:gd name="adj2" fmla="val 104104"/>
                    <a:gd name="adj3" fmla="val 16667"/>
                  </a:avLst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TD error: uses 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a14:m>
                  <a:r>
                    <a:rPr lang="en-US" dirty="0"/>
                    <a:t> estimates </a:t>
                  </a:r>
                </a:p>
              </p:txBody>
            </p:sp>
          </mc:Choice>
          <mc:Fallback xmlns="">
            <p:sp>
              <p:nvSpPr>
                <p:cNvPr id="12" name="Speech Bubble: Rectangle with Corners Rounded 11">
                  <a:extLst>
                    <a:ext uri="{FF2B5EF4-FFF2-40B4-BE49-F238E27FC236}">
                      <a16:creationId xmlns:a16="http://schemas.microsoft.com/office/drawing/2014/main" id="{A8ECFCE4-C642-EBAF-5270-39245F14076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6811" y="4018446"/>
                  <a:ext cx="3512186" cy="336241"/>
                </a:xfrm>
                <a:prstGeom prst="wedgeRoundRectCallout">
                  <a:avLst>
                    <a:gd name="adj1" fmla="val -77776"/>
                    <a:gd name="adj2" fmla="val 104104"/>
                    <a:gd name="adj3" fmla="val 16667"/>
                  </a:avLst>
                </a:prstGeom>
                <a:blipFill>
                  <a:blip r:embed="rId5"/>
                  <a:stretch>
                    <a:fillRect t="-67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EFDDE62-37B8-8AE6-C508-A5CA844C8CD1}"/>
              </a:ext>
            </a:extLst>
          </p:cNvPr>
          <p:cNvGrpSpPr/>
          <p:nvPr/>
        </p:nvGrpSpPr>
        <p:grpSpPr>
          <a:xfrm>
            <a:off x="2644590" y="5010293"/>
            <a:ext cx="9213248" cy="603425"/>
            <a:chOff x="2644590" y="5010293"/>
            <a:chExt cx="9213248" cy="60342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4E06FFA-E200-E681-2E5D-039A57F537AC}"/>
                </a:ext>
              </a:extLst>
            </p:cNvPr>
            <p:cNvSpPr/>
            <p:nvPr/>
          </p:nvSpPr>
          <p:spPr>
            <a:xfrm>
              <a:off x="2644590" y="5010293"/>
              <a:ext cx="3093036" cy="272226"/>
            </a:xfrm>
            <a:prstGeom prst="rect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Speech Bubble: Rectangle with Corners Rounded 13">
              <a:extLst>
                <a:ext uri="{FF2B5EF4-FFF2-40B4-BE49-F238E27FC236}">
                  <a16:creationId xmlns:a16="http://schemas.microsoft.com/office/drawing/2014/main" id="{E94F9DD5-BDBE-9FDD-3254-2C368EE7BF6A}"/>
                </a:ext>
              </a:extLst>
            </p:cNvPr>
            <p:cNvSpPr/>
            <p:nvPr/>
          </p:nvSpPr>
          <p:spPr>
            <a:xfrm>
              <a:off x="6696811" y="5277477"/>
              <a:ext cx="5161027" cy="336241"/>
            </a:xfrm>
            <a:prstGeom prst="wedgeRoundRectCallout">
              <a:avLst>
                <a:gd name="adj1" fmla="val -80690"/>
                <a:gd name="adj2" fmla="val -60063"/>
                <a:gd name="adj3" fmla="val 16667"/>
              </a:avLst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Update the actor (policy) using the TD error signal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4E8E4FE-D741-F70F-D289-64B26A24413C}"/>
              </a:ext>
            </a:extLst>
          </p:cNvPr>
          <p:cNvGrpSpPr/>
          <p:nvPr/>
        </p:nvGrpSpPr>
        <p:grpSpPr>
          <a:xfrm>
            <a:off x="2644590" y="4759038"/>
            <a:ext cx="9213248" cy="439726"/>
            <a:chOff x="2644590" y="4759038"/>
            <a:chExt cx="9213248" cy="43972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975E55E-B47E-0E56-E14A-333A3D6DE67C}"/>
                </a:ext>
              </a:extLst>
            </p:cNvPr>
            <p:cNvSpPr/>
            <p:nvPr/>
          </p:nvSpPr>
          <p:spPr>
            <a:xfrm>
              <a:off x="2644590" y="4759038"/>
              <a:ext cx="3093036" cy="206971"/>
            </a:xfrm>
            <a:prstGeom prst="rect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4E143229-2BAE-E79E-F2D9-252EB18CD2C7}"/>
                    </a:ext>
                  </a:extLst>
                </p:cNvPr>
                <p:cNvSpPr/>
                <p:nvPr/>
              </p:nvSpPr>
              <p:spPr>
                <a:xfrm>
                  <a:off x="6696812" y="4862523"/>
                  <a:ext cx="5161026" cy="336241"/>
                </a:xfrm>
                <a:prstGeom prst="wedgeRoundRectCallout">
                  <a:avLst>
                    <a:gd name="adj1" fmla="val -79021"/>
                    <a:gd name="adj2" fmla="val -47607"/>
                    <a:gd name="adj3" fmla="val 16667"/>
                  </a:avLst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Update the critic (value function) = </a:t>
                  </a: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𝑇𝐷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4E143229-2BAE-E79E-F2D9-252EB18CD2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6812" y="4862523"/>
                  <a:ext cx="5161026" cy="336241"/>
                </a:xfrm>
                <a:prstGeom prst="wedgeRoundRectCallout">
                  <a:avLst>
                    <a:gd name="adj1" fmla="val -79021"/>
                    <a:gd name="adj2" fmla="val -47607"/>
                    <a:gd name="adj3" fmla="val 16667"/>
                  </a:avLst>
                </a:prstGeom>
                <a:blipFill>
                  <a:blip r:embed="rId6"/>
                  <a:stretch>
                    <a:fillRect t="-10345" b="-29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DB0DF44A-46ED-82B8-4CCC-2A620842003F}"/>
              </a:ext>
            </a:extLst>
          </p:cNvPr>
          <p:cNvSpPr/>
          <p:nvPr/>
        </p:nvSpPr>
        <p:spPr>
          <a:xfrm>
            <a:off x="315592" y="4294911"/>
            <a:ext cx="1960260" cy="915825"/>
          </a:xfrm>
          <a:prstGeom prst="wedgeRoundRectCallout">
            <a:avLst>
              <a:gd name="adj1" fmla="val 73862"/>
              <a:gd name="adj2" fmla="val -6842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Policy approximation is soft, so it explores!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BE71158B-90A3-B3DE-9C48-CA8BC3287868}"/>
              </a:ext>
            </a:extLst>
          </p:cNvPr>
          <p:cNvSpPr/>
          <p:nvPr/>
        </p:nvSpPr>
        <p:spPr>
          <a:xfrm>
            <a:off x="3004671" y="6070081"/>
            <a:ext cx="3507811" cy="651806"/>
          </a:xfrm>
          <a:prstGeom prst="wedgeRoundRectCallout">
            <a:avLst>
              <a:gd name="adj1" fmla="val -11859"/>
              <a:gd name="adj2" fmla="val -178390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 these with a value network and a policy network.</a:t>
            </a:r>
          </a:p>
        </p:txBody>
      </p:sp>
    </p:spTree>
    <p:extLst>
      <p:ext uri="{BB962C8B-B14F-4D97-AF65-F5344CB8AC3E}">
        <p14:creationId xmlns:p14="http://schemas.microsoft.com/office/powerpoint/2010/main" val="2787183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 animBg="1"/>
      <p:bldP spid="10" grpId="0" animBg="1"/>
      <p:bldP spid="8" grpId="0" animBg="1"/>
      <p:bldP spid="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4BB681-4236-4A02-FFD4-5ABC83096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 Actor Critic: A2C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9C8AD7-91CA-FBEA-E498-0EA570A9C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4575"/>
            <a:ext cx="7824169" cy="606106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A popular synchronous version of Asynchronous Advantage Actor Critic (A3C).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6609923-229E-CA87-4667-30841CFE71BE}"/>
              </a:ext>
            </a:extLst>
          </p:cNvPr>
          <p:cNvGrpSpPr/>
          <p:nvPr/>
        </p:nvGrpSpPr>
        <p:grpSpPr>
          <a:xfrm>
            <a:off x="853190" y="1950604"/>
            <a:ext cx="8635327" cy="4561766"/>
            <a:chOff x="853190" y="1671400"/>
            <a:chExt cx="8635327" cy="4561766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D612D537-1EBE-5F11-F576-5CE19DEDA4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-2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3190" y="1671400"/>
              <a:ext cx="8635327" cy="42847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0BF2D66-2E4E-B6BD-4DB5-C3C1D70852E4}"/>
                </a:ext>
              </a:extLst>
            </p:cNvPr>
            <p:cNvSpPr txBox="1"/>
            <p:nvPr/>
          </p:nvSpPr>
          <p:spPr>
            <a:xfrm>
              <a:off x="929390" y="5956167"/>
              <a:ext cx="664813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Source: </a:t>
              </a:r>
              <a:r>
                <a:rPr lang="en-US" sz="1200" dirty="0">
                  <a:hlinkClick r:id="rId4"/>
                </a:rPr>
                <a:t>https://medium.com/@kswagat1979/advantage-actor-critic-a2c-models-ab188ddfcb72</a:t>
              </a:r>
              <a:r>
                <a:rPr lang="en-US" sz="1200" dirty="0"/>
                <a:t>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869B2AC-1DCC-D2BC-A2DF-9E3714739C1A}"/>
                    </a:ext>
                  </a:extLst>
                </p:cNvPr>
                <p:cNvSpPr txBox="1"/>
                <p:nvPr/>
              </p:nvSpPr>
              <p:spPr>
                <a:xfrm>
                  <a:off x="7577528" y="4072264"/>
                  <a:ext cx="1771124" cy="307777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[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i="1" dirty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​∣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]=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sz="140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869B2AC-1DCC-D2BC-A2DF-9E3714739C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77528" y="4072264"/>
                  <a:ext cx="1771124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37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ight Brace 7">
              <a:extLst>
                <a:ext uri="{FF2B5EF4-FFF2-40B4-BE49-F238E27FC236}">
                  <a16:creationId xmlns:a16="http://schemas.microsoft.com/office/drawing/2014/main" id="{900304A6-B3A2-A77E-A2AD-707D1FADA63B}"/>
                </a:ext>
              </a:extLst>
            </p:cNvPr>
            <p:cNvSpPr/>
            <p:nvPr/>
          </p:nvSpPr>
          <p:spPr>
            <a:xfrm rot="5400000">
              <a:off x="4825766" y="2966152"/>
              <a:ext cx="188754" cy="155196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F2DE0BF-EE77-8E5F-6FAB-076BAC640583}"/>
                    </a:ext>
                  </a:extLst>
                </p:cNvPr>
                <p:cNvSpPr txBox="1"/>
                <p:nvPr/>
              </p:nvSpPr>
              <p:spPr>
                <a:xfrm>
                  <a:off x="3498450" y="3792384"/>
                  <a:ext cx="278071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dirty="0">
                      <a:solidFill>
                        <a:schemeClr val="accent1"/>
                      </a:solidFill>
                    </a:rPr>
                    <a:t>This is the 1-step estimate of 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200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F2DE0BF-EE77-8E5F-6FAB-076BAC6405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8450" y="3792384"/>
                  <a:ext cx="278071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16117E7-65A2-6EA8-A15E-89F31F7C11A6}"/>
                </a:ext>
              </a:extLst>
            </p:cNvPr>
            <p:cNvCxnSpPr/>
            <p:nvPr/>
          </p:nvCxnSpPr>
          <p:spPr>
            <a:xfrm>
              <a:off x="5956184" y="4458749"/>
              <a:ext cx="4655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FBEC75A-8785-3A1A-0AE0-F3908796110E}"/>
                  </a:ext>
                </a:extLst>
              </p:cNvPr>
              <p:cNvSpPr/>
              <p:nvPr/>
            </p:nvSpPr>
            <p:spPr>
              <a:xfrm>
                <a:off x="9608696" y="2547756"/>
                <a:ext cx="2344708" cy="565391"/>
              </a:xfrm>
              <a:prstGeom prst="wedgeRoundRectCallout">
                <a:avLst>
                  <a:gd name="adj1" fmla="val -103856"/>
                  <a:gd name="adj2" fmla="val 2417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Note: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1400" dirty="0"/>
                  <a:t> is a done indicator for the episode end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FBEC75A-8785-3A1A-0AE0-F390879611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8696" y="2547756"/>
                <a:ext cx="2344708" cy="565391"/>
              </a:xfrm>
              <a:prstGeom prst="wedgeRoundRectCallout">
                <a:avLst>
                  <a:gd name="adj1" fmla="val -103856"/>
                  <a:gd name="adj2" fmla="val 24174"/>
                  <a:gd name="adj3" fmla="val 16667"/>
                </a:avLst>
              </a:prstGeom>
              <a:blipFill>
                <a:blip r:embed="rId8"/>
                <a:stretch>
                  <a:fillRect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9D4FB8B7-BB91-EBDD-27B7-EBEEB93DD8BB}"/>
              </a:ext>
            </a:extLst>
          </p:cNvPr>
          <p:cNvSpPr/>
          <p:nvPr/>
        </p:nvSpPr>
        <p:spPr>
          <a:xfrm>
            <a:off x="9608695" y="3449622"/>
            <a:ext cx="2344709" cy="1791324"/>
          </a:xfrm>
          <a:prstGeom prst="wedgeRoundRectCallout">
            <a:avLst>
              <a:gd name="adj1" fmla="val -64497"/>
              <a:gd name="adj2" fmla="val -29061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Advantage </a:t>
            </a:r>
            <a:r>
              <a:rPr lang="en-US" sz="1400" dirty="0"/>
              <a:t>provides a better, lower variance  signal by focusing on relative action quality.</a:t>
            </a:r>
          </a:p>
          <a:p>
            <a:pPr algn="ctr"/>
            <a:r>
              <a:rPr lang="en-US" sz="1400" dirty="0"/>
              <a:t>Could use multi-step bootstrapping for more stability and faster reward propagation.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6CD88DE7-1973-CF65-785F-43361EA3EAFF}"/>
              </a:ext>
            </a:extLst>
          </p:cNvPr>
          <p:cNvSpPr/>
          <p:nvPr/>
        </p:nvSpPr>
        <p:spPr>
          <a:xfrm>
            <a:off x="9564717" y="5345877"/>
            <a:ext cx="2344708" cy="1334129"/>
          </a:xfrm>
          <a:prstGeom prst="wedgeRoundRectCallout">
            <a:avLst>
              <a:gd name="adj1" fmla="val -175325"/>
              <a:gd name="adj2" fmla="val -41489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Optional</a:t>
            </a:r>
          </a:p>
          <a:p>
            <a:pPr algn="ctr"/>
            <a:r>
              <a:rPr lang="en-US" sz="1400" b="1" dirty="0"/>
              <a:t>Entropy regularization:</a:t>
            </a:r>
            <a:r>
              <a:rPr lang="en-US" sz="1400" dirty="0"/>
              <a:t> encourages the policy to stay uncertain/spread out and explore. (Not all implementations do this)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E62B10-EBF7-87F1-1B7E-403429EED7A0}"/>
              </a:ext>
            </a:extLst>
          </p:cNvPr>
          <p:cNvSpPr/>
          <p:nvPr/>
        </p:nvSpPr>
        <p:spPr>
          <a:xfrm>
            <a:off x="5956184" y="5175082"/>
            <a:ext cx="1077662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5005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F84F5-CD59-9523-62E5-0BA0B4E44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Natural Policy Gradients (NPG)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7DDD2-4699-D642-2370-F589712813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6728"/>
                <a:ext cx="7781144" cy="5381469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Regular policy gradient methods</a:t>
                </a:r>
              </a:p>
              <a:p>
                <a:pPr lvl="1"/>
                <a:r>
                  <a:rPr lang="en-US" dirty="0"/>
                  <a:t>Update policy parameters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in the direction of the steepest ascent of the performance measure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update changes the parameters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The step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restricts</a:t>
                </a:r>
                <a:r>
                  <a:rPr lang="en-US" b="1" dirty="0"/>
                  <a:t> moves in the parameter space </a:t>
                </a:r>
                <a:r>
                  <a:rPr lang="en-US" dirty="0"/>
                  <a:t>to some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Issue</a:t>
                </a:r>
                <a:r>
                  <a:rPr lang="en-US" dirty="0"/>
                  <a:t>: The same amount of change in the parameter space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can have very different effects on the change of the stochastic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(the probability distribution over actions). This can cause </a:t>
                </a:r>
                <a:r>
                  <a:rPr lang="en-US" b="1" dirty="0"/>
                  <a:t>instability</a:t>
                </a:r>
                <a:r>
                  <a:rPr lang="en-US" dirty="0"/>
                  <a:t>.</a:t>
                </a:r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Natural policy gradients take the geometry of the policy (a probability manifold) into account.</a:t>
                </a:r>
              </a:p>
              <a:p>
                <a:pPr lvl="1"/>
                <a:r>
                  <a:rPr lang="en-US" b="1" dirty="0"/>
                  <a:t>Measure of the difference between two policies</a:t>
                </a:r>
                <a:r>
                  <a:rPr lang="en-US" dirty="0"/>
                  <a:t>’ action probability distributions</a:t>
                </a:r>
                <a:r>
                  <a:rPr lang="en-US" b="1" dirty="0"/>
                  <a:t>:</a:t>
                </a:r>
                <a:r>
                  <a:rPr lang="en-US" dirty="0"/>
                  <a:t> </a:t>
                </a:r>
                <a:r>
                  <a:rPr lang="en-US" dirty="0" err="1"/>
                  <a:t>Kullback</a:t>
                </a:r>
                <a:r>
                  <a:rPr lang="en-US" dirty="0"/>
                  <a:t>-Leibler (KL) divergence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𝐾𝐿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+∆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Constraint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by a maximum allowable policy change using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𝐾𝐿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+∆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Local approximation: The Fisher information criterion can be used to </a:t>
                </a:r>
                <a:r>
                  <a:rPr lang="en-US" b="1" dirty="0"/>
                  <a:t>the steepness of the gradient </a:t>
                </a:r>
                <a:r>
                  <a:rPr lang="en-US" dirty="0"/>
                  <a:t>for changes in policy distribution.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now controls how much the  policy changes: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b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endParaRPr lang="en-US" b="1" dirty="0"/>
              </a:p>
              <a:p>
                <a:r>
                  <a:rPr lang="en-US" b="1" dirty="0"/>
                  <a:t>Problem</a:t>
                </a:r>
                <a:r>
                  <a:rPr lang="en-US" dirty="0"/>
                  <a:t>: Calculating the Fisher information matrix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) is too expensive for  deep learning models. We need an approximation for the approximation!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This idea inspired several state-of-the-art methods: </a:t>
                </a:r>
              </a:p>
              <a:p>
                <a:pPr lvl="1"/>
                <a:r>
                  <a:rPr lang="en-US" dirty="0"/>
                  <a:t>Trust Region Optimization (TRPO)</a:t>
                </a:r>
              </a:p>
              <a:p>
                <a:pPr lvl="1"/>
                <a:r>
                  <a:rPr lang="en-US" dirty="0"/>
                  <a:t>Proximal Policy optimization (PPO)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7DDD2-4699-D642-2370-F589712813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6728"/>
                <a:ext cx="7781144" cy="5381469"/>
              </a:xfrm>
              <a:blipFill>
                <a:blip r:embed="rId2"/>
                <a:stretch>
                  <a:fillRect l="-549" t="-1699" r="-1567" b="-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DDEA009-5DF2-9CDE-2186-6F8195DC35FC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DDEA009-5DF2-9CDE-2186-6F8195DC35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6E1671AD-A7B4-05F4-DA03-88565DCF3E21}"/>
              </a:ext>
            </a:extLst>
          </p:cNvPr>
          <p:cNvGrpSpPr/>
          <p:nvPr/>
        </p:nvGrpSpPr>
        <p:grpSpPr>
          <a:xfrm>
            <a:off x="9004699" y="2985425"/>
            <a:ext cx="2363606" cy="1604361"/>
            <a:chOff x="9029648" y="3143202"/>
            <a:chExt cx="2247324" cy="229848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E6055FB-8E19-E897-894E-066B6DE091ED}"/>
                </a:ext>
              </a:extLst>
            </p:cNvPr>
            <p:cNvGrpSpPr/>
            <p:nvPr/>
          </p:nvGrpSpPr>
          <p:grpSpPr>
            <a:xfrm>
              <a:off x="9029648" y="3494615"/>
              <a:ext cx="2247324" cy="1947073"/>
              <a:chOff x="8729470" y="3258054"/>
              <a:chExt cx="2736706" cy="2360724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EE46BC1-6552-A21F-BB7F-2C76A8EC3432}"/>
                  </a:ext>
                </a:extLst>
              </p:cNvPr>
              <p:cNvGrpSpPr/>
              <p:nvPr/>
            </p:nvGrpSpPr>
            <p:grpSpPr>
              <a:xfrm>
                <a:off x="8729470" y="3258054"/>
                <a:ext cx="1426093" cy="1548917"/>
                <a:chOff x="9050557" y="3145014"/>
                <a:chExt cx="1426093" cy="1548917"/>
              </a:xfrm>
            </p:grpSpPr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BD5872E9-F592-135F-09AA-575CB4C35B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27464" y="3146256"/>
                  <a:ext cx="0" cy="137304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0E3CDA1B-B164-6EF9-FB38-2C5DA56E108A}"/>
                    </a:ext>
                  </a:extLst>
                </p:cNvPr>
                <p:cNvSpPr/>
                <p:nvPr/>
              </p:nvSpPr>
              <p:spPr>
                <a:xfrm>
                  <a:off x="9436608" y="3265704"/>
                  <a:ext cx="740664" cy="25545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A8B821E5-38CE-7289-2C17-813220C4687A}"/>
                    </a:ext>
                  </a:extLst>
                </p:cNvPr>
                <p:cNvSpPr/>
                <p:nvPr/>
              </p:nvSpPr>
              <p:spPr>
                <a:xfrm>
                  <a:off x="9436609" y="3645768"/>
                  <a:ext cx="248566" cy="25545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C99C4D12-FBA4-A1E3-24A7-CA450730FE48}"/>
                    </a:ext>
                  </a:extLst>
                </p:cNvPr>
                <p:cNvSpPr/>
                <p:nvPr/>
              </p:nvSpPr>
              <p:spPr>
                <a:xfrm>
                  <a:off x="9436608" y="4047336"/>
                  <a:ext cx="147096" cy="25545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F4C6523A-1FAD-BE3E-4A88-71A73396BF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67179" y="3172572"/>
                      <a:ext cx="461408" cy="48115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 xmlns="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F4C6523A-1FAD-BE3E-4A88-71A73396BFD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67179" y="3172572"/>
                      <a:ext cx="461408" cy="481150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06E6167-1A67-0DB1-E3D3-B13C1C0207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50557" y="3510398"/>
                      <a:ext cx="466730" cy="48115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06E6167-1A67-0DB1-E3D3-B13C1C02075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50557" y="3510398"/>
                      <a:ext cx="466730" cy="481150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88B51318-620F-5E06-C940-4D64E73F06A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74328" y="3863391"/>
                      <a:ext cx="466731" cy="48115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88B51318-620F-5E06-C940-4D64E73F06A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74328" y="3863391"/>
                      <a:ext cx="466731" cy="481150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6AF7AF6B-3472-333E-F26D-7D06C55B95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36608" y="3145014"/>
                  <a:ext cx="1040042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279CA4BD-2F5D-DAF9-6542-0443F3611DF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557514" y="4320767"/>
                      <a:ext cx="783520" cy="37316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279CA4BD-2F5D-DAF9-6542-0443F3611DF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557514" y="4320767"/>
                      <a:ext cx="783520" cy="373164"/>
                    </a:xfrm>
                    <a:prstGeom prst="rect">
                      <a:avLst/>
                    </a:prstGeom>
                    <a:blipFill>
                      <a:blip r:embed="rId12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E7419FFD-FFAE-AC28-8BA5-DF16C09F7354}"/>
                  </a:ext>
                </a:extLst>
              </p:cNvPr>
              <p:cNvGrpSpPr/>
              <p:nvPr/>
            </p:nvGrpSpPr>
            <p:grpSpPr>
              <a:xfrm>
                <a:off x="9877200" y="3258054"/>
                <a:ext cx="1438629" cy="1548917"/>
                <a:chOff x="9038021" y="3145014"/>
                <a:chExt cx="1438629" cy="1548917"/>
              </a:xfrm>
            </p:grpSpPr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20280EC0-7EAF-BEE7-D207-AD738F8D5B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27464" y="3146256"/>
                  <a:ext cx="0" cy="137304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DFC9048-B6E9-2D83-554E-1544F3FF31A0}"/>
                    </a:ext>
                  </a:extLst>
                </p:cNvPr>
                <p:cNvSpPr/>
                <p:nvPr/>
              </p:nvSpPr>
              <p:spPr>
                <a:xfrm>
                  <a:off x="9436608" y="3306429"/>
                  <a:ext cx="237553" cy="227187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4FC43CD6-8D8E-95E2-75A7-56B158156A78}"/>
                    </a:ext>
                  </a:extLst>
                </p:cNvPr>
                <p:cNvSpPr/>
                <p:nvPr/>
              </p:nvSpPr>
              <p:spPr>
                <a:xfrm>
                  <a:off x="9436609" y="3645768"/>
                  <a:ext cx="173501" cy="26901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C675118B-38E7-F42E-2B38-261D73E507F2}"/>
                    </a:ext>
                  </a:extLst>
                </p:cNvPr>
                <p:cNvSpPr/>
                <p:nvPr/>
              </p:nvSpPr>
              <p:spPr>
                <a:xfrm>
                  <a:off x="9436606" y="4047334"/>
                  <a:ext cx="779592" cy="231764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0D3BB9BA-3848-62B3-E7BB-52A2AA2C6F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59684" y="3209375"/>
                      <a:ext cx="461408" cy="48115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0D3BB9BA-3848-62B3-E7BB-52A2AA2C6F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59684" y="3209375"/>
                      <a:ext cx="461408" cy="481150"/>
                    </a:xfrm>
                    <a:prstGeom prst="rect">
                      <a:avLst/>
                    </a:prstGeom>
                    <a:blipFill>
                      <a:blip r:embed="rId13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71BEE33C-1400-9BED-94AA-90DBAF7E511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38021" y="3595294"/>
                      <a:ext cx="466730" cy="48115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 xmlns="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71BEE33C-1400-9BED-94AA-90DBAF7E511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38021" y="3595294"/>
                      <a:ext cx="466730" cy="481150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TextBox 15">
                      <a:extLst>
                        <a:ext uri="{FF2B5EF4-FFF2-40B4-BE49-F238E27FC236}">
                          <a16:creationId xmlns:a16="http://schemas.microsoft.com/office/drawing/2014/main" id="{5B09632B-0D3D-5B6E-00D7-5F1274A65B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61791" y="3948288"/>
                      <a:ext cx="466731" cy="48115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6" name="TextBox 15">
                      <a:extLst>
                        <a:ext uri="{FF2B5EF4-FFF2-40B4-BE49-F238E27FC236}">
                          <a16:creationId xmlns:a16="http://schemas.microsoft.com/office/drawing/2014/main" id="{5B09632B-0D3D-5B6E-00D7-5F1274A65BD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61791" y="3948288"/>
                      <a:ext cx="466731" cy="481150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CD4BD875-4E13-D4D3-864F-C79D55F937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436608" y="3145014"/>
                  <a:ext cx="1040042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C387ADF2-C15A-5402-E2A1-CDBDB0A8DAC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516051" y="4320767"/>
                      <a:ext cx="783520" cy="37316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+∆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C387ADF2-C15A-5402-E2A1-CDBDB0A8DAC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516051" y="4320767"/>
                      <a:ext cx="783520" cy="373164"/>
                    </a:xfrm>
                    <a:prstGeom prst="rect">
                      <a:avLst/>
                    </a:prstGeom>
                    <a:blipFill>
                      <a:blip r:embed="rId13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8" name="Right Brace 7">
                <a:extLst>
                  <a:ext uri="{FF2B5EF4-FFF2-40B4-BE49-F238E27FC236}">
                    <a16:creationId xmlns:a16="http://schemas.microsoft.com/office/drawing/2014/main" id="{2757911A-B355-93EE-0A60-B64B5D121540}"/>
                  </a:ext>
                </a:extLst>
              </p:cNvPr>
              <p:cNvSpPr/>
              <p:nvPr/>
            </p:nvSpPr>
            <p:spPr>
              <a:xfrm rot="5400000">
                <a:off x="10088066" y="3976945"/>
                <a:ext cx="422298" cy="2282510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C93498F-1B00-9CDE-8112-70BF6DD1A917}"/>
                      </a:ext>
                    </a:extLst>
                  </p:cNvPr>
                  <p:cNvSpPr txBox="1"/>
                  <p:nvPr/>
                </p:nvSpPr>
                <p:spPr>
                  <a:xfrm>
                    <a:off x="9202862" y="5249446"/>
                    <a:ext cx="22633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C93498F-1B00-9CDE-8112-70BF6DD1A9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2862" y="5249446"/>
                    <a:ext cx="2263314" cy="369332"/>
                  </a:xfrm>
                  <a:prstGeom prst="rect">
                    <a:avLst/>
                  </a:prstGeom>
                  <a:blipFill>
                    <a:blip r:embed="rId133"/>
                    <a:stretch>
                      <a:fillRect b="-9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693A34B-8FD0-D3CE-5317-5BB5DBC8D799}"/>
                </a:ext>
              </a:extLst>
            </p:cNvPr>
            <p:cNvSpPr txBox="1"/>
            <p:nvPr/>
          </p:nvSpPr>
          <p:spPr>
            <a:xfrm>
              <a:off x="9421833" y="3143398"/>
              <a:ext cx="64341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Prob.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88124B2-8D80-4B85-80C1-EF855619EF8E}"/>
                </a:ext>
              </a:extLst>
            </p:cNvPr>
            <p:cNvSpPr txBox="1"/>
            <p:nvPr/>
          </p:nvSpPr>
          <p:spPr>
            <a:xfrm>
              <a:off x="10326570" y="3143202"/>
              <a:ext cx="64341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Prob.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E3D6A336-64C7-AA40-CEEF-589628051FEE}"/>
              </a:ext>
            </a:extLst>
          </p:cNvPr>
          <p:cNvGrpSpPr/>
          <p:nvPr/>
        </p:nvGrpSpPr>
        <p:grpSpPr>
          <a:xfrm>
            <a:off x="9138985" y="917128"/>
            <a:ext cx="2219642" cy="1725897"/>
            <a:chOff x="8544196" y="865608"/>
            <a:chExt cx="2625612" cy="1950628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D2E75184-343E-0B33-9349-9154469CB2A5}"/>
                </a:ext>
              </a:extLst>
            </p:cNvPr>
            <p:cNvCxnSpPr/>
            <p:nvPr/>
          </p:nvCxnSpPr>
          <p:spPr>
            <a:xfrm flipH="1" flipV="1">
              <a:off x="8929413" y="1124198"/>
              <a:ext cx="13650" cy="14915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8FEC363-ED9C-36DC-480F-C574D7AA35ED}"/>
                </a:ext>
              </a:extLst>
            </p:cNvPr>
            <p:cNvCxnSpPr/>
            <p:nvPr/>
          </p:nvCxnSpPr>
          <p:spPr>
            <a:xfrm>
              <a:off x="8935568" y="2630774"/>
              <a:ext cx="18423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62D7733-0F20-A22D-04A0-C5BCFF464541}"/>
                </a:ext>
              </a:extLst>
            </p:cNvPr>
            <p:cNvSpPr/>
            <p:nvPr/>
          </p:nvSpPr>
          <p:spPr>
            <a:xfrm>
              <a:off x="9211390" y="1314276"/>
              <a:ext cx="1124332" cy="1109242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C3A90B0C-16C9-38A2-90C5-AE98055374CF}"/>
                    </a:ext>
                  </a:extLst>
                </p:cNvPr>
                <p:cNvSpPr txBox="1"/>
                <p:nvPr/>
              </p:nvSpPr>
              <p:spPr>
                <a:xfrm>
                  <a:off x="9867786" y="1612079"/>
                  <a:ext cx="893788" cy="34785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1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r>
                                  <a:rPr lang="en-US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</m:d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C3A90B0C-16C9-38A2-90C5-AE98055374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67786" y="1612079"/>
                  <a:ext cx="893788" cy="347853"/>
                </a:xfrm>
                <a:prstGeom prst="rect">
                  <a:avLst/>
                </a:prstGeom>
                <a:blipFill>
                  <a:blip r:embed="rId1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D092709-6AFA-35F7-ACB9-BFC07B91C0E3}"/>
                </a:ext>
              </a:extLst>
            </p:cNvPr>
            <p:cNvCxnSpPr>
              <a:cxnSpLocks/>
              <a:endCxn id="37" idx="7"/>
            </p:cNvCxnSpPr>
            <p:nvPr/>
          </p:nvCxnSpPr>
          <p:spPr>
            <a:xfrm flipV="1">
              <a:off x="9804010" y="1476721"/>
              <a:ext cx="367057" cy="4065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75919C24-167B-DEF2-8879-C49C8A20216D}"/>
                    </a:ext>
                  </a:extLst>
                </p:cNvPr>
                <p:cNvSpPr txBox="1"/>
                <p:nvPr/>
              </p:nvSpPr>
              <p:spPr>
                <a:xfrm>
                  <a:off x="9434888" y="1688380"/>
                  <a:ext cx="580275" cy="34785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𝒘</m:t>
                      </m:r>
                    </m:oMath>
                  </a14:m>
                  <a:r>
                    <a:rPr lang="en-US" sz="1400" b="1" dirty="0"/>
                    <a:t> +</a:t>
                  </a: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75919C24-167B-DEF2-8879-C49C8A2021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34888" y="1688380"/>
                  <a:ext cx="580275" cy="347853"/>
                </a:xfrm>
                <a:prstGeom prst="rect">
                  <a:avLst/>
                </a:prstGeom>
                <a:blipFill>
                  <a:blip r:embed="rId135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E0BBE52B-3BA9-DEE2-3B83-068AA2D06A38}"/>
                    </a:ext>
                  </a:extLst>
                </p:cNvPr>
                <p:cNvSpPr txBox="1"/>
                <p:nvPr/>
              </p:nvSpPr>
              <p:spPr>
                <a:xfrm>
                  <a:off x="10726329" y="2468383"/>
                  <a:ext cx="443479" cy="34785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E0BBE52B-3BA9-DEE2-3B83-068AA2D06A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26329" y="2468383"/>
                  <a:ext cx="443479" cy="347853"/>
                </a:xfrm>
                <a:prstGeom prst="rect">
                  <a:avLst/>
                </a:prstGeom>
                <a:blipFill>
                  <a:blip r:embed="rId1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9CAEC20-332C-8AD2-BEC6-EFD1D33D616E}"/>
                    </a:ext>
                  </a:extLst>
                </p:cNvPr>
                <p:cNvSpPr txBox="1"/>
                <p:nvPr/>
              </p:nvSpPr>
              <p:spPr>
                <a:xfrm>
                  <a:off x="8544196" y="865608"/>
                  <a:ext cx="443479" cy="34785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9CAEC20-332C-8AD2-BEC6-EFD1D33D61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4196" y="865608"/>
                  <a:ext cx="443479" cy="347853"/>
                </a:xfrm>
                <a:prstGeom prst="rect">
                  <a:avLst/>
                </a:prstGeom>
                <a:blipFill>
                  <a:blip r:embed="rId1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EF42874-E7CB-ACB9-4D59-6A58F1430EE3}"/>
              </a:ext>
            </a:extLst>
          </p:cNvPr>
          <p:cNvGrpSpPr/>
          <p:nvPr/>
        </p:nvGrpSpPr>
        <p:grpSpPr>
          <a:xfrm>
            <a:off x="9197324" y="4793014"/>
            <a:ext cx="2764902" cy="1725897"/>
            <a:chOff x="9197324" y="4793014"/>
            <a:chExt cx="2764902" cy="1725897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ABA05613-AFFE-F7C0-9D90-E13EE0786074}"/>
                </a:ext>
              </a:extLst>
            </p:cNvPr>
            <p:cNvGrpSpPr/>
            <p:nvPr/>
          </p:nvGrpSpPr>
          <p:grpSpPr>
            <a:xfrm>
              <a:off x="9197324" y="4793014"/>
              <a:ext cx="2764902" cy="1725897"/>
              <a:chOff x="8544196" y="865608"/>
              <a:chExt cx="3270600" cy="1950628"/>
            </a:xfrm>
          </p:grpSpPr>
          <p:cxnSp>
            <p:nvCxnSpPr>
              <p:cNvPr id="50" name="Straight Arrow Connector 49">
                <a:extLst>
                  <a:ext uri="{FF2B5EF4-FFF2-40B4-BE49-F238E27FC236}">
                    <a16:creationId xmlns:a16="http://schemas.microsoft.com/office/drawing/2014/main" id="{431AB99B-B073-B1EC-459D-60A7CC72868A}"/>
                  </a:ext>
                </a:extLst>
              </p:cNvPr>
              <p:cNvCxnSpPr/>
              <p:nvPr/>
            </p:nvCxnSpPr>
            <p:spPr>
              <a:xfrm flipH="1" flipV="1">
                <a:off x="8929413" y="1124198"/>
                <a:ext cx="13650" cy="149158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DDEABD15-59AB-2B61-B6D7-114B71E2BF85}"/>
                  </a:ext>
                </a:extLst>
              </p:cNvPr>
              <p:cNvCxnSpPr/>
              <p:nvPr/>
            </p:nvCxnSpPr>
            <p:spPr>
              <a:xfrm>
                <a:off x="8935568" y="2630774"/>
                <a:ext cx="184236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D576B5FE-F16D-9B4D-C50A-FEF25652384A}"/>
                      </a:ext>
                    </a:extLst>
                  </p:cNvPr>
                  <p:cNvSpPr txBox="1"/>
                  <p:nvPr/>
                </p:nvSpPr>
                <p:spPr>
                  <a:xfrm>
                    <a:off x="9867786" y="1612079"/>
                    <a:ext cx="1947010" cy="31306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|</m:t>
                          </m:r>
                          <m:d>
                            <m:dPr>
                              <m:begChr m:val="|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+∆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D576B5FE-F16D-9B4D-C50A-FEF25652384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67786" y="1612079"/>
                    <a:ext cx="1947010" cy="313067"/>
                  </a:xfrm>
                  <a:prstGeom prst="rect">
                    <a:avLst/>
                  </a:prstGeom>
                  <a:blipFill>
                    <a:blip r:embed="rId138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BCA8A756-CA72-DCEF-EC50-72202FCCDA3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04010" y="1476721"/>
                <a:ext cx="367057" cy="40655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69243FC8-5662-1C32-F34D-A4A50C0A6612}"/>
                      </a:ext>
                    </a:extLst>
                  </p:cNvPr>
                  <p:cNvSpPr txBox="1"/>
                  <p:nvPr/>
                </p:nvSpPr>
                <p:spPr>
                  <a:xfrm>
                    <a:off x="9434888" y="1688380"/>
                    <a:ext cx="580275" cy="347853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4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oMath>
                    </a14:m>
                    <a:r>
                      <a:rPr lang="en-US" sz="1400" b="1" dirty="0"/>
                      <a:t> +</a:t>
                    </a:r>
                  </a:p>
                </p:txBody>
              </p:sp>
            </mc:Choice>
            <mc:Fallback xmlns="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69243FC8-5662-1C32-F34D-A4A50C0A661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34888" y="1688380"/>
                    <a:ext cx="580275" cy="347853"/>
                  </a:xfrm>
                  <a:prstGeom prst="rect">
                    <a:avLst/>
                  </a:prstGeom>
                  <a:blipFill>
                    <a:blip r:embed="rId139"/>
                    <a:stretch>
                      <a:fillRect t="-4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3C10188C-B9AF-E7B0-BBD5-020600A69C38}"/>
                      </a:ext>
                    </a:extLst>
                  </p:cNvPr>
                  <p:cNvSpPr txBox="1"/>
                  <p:nvPr/>
                </p:nvSpPr>
                <p:spPr>
                  <a:xfrm>
                    <a:off x="10726329" y="2468383"/>
                    <a:ext cx="443479" cy="347853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3C10188C-B9AF-E7B0-BBD5-020600A69C3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26329" y="2468383"/>
                    <a:ext cx="443479" cy="347853"/>
                  </a:xfrm>
                  <a:prstGeom prst="rect">
                    <a:avLst/>
                  </a:prstGeom>
                  <a:blipFill>
                    <a:blip r:embed="rId1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68DDFD1E-C050-64C9-0433-8B53947E8A5F}"/>
                      </a:ext>
                    </a:extLst>
                  </p:cNvPr>
                  <p:cNvSpPr txBox="1"/>
                  <p:nvPr/>
                </p:nvSpPr>
                <p:spPr>
                  <a:xfrm>
                    <a:off x="8544196" y="865608"/>
                    <a:ext cx="443479" cy="347853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68DDFD1E-C050-64C9-0433-8B53947E8A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44196" y="865608"/>
                    <a:ext cx="443479" cy="347853"/>
                  </a:xfrm>
                  <a:prstGeom prst="rect">
                    <a:avLst/>
                  </a:prstGeom>
                  <a:blipFill>
                    <a:blip r:embed="rId1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BC48FCE7-DBA1-80A1-5EA6-BECF0BF2518B}"/>
                </a:ext>
              </a:extLst>
            </p:cNvPr>
            <p:cNvSpPr/>
            <p:nvPr/>
          </p:nvSpPr>
          <p:spPr>
            <a:xfrm>
              <a:off x="9851348" y="5239145"/>
              <a:ext cx="784370" cy="977318"/>
            </a:xfrm>
            <a:custGeom>
              <a:avLst/>
              <a:gdLst>
                <a:gd name="csX0" fmla="*/ 708869 w 784370"/>
                <a:gd name="csY0" fmla="*/ 79696 h 977318"/>
                <a:gd name="csX1" fmla="*/ 591424 w 784370"/>
                <a:gd name="csY1" fmla="*/ 37751 h 977318"/>
                <a:gd name="csX2" fmla="*/ 541090 w 784370"/>
                <a:gd name="csY2" fmla="*/ 16778 h 977318"/>
                <a:gd name="csX3" fmla="*/ 457200 w 784370"/>
                <a:gd name="csY3" fmla="*/ 0 h 977318"/>
                <a:gd name="csX4" fmla="*/ 419449 w 784370"/>
                <a:gd name="csY4" fmla="*/ 8389 h 977318"/>
                <a:gd name="csX5" fmla="*/ 390088 w 784370"/>
                <a:gd name="csY5" fmla="*/ 41945 h 977318"/>
                <a:gd name="csX6" fmla="*/ 381699 w 784370"/>
                <a:gd name="csY6" fmla="*/ 58723 h 977318"/>
                <a:gd name="csX7" fmla="*/ 385893 w 784370"/>
                <a:gd name="csY7" fmla="*/ 180364 h 977318"/>
                <a:gd name="csX8" fmla="*/ 394282 w 784370"/>
                <a:gd name="csY8" fmla="*/ 209725 h 977318"/>
                <a:gd name="csX9" fmla="*/ 406866 w 784370"/>
                <a:gd name="csY9" fmla="*/ 243281 h 977318"/>
                <a:gd name="csX10" fmla="*/ 390088 w 784370"/>
                <a:gd name="csY10" fmla="*/ 268448 h 977318"/>
                <a:gd name="csX11" fmla="*/ 377504 w 784370"/>
                <a:gd name="csY11" fmla="*/ 272642 h 977318"/>
                <a:gd name="csX12" fmla="*/ 339754 w 784370"/>
                <a:gd name="csY12" fmla="*/ 285226 h 977318"/>
                <a:gd name="csX13" fmla="*/ 318781 w 784370"/>
                <a:gd name="csY13" fmla="*/ 293615 h 977318"/>
                <a:gd name="csX14" fmla="*/ 302003 w 784370"/>
                <a:gd name="csY14" fmla="*/ 306198 h 977318"/>
                <a:gd name="csX15" fmla="*/ 264253 w 784370"/>
                <a:gd name="csY15" fmla="*/ 310393 h 977318"/>
                <a:gd name="csX16" fmla="*/ 243280 w 784370"/>
                <a:gd name="csY16" fmla="*/ 322976 h 977318"/>
                <a:gd name="csX17" fmla="*/ 218113 w 784370"/>
                <a:gd name="csY17" fmla="*/ 335560 h 977318"/>
                <a:gd name="csX18" fmla="*/ 201336 w 784370"/>
                <a:gd name="csY18" fmla="*/ 348143 h 977318"/>
                <a:gd name="csX19" fmla="*/ 142613 w 784370"/>
                <a:gd name="csY19" fmla="*/ 369116 h 977318"/>
                <a:gd name="csX20" fmla="*/ 113251 w 784370"/>
                <a:gd name="csY20" fmla="*/ 373310 h 977318"/>
                <a:gd name="csX21" fmla="*/ 75501 w 784370"/>
                <a:gd name="csY21" fmla="*/ 385894 h 977318"/>
                <a:gd name="csX22" fmla="*/ 29361 w 784370"/>
                <a:gd name="csY22" fmla="*/ 406866 h 977318"/>
                <a:gd name="csX23" fmla="*/ 16778 w 784370"/>
                <a:gd name="csY23" fmla="*/ 419450 h 977318"/>
                <a:gd name="csX24" fmla="*/ 12583 w 784370"/>
                <a:gd name="csY24" fmla="*/ 436228 h 977318"/>
                <a:gd name="csX25" fmla="*/ 0 w 784370"/>
                <a:gd name="csY25" fmla="*/ 469784 h 977318"/>
                <a:gd name="csX26" fmla="*/ 4194 w 784370"/>
                <a:gd name="csY26" fmla="*/ 536896 h 977318"/>
                <a:gd name="csX27" fmla="*/ 20972 w 784370"/>
                <a:gd name="csY27" fmla="*/ 562063 h 977318"/>
                <a:gd name="csX28" fmla="*/ 29361 w 784370"/>
                <a:gd name="csY28" fmla="*/ 595619 h 977318"/>
                <a:gd name="csX29" fmla="*/ 41945 w 784370"/>
                <a:gd name="csY29" fmla="*/ 612397 h 977318"/>
                <a:gd name="csX30" fmla="*/ 79695 w 784370"/>
                <a:gd name="csY30" fmla="*/ 658536 h 977318"/>
                <a:gd name="csX31" fmla="*/ 92279 w 784370"/>
                <a:gd name="csY31" fmla="*/ 662731 h 977318"/>
                <a:gd name="csX32" fmla="*/ 117446 w 784370"/>
                <a:gd name="csY32" fmla="*/ 675314 h 977318"/>
                <a:gd name="csX33" fmla="*/ 134224 w 784370"/>
                <a:gd name="csY33" fmla="*/ 687897 h 977318"/>
                <a:gd name="csX34" fmla="*/ 167780 w 784370"/>
                <a:gd name="csY34" fmla="*/ 708870 h 977318"/>
                <a:gd name="csX35" fmla="*/ 209724 w 784370"/>
                <a:gd name="csY35" fmla="*/ 734037 h 977318"/>
                <a:gd name="csX36" fmla="*/ 230697 w 784370"/>
                <a:gd name="csY36" fmla="*/ 738231 h 977318"/>
                <a:gd name="csX37" fmla="*/ 255864 w 784370"/>
                <a:gd name="csY37" fmla="*/ 763398 h 977318"/>
                <a:gd name="csX38" fmla="*/ 272642 w 784370"/>
                <a:gd name="csY38" fmla="*/ 775982 h 977318"/>
                <a:gd name="csX39" fmla="*/ 293614 w 784370"/>
                <a:gd name="csY39" fmla="*/ 801149 h 977318"/>
                <a:gd name="csX40" fmla="*/ 310392 w 784370"/>
                <a:gd name="csY40" fmla="*/ 813732 h 977318"/>
                <a:gd name="csX41" fmla="*/ 322976 w 784370"/>
                <a:gd name="csY41" fmla="*/ 826316 h 977318"/>
                <a:gd name="csX42" fmla="*/ 356532 w 784370"/>
                <a:gd name="csY42" fmla="*/ 864066 h 977318"/>
                <a:gd name="csX43" fmla="*/ 373310 w 784370"/>
                <a:gd name="csY43" fmla="*/ 889233 h 977318"/>
                <a:gd name="csX44" fmla="*/ 398477 w 784370"/>
                <a:gd name="csY44" fmla="*/ 901817 h 977318"/>
                <a:gd name="csX45" fmla="*/ 448811 w 784370"/>
                <a:gd name="csY45" fmla="*/ 939567 h 977318"/>
                <a:gd name="csX46" fmla="*/ 549479 w 784370"/>
                <a:gd name="csY46" fmla="*/ 977318 h 977318"/>
                <a:gd name="csX47" fmla="*/ 620785 w 784370"/>
                <a:gd name="csY47" fmla="*/ 960540 h 977318"/>
                <a:gd name="csX48" fmla="*/ 633369 w 784370"/>
                <a:gd name="csY48" fmla="*/ 922789 h 977318"/>
                <a:gd name="csX49" fmla="*/ 658536 w 784370"/>
                <a:gd name="csY49" fmla="*/ 843094 h 977318"/>
                <a:gd name="csX50" fmla="*/ 658536 w 784370"/>
                <a:gd name="csY50" fmla="*/ 683703 h 977318"/>
                <a:gd name="csX51" fmla="*/ 641758 w 784370"/>
                <a:gd name="csY51" fmla="*/ 666925 h 977318"/>
                <a:gd name="csX52" fmla="*/ 633369 w 784370"/>
                <a:gd name="csY52" fmla="*/ 641758 h 977318"/>
                <a:gd name="csX53" fmla="*/ 620785 w 784370"/>
                <a:gd name="csY53" fmla="*/ 629175 h 977318"/>
                <a:gd name="csX54" fmla="*/ 624980 w 784370"/>
                <a:gd name="csY54" fmla="*/ 570452 h 977318"/>
                <a:gd name="csX55" fmla="*/ 658536 w 784370"/>
                <a:gd name="csY55" fmla="*/ 545285 h 977318"/>
                <a:gd name="csX56" fmla="*/ 683702 w 784370"/>
                <a:gd name="csY56" fmla="*/ 528507 h 977318"/>
                <a:gd name="csX57" fmla="*/ 725647 w 784370"/>
                <a:gd name="csY57" fmla="*/ 515923 h 977318"/>
                <a:gd name="csX58" fmla="*/ 771787 w 784370"/>
                <a:gd name="csY58" fmla="*/ 478173 h 977318"/>
                <a:gd name="csX59" fmla="*/ 784370 w 784370"/>
                <a:gd name="csY59" fmla="*/ 314587 h 977318"/>
                <a:gd name="csX60" fmla="*/ 780176 w 784370"/>
                <a:gd name="csY60" fmla="*/ 125835 h 977318"/>
                <a:gd name="csX61" fmla="*/ 771787 w 784370"/>
                <a:gd name="csY61" fmla="*/ 104863 h 977318"/>
                <a:gd name="csX62" fmla="*/ 708869 w 784370"/>
                <a:gd name="csY62" fmla="*/ 79696 h 9773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784370" h="977318">
                  <a:moveTo>
                    <a:pt x="708869" y="79696"/>
                  </a:moveTo>
                  <a:cubicBezTo>
                    <a:pt x="678809" y="68511"/>
                    <a:pt x="690479" y="78539"/>
                    <a:pt x="591424" y="37751"/>
                  </a:cubicBezTo>
                  <a:cubicBezTo>
                    <a:pt x="574617" y="30830"/>
                    <a:pt x="558626" y="21560"/>
                    <a:pt x="541090" y="16778"/>
                  </a:cubicBezTo>
                  <a:cubicBezTo>
                    <a:pt x="482735" y="864"/>
                    <a:pt x="510794" y="5956"/>
                    <a:pt x="457200" y="0"/>
                  </a:cubicBezTo>
                  <a:cubicBezTo>
                    <a:pt x="444616" y="2796"/>
                    <a:pt x="431480" y="3761"/>
                    <a:pt x="419449" y="8389"/>
                  </a:cubicBezTo>
                  <a:cubicBezTo>
                    <a:pt x="403471" y="14534"/>
                    <a:pt x="397729" y="28191"/>
                    <a:pt x="390088" y="41945"/>
                  </a:cubicBezTo>
                  <a:cubicBezTo>
                    <a:pt x="387051" y="47411"/>
                    <a:pt x="384495" y="53130"/>
                    <a:pt x="381699" y="58723"/>
                  </a:cubicBezTo>
                  <a:cubicBezTo>
                    <a:pt x="372909" y="111456"/>
                    <a:pt x="374063" y="91640"/>
                    <a:pt x="385893" y="180364"/>
                  </a:cubicBezTo>
                  <a:cubicBezTo>
                    <a:pt x="387238" y="190453"/>
                    <a:pt x="391813" y="199850"/>
                    <a:pt x="394282" y="209725"/>
                  </a:cubicBezTo>
                  <a:cubicBezTo>
                    <a:pt x="401539" y="238750"/>
                    <a:pt x="393057" y="222566"/>
                    <a:pt x="406866" y="243281"/>
                  </a:cubicBezTo>
                  <a:cubicBezTo>
                    <a:pt x="401273" y="251670"/>
                    <a:pt x="397217" y="261319"/>
                    <a:pt x="390088" y="268448"/>
                  </a:cubicBezTo>
                  <a:cubicBezTo>
                    <a:pt x="386961" y="271574"/>
                    <a:pt x="381459" y="270665"/>
                    <a:pt x="377504" y="272642"/>
                  </a:cubicBezTo>
                  <a:cubicBezTo>
                    <a:pt x="348011" y="287388"/>
                    <a:pt x="386484" y="277437"/>
                    <a:pt x="339754" y="285226"/>
                  </a:cubicBezTo>
                  <a:cubicBezTo>
                    <a:pt x="332763" y="288022"/>
                    <a:pt x="325363" y="289958"/>
                    <a:pt x="318781" y="293615"/>
                  </a:cubicBezTo>
                  <a:cubicBezTo>
                    <a:pt x="312670" y="297010"/>
                    <a:pt x="308685" y="304142"/>
                    <a:pt x="302003" y="306198"/>
                  </a:cubicBezTo>
                  <a:cubicBezTo>
                    <a:pt x="289902" y="309921"/>
                    <a:pt x="276836" y="308995"/>
                    <a:pt x="264253" y="310393"/>
                  </a:cubicBezTo>
                  <a:cubicBezTo>
                    <a:pt x="257262" y="314587"/>
                    <a:pt x="250437" y="319072"/>
                    <a:pt x="243280" y="322976"/>
                  </a:cubicBezTo>
                  <a:cubicBezTo>
                    <a:pt x="235046" y="327467"/>
                    <a:pt x="226156" y="330734"/>
                    <a:pt x="218113" y="335560"/>
                  </a:cubicBezTo>
                  <a:cubicBezTo>
                    <a:pt x="212119" y="339157"/>
                    <a:pt x="207588" y="345017"/>
                    <a:pt x="201336" y="348143"/>
                  </a:cubicBezTo>
                  <a:cubicBezTo>
                    <a:pt x="197707" y="349958"/>
                    <a:pt x="150831" y="367220"/>
                    <a:pt x="142613" y="369116"/>
                  </a:cubicBezTo>
                  <a:cubicBezTo>
                    <a:pt x="132979" y="371339"/>
                    <a:pt x="123038" y="371912"/>
                    <a:pt x="113251" y="373310"/>
                  </a:cubicBezTo>
                  <a:cubicBezTo>
                    <a:pt x="100668" y="377505"/>
                    <a:pt x="87693" y="380669"/>
                    <a:pt x="75501" y="385894"/>
                  </a:cubicBezTo>
                  <a:cubicBezTo>
                    <a:pt x="-4444" y="420156"/>
                    <a:pt x="118001" y="377319"/>
                    <a:pt x="29361" y="406866"/>
                  </a:cubicBezTo>
                  <a:cubicBezTo>
                    <a:pt x="25167" y="411061"/>
                    <a:pt x="19721" y="414300"/>
                    <a:pt x="16778" y="419450"/>
                  </a:cubicBezTo>
                  <a:cubicBezTo>
                    <a:pt x="13918" y="424455"/>
                    <a:pt x="14406" y="430759"/>
                    <a:pt x="12583" y="436228"/>
                  </a:cubicBezTo>
                  <a:cubicBezTo>
                    <a:pt x="8805" y="447561"/>
                    <a:pt x="4194" y="458599"/>
                    <a:pt x="0" y="469784"/>
                  </a:cubicBezTo>
                  <a:cubicBezTo>
                    <a:pt x="1398" y="492155"/>
                    <a:pt x="-773" y="515039"/>
                    <a:pt x="4194" y="536896"/>
                  </a:cubicBezTo>
                  <a:cubicBezTo>
                    <a:pt x="6428" y="546728"/>
                    <a:pt x="17000" y="552796"/>
                    <a:pt x="20972" y="562063"/>
                  </a:cubicBezTo>
                  <a:cubicBezTo>
                    <a:pt x="25514" y="572660"/>
                    <a:pt x="24926" y="584976"/>
                    <a:pt x="29361" y="595619"/>
                  </a:cubicBezTo>
                  <a:cubicBezTo>
                    <a:pt x="32050" y="602072"/>
                    <a:pt x="37936" y="606670"/>
                    <a:pt x="41945" y="612397"/>
                  </a:cubicBezTo>
                  <a:cubicBezTo>
                    <a:pt x="55992" y="632464"/>
                    <a:pt x="59649" y="643501"/>
                    <a:pt x="79695" y="658536"/>
                  </a:cubicBezTo>
                  <a:cubicBezTo>
                    <a:pt x="83232" y="661189"/>
                    <a:pt x="88238" y="660935"/>
                    <a:pt x="92279" y="662731"/>
                  </a:cubicBezTo>
                  <a:cubicBezTo>
                    <a:pt x="100850" y="666540"/>
                    <a:pt x="109403" y="670489"/>
                    <a:pt x="117446" y="675314"/>
                  </a:cubicBezTo>
                  <a:cubicBezTo>
                    <a:pt x="123441" y="678911"/>
                    <a:pt x="128407" y="684019"/>
                    <a:pt x="134224" y="687897"/>
                  </a:cubicBezTo>
                  <a:cubicBezTo>
                    <a:pt x="145199" y="695214"/>
                    <a:pt x="156805" y="701553"/>
                    <a:pt x="167780" y="708870"/>
                  </a:cubicBezTo>
                  <a:cubicBezTo>
                    <a:pt x="188195" y="722480"/>
                    <a:pt x="183492" y="724498"/>
                    <a:pt x="209724" y="734037"/>
                  </a:cubicBezTo>
                  <a:cubicBezTo>
                    <a:pt x="216424" y="736473"/>
                    <a:pt x="223706" y="736833"/>
                    <a:pt x="230697" y="738231"/>
                  </a:cubicBezTo>
                  <a:cubicBezTo>
                    <a:pt x="239086" y="746620"/>
                    <a:pt x="247046" y="755461"/>
                    <a:pt x="255864" y="763398"/>
                  </a:cubicBezTo>
                  <a:cubicBezTo>
                    <a:pt x="261060" y="768075"/>
                    <a:pt x="267699" y="771039"/>
                    <a:pt x="272642" y="775982"/>
                  </a:cubicBezTo>
                  <a:cubicBezTo>
                    <a:pt x="280363" y="783704"/>
                    <a:pt x="285892" y="793427"/>
                    <a:pt x="293614" y="801149"/>
                  </a:cubicBezTo>
                  <a:cubicBezTo>
                    <a:pt x="298557" y="806092"/>
                    <a:pt x="305084" y="809183"/>
                    <a:pt x="310392" y="813732"/>
                  </a:cubicBezTo>
                  <a:cubicBezTo>
                    <a:pt x="314896" y="817593"/>
                    <a:pt x="318781" y="822121"/>
                    <a:pt x="322976" y="826316"/>
                  </a:cubicBezTo>
                  <a:cubicBezTo>
                    <a:pt x="340326" y="869690"/>
                    <a:pt x="318115" y="825649"/>
                    <a:pt x="356532" y="864066"/>
                  </a:cubicBezTo>
                  <a:cubicBezTo>
                    <a:pt x="363661" y="871195"/>
                    <a:pt x="365816" y="882488"/>
                    <a:pt x="373310" y="889233"/>
                  </a:cubicBezTo>
                  <a:cubicBezTo>
                    <a:pt x="380282" y="895507"/>
                    <a:pt x="390673" y="896614"/>
                    <a:pt x="398477" y="901817"/>
                  </a:cubicBezTo>
                  <a:cubicBezTo>
                    <a:pt x="415927" y="913450"/>
                    <a:pt x="430645" y="929087"/>
                    <a:pt x="448811" y="939567"/>
                  </a:cubicBezTo>
                  <a:cubicBezTo>
                    <a:pt x="482303" y="958889"/>
                    <a:pt x="513627" y="966562"/>
                    <a:pt x="549479" y="977318"/>
                  </a:cubicBezTo>
                  <a:cubicBezTo>
                    <a:pt x="573248" y="971725"/>
                    <a:pt x="600312" y="973847"/>
                    <a:pt x="620785" y="960540"/>
                  </a:cubicBezTo>
                  <a:cubicBezTo>
                    <a:pt x="631906" y="953311"/>
                    <a:pt x="628783" y="935236"/>
                    <a:pt x="633369" y="922789"/>
                  </a:cubicBezTo>
                  <a:cubicBezTo>
                    <a:pt x="657522" y="857232"/>
                    <a:pt x="644665" y="905511"/>
                    <a:pt x="658536" y="843094"/>
                  </a:cubicBezTo>
                  <a:cubicBezTo>
                    <a:pt x="662374" y="789359"/>
                    <a:pt x="668251" y="738109"/>
                    <a:pt x="658536" y="683703"/>
                  </a:cubicBezTo>
                  <a:cubicBezTo>
                    <a:pt x="657146" y="675917"/>
                    <a:pt x="647351" y="672518"/>
                    <a:pt x="641758" y="666925"/>
                  </a:cubicBezTo>
                  <a:cubicBezTo>
                    <a:pt x="638962" y="658536"/>
                    <a:pt x="637664" y="649488"/>
                    <a:pt x="633369" y="641758"/>
                  </a:cubicBezTo>
                  <a:cubicBezTo>
                    <a:pt x="630488" y="636573"/>
                    <a:pt x="621478" y="635066"/>
                    <a:pt x="620785" y="629175"/>
                  </a:cubicBezTo>
                  <a:cubicBezTo>
                    <a:pt x="618492" y="609685"/>
                    <a:pt x="620485" y="589555"/>
                    <a:pt x="624980" y="570452"/>
                  </a:cubicBezTo>
                  <a:cubicBezTo>
                    <a:pt x="627018" y="561792"/>
                    <a:pt x="654892" y="547604"/>
                    <a:pt x="658536" y="545285"/>
                  </a:cubicBezTo>
                  <a:cubicBezTo>
                    <a:pt x="667042" y="539872"/>
                    <a:pt x="674684" y="533016"/>
                    <a:pt x="683702" y="528507"/>
                  </a:cubicBezTo>
                  <a:cubicBezTo>
                    <a:pt x="693911" y="523402"/>
                    <a:pt x="713607" y="518933"/>
                    <a:pt x="725647" y="515923"/>
                  </a:cubicBezTo>
                  <a:cubicBezTo>
                    <a:pt x="741027" y="503340"/>
                    <a:pt x="770842" y="498022"/>
                    <a:pt x="771787" y="478173"/>
                  </a:cubicBezTo>
                  <a:cubicBezTo>
                    <a:pt x="777185" y="364795"/>
                    <a:pt x="772735" y="419303"/>
                    <a:pt x="784370" y="314587"/>
                  </a:cubicBezTo>
                  <a:cubicBezTo>
                    <a:pt x="782972" y="251670"/>
                    <a:pt x="783945" y="188655"/>
                    <a:pt x="780176" y="125835"/>
                  </a:cubicBezTo>
                  <a:cubicBezTo>
                    <a:pt x="779725" y="118319"/>
                    <a:pt x="778641" y="107979"/>
                    <a:pt x="771787" y="104863"/>
                  </a:cubicBezTo>
                  <a:cubicBezTo>
                    <a:pt x="760331" y="99656"/>
                    <a:pt x="738929" y="90881"/>
                    <a:pt x="708869" y="79696"/>
                  </a:cubicBezTo>
                  <a:close/>
                </a:path>
              </a:pathLst>
            </a:cu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8459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1EAA3-7B15-7C66-C9C5-62CF6CF9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Trust Region Policy Optimization </a:t>
            </a:r>
            <a:br>
              <a:rPr lang="en-US" dirty="0"/>
            </a:br>
            <a:r>
              <a:rPr lang="en-US" dirty="0"/>
              <a:t>(TRPO; Schulman et al, 2015)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34D68B-6971-F57D-C935-CC54CC4385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01384"/>
                <a:ext cx="10515600" cy="4475579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An actor critic method using a simplification of the natural policy gradient.</a:t>
                </a:r>
              </a:p>
              <a:p>
                <a:r>
                  <a:rPr lang="en-US" dirty="0"/>
                  <a:t>Surrogate objective. Instead of directly maximizing the value function, it uses the </a:t>
                </a:r>
                <a:r>
                  <a:rPr lang="en-US" b="1" dirty="0"/>
                  <a:t>probability ratio of choosing an action </a:t>
                </a:r>
                <a:r>
                  <a:rPr lang="en-US" dirty="0"/>
                  <a:t>before and after the update weighed by the advantage.</a:t>
                </a:r>
              </a:p>
              <a:p>
                <a:r>
                  <a:rPr lang="en-US" dirty="0"/>
                  <a:t>It prefers updates that increases the probability of picking high-advantage actions.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+∆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Under a constrain that explicitly bound of the policy change per update step.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,⋅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+∆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,⋅)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is a tune-able hyperparameter specifying the size of the safe “trust region.” </a:t>
                </a:r>
                <a:br>
                  <a:rPr lang="en-US" dirty="0"/>
                </a:br>
                <a:r>
                  <a:rPr lang="en-US" dirty="0"/>
                  <a:t>This prevents destructive large changes in the policy.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34D68B-6971-F57D-C935-CC54CC4385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01384"/>
                <a:ext cx="10515600" cy="4475579"/>
              </a:xfrm>
              <a:blipFill>
                <a:blip r:embed="rId2"/>
                <a:stretch>
                  <a:fillRect l="-522" t="-2316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40AAF6-B2BA-8AFC-A54A-3FBA103F9C85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40AAF6-B2BA-8AFC-A54A-3FBA103F9C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EF8D9568-F69C-1590-C412-5CE53C7B601D}"/>
              </a:ext>
            </a:extLst>
          </p:cNvPr>
          <p:cNvSpPr/>
          <p:nvPr/>
        </p:nvSpPr>
        <p:spPr>
          <a:xfrm>
            <a:off x="5304644" y="3110394"/>
            <a:ext cx="1442803" cy="771994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8B1DFC-13DA-CCD8-A38A-E0EC962F24BA}"/>
              </a:ext>
            </a:extLst>
          </p:cNvPr>
          <p:cNvCxnSpPr>
            <a:cxnSpLocks/>
          </p:cNvCxnSpPr>
          <p:nvPr/>
        </p:nvCxnSpPr>
        <p:spPr>
          <a:xfrm flipV="1">
            <a:off x="5919269" y="3882388"/>
            <a:ext cx="134911" cy="771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98659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77DA5-4B94-BB57-4818-1206425CE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Proximal Policy Optimization </a:t>
            </a:r>
            <a:br>
              <a:rPr lang="en-US" dirty="0"/>
            </a:br>
            <a:r>
              <a:rPr lang="en-US" dirty="0"/>
              <a:t>(PPO; Schulman et al, 2017)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8F139-D574-F62E-F035-2EED2FA96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11442"/>
                <a:ext cx="10515600" cy="4376706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popular and more practical variant of TRPO.</a:t>
                </a:r>
              </a:p>
              <a:p>
                <a:r>
                  <a:rPr lang="en-US" dirty="0"/>
                  <a:t>Also uses the probability ratio of choosing an action weighted by the advantage.</a:t>
                </a:r>
              </a:p>
              <a:p>
                <a:r>
                  <a:rPr lang="en-US" dirty="0"/>
                  <a:t>Replaces the expensive KL-divergence constraint with a clipped surrogate objective function that keeps the policy changes within a probability ratio of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,1+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]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min</m:t>
                                      </m:r>
                                    </m:e>
                                    <m:lim/>
                                  </m:limLow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+∆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p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nor/>
                                            </m:rPr>
                                            <a:rPr lang="en-US" b="0" i="0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clip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1±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𝜋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𝑤</m:t>
                                                  </m:r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+∆</m:t>
                                                  </m:r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𝑤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num>
                                            <m:den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𝜋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𝑤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den>
                                          </m:f>
                                        </m:e>
                                      </m:d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p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a tunable hyperparameter.</a:t>
                </a:r>
              </a:p>
              <a:p>
                <a:r>
                  <a:rPr lang="en-US" dirty="0"/>
                  <a:t>Typically achieves much of the stability of NPG methods like TRPO without the computational cost of calculating the KL divergence or the Fisher information matrix.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8F139-D574-F62E-F035-2EED2FA96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11442"/>
                <a:ext cx="10515600" cy="4376706"/>
              </a:xfrm>
              <a:blipFill>
                <a:blip r:embed="rId2"/>
                <a:stretch>
                  <a:fillRect l="-696" t="-2646" r="-116" b="-26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3A7FB0-2FDE-17B4-2C38-6EBDC8E28E26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3A7FB0-2FDE-17B4-2C38-6EBDC8E28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71A656B6-5739-3CBB-B674-E28A9A26A4AE}"/>
              </a:ext>
            </a:extLst>
          </p:cNvPr>
          <p:cNvSpPr/>
          <p:nvPr/>
        </p:nvSpPr>
        <p:spPr>
          <a:xfrm>
            <a:off x="6344529" y="3531491"/>
            <a:ext cx="3831101" cy="914400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1128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2D8BB-01C3-BB3D-FED4-F2BCC60AF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PPO Algorithm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556BD7-C007-4D5F-AFDE-EBF6ED9CF1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892203" y="1244410"/>
            <a:ext cx="8033556" cy="495228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4A03C53-5431-5BAA-3317-F6CB2F370BE6}"/>
              </a:ext>
            </a:extLst>
          </p:cNvPr>
          <p:cNvSpPr/>
          <p:nvPr/>
        </p:nvSpPr>
        <p:spPr>
          <a:xfrm>
            <a:off x="5308120" y="3270202"/>
            <a:ext cx="4087166" cy="914400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D009A71C-3902-E82F-BF4A-3B76BAE59313}"/>
              </a:ext>
            </a:extLst>
          </p:cNvPr>
          <p:cNvSpPr/>
          <p:nvPr/>
        </p:nvSpPr>
        <p:spPr>
          <a:xfrm>
            <a:off x="9590730" y="3856227"/>
            <a:ext cx="2281164" cy="1500732"/>
          </a:xfrm>
          <a:prstGeom prst="wedgeRoundRectCallout">
            <a:avLst>
              <a:gd name="adj1" fmla="val -72095"/>
              <a:gd name="adj2" fmla="val -40249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Clipping approximates the expensive </a:t>
            </a:r>
            <a:r>
              <a:rPr lang="en-US" b="1" dirty="0"/>
              <a:t>natural-gradient</a:t>
            </a:r>
            <a:r>
              <a:rPr lang="en-US" dirty="0"/>
              <a:t> computation.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9CF53A-7E2F-1986-235C-BC2DEF748E57}"/>
              </a:ext>
            </a:extLst>
          </p:cNvPr>
          <p:cNvSpPr txBox="1"/>
          <p:nvPr/>
        </p:nvSpPr>
        <p:spPr>
          <a:xfrm>
            <a:off x="838200" y="3486895"/>
            <a:ext cx="720518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Actor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BB683F-C418-59D6-1B3B-2E41AF0E3D7D}"/>
              </a:ext>
            </a:extLst>
          </p:cNvPr>
          <p:cNvSpPr txBox="1"/>
          <p:nvPr/>
        </p:nvSpPr>
        <p:spPr>
          <a:xfrm>
            <a:off x="838200" y="4965524"/>
            <a:ext cx="728084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Critic</a:t>
            </a:r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9FDF81BA-A707-0ABF-3105-AD2898694C9F}"/>
              </a:ext>
            </a:extLst>
          </p:cNvPr>
          <p:cNvSpPr/>
          <p:nvPr/>
        </p:nvSpPr>
        <p:spPr>
          <a:xfrm>
            <a:off x="9590730" y="2930502"/>
            <a:ext cx="2281164" cy="556393"/>
          </a:xfrm>
          <a:prstGeom prst="wedgeRoundRectCallout">
            <a:avLst>
              <a:gd name="adj1" fmla="val -66281"/>
              <a:gd name="adj2" fmla="val 30005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Advantage is more stable</a:t>
            </a:r>
          </a:p>
        </p:txBody>
      </p:sp>
    </p:spTree>
    <p:extLst>
      <p:ext uri="{BB962C8B-B14F-4D97-AF65-F5344CB8AC3E}">
        <p14:creationId xmlns:p14="http://schemas.microsoft.com/office/powerpoint/2010/main" val="5317834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4C0ED-7148-87F7-C67D-69873B796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 Actor-Critic (SAC)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C1BF17-CA04-DF95-E233-3342D8CBBB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Soft Actor-Critic (SAC)</a:t>
                </a:r>
                <a:r>
                  <a:rPr lang="en-US" dirty="0"/>
                  <a:t> is a popular method that is </a:t>
                </a:r>
                <a:r>
                  <a:rPr lang="en-US" b="1" dirty="0"/>
                  <a:t>off-policy </a:t>
                </a:r>
                <a:r>
                  <a:rPr lang="en-US" dirty="0"/>
                  <a:t>and for </a:t>
                </a:r>
                <a:r>
                  <a:rPr lang="en-US" b="1" dirty="0"/>
                  <a:t>continuous action space.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SAC uses a large set of enhancements that can also be used in other algorithms:</a:t>
                </a:r>
              </a:p>
              <a:p>
                <a:r>
                  <a:rPr lang="en-US" b="1" dirty="0"/>
                  <a:t>Maximum entropy objective: </a:t>
                </a:r>
                <a:r>
                  <a:rPr lang="en-US" dirty="0"/>
                  <a:t>Adds policy entropy regularization to encourage exploration: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J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  <m:sup/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d>
                              <m:d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ℋ</m:t>
                            </m:r>
                            <m:d>
                              <m:d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sub>
                                </m:sSub>
                                <m:r>
                                  <a:rPr lang="en-US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(⋅|</m:t>
                                </m:r>
                                <m:sSub>
                                  <m:sSubPr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nary>
                      </m:e>
                    </m:d>
                  </m:oMath>
                </a14:m>
                <a:br>
                  <a:rPr lang="en-US" b="1" dirty="0"/>
                </a:br>
                <a:br>
                  <a:rPr lang="en-US" b="1" dirty="0"/>
                </a:br>
                <a:r>
                  <a:rPr lang="en-US" dirty="0"/>
                  <a:t>The temperature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to balance exploration and exploitation is automatically tunes.</a:t>
                </a:r>
                <a:br>
                  <a:rPr lang="en-US" b="1" dirty="0"/>
                </a:br>
                <a:endParaRPr lang="en-US" b="1" dirty="0"/>
              </a:p>
              <a:p>
                <a:r>
                  <a:rPr lang="en-US" b="1" dirty="0"/>
                  <a:t>Reparameterization trick </a:t>
                </a:r>
                <a:r>
                  <a:rPr lang="en-US" dirty="0"/>
                  <a:t>for actor policy: Instead of using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~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it samples from</a:t>
                </a:r>
                <a:br>
                  <a:rPr lang="en-US" dirty="0"/>
                </a:br>
                <a:r>
                  <a:rPr lang="en-US" dirty="0"/>
                  <a:t> </a:t>
                </a: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a continuous action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is a learned ANN. This Gaussian actor is a popular choice since it has a closed-form solution for the entropy used in the objective and allows for backpropagation through actions.</a:t>
                </a:r>
                <a:endParaRPr lang="en-US" b="1" dirty="0"/>
              </a:p>
              <a:p>
                <a:r>
                  <a:rPr lang="en-US" b="1" dirty="0"/>
                  <a:t>Replay buffer: </a:t>
                </a:r>
                <a:r>
                  <a:rPr lang="en-US" dirty="0"/>
                  <a:t>Improve sample efficiency and updates can be done in batches on GPUs. Possible since it is off-policy.</a:t>
                </a:r>
                <a:endParaRPr lang="en-US" b="1" dirty="0"/>
              </a:p>
              <a:p>
                <a:r>
                  <a:rPr lang="en-US" b="1" dirty="0"/>
                  <a:t>Twin Q-networks</a:t>
                </a:r>
                <a:r>
                  <a:rPr lang="en-US" dirty="0"/>
                  <a:t>: The critic learns two Q-networks and used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min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to reduce the maximization bias.</a:t>
                </a:r>
                <a:endParaRPr lang="en-US" b="1" dirty="0"/>
              </a:p>
              <a:p>
                <a:r>
                  <a:rPr lang="en-US" b="1" dirty="0"/>
                  <a:t>Slow update </a:t>
                </a:r>
                <a:r>
                  <a:rPr lang="en-US" dirty="0"/>
                  <a:t>of target network: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target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𝜏𝜃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+(1−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>
                            <a:latin typeface="Cambria Math" panose="02040503050406030204" pitchFamily="18" charset="0"/>
                          </a:rPr>
                          <m:t>target</m:t>
                        </m:r>
                      </m:sub>
                    </m:sSub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C1BF17-CA04-DF95-E233-3342D8CBBB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 t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04F7241C-D38D-9CF0-F437-CCCA6A559D7F}"/>
                  </a:ext>
                </a:extLst>
              </p:cNvPr>
              <p:cNvSpPr/>
              <p:nvPr/>
            </p:nvSpPr>
            <p:spPr>
              <a:xfrm>
                <a:off x="8770034" y="2325858"/>
                <a:ext cx="2671689" cy="1041009"/>
              </a:xfrm>
              <a:prstGeom prst="wedgeRoundRectCallout">
                <a:avLst>
                  <a:gd name="adj1" fmla="val -94296"/>
                  <a:gd name="adj2" fmla="val -5336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ℋ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is the policy’s entropy</a:t>
                </a:r>
                <a:br>
                  <a:rPr lang="en-US" sz="1600" dirty="0"/>
                </a:br>
                <a:r>
                  <a:rPr lang="en-US" sz="1600" dirty="0"/>
                  <a:t>measuring how spread out the policy probability distribution is.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04F7241C-D38D-9CF0-F437-CCCA6A559D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0034" y="2325858"/>
                <a:ext cx="2671689" cy="1041009"/>
              </a:xfrm>
              <a:prstGeom prst="wedgeRoundRectCallout">
                <a:avLst>
                  <a:gd name="adj1" fmla="val -94296"/>
                  <a:gd name="adj2" fmla="val -5336"/>
                  <a:gd name="adj3" fmla="val 16667"/>
                </a:avLst>
              </a:prstGeom>
              <a:blipFill>
                <a:blip r:embed="rId3"/>
                <a:stretch>
                  <a:fillRect t="-2890" b="-7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64F8EA9E-1FF4-AFAA-AF91-AD1319379DDC}"/>
              </a:ext>
            </a:extLst>
          </p:cNvPr>
          <p:cNvSpPr/>
          <p:nvPr/>
        </p:nvSpPr>
        <p:spPr>
          <a:xfrm>
            <a:off x="9692641" y="5315304"/>
            <a:ext cx="2114842" cy="729809"/>
          </a:xfrm>
          <a:prstGeom prst="wedgeRoundRectCallout">
            <a:avLst>
              <a:gd name="adj1" fmla="val -46997"/>
              <a:gd name="adj2" fmla="val -6536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Idea from double Q-learning.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A6BD44F9-C2C6-F760-9E86-E768394F046D}"/>
              </a:ext>
            </a:extLst>
          </p:cNvPr>
          <p:cNvSpPr/>
          <p:nvPr/>
        </p:nvSpPr>
        <p:spPr>
          <a:xfrm>
            <a:off x="4269545" y="5812058"/>
            <a:ext cx="2114842" cy="729809"/>
          </a:xfrm>
          <a:prstGeom prst="wedgeRoundRectCallout">
            <a:avLst>
              <a:gd name="adj1" fmla="val -27484"/>
              <a:gd name="adj2" fmla="val -9299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Instead of copying the network every C timesteps.</a:t>
            </a:r>
          </a:p>
        </p:txBody>
      </p:sp>
    </p:spTree>
    <p:extLst>
      <p:ext uri="{BB962C8B-B14F-4D97-AF65-F5344CB8AC3E}">
        <p14:creationId xmlns:p14="http://schemas.microsoft.com/office/powerpoint/2010/main" val="10583687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5DDB1-C5AB-D832-FD4A-6E3C92F42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Popular DRL Methods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90D0D41-A7FC-5CB6-9898-6BB75B68FD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28409114"/>
              </p:ext>
            </p:extLst>
          </p:nvPr>
        </p:nvGraphicFramePr>
        <p:xfrm>
          <a:off x="838199" y="1214509"/>
          <a:ext cx="10515600" cy="4964276"/>
        </p:xfrm>
        <a:graphic>
          <a:graphicData uri="http://schemas.openxmlformats.org/drawingml/2006/table">
            <a:tbl>
              <a:tblPr firstRow="1" firstCol="1">
                <a:tableStyleId>{793D81CF-94F2-401A-BA57-92F5A7B2D0C5}</a:tableStyleId>
              </a:tblPr>
              <a:tblGrid>
                <a:gridCol w="1219056">
                  <a:extLst>
                    <a:ext uri="{9D8B030D-6E8A-4147-A177-3AD203B41FA5}">
                      <a16:colId xmlns:a16="http://schemas.microsoft.com/office/drawing/2014/main" val="3513620065"/>
                    </a:ext>
                  </a:extLst>
                </a:gridCol>
                <a:gridCol w="1339492">
                  <a:extLst>
                    <a:ext uri="{9D8B030D-6E8A-4147-A177-3AD203B41FA5}">
                      <a16:colId xmlns:a16="http://schemas.microsoft.com/office/drawing/2014/main" val="2480231683"/>
                    </a:ext>
                  </a:extLst>
                </a:gridCol>
                <a:gridCol w="1156193">
                  <a:extLst>
                    <a:ext uri="{9D8B030D-6E8A-4147-A177-3AD203B41FA5}">
                      <a16:colId xmlns:a16="http://schemas.microsoft.com/office/drawing/2014/main" val="1446849569"/>
                    </a:ext>
                  </a:extLst>
                </a:gridCol>
                <a:gridCol w="1170293">
                  <a:extLst>
                    <a:ext uri="{9D8B030D-6E8A-4147-A177-3AD203B41FA5}">
                      <a16:colId xmlns:a16="http://schemas.microsoft.com/office/drawing/2014/main" val="1702536543"/>
                    </a:ext>
                  </a:extLst>
                </a:gridCol>
                <a:gridCol w="2114988">
                  <a:extLst>
                    <a:ext uri="{9D8B030D-6E8A-4147-A177-3AD203B41FA5}">
                      <a16:colId xmlns:a16="http://schemas.microsoft.com/office/drawing/2014/main" val="3036474462"/>
                    </a:ext>
                  </a:extLst>
                </a:gridCol>
                <a:gridCol w="1615481">
                  <a:extLst>
                    <a:ext uri="{9D8B030D-6E8A-4147-A177-3AD203B41FA5}">
                      <a16:colId xmlns:a16="http://schemas.microsoft.com/office/drawing/2014/main" val="3834932698"/>
                    </a:ext>
                  </a:extLst>
                </a:gridCol>
                <a:gridCol w="1900097">
                  <a:extLst>
                    <a:ext uri="{9D8B030D-6E8A-4147-A177-3AD203B41FA5}">
                      <a16:colId xmlns:a16="http://schemas.microsoft.com/office/drawing/2014/main" val="1236287303"/>
                    </a:ext>
                  </a:extLst>
                </a:gridCol>
              </a:tblGrid>
              <a:tr h="1327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Method</a:t>
                      </a:r>
                    </a:p>
                  </a:txBody>
                  <a:tcPr marL="33194" marR="33194" marT="16597" marB="165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Type</a:t>
                      </a:r>
                    </a:p>
                  </a:txBody>
                  <a:tcPr marL="33194" marR="33194" marT="16597" marB="165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On/Off Policy</a:t>
                      </a:r>
                    </a:p>
                  </a:txBody>
                  <a:tcPr marL="33194" marR="33194" marT="16597" marB="165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Action Space</a:t>
                      </a:r>
                    </a:p>
                  </a:txBody>
                  <a:tcPr marL="33194" marR="33194" marT="16597" marB="165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Key Idea</a:t>
                      </a:r>
                    </a:p>
                  </a:txBody>
                  <a:tcPr marL="33194" marR="33194" marT="16597" marB="165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Strengths</a:t>
                      </a:r>
                    </a:p>
                  </a:txBody>
                  <a:tcPr marL="33194" marR="33194" marT="16597" marB="165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Weaknesses</a:t>
                      </a:r>
                    </a:p>
                  </a:txBody>
                  <a:tcPr marL="33194" marR="33194" marT="16597" marB="16597" anchor="ctr"/>
                </a:tc>
                <a:extLst>
                  <a:ext uri="{0D108BD9-81ED-4DB2-BD59-A6C34878D82A}">
                    <a16:rowId xmlns:a16="http://schemas.microsoft.com/office/drawing/2014/main" val="1203809670"/>
                  </a:ext>
                </a:extLst>
              </a:tr>
              <a:tr h="3319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DQN</a:t>
                      </a:r>
                      <a:endParaRPr lang="en-US" sz="1400" dirty="0"/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Value-based</a:t>
                      </a:r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Off-policy</a:t>
                      </a:r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Discrete</a:t>
                      </a:r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Learn Q(s,a) with neural net</a:t>
                      </a:r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Simple, foundational</a:t>
                      </a:r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Unstable, overestimation bias</a:t>
                      </a:r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6242849"/>
                  </a:ext>
                </a:extLst>
              </a:tr>
              <a:tr h="3319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Double DQN</a:t>
                      </a:r>
                      <a:endParaRPr lang="en-US" sz="1400"/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Value-based</a:t>
                      </a:r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Off-policy</a:t>
                      </a:r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Discrete</a:t>
                      </a:r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Reduces Q overestimation</a:t>
                      </a:r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More stable than DQN</a:t>
                      </a:r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Still limited to discrete</a:t>
                      </a:r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924584"/>
                  </a:ext>
                </a:extLst>
              </a:tr>
              <a:tr h="3319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Dueling DQN</a:t>
                      </a:r>
                      <a:endParaRPr lang="en-US" sz="1400" dirty="0"/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Value-based</a:t>
                      </a:r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Off-policy</a:t>
                      </a:r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Discrete</a:t>
                      </a:r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Separates value &amp; advantage</a:t>
                      </a:r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Better learning efficiency</a:t>
                      </a:r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More complex</a:t>
                      </a:r>
                    </a:p>
                  </a:txBody>
                  <a:tcPr marL="33194" marR="33194" marT="16597" marB="16597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4944602"/>
                  </a:ext>
                </a:extLst>
              </a:tr>
              <a:tr h="3319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REINFORCE</a:t>
                      </a:r>
                      <a:endParaRPr lang="en-US" sz="1400"/>
                    </a:p>
                  </a:txBody>
                  <a:tcPr marL="33194" marR="33194" marT="16597" marB="165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Policy gradient</a:t>
                      </a:r>
                    </a:p>
                  </a:txBody>
                  <a:tcPr marL="33194" marR="33194" marT="16597" marB="165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On-policy</a:t>
                      </a:r>
                    </a:p>
                  </a:txBody>
                  <a:tcPr marL="33194" marR="33194" marT="16597" marB="165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Both</a:t>
                      </a:r>
                    </a:p>
                  </a:txBody>
                  <a:tcPr marL="33194" marR="33194" marT="16597" marB="165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Monte Carlo policy gradient</a:t>
                      </a:r>
                    </a:p>
                  </a:txBody>
                  <a:tcPr marL="33194" marR="33194" marT="16597" marB="165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Conceptually simple</a:t>
                      </a:r>
                    </a:p>
                  </a:txBody>
                  <a:tcPr marL="33194" marR="33194" marT="16597" marB="165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High variance</a:t>
                      </a:r>
                    </a:p>
                  </a:txBody>
                  <a:tcPr marL="33194" marR="33194" marT="16597" marB="16597" anchor="ctr"/>
                </a:tc>
                <a:extLst>
                  <a:ext uri="{0D108BD9-81ED-4DB2-BD59-A6C34878D82A}">
                    <a16:rowId xmlns:a16="http://schemas.microsoft.com/office/drawing/2014/main" val="1960738578"/>
                  </a:ext>
                </a:extLst>
              </a:tr>
              <a:tr h="3319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TRPO</a:t>
                      </a:r>
                      <a:endParaRPr lang="en-US" sz="1400" dirty="0"/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Policy gradient / Actor-critic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On-policy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Both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Constrained updates (KL bound)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Stable updates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Complex, slow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3721371"/>
                  </a:ext>
                </a:extLst>
              </a:tr>
              <a:tr h="3319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PPO</a:t>
                      </a:r>
                      <a:r>
                        <a:rPr lang="en-US" sz="1400" dirty="0"/>
                        <a:t> ⭐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Actor-critic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On-policy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Both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Clipped objective for stability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Easy, robust, widely used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Less sample efficient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1896337"/>
                  </a:ext>
                </a:extLst>
              </a:tr>
              <a:tr h="3319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A2C</a:t>
                      </a:r>
                      <a:endParaRPr lang="en-US" sz="1400"/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Actor-critic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On-policy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Both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Advantage-based updates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Simpler than PPO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Less stable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719827"/>
                  </a:ext>
                </a:extLst>
              </a:tr>
              <a:tr h="232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A3C</a:t>
                      </a:r>
                      <a:endParaRPr lang="en-US" sz="1400"/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Actor-critic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On-policy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Both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Parallel workers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Faster training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Harder to implement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7392259"/>
                  </a:ext>
                </a:extLst>
              </a:tr>
              <a:tr h="3319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DDPG</a:t>
                      </a:r>
                      <a:endParaRPr lang="en-US" sz="1400"/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Actor-critic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Off-policy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Continuous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Deterministic policy + Q-learning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Works for continuous control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Unstable, sensitive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6609670"/>
                  </a:ext>
                </a:extLst>
              </a:tr>
              <a:tr h="3319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TD3</a:t>
                      </a:r>
                      <a:r>
                        <a:rPr lang="en-US" sz="1400"/>
                        <a:t> ⭐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Actor-critic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Off-policy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Continuous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Twin critics + delayed updates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More stable than DDPG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Still sensitive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529619"/>
                  </a:ext>
                </a:extLst>
              </a:tr>
              <a:tr h="3319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SAC</a:t>
                      </a:r>
                      <a:r>
                        <a:rPr lang="en-US" sz="1400"/>
                        <a:t> ⭐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Actor-critic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Off-policy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Continuous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Max entropy RL + twin critics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Very stable, sample efficient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More computation</a:t>
                      </a:r>
                    </a:p>
                  </a:txBody>
                  <a:tcPr marL="33194" marR="33194" marT="16597" marB="16597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18343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F15405-A2F4-915F-31AB-A41334653CB9}"/>
              </a:ext>
            </a:extLst>
          </p:cNvPr>
          <p:cNvSpPr txBox="1"/>
          <p:nvPr/>
        </p:nvSpPr>
        <p:spPr>
          <a:xfrm>
            <a:off x="767817" y="6269096"/>
            <a:ext cx="24639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⭐= most popular</a:t>
            </a:r>
          </a:p>
        </p:txBody>
      </p:sp>
    </p:spTree>
    <p:extLst>
      <p:ext uri="{BB962C8B-B14F-4D97-AF65-F5344CB8AC3E}">
        <p14:creationId xmlns:p14="http://schemas.microsoft.com/office/powerpoint/2010/main" val="38588936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CC296-95F9-268D-AD36-6457783AA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Used in DRL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B54EF6-63A5-29FF-447E-7EA86305CE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Policy Gradients </a:t>
                </a:r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(REINFORCE and all actor-critic methods)</a:t>
                </a:r>
              </a:p>
              <a:p>
                <a:r>
                  <a:rPr lang="en-US" b="1" dirty="0"/>
                  <a:t>Natural Policy Gradients </a:t>
                </a:r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(TRPO, PPO)</a:t>
                </a:r>
                <a:endParaRPr lang="en-US" b="1" dirty="0"/>
              </a:p>
              <a:p>
                <a:r>
                  <a:rPr lang="en-US" b="1" dirty="0"/>
                  <a:t>Actor–Critic Framework </a:t>
                </a:r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(</a:t>
                </a:r>
                <a:r>
                  <a:rPr lang="it-IT" dirty="0">
                    <a:solidFill>
                      <a:schemeClr val="bg2">
                        <a:lumMod val="50000"/>
                      </a:schemeClr>
                    </a:solidFill>
                  </a:rPr>
                  <a:t>A2C, PPO, SAC, TD3, DDPG</a:t>
                </a:r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  <a:p>
                <a:r>
                  <a:rPr lang="en-US" b="1" dirty="0"/>
                  <a:t>Stochastic policies </a:t>
                </a:r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(PPO, SAC)</a:t>
                </a:r>
              </a:p>
              <a:p>
                <a:r>
                  <a:rPr lang="en-US" b="1" dirty="0"/>
                  <a:t>Advantage </a:t>
                </a:r>
                <a:r>
                  <a:rPr lang="en-US" dirty="0"/>
                  <a:t>estimation to reduce variance </a:t>
                </a:r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(PPO, A2C, TRPO)</a:t>
                </a:r>
              </a:p>
              <a:p>
                <a:r>
                  <a:rPr lang="en-US" b="1" dirty="0"/>
                  <a:t>Target Networks</a:t>
                </a:r>
                <a:r>
                  <a:rPr lang="en-US" dirty="0"/>
                  <a:t> to stabilize training </a:t>
                </a:r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(DQN, DDPG, TD3, SAC)</a:t>
                </a:r>
              </a:p>
              <a:p>
                <a:r>
                  <a:rPr lang="en-US" b="1" dirty="0"/>
                  <a:t>Experience Replay </a:t>
                </a:r>
                <a:r>
                  <a:rPr lang="en-US" dirty="0"/>
                  <a:t>for off-policy methods to improve sample efficiency and use hardware efficiently </a:t>
                </a:r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(DQN, DDPG, TD3, SAC)</a:t>
                </a:r>
              </a:p>
              <a:p>
                <a:r>
                  <a:rPr lang="en-US" b="1" dirty="0"/>
                  <a:t>Entropy Regularization</a:t>
                </a:r>
                <a:r>
                  <a:rPr lang="en-US" dirty="0"/>
                  <a:t> to prevent premature convergence of policy </a:t>
                </a:r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(SAC and sometimes in PPO)</a:t>
                </a:r>
              </a:p>
              <a:p>
                <a:r>
                  <a:rPr lang="en-US" dirty="0"/>
                  <a:t>New approaches use </a:t>
                </a:r>
                <a:r>
                  <a:rPr lang="en-US" b="1" dirty="0"/>
                  <a:t>model learning</a:t>
                </a:r>
                <a:r>
                  <a:rPr lang="en-US" dirty="0"/>
                  <a:t> to learn environment dynamics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) </a:t>
                </a:r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(Dreamer, </a:t>
                </a:r>
                <a:r>
                  <a:rPr lang="en-US" dirty="0" err="1">
                    <a:solidFill>
                      <a:schemeClr val="bg2">
                        <a:lumMod val="50000"/>
                      </a:schemeClr>
                    </a:solidFill>
                  </a:rPr>
                  <a:t>MuZero</a:t>
                </a:r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B54EF6-63A5-29FF-447E-7EA86305CE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5806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91581C-5E33-FC9B-4089-A0868CD27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82" b="-1"/>
          <a:stretch>
            <a:fillRect/>
          </a:stretch>
        </p:blipFill>
        <p:spPr bwMode="auto">
          <a:xfrm>
            <a:off x="6653875" y="15501"/>
            <a:ext cx="6965723" cy="563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A8B475-685F-94B8-3649-09843460B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843" y="241099"/>
            <a:ext cx="5272038" cy="1097418"/>
          </a:xfrm>
        </p:spPr>
        <p:txBody>
          <a:bodyPr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105FA9-2229-5639-DC01-FDD06BE285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42" y="1207898"/>
            <a:ext cx="7390263" cy="5261317"/>
          </a:xfrm>
        </p:spPr>
        <p:txBody>
          <a:bodyPr>
            <a:normAutofit fontScale="85000" lnSpcReduction="20000"/>
          </a:bodyPr>
          <a:lstStyle/>
          <a:p>
            <a:r>
              <a:rPr lang="en-US" sz="2000" dirty="0"/>
              <a:t>DRL uses neural networks for non-linear value function or policy approximation, resulting in:</a:t>
            </a:r>
          </a:p>
          <a:p>
            <a:pPr lvl="1"/>
            <a:r>
              <a:rPr lang="en-US" sz="1600" dirty="0"/>
              <a:t>more powerful for high-dimensional and continuous state and action spaces, and </a:t>
            </a:r>
          </a:p>
          <a:p>
            <a:pPr lvl="1"/>
            <a:r>
              <a:rPr lang="en-US" sz="1600" dirty="0"/>
              <a:t>does not need explicit state feature engineering.</a:t>
            </a:r>
          </a:p>
          <a:p>
            <a:pPr lvl="1"/>
            <a:r>
              <a:rPr lang="en-US" sz="1600" dirty="0"/>
              <a:t>However, most convergence guarantees are gone (for semi-gradient methods, for linear approximation, </a:t>
            </a:r>
            <a:r>
              <a:rPr lang="en-US" sz="1600" dirty="0" err="1"/>
              <a:t>etc</a:t>
            </a:r>
            <a:r>
              <a:rPr lang="en-US" sz="1600" dirty="0"/>
              <a:t>).</a:t>
            </a:r>
            <a:endParaRPr lang="en-US" sz="2000" dirty="0"/>
          </a:p>
          <a:p>
            <a:r>
              <a:rPr lang="en-US" sz="2000" dirty="0"/>
              <a:t>Instability from the “Deadly Triad” (e.g., in DQN)</a:t>
            </a:r>
          </a:p>
          <a:p>
            <a:pPr lvl="1"/>
            <a:r>
              <a:rPr lang="en-US" sz="1600" dirty="0"/>
              <a:t>Function approximation </a:t>
            </a:r>
          </a:p>
          <a:p>
            <a:pPr lvl="1"/>
            <a:r>
              <a:rPr lang="en-US" sz="1600" dirty="0"/>
              <a:t>Bootstrapping (moving targets using current estimates)</a:t>
            </a:r>
          </a:p>
          <a:p>
            <a:pPr lvl="1"/>
            <a:r>
              <a:rPr lang="en-US" sz="1600" dirty="0"/>
              <a:t>Off-policy learning (learning from data generated by a different policy)</a:t>
            </a:r>
          </a:p>
          <a:p>
            <a:r>
              <a:rPr lang="en-US" sz="2000" dirty="0"/>
              <a:t>Lead to</a:t>
            </a:r>
          </a:p>
          <a:p>
            <a:pPr lvl="1"/>
            <a:r>
              <a:rPr lang="en-US" sz="1600" dirty="0"/>
              <a:t>Non-linear approximation means that small errors can get amplified through bootstrapping</a:t>
            </a:r>
          </a:p>
          <a:p>
            <a:pPr lvl="1"/>
            <a:r>
              <a:rPr lang="en-US" sz="1600" dirty="0"/>
              <a:t>The network chases a moving target.</a:t>
            </a:r>
          </a:p>
          <a:p>
            <a:pPr lvl="1"/>
            <a:r>
              <a:rPr lang="en-US" sz="1600" dirty="0"/>
              <a:t>Training can diverge or oscillate wildly.</a:t>
            </a:r>
          </a:p>
          <a:p>
            <a:pPr lvl="1"/>
            <a:endParaRPr lang="en-US" sz="1600" dirty="0"/>
          </a:p>
          <a:p>
            <a:r>
              <a:rPr lang="en-US" sz="2000" dirty="0"/>
              <a:t>Many tricks are needed</a:t>
            </a:r>
          </a:p>
          <a:p>
            <a:pPr lvl="1"/>
            <a:r>
              <a:rPr lang="en-US" sz="1600" dirty="0"/>
              <a:t>Experience replay → decorrelate data, improve sample efficiency, requires off-policy learning</a:t>
            </a:r>
          </a:p>
          <a:p>
            <a:pPr lvl="1"/>
            <a:r>
              <a:rPr lang="en-US" sz="1600" dirty="0"/>
              <a:t>DQN uses slower-moving target networks → reduce instability due to moving targets</a:t>
            </a:r>
          </a:p>
          <a:p>
            <a:pPr lvl="1"/>
            <a:r>
              <a:rPr lang="en-US" sz="1600" dirty="0"/>
              <a:t>Double DQN → decouple next action selection and q-value estimation to reduce overestimation bias</a:t>
            </a:r>
          </a:p>
          <a:p>
            <a:pPr lvl="1"/>
            <a:r>
              <a:rPr lang="en-US" sz="1600" dirty="0"/>
              <a:t>Advantage normalization → reduce variance</a:t>
            </a:r>
          </a:p>
          <a:p>
            <a:pPr lvl="1"/>
            <a:r>
              <a:rPr lang="en-US" sz="1600" dirty="0"/>
              <a:t>Natural policy gradients → improve stability</a:t>
            </a:r>
          </a:p>
        </p:txBody>
      </p:sp>
    </p:spTree>
    <p:extLst>
      <p:ext uri="{BB962C8B-B14F-4D97-AF65-F5344CB8AC3E}">
        <p14:creationId xmlns:p14="http://schemas.microsoft.com/office/powerpoint/2010/main" val="3790620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28724</TotalTime>
  <Words>4502</Words>
  <Application>Microsoft Office PowerPoint</Application>
  <PresentationFormat>Widescreen</PresentationFormat>
  <Paragraphs>618</Paragraphs>
  <Slides>36</Slides>
  <Notes>1</Notes>
  <HiddenSlides>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Deep Reinforcement Learning Based on An Introduction to Deep Reinforcement Learning**  + Sutton/Barto* Sections 9.7 and 15.7</vt:lpstr>
      <vt:lpstr>Topics of this Course</vt:lpstr>
      <vt:lpstr>Summary of Notation*</vt:lpstr>
      <vt:lpstr>From Tabular RL to Deep RL</vt:lpstr>
      <vt:lpstr>Disclaimer: Convergence</vt:lpstr>
      <vt:lpstr>Value-based DRL Methods</vt:lpstr>
      <vt:lpstr>Remember: Value Functions</vt:lpstr>
      <vt:lpstr>Remember: Tabular Q-Learning</vt:lpstr>
      <vt:lpstr>Alg. Tabular Q-Learning</vt:lpstr>
      <vt:lpstr>Fitted Q-Learning</vt:lpstr>
      <vt:lpstr>Reminder: Artificial Neural Networks</vt:lpstr>
      <vt:lpstr>Neural fitted Q-learning (NFQ; Riedmiller, 2005)</vt:lpstr>
      <vt:lpstr>Deep Q-Network (DQN; Minh et al, 2015)</vt:lpstr>
      <vt:lpstr>DQN is Not a Truly   Online Algorithm</vt:lpstr>
      <vt:lpstr>Double DQN (DDQN; Van Hasselt, 2016) </vt:lpstr>
      <vt:lpstr>Advantage Function</vt:lpstr>
      <vt:lpstr>Dueling Network Architecture (Wang, 2015)</vt:lpstr>
      <vt:lpstr>n-step Methods in DQN-type Algorithms</vt:lpstr>
      <vt:lpstr>Policy Gradient DRL Methods</vt:lpstr>
      <vt:lpstr>Remember: Policy Gradient Theorem</vt:lpstr>
      <vt:lpstr>Policy Network</vt:lpstr>
      <vt:lpstr>REINFORCE With Policy Network</vt:lpstr>
      <vt:lpstr>Stochastic Policy Gradient</vt:lpstr>
      <vt:lpstr>Policy Gradient</vt:lpstr>
      <vt:lpstr>Remember: The Policy Gradient Update Signal</vt:lpstr>
      <vt:lpstr>Neural Actor-Critic Method</vt:lpstr>
      <vt:lpstr>Neural Actor-Critic Method: One-Step Algorithm</vt:lpstr>
      <vt:lpstr>Advantage Actor Critic: A2C</vt:lpstr>
      <vt:lpstr>Natural Policy Gradients (NPG)</vt:lpstr>
      <vt:lpstr>Trust Region Policy Optimization  (TRPO; Schulman et al, 2015)</vt:lpstr>
      <vt:lpstr>Proximal Policy Optimization  (PPO; Schulman et al, 2017)</vt:lpstr>
      <vt:lpstr>PPO Algorithm</vt:lpstr>
      <vt:lpstr>Soft Actor-Critic (SAC)</vt:lpstr>
      <vt:lpstr>Comparison of Popular DRL Methods</vt:lpstr>
      <vt:lpstr>Method Used in DRL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318</cp:revision>
  <dcterms:created xsi:type="dcterms:W3CDTF">2025-09-08T14:44:49Z</dcterms:created>
  <dcterms:modified xsi:type="dcterms:W3CDTF">2026-07-06T14:44:26Z</dcterms:modified>
</cp:coreProperties>
</file>