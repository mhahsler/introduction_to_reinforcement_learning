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384" r:id="rId3"/>
    <p:sldId id="423" r:id="rId4"/>
    <p:sldId id="396" r:id="rId5"/>
    <p:sldId id="410" r:id="rId6"/>
    <p:sldId id="411" r:id="rId7"/>
    <p:sldId id="392" r:id="rId8"/>
    <p:sldId id="397" r:id="rId9"/>
    <p:sldId id="399" r:id="rId10"/>
    <p:sldId id="400" r:id="rId11"/>
    <p:sldId id="395" r:id="rId12"/>
    <p:sldId id="401" r:id="rId13"/>
    <p:sldId id="402" r:id="rId14"/>
    <p:sldId id="403" r:id="rId15"/>
    <p:sldId id="406" r:id="rId16"/>
    <p:sldId id="404" r:id="rId17"/>
    <p:sldId id="405" r:id="rId18"/>
    <p:sldId id="413" r:id="rId19"/>
    <p:sldId id="398" r:id="rId20"/>
    <p:sldId id="408" r:id="rId21"/>
    <p:sldId id="416" r:id="rId22"/>
    <p:sldId id="417" r:id="rId23"/>
    <p:sldId id="419" r:id="rId24"/>
    <p:sldId id="418" r:id="rId25"/>
    <p:sldId id="409" r:id="rId26"/>
    <p:sldId id="421" r:id="rId27"/>
    <p:sldId id="42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423"/>
            <p14:sldId id="396"/>
            <p14:sldId id="410"/>
            <p14:sldId id="411"/>
            <p14:sldId id="392"/>
            <p14:sldId id="397"/>
            <p14:sldId id="399"/>
            <p14:sldId id="400"/>
            <p14:sldId id="395"/>
            <p14:sldId id="401"/>
            <p14:sldId id="402"/>
            <p14:sldId id="403"/>
            <p14:sldId id="406"/>
            <p14:sldId id="404"/>
            <p14:sldId id="405"/>
            <p14:sldId id="413"/>
            <p14:sldId id="398"/>
            <p14:sldId id="408"/>
            <p14:sldId id="416"/>
            <p14:sldId id="417"/>
            <p14:sldId id="419"/>
            <p14:sldId id="418"/>
            <p14:sldId id="409"/>
            <p14:sldId id="421"/>
            <p14:sldId id="4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.png"/><Relationship Id="rId7" Type="http://schemas.openxmlformats.org/officeDocument/2006/relationships/image" Target="../media/image730.png"/><Relationship Id="rId12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9" Type="http://schemas.openxmlformats.org/officeDocument/2006/relationships/image" Target="../media/image75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9" Type="http://schemas.openxmlformats.org/officeDocument/2006/relationships/image" Target="../media/image7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28" Type="http://schemas.openxmlformats.org/officeDocument/2006/relationships/image" Target="../media/image111.png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129" Type="http://schemas.openxmlformats.org/officeDocument/2006/relationships/image" Target="../media/image112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30" Type="http://schemas.openxmlformats.org/officeDocument/2006/relationships/image" Target="../media/image113.png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1" Type="http://schemas.openxmlformats.org/officeDocument/2006/relationships/image" Target="../media/image114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image" Target="../media/image109.png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32" Type="http://schemas.openxmlformats.org/officeDocument/2006/relationships/image" Target="../media/image115.png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134" Type="http://schemas.openxmlformats.org/officeDocument/2006/relationships/customXml" Target="../ink/ink66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8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,⋅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706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function: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502761" y="1996939"/>
            <a:ext cx="4265740" cy="1281953"/>
            <a:chOff x="5502761" y="1996939"/>
            <a:chExt cx="4265740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r>
                  <a:rPr lang="en-US" dirty="0"/>
                  <a:t>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EB53D72-51ED-3FB1-D96B-74AEA509BC35}"/>
              </a:ext>
            </a:extLst>
          </p:cNvPr>
          <p:cNvGrpSpPr/>
          <p:nvPr/>
        </p:nvGrpSpPr>
        <p:grpSpPr>
          <a:xfrm>
            <a:off x="4867198" y="3993263"/>
            <a:ext cx="2573061" cy="1281953"/>
            <a:chOff x="6563375" y="1996939"/>
            <a:chExt cx="2573061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09786C0-FC4E-04F5-3745-76B32BA9B169}"/>
                </a:ext>
              </a:extLst>
            </p:cNvPr>
            <p:cNvSpPr txBox="1"/>
            <p:nvPr/>
          </p:nvSpPr>
          <p:spPr>
            <a:xfrm>
              <a:off x="6563375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523E02D-B939-CE35-E9AC-F64CFB8ED473}"/>
                </a:ext>
              </a:extLst>
            </p:cNvPr>
            <p:cNvSpPr txBox="1"/>
            <p:nvPr/>
          </p:nvSpPr>
          <p:spPr>
            <a:xfrm>
              <a:off x="7872307" y="200842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A0B89F-AB17-5436-E6B6-028BBC96A9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6063" y="2366271"/>
              <a:ext cx="1480373" cy="184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4E1B85C-4859-1E72-8E84-F5446A936048}"/>
                </a:ext>
              </a:extLst>
            </p:cNvPr>
            <p:cNvCxnSpPr>
              <a:cxnSpLocks/>
            </p:cNvCxnSpPr>
            <p:nvPr/>
          </p:nvCxnSpPr>
          <p:spPr>
            <a:xfrm>
              <a:off x="6815031" y="2909560"/>
              <a:ext cx="2321405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6DE33C-F5F8-9097-E180-0D1C59A40761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well.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experience replay 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the sample as the training set. </a:t>
                </a:r>
              </a:p>
              <a:p>
                <a:pPr lvl="1"/>
                <a:r>
                  <a:rPr lang="en-US" dirty="0"/>
                  <a:t>The regression target Q-values are estimated from the tuples using the Bellman equation: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approximation).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296" r="-1534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520019"/>
            <a:ext cx="4433206" cy="2070960"/>
            <a:chOff x="7689090" y="3229376"/>
            <a:chExt cx="4433206" cy="20709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229376"/>
              <a:ext cx="4433206" cy="2070960"/>
              <a:chOff x="1129787" y="3243929"/>
              <a:chExt cx="4433206" cy="2070960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77518" y="3243929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only set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with a new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extracted from the prediction network.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15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32402" cy="1484614"/>
          </a:xfrm>
        </p:spPr>
        <p:txBody>
          <a:bodyPr>
            <a:normAutofit/>
          </a:bodyPr>
          <a:lstStyle/>
          <a:p>
            <a:r>
              <a:rPr lang="en-US" dirty="0"/>
              <a:t>DQN in </a:t>
            </a:r>
            <a:br>
              <a:rPr lang="en-US" dirty="0"/>
            </a:br>
            <a:r>
              <a:rPr lang="en-US" dirty="0"/>
              <a:t>Online Settings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Dueling Networks 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b="1" dirty="0"/>
                  <a:t>Traces</a:t>
                </a:r>
                <a:r>
                  <a:rPr lang="en-US" dirty="0"/>
                  <a:t> 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812" t="-5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2077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gradient of the  with respect to the policy parameters: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theorem also provides a </a:t>
                </a:r>
                <a:r>
                  <a:rPr lang="en-US" b="1" dirty="0"/>
                  <a:t>strong convergence guarantee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207733"/>
              </a:xfrm>
              <a:blipFill>
                <a:blip r:embed="rId2"/>
                <a:stretch>
                  <a:fillRect l="-696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3266712" y="4174126"/>
                <a:ext cx="2380231" cy="677074"/>
              </a:xfrm>
              <a:prstGeom prst="wedgeRoundRectCallout">
                <a:avLst>
                  <a:gd name="adj1" fmla="val 47007"/>
                  <a:gd name="adj2" fmla="val -1350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712" y="4174126"/>
                <a:ext cx="2380231" cy="677074"/>
              </a:xfrm>
              <a:prstGeom prst="wedgeRoundRectCallout">
                <a:avLst>
                  <a:gd name="adj1" fmla="val 47007"/>
                  <a:gd name="adj2" fmla="val -135015"/>
                  <a:gd name="adj3" fmla="val 16667"/>
                </a:avLst>
              </a:prstGeom>
              <a:blipFill>
                <a:blip r:embed="rId3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284859" y="4174126"/>
            <a:ext cx="2275529" cy="677074"/>
          </a:xfrm>
          <a:prstGeom prst="wedgeRoundRectCallout">
            <a:avLst>
              <a:gd name="adj1" fmla="val -59926"/>
              <a:gd name="adj2" fmla="val -13032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Derived from the def. of the policy.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844A3E-07DE-7E32-BBD9-C2EA15BF5B63}"/>
                  </a:ext>
                </a:extLst>
              </p:cNvPr>
              <p:cNvSpPr txBox="1"/>
              <p:nvPr/>
            </p:nvSpPr>
            <p:spPr>
              <a:xfrm>
                <a:off x="2840922" y="5618339"/>
                <a:ext cx="6097162" cy="87453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800" dirty="0"/>
                  <a:t>Policy: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844A3E-07DE-7E32-BBD9-C2EA15BF5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922" y="5618339"/>
                <a:ext cx="6097162" cy="874535"/>
              </a:xfrm>
              <a:prstGeom prst="rect">
                <a:avLst/>
              </a:prstGeom>
              <a:blipFill>
                <a:blip r:embed="rId4"/>
                <a:stretch>
                  <a:fillRect l="-698" b="-75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CBD3B62-118E-3C2C-74E7-15BD5B192BE0}"/>
              </a:ext>
            </a:extLst>
          </p:cNvPr>
          <p:cNvSpPr/>
          <p:nvPr/>
        </p:nvSpPr>
        <p:spPr>
          <a:xfrm>
            <a:off x="5751645" y="4181102"/>
            <a:ext cx="2380231" cy="677074"/>
          </a:xfrm>
          <a:prstGeom prst="wedgeRoundRectCallout">
            <a:avLst>
              <a:gd name="adj1" fmla="val -7539"/>
              <a:gd name="adj2" fmla="val -13295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Depends on estimates for 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6F9749-9FAA-85C7-2F9A-724B03520475}"/>
                  </a:ext>
                </a:extLst>
              </p:cNvPr>
              <p:cNvSpPr txBox="1"/>
              <p:nvPr/>
            </p:nvSpPr>
            <p:spPr>
              <a:xfrm>
                <a:off x="9297466" y="180460"/>
                <a:ext cx="2525844" cy="369332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 called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6F9749-9FAA-85C7-2F9A-724B03520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7466" y="180460"/>
                <a:ext cx="2525844" cy="369332"/>
              </a:xfrm>
              <a:prstGeom prst="rect">
                <a:avLst/>
              </a:prstGeom>
              <a:blipFill>
                <a:blip r:embed="rId5"/>
                <a:stretch>
                  <a:fillRect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717259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3" y="9630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093593" y="19217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28055" y="14965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19740" y="43596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5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19740" y="49273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71962" y="5194574"/>
            <a:ext cx="456079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= REINFORCE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19740" y="46761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/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Possible improvements:</a:t>
                </a:r>
              </a:p>
              <a:p>
                <a:pPr lvl="1"/>
                <a:r>
                  <a:rPr lang="en-US" dirty="0"/>
                  <a:t>Sample efficiency: Use a replay memory with a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Stability and faster reward propagation: Multi-step methods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blipFill>
                <a:blip r:embed="rId6"/>
                <a:stretch>
                  <a:fillRect l="-522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policy gradient methods update policy parameters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given a small change of the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is achieved by an update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maximizes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under a constraint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lead to very different magnitudes of change in the actual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 resulting in instability.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gradients define the steepest direction by the largest change in the value function given a small change in the probability distribution of the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requires redefining the constraint 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Kullback-Leibler (KL) divergence measures the difference between two policies’ action probability distributions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 local approximation, the Fisher information criterion, can be used to adjust the gradient for policy changes: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the Fisher information matrix that depends </a:t>
                </a:r>
              </a:p>
              <a:p>
                <a:endParaRPr lang="en-US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of deep learning models is too expensive.</a:t>
                </a:r>
              </a:p>
              <a:p>
                <a:r>
                  <a:rPr lang="en-US" dirty="0"/>
                  <a:t>The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FBB98C1-1C6F-87FC-0CF6-410828C15AFC}"/>
              </a:ext>
            </a:extLst>
          </p:cNvPr>
          <p:cNvGrpSpPr/>
          <p:nvPr/>
        </p:nvGrpSpPr>
        <p:grpSpPr>
          <a:xfrm>
            <a:off x="8716934" y="2920824"/>
            <a:ext cx="1438629" cy="1711512"/>
            <a:chOff x="9038021" y="2807784"/>
            <a:chExt cx="1438629" cy="171151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454285D-11EA-BE99-C12A-B03E051F8657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1DC939C-BEC6-ACED-00A6-C5715A09D765}"/>
                </a:ext>
              </a:extLst>
            </p:cNvPr>
            <p:cNvSpPr/>
            <p:nvPr/>
          </p:nvSpPr>
          <p:spPr>
            <a:xfrm>
              <a:off x="9436608" y="3265704"/>
              <a:ext cx="740664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204D81E-57B9-B0B5-14EF-70E20257DFF5}"/>
                </a:ext>
              </a:extLst>
            </p:cNvPr>
            <p:cNvSpPr/>
            <p:nvPr/>
          </p:nvSpPr>
          <p:spPr>
            <a:xfrm>
              <a:off x="9436609" y="3645768"/>
              <a:ext cx="24856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053C157-BAEE-51DF-D85E-71D20EFD5AB0}"/>
                </a:ext>
              </a:extLst>
            </p:cNvPr>
            <p:cNvSpPr/>
            <p:nvPr/>
          </p:nvSpPr>
          <p:spPr>
            <a:xfrm>
              <a:off x="9436608" y="4047336"/>
              <a:ext cx="14709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CDA295-B3E7-70A3-238B-646756057E79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2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E0739C0-9F74-FB17-5C04-B05A2535BFD6}"/>
              </a:ext>
            </a:extLst>
          </p:cNvPr>
          <p:cNvGrpSpPr/>
          <p:nvPr/>
        </p:nvGrpSpPr>
        <p:grpSpPr>
          <a:xfrm>
            <a:off x="9877200" y="2920824"/>
            <a:ext cx="1438629" cy="1711512"/>
            <a:chOff x="9038021" y="2807784"/>
            <a:chExt cx="1438629" cy="1711512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BE8DBB2-7435-444A-D978-81D8B6FB8AA9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463EE25-05E8-59F6-C300-02ECB9F3AE8B}"/>
                </a:ext>
              </a:extLst>
            </p:cNvPr>
            <p:cNvSpPr/>
            <p:nvPr/>
          </p:nvSpPr>
          <p:spPr>
            <a:xfrm>
              <a:off x="9436608" y="3265704"/>
              <a:ext cx="543450" cy="2656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17451E0-73FB-D6C4-0A6F-F671BE0976B2}"/>
                </a:ext>
              </a:extLst>
            </p:cNvPr>
            <p:cNvSpPr/>
            <p:nvPr/>
          </p:nvSpPr>
          <p:spPr>
            <a:xfrm>
              <a:off x="9436609" y="3645768"/>
              <a:ext cx="173501" cy="2690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B3B065D-7755-5373-54DD-2E79C3940C4D}"/>
                </a:ext>
              </a:extLst>
            </p:cNvPr>
            <p:cNvSpPr/>
            <p:nvPr/>
          </p:nvSpPr>
          <p:spPr>
            <a:xfrm>
              <a:off x="9436607" y="4047336"/>
              <a:ext cx="341025" cy="2302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2CBCFCDE-ADB0-2624-0C80-3CEE5EEB4ED4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32"/>
                  <a:stretch>
                    <a:fillRect r="-17969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5" name="Right Brace 134">
            <a:extLst>
              <a:ext uri="{FF2B5EF4-FFF2-40B4-BE49-F238E27FC236}">
                <a16:creationId xmlns:a16="http://schemas.microsoft.com/office/drawing/2014/main" id="{98EBACBC-FCB3-49C4-7E81-8E0A8FDF2DDA}"/>
              </a:ext>
            </a:extLst>
          </p:cNvPr>
          <p:cNvSpPr/>
          <p:nvPr/>
        </p:nvSpPr>
        <p:spPr>
          <a:xfrm rot="5400000">
            <a:off x="10088066" y="3976945"/>
            <a:ext cx="422298" cy="228251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/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blipFill>
                <a:blip r:embed="rId13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Simplification of NPG.</a:t>
                </a:r>
              </a:p>
              <a:p>
                <a:r>
                  <a:rPr lang="en-US" dirty="0"/>
                  <a:t>Finds the update that improves the advantage function the most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constrained by an explicitly bound the policy change per update step.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tuneable</a:t>
                </a:r>
                <a:r>
                  <a:rPr lang="en-US" dirty="0"/>
                  <a:t> hyperparameter specifying the size of the “trust region.”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8B395D-DF70-033F-FC57-39BDD3809C81}"/>
              </a:ext>
            </a:extLst>
          </p:cNvPr>
          <p:cNvSpPr/>
          <p:nvPr/>
        </p:nvSpPr>
        <p:spPr>
          <a:xfrm>
            <a:off x="9632611" y="2352312"/>
            <a:ext cx="1668256" cy="1661276"/>
          </a:xfrm>
          <a:prstGeom prst="wedgeRoundRectCallout">
            <a:avLst>
              <a:gd name="adj1" fmla="val -82026"/>
              <a:gd name="adj2" fmla="val -44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Prefer new policies that pick high-advantage actions.</a:t>
            </a:r>
          </a:p>
        </p:txBody>
      </p:sp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Instead of KL-divergence, it uses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</a:t>
                </a:r>
              </a:p>
              <a:p>
                <a:r>
                  <a:rPr lang="en-US" dirty="0"/>
                  <a:t>Achieves much of the stability of NPG methods with the computational efficiency of first-order optimization.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72CCA8-24B4-A713-CE09-3CBF9BAB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A24F1-5277-CDA8-B957-92FFE355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487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89A-90D3-B6F7-65DB-547701E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 in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74287-6A85-1532-501D-5E35BC91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en-US" dirty="0"/>
              <a:t>Perform well in an environment after limited data is gathered </a:t>
            </a:r>
            <a:br>
              <a:rPr lang="en-US" dirty="0"/>
            </a:br>
            <a:r>
              <a:rPr lang="en-US" dirty="0"/>
              <a:t>(= sample efficiency)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Perform well in a new, but related environment </a:t>
            </a:r>
            <a:br>
              <a:rPr lang="en-US" dirty="0"/>
            </a:br>
            <a:r>
              <a:rPr lang="en-US" dirty="0"/>
              <a:t>(~ transfer learning)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231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25429</TotalTime>
  <Words>2667</Words>
  <Application>Microsoft Office PowerPoint</Application>
  <PresentationFormat>Widescreen</PresentationFormat>
  <Paragraphs>374</Paragraphs>
  <Slides>27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Summary of Notation</vt:lpstr>
      <vt:lpstr>From Tabular RL to Deep RL</vt:lpstr>
      <vt:lpstr>Value-based DRL Methods</vt:lpstr>
      <vt:lpstr>Remember: Value Functions</vt:lpstr>
      <vt:lpstr>New: Advantage Function</vt:lpstr>
      <vt:lpstr>Remember: Tabular Q-Learning</vt:lpstr>
      <vt:lpstr>Alg. Tabular Q-Learning</vt:lpstr>
      <vt:lpstr>Fitted Q-Learning</vt:lpstr>
      <vt:lpstr>Neural fitted Q-learning (NFQ; Riedmiller, 2005)</vt:lpstr>
      <vt:lpstr>Deep Q-Network (DQN; Minh et al, 2015)</vt:lpstr>
      <vt:lpstr>DQN in  Online Settings</vt:lpstr>
      <vt:lpstr>Double DQN (DDQN; Van Hasselt, 2016) </vt:lpstr>
      <vt:lpstr>Dueling Network Architecture (Wang, 2015)</vt:lpstr>
      <vt:lpstr>n-step Methods</vt:lpstr>
      <vt:lpstr>Policy Gradient DRL Methods</vt:lpstr>
      <vt:lpstr>Stochastic Policy Gradient</vt:lpstr>
      <vt:lpstr>Remember: Policy Gradient Theorem</vt:lpstr>
      <vt:lpstr>Policy Gradient</vt:lpstr>
      <vt:lpstr>Neural Actor-Critic Method</vt:lpstr>
      <vt:lpstr>Neural Actor-Critic Method: One-Step Algorithm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Generalization</vt:lpstr>
      <vt:lpstr>Generalization in RL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284</cp:revision>
  <dcterms:created xsi:type="dcterms:W3CDTF">2025-09-08T14:44:49Z</dcterms:created>
  <dcterms:modified xsi:type="dcterms:W3CDTF">2025-12-07T23:04:29Z</dcterms:modified>
</cp:coreProperties>
</file>