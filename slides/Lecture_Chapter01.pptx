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93" r:id="rId6"/>
    <p:sldId id="317" r:id="rId7"/>
    <p:sldId id="348" r:id="rId8"/>
    <p:sldId id="265" r:id="rId9"/>
    <p:sldId id="314" r:id="rId10"/>
    <p:sldId id="268" r:id="rId11"/>
    <p:sldId id="270" r:id="rId12"/>
    <p:sldId id="319" r:id="rId13"/>
    <p:sldId id="352" r:id="rId14"/>
    <p:sldId id="392" r:id="rId15"/>
    <p:sldId id="349" r:id="rId16"/>
    <p:sldId id="385" r:id="rId17"/>
    <p:sldId id="326" r:id="rId18"/>
    <p:sldId id="276" r:id="rId19"/>
    <p:sldId id="278" r:id="rId20"/>
    <p:sldId id="320" r:id="rId21"/>
    <p:sldId id="279" r:id="rId22"/>
    <p:sldId id="321" r:id="rId23"/>
    <p:sldId id="353" r:id="rId24"/>
    <p:sldId id="327" r:id="rId25"/>
    <p:sldId id="386" r:id="rId26"/>
    <p:sldId id="387" r:id="rId27"/>
    <p:sldId id="332" r:id="rId28"/>
    <p:sldId id="350" r:id="rId29"/>
    <p:sldId id="335" r:id="rId30"/>
    <p:sldId id="336" r:id="rId31"/>
    <p:sldId id="337" r:id="rId32"/>
    <p:sldId id="351" r:id="rId33"/>
    <p:sldId id="388" r:id="rId34"/>
    <p:sldId id="389" r:id="rId35"/>
    <p:sldId id="34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9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Elements of RL" id="{F6CE94EB-203A-464A-8B45-158902D52C1F}">
          <p14:sldIdLst>
            <p14:sldId id="352"/>
            <p14:sldId id="392"/>
          </p14:sldIdLst>
        </p14:section>
        <p14:section name="RL Basics - State" id="{1EF9568E-E6EA-43A7-A485-40CC16B3A20D}">
          <p14:sldIdLst>
            <p14:sldId id="349"/>
            <p14:sldId id="385"/>
            <p14:sldId id="326"/>
          </p14:sldIdLst>
        </p14:section>
        <p14:section name="RL Basics Reward" id="{E21F16A8-A95D-48EB-BDD4-0909B7C5A5F1}">
          <p14:sldIdLst>
            <p14:sldId id="276"/>
            <p14:sldId id="278"/>
            <p14:sldId id="320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8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67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61.png"/><Relationship Id="rId4" Type="http://schemas.openxmlformats.org/officeDocument/2006/relationships/image" Target="../media/image5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7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468B3-7775-074C-447E-CD969D8D9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E6CB0AA-E756-B9D1-B9C6-CBF00F05E814}"/>
              </a:ext>
            </a:extLst>
          </p:cNvPr>
          <p:cNvGrpSpPr/>
          <p:nvPr/>
        </p:nvGrpSpPr>
        <p:grpSpPr>
          <a:xfrm>
            <a:off x="6031684" y="2697060"/>
            <a:ext cx="1343765" cy="1666925"/>
            <a:chOff x="5248582" y="2401735"/>
            <a:chExt cx="1694835" cy="205453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C8D7D88-CB79-38E5-0666-52683E3A7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7B94750-2FB7-2230-203E-82C2C00B5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0235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77050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3835146" y="1124198"/>
            <a:ext cx="3103421" cy="2758535"/>
            <a:chOff x="1789245" y="1426327"/>
            <a:chExt cx="4207277" cy="406791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7BDBCF9-51AE-A5CA-D57E-6EDA1E509DB7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2" name="Picture 2" descr="undefined">
                <a:extLst>
                  <a:ext uri="{FF2B5EF4-FFF2-40B4-BE49-F238E27FC236}">
                    <a16:creationId xmlns:a16="http://schemas.microsoft.com/office/drawing/2014/main" id="{409B5E09-5A5B-D618-C596-774737BDC9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AB5D2850-135E-8173-CA9F-E0F09504E5B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State, Interpreter, Observations and Reward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to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strategy),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 (people will even call it “environment” state), we will mean the agent state, and we will use the random variable 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 r="-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since it is not sufficient to predict the environment’s behavior.</a:t>
                </a:r>
              </a:p>
              <a:p>
                <a:r>
                  <a:rPr lang="en-US" dirty="0"/>
                  <a:t>Agent may try to reconstruct the complete state information (state estimation):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 with only cameras and no radar/lidar (to reduce cost)</a:t>
                </a:r>
              </a:p>
              <a:p>
                <a:pPr lvl="1"/>
                <a:r>
                  <a:rPr lang="en-US" dirty="0"/>
                  <a:t>Poker game (opponents’ cards and what cards will be dealt next are unknown)</a:t>
                </a:r>
              </a:p>
              <a:p>
                <a:pPr lvl="1"/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329" t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839517" y="4654446"/>
              <a:ext cx="2972732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(state is a winning board).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return.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Reward hypothesis</a:t>
                </a:r>
                <a:r>
                  <a:rPr lang="en-US" sz="1600" dirty="0"/>
                  <a:t>: </a:t>
                </a:r>
                <a:r>
                  <a:rPr lang="en-US" sz="1600" i="1" dirty="0"/>
                  <a:t>“All of what we mean by goals and purposes can be well thought of as the maximization of the expected cumulative reward.”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  <a:blipFill>
                <a:blip r:embed="rId3"/>
                <a:stretch>
                  <a:fillRect l="-426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shaping</a:t>
            </a:r>
            <a:r>
              <a:rPr lang="en-US" sz="1600" dirty="0"/>
              <a:t>. E.g., add a reward for intermediate goals, such as achieving 3 in a row in Connect-4.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.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an effective reward function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hacking.</a:t>
            </a:r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Return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550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blipFill>
                <a:blip r:embed="rId2"/>
                <a:stretch>
                  <a:fillRect l="-297" t="-11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 and Policy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  <a:blipFill>
                <a:blip r:embed="rId2"/>
                <a:stretch>
                  <a:fillRect l="-812" t="-4231"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750201" y="4267787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EC2FD1-5CD7-56FD-9ABD-B36E517A8AED}"/>
              </a:ext>
            </a:extLst>
          </p:cNvPr>
          <p:cNvGrpSpPr/>
          <p:nvPr/>
        </p:nvGrpSpPr>
        <p:grpSpPr>
          <a:xfrm>
            <a:off x="5751892" y="4458342"/>
            <a:ext cx="5058249" cy="693716"/>
            <a:chOff x="6178319" y="4751925"/>
            <a:chExt cx="5058249" cy="69371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2AB00F1-894B-FAD4-D9B5-AAB448F766B9}"/>
                </a:ext>
              </a:extLst>
            </p:cNvPr>
            <p:cNvGrpSpPr/>
            <p:nvPr/>
          </p:nvGrpSpPr>
          <p:grpSpPr>
            <a:xfrm>
              <a:off x="6834478" y="4840735"/>
              <a:ext cx="416016" cy="516442"/>
              <a:chOff x="3545173" y="2926112"/>
              <a:chExt cx="1034321" cy="1181193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E29E324-1283-A895-1E0F-E2BBBEFA57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4316412-1CB7-F872-2F50-0EA73919CA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25A8D8E-E3CE-65BD-D6D5-7933FACCF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0DE3313-5A23-03A3-87D8-63A73FE4E4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DB42C2-84BC-5646-3215-20E220571882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5E840F-3ED7-BA35-DC7F-2039747D3001}"/>
                  </a:ext>
                </a:extLst>
              </p:cNvPr>
              <p:cNvSpPr txBox="1"/>
              <p:nvPr/>
            </p:nvSpPr>
            <p:spPr>
              <a:xfrm>
                <a:off x="3900235" y="330472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4C2549-327C-1B02-7F46-4939CF125D6A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64E388E-A081-24D6-B29D-6E20AC29AC15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/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2800" dirty="0"/>
                    <a:t>play bottom right</a:t>
                  </a:r>
                  <a:endParaRPr 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blipFill>
                  <a:blip r:embed="rId3"/>
                  <a:stretch>
                    <a:fillRect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Probability distribution indicating to play bottom right 60% of the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522" t="-5136" b="-3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29"/>
            <a:ext cx="10515600" cy="1954131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The agent has to learn a good policy using the reward signal </a:t>
            </a:r>
            <a:r>
              <a:rPr lang="en-US" b="1" dirty="0"/>
              <a:t>while it is evaluated </a:t>
            </a:r>
            <a:r>
              <a:rPr lang="en-US" dirty="0"/>
              <a:t>at the same time. </a:t>
            </a:r>
          </a:p>
          <a:p>
            <a:r>
              <a:rPr lang="en-US" dirty="0"/>
              <a:t>At any point in time, the agent can choose actions to perform: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Follow the currently known best policy to maximize the return.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new actions to find out more about the environment. This could improve the policy. </a:t>
            </a:r>
          </a:p>
          <a:p>
            <a:endParaRPr lang="en-US" b="1" dirty="0"/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35405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blipFill>
                <a:blip r:embed="rId6"/>
                <a:stretch>
                  <a:fillRect l="-1038" t="-2358" b="-5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dirty="0"/>
              <a:t>The agent needs to interact with the environment: The agent uses online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Note: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</a:t>
                </a:r>
                <a:r>
                  <a:rPr lang="en-US" dirty="0"/>
                  <a:t>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</a:t>
                </a:r>
                <a:r>
                  <a:rPr lang="en-US" dirty="0"/>
                  <a:t> and robust solutions.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</a:t>
            </a:r>
            <a:r>
              <a:rPr lang="en-US" sz="1700"/>
              <a:t>, environment, </a:t>
            </a:r>
            <a:r>
              <a:rPr lang="en-US" sz="1700" dirty="0"/>
              <a:t>and </a:t>
            </a:r>
            <a:r>
              <a:rPr lang="en-US" sz="1700"/>
              <a:t>the role of the </a:t>
            </a:r>
            <a:r>
              <a:rPr lang="en-US" sz="1700" dirty="0"/>
              <a:t>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5326</TotalTime>
  <Words>3064</Words>
  <Application>Microsoft Office PowerPoint</Application>
  <PresentationFormat>Widescreen</PresentationFormat>
  <Paragraphs>456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PowerPoint Presentation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Definition: Return</vt:lpstr>
      <vt:lpstr>Elements of RL</vt:lpstr>
      <vt:lpstr>Action</vt:lpstr>
      <vt:lpstr>Deterministic Policy</vt:lpstr>
      <vt:lpstr>Stochastic Policy</vt:lpstr>
      <vt:lpstr>Exploration vs.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Side Note: Optimal Control Theory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86</cp:revision>
  <dcterms:created xsi:type="dcterms:W3CDTF">2025-09-08T14:44:49Z</dcterms:created>
  <dcterms:modified xsi:type="dcterms:W3CDTF">2026-03-30T13:46:00Z</dcterms:modified>
</cp:coreProperties>
</file>