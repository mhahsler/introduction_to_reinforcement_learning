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399" r:id="rId11"/>
    <p:sldId id="270" r:id="rId12"/>
    <p:sldId id="319" r:id="rId13"/>
    <p:sldId id="349" r:id="rId14"/>
    <p:sldId id="392" r:id="rId15"/>
    <p:sldId id="385" r:id="rId16"/>
    <p:sldId id="326" r:id="rId17"/>
    <p:sldId id="276" r:id="rId18"/>
    <p:sldId id="278" r:id="rId19"/>
    <p:sldId id="320" r:id="rId20"/>
    <p:sldId id="279" r:id="rId21"/>
    <p:sldId id="321" r:id="rId22"/>
    <p:sldId id="327" r:id="rId23"/>
    <p:sldId id="386" r:id="rId24"/>
    <p:sldId id="387" r:id="rId25"/>
    <p:sldId id="350" r:id="rId26"/>
    <p:sldId id="335" r:id="rId27"/>
    <p:sldId id="336" r:id="rId28"/>
    <p:sldId id="337" r:id="rId29"/>
    <p:sldId id="394" r:id="rId30"/>
    <p:sldId id="398" r:id="rId31"/>
    <p:sldId id="393" r:id="rId32"/>
    <p:sldId id="332" r:id="rId33"/>
    <p:sldId id="397" r:id="rId34"/>
    <p:sldId id="395" r:id="rId35"/>
    <p:sldId id="396" r:id="rId36"/>
    <p:sldId id="351" r:id="rId37"/>
    <p:sldId id="388" r:id="rId38"/>
    <p:sldId id="389" r:id="rId39"/>
    <p:sldId id="3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399"/>
            <p14:sldId id="270"/>
            <p14:sldId id="319"/>
          </p14:sldIdLst>
        </p14:section>
        <p14:section name="RL Basics - State, Observations and Reward" id="{1EF9568E-E6EA-43A7-A485-40CC16B3A20D}">
          <p14:sldIdLst>
            <p14:sldId id="349"/>
            <p14:sldId id="392"/>
            <p14:sldId id="385"/>
            <p14:sldId id="326"/>
            <p14:sldId id="276"/>
            <p14:sldId id="278"/>
            <p14:sldId id="320"/>
            <p14:sldId id="279"/>
            <p14:sldId id="321"/>
            <p14:sldId id="327"/>
            <p14:sldId id="386"/>
            <p14:sldId id="387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Important Issues in RL" id="{AFCF2062-E398-4F80-A57C-84E310175512}">
          <p14:sldIdLst>
            <p14:sldId id="394"/>
            <p14:sldId id="398"/>
            <p14:sldId id="393"/>
            <p14:sldId id="332"/>
            <p14:sldId id="397"/>
            <p14:sldId id="395"/>
            <p14:sldId id="396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7E26E6-486A-4639-ADDF-FA1EC87F6D98}" type="doc">
      <dgm:prSet loTypeId="urn:microsoft.com/office/officeart/2005/8/layout/venn1" loCatId="relationship" qsTypeId="urn:microsoft.com/office/officeart/2005/8/quickstyle/simple1#2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1E9517B7-3A2B-4252-B65A-B71D8D756918}">
      <dgm:prSet phldrT="[Text]" phldr="0" custT="1"/>
      <dgm:spPr/>
      <dgm:t>
        <a:bodyPr/>
        <a:lstStyle/>
        <a:p>
          <a:r>
            <a:rPr lang="en-US" sz="2000" dirty="0"/>
            <a:t>Sparse and Delayed Rewards</a:t>
          </a:r>
        </a:p>
      </dgm:t>
    </dgm:pt>
    <dgm:pt modelId="{38369FA6-4CC3-4944-98B8-6EF67CF75468}" type="parTrans" cxnId="{795F6C75-8B06-4B0C-98BC-29A6132A74A0}">
      <dgm:prSet/>
      <dgm:spPr/>
      <dgm:t>
        <a:bodyPr/>
        <a:lstStyle/>
        <a:p>
          <a:endParaRPr lang="en-US" sz="1600"/>
        </a:p>
      </dgm:t>
    </dgm:pt>
    <dgm:pt modelId="{78756542-5B38-4CED-B93B-B2F784B737BE}" type="sibTrans" cxnId="{795F6C75-8B06-4B0C-98BC-29A6132A74A0}">
      <dgm:prSet/>
      <dgm:spPr/>
      <dgm:t>
        <a:bodyPr/>
        <a:lstStyle/>
        <a:p>
          <a:endParaRPr lang="en-US" sz="1600"/>
        </a:p>
      </dgm:t>
    </dgm:pt>
    <dgm:pt modelId="{9EA377E8-DCB3-4944-83B0-F792CFC985D8}">
      <dgm:prSet phldrT="[Text]" phldr="0" custT="1"/>
      <dgm:spPr/>
      <dgm:t>
        <a:bodyPr/>
        <a:lstStyle/>
        <a:p>
          <a:r>
            <a:rPr lang="en-US" sz="2000" dirty="0"/>
            <a:t>Exploration vs. Exploitation</a:t>
          </a:r>
        </a:p>
      </dgm:t>
    </dgm:pt>
    <dgm:pt modelId="{082DAC8D-E87E-4C70-9AB1-5CACF57F84D1}" type="parTrans" cxnId="{CB9397E9-EBE0-492F-991B-078A3EEEEC86}">
      <dgm:prSet/>
      <dgm:spPr/>
      <dgm:t>
        <a:bodyPr/>
        <a:lstStyle/>
        <a:p>
          <a:endParaRPr lang="en-US" sz="1600"/>
        </a:p>
      </dgm:t>
    </dgm:pt>
    <dgm:pt modelId="{24051409-577D-4149-B64A-6CA6FBD309E8}" type="sibTrans" cxnId="{CB9397E9-EBE0-492F-991B-078A3EEEEC86}">
      <dgm:prSet/>
      <dgm:spPr/>
      <dgm:t>
        <a:bodyPr/>
        <a:lstStyle/>
        <a:p>
          <a:endParaRPr lang="en-US" sz="1600"/>
        </a:p>
      </dgm:t>
    </dgm:pt>
    <dgm:pt modelId="{267EDC07-8FA6-41EA-B5B2-B6A1CD251847}">
      <dgm:prSet phldrT="[Text]" phldr="0" custT="1"/>
      <dgm:spPr/>
      <dgm:t>
        <a:bodyPr/>
        <a:lstStyle/>
        <a:p>
          <a:r>
            <a:rPr lang="en-US" sz="2000" dirty="0"/>
            <a:t>Scalability</a:t>
          </a:r>
        </a:p>
      </dgm:t>
    </dgm:pt>
    <dgm:pt modelId="{6E52BA89-4BF9-464B-A692-3BBFAFE59F57}" type="parTrans" cxnId="{8432B881-A5F0-4BCC-8621-A93DD92B4C77}">
      <dgm:prSet/>
      <dgm:spPr/>
      <dgm:t>
        <a:bodyPr/>
        <a:lstStyle/>
        <a:p>
          <a:endParaRPr lang="en-US" sz="1600"/>
        </a:p>
      </dgm:t>
    </dgm:pt>
    <dgm:pt modelId="{00E0940B-2624-4625-AB21-DD119F78CD25}" type="sibTrans" cxnId="{8432B881-A5F0-4BCC-8621-A93DD92B4C77}">
      <dgm:prSet/>
      <dgm:spPr/>
      <dgm:t>
        <a:bodyPr/>
        <a:lstStyle/>
        <a:p>
          <a:endParaRPr lang="en-US" sz="1600"/>
        </a:p>
      </dgm:t>
    </dgm:pt>
    <dgm:pt modelId="{60E6CE9F-A645-4740-9974-95BE570BE8A4}">
      <dgm:prSet phldrT="[Text]" phldr="0" custT="1"/>
      <dgm:spPr/>
      <dgm:t>
        <a:bodyPr/>
        <a:lstStyle/>
        <a:p>
          <a:r>
            <a:rPr lang="en-US" sz="2000" dirty="0"/>
            <a:t>Convergence and Optimality</a:t>
          </a:r>
        </a:p>
      </dgm:t>
    </dgm:pt>
    <dgm:pt modelId="{25B6B050-BF91-4FF5-9806-696027E50406}" type="parTrans" cxnId="{8AEECB87-8366-4FC3-B42A-92E450BD6323}">
      <dgm:prSet/>
      <dgm:spPr/>
      <dgm:t>
        <a:bodyPr/>
        <a:lstStyle/>
        <a:p>
          <a:endParaRPr lang="en-US" sz="1600"/>
        </a:p>
      </dgm:t>
    </dgm:pt>
    <dgm:pt modelId="{2FD328C5-2F1A-445D-881A-DEE835B9EA61}" type="sibTrans" cxnId="{8AEECB87-8366-4FC3-B42A-92E450BD6323}">
      <dgm:prSet/>
      <dgm:spPr/>
      <dgm:t>
        <a:bodyPr/>
        <a:lstStyle/>
        <a:p>
          <a:endParaRPr lang="en-US" sz="1600"/>
        </a:p>
      </dgm:t>
    </dgm:pt>
    <dgm:pt modelId="{00FB096C-9BF5-4BC4-ACC7-F3632C1FF316}">
      <dgm:prSet phldrT="[Text]" phldr="0" custT="1"/>
      <dgm:spPr/>
      <dgm:t>
        <a:bodyPr/>
        <a:lstStyle/>
        <a:p>
          <a:r>
            <a:rPr lang="en-US" sz="2000" dirty="0"/>
            <a:t>Sample Efficiency</a:t>
          </a:r>
        </a:p>
      </dgm:t>
    </dgm:pt>
    <dgm:pt modelId="{D6DBF708-ECFD-4E0B-A6F8-62F0C58D4D97}" type="parTrans" cxnId="{E02C33DA-F67E-43E9-930D-9E344A9113DD}">
      <dgm:prSet/>
      <dgm:spPr/>
      <dgm:t>
        <a:bodyPr/>
        <a:lstStyle/>
        <a:p>
          <a:endParaRPr lang="en-US" sz="1600"/>
        </a:p>
      </dgm:t>
    </dgm:pt>
    <dgm:pt modelId="{95541616-6519-4BE3-9330-EDC60A66DDF1}" type="sibTrans" cxnId="{E02C33DA-F67E-43E9-930D-9E344A9113DD}">
      <dgm:prSet/>
      <dgm:spPr/>
      <dgm:t>
        <a:bodyPr/>
        <a:lstStyle/>
        <a:p>
          <a:endParaRPr lang="en-US" sz="1600"/>
        </a:p>
      </dgm:t>
    </dgm:pt>
    <dgm:pt modelId="{FB485A99-9C42-43E5-9873-3269BFC5A51A}" type="pres">
      <dgm:prSet presAssocID="{127E26E6-486A-4639-ADDF-FA1EC87F6D98}" presName="compositeShape" presStyleCnt="0">
        <dgm:presLayoutVars>
          <dgm:chMax val="7"/>
          <dgm:dir/>
          <dgm:resizeHandles val="exact"/>
        </dgm:presLayoutVars>
      </dgm:prSet>
      <dgm:spPr/>
    </dgm:pt>
    <dgm:pt modelId="{914D5467-7112-4A5C-B8D9-87426C0616C4}" type="pres">
      <dgm:prSet presAssocID="{1E9517B7-3A2B-4252-B65A-B71D8D756918}" presName="circ1" presStyleLbl="vennNode1" presStyleIdx="0" presStyleCnt="5" custLinFactNeighborX="-876"/>
      <dgm:spPr/>
    </dgm:pt>
    <dgm:pt modelId="{B564F7F2-CFB6-4774-8B09-811579B0FBA6}" type="pres">
      <dgm:prSet presAssocID="{1E9517B7-3A2B-4252-B65A-B71D8D756918}" presName="circ1Tx" presStyleLbl="revTx" presStyleIdx="0" presStyleCnt="0" custLinFactNeighborX="13902" custLinFactNeighborY="4036">
        <dgm:presLayoutVars>
          <dgm:chMax val="0"/>
          <dgm:chPref val="0"/>
          <dgm:bulletEnabled val="1"/>
        </dgm:presLayoutVars>
      </dgm:prSet>
      <dgm:spPr/>
    </dgm:pt>
    <dgm:pt modelId="{8186512B-673B-45D6-8C1C-8D64924FCAF6}" type="pres">
      <dgm:prSet presAssocID="{9EA377E8-DCB3-4944-83B0-F792CFC985D8}" presName="circ2" presStyleLbl="vennNode1" presStyleIdx="1" presStyleCnt="5"/>
      <dgm:spPr/>
    </dgm:pt>
    <dgm:pt modelId="{EAE4412A-5CAC-42FF-9BCF-9AAFC837F99E}" type="pres">
      <dgm:prSet presAssocID="{9EA377E8-DCB3-4944-83B0-F792CFC985D8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4588651-E9A3-4177-B8E9-9AE2B236AEA9}" type="pres">
      <dgm:prSet presAssocID="{60E6CE9F-A645-4740-9974-95BE570BE8A4}" presName="circ3" presStyleLbl="vennNode1" presStyleIdx="2" presStyleCnt="5"/>
      <dgm:spPr/>
    </dgm:pt>
    <dgm:pt modelId="{50C88E94-514A-4B5E-A23C-74B7EE4A3A65}" type="pres">
      <dgm:prSet presAssocID="{60E6CE9F-A645-4740-9974-95BE570BE8A4}" presName="circ3Tx" presStyleLbl="revTx" presStyleIdx="0" presStyleCnt="0" custLinFactNeighborX="-12519" custLinFactNeighborY="7446">
        <dgm:presLayoutVars>
          <dgm:chMax val="0"/>
          <dgm:chPref val="0"/>
          <dgm:bulletEnabled val="1"/>
        </dgm:presLayoutVars>
      </dgm:prSet>
      <dgm:spPr/>
    </dgm:pt>
    <dgm:pt modelId="{2FB133CC-3F6E-4C1F-9371-3237403F4A84}" type="pres">
      <dgm:prSet presAssocID="{00FB096C-9BF5-4BC4-ACC7-F3632C1FF316}" presName="circ4" presStyleLbl="vennNode1" presStyleIdx="3" presStyleCnt="5"/>
      <dgm:spPr/>
    </dgm:pt>
    <dgm:pt modelId="{95C987EA-3034-4391-9A9A-E59BE87DE2DC}" type="pres">
      <dgm:prSet presAssocID="{00FB096C-9BF5-4BC4-ACC7-F3632C1FF316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B6C4F54-0C6E-4616-85C4-FA9BCD7B5D45}" type="pres">
      <dgm:prSet presAssocID="{267EDC07-8FA6-41EA-B5B2-B6A1CD251847}" presName="circ5" presStyleLbl="vennNode1" presStyleIdx="4" presStyleCnt="5" custLinFactNeighborX="1302" custLinFactNeighborY="606"/>
      <dgm:spPr/>
    </dgm:pt>
    <dgm:pt modelId="{5EDC9239-78D0-4488-88C2-0A432C52CAB1}" type="pres">
      <dgm:prSet presAssocID="{267EDC07-8FA6-41EA-B5B2-B6A1CD251847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158FA033-7978-4563-ACE8-03C34BE281A4}" type="presOf" srcId="{9EA377E8-DCB3-4944-83B0-F792CFC985D8}" destId="{EAE4412A-5CAC-42FF-9BCF-9AAFC837F99E}" srcOrd="0" destOrd="0" presId="urn:microsoft.com/office/officeart/2005/8/layout/venn1"/>
    <dgm:cxn modelId="{35AAC444-76D1-40D4-90D8-51233A798793}" type="presOf" srcId="{60E6CE9F-A645-4740-9974-95BE570BE8A4}" destId="{50C88E94-514A-4B5E-A23C-74B7EE4A3A65}" srcOrd="0" destOrd="0" presId="urn:microsoft.com/office/officeart/2005/8/layout/venn1"/>
    <dgm:cxn modelId="{5A93AC6A-2C0C-4F3E-92BD-CEF38BF8AD79}" type="presOf" srcId="{1E9517B7-3A2B-4252-B65A-B71D8D756918}" destId="{B564F7F2-CFB6-4774-8B09-811579B0FBA6}" srcOrd="0" destOrd="0" presId="urn:microsoft.com/office/officeart/2005/8/layout/venn1"/>
    <dgm:cxn modelId="{86EE3F6D-8597-4B27-A037-8498BB8C55B8}" type="presOf" srcId="{00FB096C-9BF5-4BC4-ACC7-F3632C1FF316}" destId="{95C987EA-3034-4391-9A9A-E59BE87DE2DC}" srcOrd="0" destOrd="0" presId="urn:microsoft.com/office/officeart/2005/8/layout/venn1"/>
    <dgm:cxn modelId="{795F6C75-8B06-4B0C-98BC-29A6132A74A0}" srcId="{127E26E6-486A-4639-ADDF-FA1EC87F6D98}" destId="{1E9517B7-3A2B-4252-B65A-B71D8D756918}" srcOrd="0" destOrd="0" parTransId="{38369FA6-4CC3-4944-98B8-6EF67CF75468}" sibTransId="{78756542-5B38-4CED-B93B-B2F784B737BE}"/>
    <dgm:cxn modelId="{8432B881-A5F0-4BCC-8621-A93DD92B4C77}" srcId="{127E26E6-486A-4639-ADDF-FA1EC87F6D98}" destId="{267EDC07-8FA6-41EA-B5B2-B6A1CD251847}" srcOrd="4" destOrd="0" parTransId="{6E52BA89-4BF9-464B-A692-3BBFAFE59F57}" sibTransId="{00E0940B-2624-4625-AB21-DD119F78CD25}"/>
    <dgm:cxn modelId="{8AEECB87-8366-4FC3-B42A-92E450BD6323}" srcId="{127E26E6-486A-4639-ADDF-FA1EC87F6D98}" destId="{60E6CE9F-A645-4740-9974-95BE570BE8A4}" srcOrd="2" destOrd="0" parTransId="{25B6B050-BF91-4FF5-9806-696027E50406}" sibTransId="{2FD328C5-2F1A-445D-881A-DEE835B9EA61}"/>
    <dgm:cxn modelId="{0E272991-D7C5-4700-ACDF-5E1D34FCEE32}" type="presOf" srcId="{267EDC07-8FA6-41EA-B5B2-B6A1CD251847}" destId="{5EDC9239-78D0-4488-88C2-0A432C52CAB1}" srcOrd="0" destOrd="0" presId="urn:microsoft.com/office/officeart/2005/8/layout/venn1"/>
    <dgm:cxn modelId="{A65299C2-2D14-459C-B6D2-C2ABC5FAC9C5}" type="presOf" srcId="{127E26E6-486A-4639-ADDF-FA1EC87F6D98}" destId="{FB485A99-9C42-43E5-9873-3269BFC5A51A}" srcOrd="0" destOrd="0" presId="urn:microsoft.com/office/officeart/2005/8/layout/venn1"/>
    <dgm:cxn modelId="{E02C33DA-F67E-43E9-930D-9E344A9113DD}" srcId="{127E26E6-486A-4639-ADDF-FA1EC87F6D98}" destId="{00FB096C-9BF5-4BC4-ACC7-F3632C1FF316}" srcOrd="3" destOrd="0" parTransId="{D6DBF708-ECFD-4E0B-A6F8-62F0C58D4D97}" sibTransId="{95541616-6519-4BE3-9330-EDC60A66DDF1}"/>
    <dgm:cxn modelId="{CB9397E9-EBE0-492F-991B-078A3EEEEC86}" srcId="{127E26E6-486A-4639-ADDF-FA1EC87F6D98}" destId="{9EA377E8-DCB3-4944-83B0-F792CFC985D8}" srcOrd="1" destOrd="0" parTransId="{082DAC8D-E87E-4C70-9AB1-5CACF57F84D1}" sibTransId="{24051409-577D-4149-B64A-6CA6FBD309E8}"/>
    <dgm:cxn modelId="{36942AE6-55A5-4D58-A989-83ECFCEAE69E}" type="presParOf" srcId="{FB485A99-9C42-43E5-9873-3269BFC5A51A}" destId="{914D5467-7112-4A5C-B8D9-87426C0616C4}" srcOrd="0" destOrd="0" presId="urn:microsoft.com/office/officeart/2005/8/layout/venn1"/>
    <dgm:cxn modelId="{8557D4E8-D20A-4CE9-83E1-3F08D2C33CD0}" type="presParOf" srcId="{FB485A99-9C42-43E5-9873-3269BFC5A51A}" destId="{B564F7F2-CFB6-4774-8B09-811579B0FBA6}" srcOrd="1" destOrd="0" presId="urn:microsoft.com/office/officeart/2005/8/layout/venn1"/>
    <dgm:cxn modelId="{76CD9312-552C-47B6-8F74-33FE825478C6}" type="presParOf" srcId="{FB485A99-9C42-43E5-9873-3269BFC5A51A}" destId="{8186512B-673B-45D6-8C1C-8D64924FCAF6}" srcOrd="2" destOrd="0" presId="urn:microsoft.com/office/officeart/2005/8/layout/venn1"/>
    <dgm:cxn modelId="{D9F8A206-578A-4E98-888C-E253B1F2AA72}" type="presParOf" srcId="{FB485A99-9C42-43E5-9873-3269BFC5A51A}" destId="{EAE4412A-5CAC-42FF-9BCF-9AAFC837F99E}" srcOrd="3" destOrd="0" presId="urn:microsoft.com/office/officeart/2005/8/layout/venn1"/>
    <dgm:cxn modelId="{E7178E95-6446-4EAB-99D1-D63D2B83F719}" type="presParOf" srcId="{FB485A99-9C42-43E5-9873-3269BFC5A51A}" destId="{24588651-E9A3-4177-B8E9-9AE2B236AEA9}" srcOrd="4" destOrd="0" presId="urn:microsoft.com/office/officeart/2005/8/layout/venn1"/>
    <dgm:cxn modelId="{1622EC02-317C-444E-8398-29F1F2EAF078}" type="presParOf" srcId="{FB485A99-9C42-43E5-9873-3269BFC5A51A}" destId="{50C88E94-514A-4B5E-A23C-74B7EE4A3A65}" srcOrd="5" destOrd="0" presId="urn:microsoft.com/office/officeart/2005/8/layout/venn1"/>
    <dgm:cxn modelId="{E83F1247-39D9-49B8-A280-C075C41C1F99}" type="presParOf" srcId="{FB485A99-9C42-43E5-9873-3269BFC5A51A}" destId="{2FB133CC-3F6E-4C1F-9371-3237403F4A84}" srcOrd="6" destOrd="0" presId="urn:microsoft.com/office/officeart/2005/8/layout/venn1"/>
    <dgm:cxn modelId="{4CF1149F-928F-4999-8BF7-12858F973D1D}" type="presParOf" srcId="{FB485A99-9C42-43E5-9873-3269BFC5A51A}" destId="{95C987EA-3034-4391-9A9A-E59BE87DE2DC}" srcOrd="7" destOrd="0" presId="urn:microsoft.com/office/officeart/2005/8/layout/venn1"/>
    <dgm:cxn modelId="{4CE4AC1C-682C-41A2-9AFE-B409AE36E747}" type="presParOf" srcId="{FB485A99-9C42-43E5-9873-3269BFC5A51A}" destId="{4B6C4F54-0C6E-4616-85C4-FA9BCD7B5D45}" srcOrd="8" destOrd="0" presId="urn:microsoft.com/office/officeart/2005/8/layout/venn1"/>
    <dgm:cxn modelId="{18B9846E-939C-449A-9854-C2D8A2CFF472}" type="presParOf" srcId="{FB485A99-9C42-43E5-9873-3269BFC5A51A}" destId="{5EDC9239-78D0-4488-88C2-0A432C52CAB1}" srcOrd="9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4D5467-7112-4A5C-B8D9-87426C0616C4}">
      <dsp:nvSpPr>
        <dsp:cNvPr id="0" name=""/>
        <dsp:cNvSpPr/>
      </dsp:nvSpPr>
      <dsp:spPr>
        <a:xfrm>
          <a:off x="2955224" y="1309655"/>
          <a:ext cx="1608349" cy="1608349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564F7F2-CFB6-4774-8B09-811579B0FBA6}">
      <dsp:nvSpPr>
        <dsp:cNvPr id="0" name=""/>
        <dsp:cNvSpPr/>
      </dsp:nvSpPr>
      <dsp:spPr>
        <a:xfrm>
          <a:off x="3100013" y="43584"/>
          <a:ext cx="1865684" cy="1079891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Sparse and Delayed Rewards</a:t>
          </a:r>
        </a:p>
      </dsp:txBody>
      <dsp:txXfrm>
        <a:off x="3100013" y="43584"/>
        <a:ext cx="1865684" cy="1079891"/>
      </dsp:txXfrm>
    </dsp:sp>
    <dsp:sp modelId="{8186512B-673B-45D6-8C1C-8D64924FCAF6}">
      <dsp:nvSpPr>
        <dsp:cNvPr id="0" name=""/>
        <dsp:cNvSpPr/>
      </dsp:nvSpPr>
      <dsp:spPr>
        <a:xfrm>
          <a:off x="3581129" y="1754019"/>
          <a:ext cx="1608349" cy="1608349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AE4412A-5CAC-42FF-9BCF-9AAFC837F99E}">
      <dsp:nvSpPr>
        <dsp:cNvPr id="0" name=""/>
        <dsp:cNvSpPr/>
      </dsp:nvSpPr>
      <dsp:spPr>
        <a:xfrm>
          <a:off x="5317503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Exploration vs. Exploitation</a:t>
          </a:r>
        </a:p>
      </dsp:txBody>
      <dsp:txXfrm>
        <a:off x="5317503" y="1424537"/>
        <a:ext cx="1672683" cy="1171797"/>
      </dsp:txXfrm>
    </dsp:sp>
    <dsp:sp modelId="{24588651-E9A3-4177-B8E9-9AE2B236AEA9}">
      <dsp:nvSpPr>
        <dsp:cNvPr id="0" name=""/>
        <dsp:cNvSpPr/>
      </dsp:nvSpPr>
      <dsp:spPr>
        <a:xfrm>
          <a:off x="3347597" y="2473640"/>
          <a:ext cx="1608349" cy="1608349"/>
        </a:xfrm>
        <a:prstGeom prst="ellipse">
          <a:avLst/>
        </a:prstGeom>
        <a:solidFill>
          <a:schemeClr val="accent4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0C88E94-514A-4B5E-A23C-74B7EE4A3A65}">
      <dsp:nvSpPr>
        <dsp:cNvPr id="0" name=""/>
        <dsp:cNvSpPr/>
      </dsp:nvSpPr>
      <dsp:spPr>
        <a:xfrm>
          <a:off x="4850764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Convergence and Optimality</a:t>
          </a:r>
        </a:p>
      </dsp:txBody>
      <dsp:txXfrm>
        <a:off x="4850764" y="3423485"/>
        <a:ext cx="1672683" cy="1171797"/>
      </dsp:txXfrm>
    </dsp:sp>
    <dsp:sp modelId="{2FB133CC-3F6E-4C1F-9371-3237403F4A84}">
      <dsp:nvSpPr>
        <dsp:cNvPr id="0" name=""/>
        <dsp:cNvSpPr/>
      </dsp:nvSpPr>
      <dsp:spPr>
        <a:xfrm>
          <a:off x="2591029" y="2473640"/>
          <a:ext cx="1608349" cy="1608349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95C987EA-3034-4391-9A9A-E59BE87DE2DC}">
      <dsp:nvSpPr>
        <dsp:cNvPr id="0" name=""/>
        <dsp:cNvSpPr/>
      </dsp:nvSpPr>
      <dsp:spPr>
        <a:xfrm>
          <a:off x="814125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Sample Efficiency</a:t>
          </a:r>
        </a:p>
      </dsp:txBody>
      <dsp:txXfrm>
        <a:off x="814125" y="3423485"/>
        <a:ext cx="1672683" cy="1171797"/>
      </dsp:txXfrm>
    </dsp:sp>
    <dsp:sp modelId="{4B6C4F54-0C6E-4616-85C4-FA9BCD7B5D45}">
      <dsp:nvSpPr>
        <dsp:cNvPr id="0" name=""/>
        <dsp:cNvSpPr/>
      </dsp:nvSpPr>
      <dsp:spPr>
        <a:xfrm>
          <a:off x="2378438" y="1763766"/>
          <a:ext cx="1608349" cy="1608349"/>
        </a:xfrm>
        <a:prstGeom prst="ellipse">
          <a:avLst/>
        </a:prstGeom>
        <a:solidFill>
          <a:schemeClr val="accent6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EDC9239-78D0-4488-88C2-0A432C52CAB1}">
      <dsp:nvSpPr>
        <dsp:cNvPr id="0" name=""/>
        <dsp:cNvSpPr/>
      </dsp:nvSpPr>
      <dsp:spPr>
        <a:xfrm>
          <a:off x="556789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Scalability</a:t>
          </a:r>
        </a:p>
      </dsp:txBody>
      <dsp:txXfrm>
        <a:off x="556789" y="1424537"/>
        <a:ext cx="1672683" cy="1171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0.jpg"/><Relationship Id="rId5" Type="http://schemas.openxmlformats.org/officeDocument/2006/relationships/image" Target="../media/image25.png"/><Relationship Id="rId10" Type="http://schemas.openxmlformats.org/officeDocument/2006/relationships/image" Target="../media/image29.jpg"/><Relationship Id="rId4" Type="http://schemas.openxmlformats.org/officeDocument/2006/relationships/image" Target="../media/image24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61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490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0.png"/><Relationship Id="rId5" Type="http://schemas.openxmlformats.org/officeDocument/2006/relationships/image" Target="../media/image57.png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62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0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69.png"/><Relationship Id="rId7" Type="http://schemas.openxmlformats.org/officeDocument/2006/relationships/image" Target="../media/image7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5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Some slides are based on material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Important Issues in RL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no training data, discover actions by trying them.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708"/>
                  </a:spcBef>
                </a:pPr>
                <a:r>
                  <a:rPr lang="en-US" b="1" dirty="0"/>
                  <a:t>Goal</a:t>
                </a:r>
                <a:r>
                  <a:rPr lang="en-US" dirty="0"/>
                  <a:t>: Lean what the best action for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is. This is called a </a:t>
                </a:r>
                <a:r>
                  <a:rPr lang="en-US" b="1" dirty="0"/>
                  <a:t>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  <a:blipFill>
                <a:blip r:embed="rId3"/>
                <a:stretch>
                  <a:fillRect b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5635769-F49C-BAF1-DD22-082DF4E6F048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B401FF-E022-EA77-6BFA-FEFCCB5DE118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0" name="Picture 2" descr="undefined">
                <a:extLst>
                  <a:ext uri="{FF2B5EF4-FFF2-40B4-BE49-F238E27FC236}">
                    <a16:creationId xmlns:a16="http://schemas.microsoft.com/office/drawing/2014/main" id="{07E53396-3B28-FF77-BFD8-F749D7B979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987CD6D-0BEF-5217-FC3F-0CEAD7FC034F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F140836-DB3D-58F6-3ACB-33B684A05605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724756-3D94-4F99-A04F-248E78EEA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ADBA78-8070-E600-FDD7-B1E6F1E3FC4B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901118" y="2113391"/>
            <a:ext cx="7508845" cy="3949190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7"/>
              <a:ext cx="1409178" cy="834598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000" b="1" spc="-21" dirty="0">
                  <a:cs typeface="Arial"/>
                </a:rPr>
                <a:t>Machine Learning</a:t>
              </a:r>
              <a:endParaRPr sz="2000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25241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Unsupervised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 dirty="0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Process </a:t>
              </a:r>
              <a:r>
                <a:rPr sz="1100" dirty="0">
                  <a:cs typeface="Arial"/>
                </a:rPr>
                <a:t>and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interpret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data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based</a:t>
              </a:r>
              <a:r>
                <a:rPr sz="1100" spc="-42" dirty="0">
                  <a:cs typeface="Arial"/>
                </a:rPr>
                <a:t> only</a:t>
              </a:r>
              <a:endParaRPr sz="1100" dirty="0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100" dirty="0">
                  <a:cs typeface="Arial"/>
                </a:rPr>
                <a:t>on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the</a:t>
              </a:r>
              <a:r>
                <a:rPr sz="1100" spc="-53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endParaRPr sz="1100" dirty="0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Develop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models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map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and</a:t>
              </a:r>
              <a:r>
                <a:rPr sz="1100" spc="-3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output </a:t>
              </a:r>
              <a:r>
                <a:rPr sz="1100" spc="-42" dirty="0">
                  <a:cs typeface="Arial"/>
                </a:rPr>
                <a:t>data</a:t>
              </a:r>
              <a:endParaRPr sz="1100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7"/>
              <a:ext cx="1555464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200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200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Learn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optimal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control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actions</a:t>
              </a:r>
              <a:r>
                <a:rPr sz="1100" spc="-42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maximize</a:t>
              </a:r>
              <a:r>
                <a:rPr sz="1100" spc="1057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long-</a:t>
              </a:r>
              <a:r>
                <a:rPr sz="1100" dirty="0">
                  <a:cs typeface="Arial"/>
                </a:rPr>
                <a:t>term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reward</a:t>
              </a:r>
              <a:endParaRPr sz="1100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6"/>
              <a:ext cx="92334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Clustering</a:t>
              </a:r>
              <a:endParaRPr sz="1200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Dimension</a:t>
              </a:r>
              <a:r>
                <a:rPr sz="1200" spc="127" dirty="0">
                  <a:cs typeface="Arial"/>
                </a:rPr>
                <a:t> </a:t>
              </a:r>
              <a:r>
                <a:rPr sz="1200" spc="-21" dirty="0">
                  <a:cs typeface="Arial"/>
                </a:rPr>
                <a:t>Reduction</a:t>
              </a:r>
              <a:endParaRPr sz="1200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Regression</a:t>
              </a:r>
              <a:endParaRPr sz="1200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Classification</a:t>
              </a:r>
              <a:endParaRPr sz="1200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Single-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Multi-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605394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Machine learning is a field of AI that learns from examples.</a:t>
            </a:r>
          </a:p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RL is a 3</a:t>
            </a:r>
            <a:r>
              <a:rPr lang="en-US" spc="-42" baseline="30000" dirty="0">
                <a:cs typeface="Tahoma"/>
              </a:rPr>
              <a:t>rd</a:t>
            </a:r>
            <a:r>
              <a:rPr lang="en-US" spc="-42" dirty="0">
                <a:cs typeface="Tahoma"/>
              </a:rPr>
              <a:t> type</a:t>
            </a:r>
            <a:r>
              <a:rPr spc="-42" dirty="0">
                <a:cs typeface="Tahoma"/>
              </a:rPr>
              <a:t> </a:t>
            </a:r>
            <a:r>
              <a:rPr dirty="0">
                <a:cs typeface="Tahoma"/>
              </a:rPr>
              <a:t>of</a:t>
            </a:r>
            <a:r>
              <a:rPr spc="-42" dirty="0">
                <a:cs typeface="Tahoma"/>
              </a:rPr>
              <a:t> </a:t>
            </a:r>
            <a:r>
              <a:rPr spc="-74" dirty="0">
                <a:cs typeface="Tahoma"/>
              </a:rPr>
              <a:t>machine</a:t>
            </a:r>
            <a:r>
              <a:rPr spc="-53" dirty="0">
                <a:cs typeface="Tahoma"/>
              </a:rPr>
              <a:t> learning</a:t>
            </a:r>
            <a:endParaRPr dirty="0">
              <a:cs typeface="Tahoma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00368D-0392-F521-1996-14958436EB3E}"/>
              </a:ext>
            </a:extLst>
          </p:cNvPr>
          <p:cNvCxnSpPr>
            <a:cxnSpLocks/>
          </p:cNvCxnSpPr>
          <p:nvPr/>
        </p:nvCxnSpPr>
        <p:spPr>
          <a:xfrm>
            <a:off x="4207079" y="4739780"/>
            <a:ext cx="763637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022648D-D9F3-4800-9179-39A00FE258A0}"/>
              </a:ext>
            </a:extLst>
          </p:cNvPr>
          <p:cNvGrpSpPr/>
          <p:nvPr/>
        </p:nvGrpSpPr>
        <p:grpSpPr>
          <a:xfrm>
            <a:off x="8711404" y="2163009"/>
            <a:ext cx="1941229" cy="2316520"/>
            <a:chOff x="9314507" y="1928743"/>
            <a:chExt cx="1941229" cy="2316520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877085F6-9859-0484-2D33-031AF1BF69C1}"/>
                </a:ext>
              </a:extLst>
            </p:cNvPr>
            <p:cNvGrpSpPr/>
            <p:nvPr/>
          </p:nvGrpSpPr>
          <p:grpSpPr>
            <a:xfrm>
              <a:off x="10091956" y="1928743"/>
              <a:ext cx="1163780" cy="630760"/>
              <a:chOff x="10091956" y="1928743"/>
              <a:chExt cx="1163780" cy="630760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F4C94FC-7979-97FE-8AA9-BFF874973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474926" y="1928743"/>
                <a:ext cx="395429" cy="3789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i="1" dirty="0"/>
                      <a:t>Environment </a:t>
                    </a:r>
                    <a14:m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000" i="1" dirty="0"/>
                  </a:p>
                </p:txBody>
              </p:sp>
            </mc:Choice>
            <mc:Fallback xmlns="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1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E42B43-1FEE-2E39-C4DF-3C40519CD300}"/>
                </a:ext>
              </a:extLst>
            </p:cNvPr>
            <p:cNvGrpSpPr/>
            <p:nvPr/>
          </p:nvGrpSpPr>
          <p:grpSpPr>
            <a:xfrm>
              <a:off x="9314507" y="2639559"/>
              <a:ext cx="1234633" cy="716234"/>
              <a:chOff x="9318394" y="2839481"/>
              <a:chExt cx="1234633" cy="716234"/>
            </a:xfrm>
          </p:grpSpPr>
          <p:sp>
            <p:nvSpPr>
              <p:cNvPr id="90" name="Flowchart: Magnetic Disk 89">
                <a:extLst>
                  <a:ext uri="{FF2B5EF4-FFF2-40B4-BE49-F238E27FC236}">
                    <a16:creationId xmlns:a16="http://schemas.microsoft.com/office/drawing/2014/main" id="{77960A2A-24D4-65B8-E57B-1171944F023A}"/>
                  </a:ext>
                </a:extLst>
              </p:cNvPr>
              <p:cNvSpPr/>
              <p:nvPr/>
            </p:nvSpPr>
            <p:spPr>
              <a:xfrm>
                <a:off x="9748007" y="2839481"/>
                <a:ext cx="343949" cy="460741"/>
              </a:xfrm>
              <a:prstGeom prst="flowChartMagneticDisk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7D99631-A331-6531-5C24-2C2343156EAA}"/>
                  </a:ext>
                </a:extLst>
              </p:cNvPr>
              <p:cNvSpPr txBox="1"/>
              <p:nvPr/>
            </p:nvSpPr>
            <p:spPr>
              <a:xfrm>
                <a:off x="9318394" y="3309494"/>
                <a:ext cx="12346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i="1" dirty="0"/>
                  <a:t>Fixed Training Data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/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i="1" dirty="0"/>
                    <a:t>ML Model</a:t>
                  </a:r>
                  <a:br>
                    <a:rPr lang="en-US" sz="1000" i="1" dirty="0"/>
                  </a:br>
                  <a:r>
                    <a:rPr lang="en-US" sz="1000" i="1" dirty="0"/>
                    <a:t>approx. </a:t>
                  </a:r>
                  <a14:m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000" i="1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8D4F680E-3D94-ADFA-F08B-F5617F185978}"/>
                </a:ext>
              </a:extLst>
            </p:cNvPr>
            <p:cNvSpPr/>
            <p:nvPr/>
          </p:nvSpPr>
          <p:spPr>
            <a:xfrm flipH="1">
              <a:off x="9923565" y="2113391"/>
              <a:ext cx="1062618" cy="987749"/>
            </a:xfrm>
            <a:prstGeom prst="arc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id="{696236AD-5EF7-89D5-F148-F0A404714C84}"/>
                </a:ext>
              </a:extLst>
            </p:cNvPr>
            <p:cNvSpPr/>
            <p:nvPr/>
          </p:nvSpPr>
          <p:spPr>
            <a:xfrm rot="16200000" flipH="1">
              <a:off x="10082160" y="2900813"/>
              <a:ext cx="616520" cy="900675"/>
            </a:xfrm>
            <a:prstGeom prst="arc">
              <a:avLst>
                <a:gd name="adj1" fmla="val 16200000"/>
                <a:gd name="adj2" fmla="val 21546844"/>
              </a:avLst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Graphic 100" descr="Decision chart outline">
              <a:extLst>
                <a:ext uri="{FF2B5EF4-FFF2-40B4-BE49-F238E27FC236}">
                  <a16:creationId xmlns:a16="http://schemas.microsoft.com/office/drawing/2014/main" id="{40BB4A50-12B5-8760-250A-881EB8D6DE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35101" y="3372755"/>
              <a:ext cx="516898" cy="516898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6AF818E-F893-9BDE-958F-17525AEF1A9C}"/>
              </a:ext>
            </a:extLst>
          </p:cNvPr>
          <p:cNvSpPr txBox="1"/>
          <p:nvPr/>
        </p:nvSpPr>
        <p:spPr>
          <a:xfrm>
            <a:off x="10724693" y="3035848"/>
            <a:ext cx="1010121" cy="43088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Minimize the error.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2D09DC-F73A-1A7B-ED5D-B46A2F574794}"/>
              </a:ext>
            </a:extLst>
          </p:cNvPr>
          <p:cNvGrpSpPr/>
          <p:nvPr/>
        </p:nvGrpSpPr>
        <p:grpSpPr>
          <a:xfrm>
            <a:off x="8690929" y="4816219"/>
            <a:ext cx="2034696" cy="1710707"/>
            <a:chOff x="8690929" y="4816219"/>
            <a:chExt cx="2034696" cy="1710707"/>
          </a:xfrm>
        </p:grpSpPr>
        <p:pic>
          <p:nvPicPr>
            <p:cNvPr id="76" name="Picture 2" descr="undefined">
              <a:extLst>
                <a:ext uri="{FF2B5EF4-FFF2-40B4-BE49-F238E27FC236}">
                  <a16:creationId xmlns:a16="http://schemas.microsoft.com/office/drawing/2014/main" id="{EB2742BF-4D1E-4330-4265-6E2C3AF61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EDF6E1F-3B95-BC81-954A-22FC88C621A6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2023291-A313-980A-FD91-C25C57051197}"/>
              </a:ext>
            </a:extLst>
          </p:cNvPr>
          <p:cNvSpPr txBox="1"/>
          <p:nvPr/>
        </p:nvSpPr>
        <p:spPr>
          <a:xfrm>
            <a:off x="10794308" y="5115566"/>
            <a:ext cx="1000709" cy="9387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What should I do to maximize long-term rewards?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7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9A19-13B6-CFE6-C3FE-B07FB09F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RL vs 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18771-7037-0693-B74A-52A53C187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651459" cy="328372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Sequential problems</a:t>
            </a:r>
          </a:p>
          <a:p>
            <a:pPr lvl="1"/>
            <a:r>
              <a:rPr lang="en-US" dirty="0"/>
              <a:t>Actions now affect future outcomes</a:t>
            </a:r>
          </a:p>
          <a:p>
            <a:pPr lvl="1"/>
            <a:r>
              <a:rPr lang="en-US" dirty="0"/>
              <a:t>Delayed feedback (e.g., a good chess move leads to a win later)</a:t>
            </a:r>
          </a:p>
          <a:p>
            <a:pPr lvl="1"/>
            <a:r>
              <a:rPr lang="en-US" dirty="0"/>
              <a:t>Instead of minimizing prediction error, RL optimizes a long-term objective (cumulative reward over time).</a:t>
            </a:r>
          </a:p>
          <a:p>
            <a:pPr lvl="1"/>
            <a:endParaRPr lang="en-US" dirty="0"/>
          </a:p>
          <a:p>
            <a:r>
              <a:rPr lang="en-US" dirty="0"/>
              <a:t>Learning through interaction with an environment</a:t>
            </a:r>
          </a:p>
          <a:p>
            <a:pPr lvl="1"/>
            <a:r>
              <a:rPr lang="en-US" dirty="0"/>
              <a:t>No labeled training data</a:t>
            </a:r>
          </a:p>
          <a:p>
            <a:pPr lvl="1"/>
            <a:r>
              <a:rPr lang="en-US" dirty="0"/>
              <a:t>Rewards are produced from interacting with the environment</a:t>
            </a:r>
          </a:p>
          <a:p>
            <a:pPr lvl="1"/>
            <a:endParaRPr lang="en-US" dirty="0"/>
          </a:p>
          <a:p>
            <a:r>
              <a:rPr lang="en-US" dirty="0"/>
              <a:t>Dynamic, uncertain, and potentially changing environment. RL explicitly models </a:t>
            </a:r>
          </a:p>
          <a:p>
            <a:pPr lvl="1"/>
            <a:r>
              <a:rPr lang="en-US" dirty="0"/>
              <a:t>exploration (trying new actions) vs exploitation (using known good actions).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B0C70-9099-1CC7-6B8E-891CDEC1429C}"/>
              </a:ext>
            </a:extLst>
          </p:cNvPr>
          <p:cNvSpPr txBox="1"/>
          <p:nvPr/>
        </p:nvSpPr>
        <p:spPr>
          <a:xfrm>
            <a:off x="952150" y="4827864"/>
            <a:ext cx="1051560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Do not use RL 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already have high-quality labeled training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task is static (e.g., image classification, spam detection).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Decisions do not influence future states.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EB3902-7B06-DE94-A4DC-E2DBC2CF24DF}"/>
              </a:ext>
            </a:extLst>
          </p:cNvPr>
          <p:cNvGrpSpPr/>
          <p:nvPr/>
        </p:nvGrpSpPr>
        <p:grpSpPr>
          <a:xfrm>
            <a:off x="8804180" y="1785908"/>
            <a:ext cx="2479012" cy="2189818"/>
            <a:chOff x="8690929" y="4816219"/>
            <a:chExt cx="2034696" cy="1710707"/>
          </a:xfrm>
        </p:grpSpPr>
        <p:pic>
          <p:nvPicPr>
            <p:cNvPr id="6" name="Picture 2" descr="undefined">
              <a:extLst>
                <a:ext uri="{FF2B5EF4-FFF2-40B4-BE49-F238E27FC236}">
                  <a16:creationId xmlns:a16="http://schemas.microsoft.com/office/drawing/2014/main" id="{DD127940-4836-08AB-DDA2-DB1CFA252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8BCADC-744D-C8AB-8EBF-B0C99B6FA303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990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466" y="4641805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4191235" y="1607775"/>
            <a:ext cx="3103421" cy="2758535"/>
            <a:chOff x="1789245" y="1426327"/>
            <a:chExt cx="4207277" cy="4067913"/>
          </a:xfrm>
        </p:grpSpPr>
        <p:pic>
          <p:nvPicPr>
            <p:cNvPr id="12" name="Picture 2" descr="undefined">
              <a:extLst>
                <a:ext uri="{FF2B5EF4-FFF2-40B4-BE49-F238E27FC236}">
                  <a16:creationId xmlns:a16="http://schemas.microsoft.com/office/drawing/2014/main" id="{409B5E09-5A5B-D618-C596-774737BDC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9245" y="1426327"/>
              <a:ext cx="4207277" cy="4067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state, we will mean the agent state,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pPr lvl="1"/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pPr lvl="1"/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and not sufficient to predict the environment’s behavior.</a:t>
                </a:r>
              </a:p>
              <a:p>
                <a:pPr lvl="1"/>
                <a:r>
                  <a:rPr lang="en-US" dirty="0"/>
                  <a:t>Agent may try to reconstruct the complete state information (state estimation):</a:t>
                </a:r>
              </a:p>
              <a:p>
                <a:pPr marL="457200" lvl="1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formal model for this situation is a Partially Observable Markov Decision Processes (POMDP).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cars: only cheap cameras to reduce cost</a:t>
                </a:r>
              </a:p>
              <a:p>
                <a:pPr lvl="1"/>
                <a:r>
                  <a:rPr lang="en-US" dirty="0"/>
                  <a:t>Poker game: opponents’ cards and what cards will be dealt next are unknown</a:t>
                </a:r>
              </a:p>
              <a:p>
                <a:pPr lvl="1"/>
                <a:r>
                  <a:rPr lang="en-US" dirty="0"/>
                  <a:t>Human health status: Sensing is intrusive and expensive; the detailed system dynamics are unknown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48296" y="2411000"/>
            <a:ext cx="3463953" cy="3287868"/>
            <a:chOff x="8348296" y="2411000"/>
            <a:chExt cx="3463953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348296" y="4654446"/>
              <a:ext cx="3463953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interpreter’s </a:t>
              </a:r>
              <a:r>
                <a:rPr lang="en-US" b="1" dirty="0"/>
                <a:t>state estimation.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and action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(assuming full observability).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= last action leads to a winning board.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</a:t>
                </a:r>
                <a:r>
                  <a:rPr lang="en-US" sz="1600" b="1" dirty="0"/>
                  <a:t>return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 can be modeled as maximizing the expected cumulative sum of a received scalar reward signal.</a:t>
                </a:r>
                <a:br>
                  <a:rPr lang="en-US" sz="1600" dirty="0"/>
                </a:b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  <a:blipFill>
                <a:blip r:embed="rId3"/>
                <a:stretch>
                  <a:fillRect l="-340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</a:t>
              </a:r>
              <a:r>
                <a:rPr lang="en-US" b="1" dirty="0"/>
                <a:t>reward structure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</a:t>
            </a:r>
            <a:br>
              <a:rPr lang="en-US" sz="1600" dirty="0"/>
            </a:br>
            <a:r>
              <a:rPr lang="en-US" sz="1600" dirty="0"/>
              <a:t>This means that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engineering or reward shaping</a:t>
            </a:r>
            <a:r>
              <a:rPr lang="en-US" sz="1600" dirty="0"/>
              <a:t>. </a:t>
            </a:r>
            <a:br>
              <a:rPr lang="en-US" sz="1600" dirty="0"/>
            </a:br>
            <a:r>
              <a:rPr lang="en-US" sz="1600" dirty="0"/>
              <a:t>E.g., add a reward for intermediate goals, such as achieving 3 in a row in Connect-4.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016892" y="2556600"/>
            <a:ext cx="5132293" cy="36933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Reward engineering</a:t>
            </a:r>
            <a:r>
              <a:rPr lang="en-US" dirty="0"/>
              <a:t>: Designing an effective reward function is crucial for successful RL applications!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Learning</a:t>
            </a:r>
            <a:r>
              <a:rPr lang="en-US" dirty="0"/>
              <a:t>: 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Alignment</a:t>
            </a:r>
            <a:r>
              <a:rPr lang="en-US" dirty="0"/>
              <a:t>: The reward structure needs to represent the designer’s goals.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Reward hacking</a:t>
            </a:r>
            <a:r>
              <a:rPr lang="en-US" dirty="0"/>
              <a:t>: The agent exploits mistakes in the reward structure or model to maximize reward without solving the problem. 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</a:t>
            </a:r>
            <a:r>
              <a:rPr lang="en-US"/>
              <a:t>and Continuing Tasks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for one episode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blipFill>
                <a:blip r:embed="rId2"/>
                <a:stretch>
                  <a:fillRect l="-653" t="-1835" b="-6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0263"/>
                <a:ext cx="10515600" cy="155715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policy is the rule of how an agent chooses actions. </a:t>
                </a:r>
                <a:r>
                  <a:rPr lang="en-US" b="1" dirty="0"/>
                  <a:t>This is what RL wants to lean!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0263"/>
                <a:ext cx="10515600" cy="1557155"/>
              </a:xfrm>
              <a:blipFill>
                <a:blip r:embed="rId2"/>
                <a:stretch>
                  <a:fillRect l="-406" t="-6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E10DE44-0809-0959-B901-F5D88E61FA70}"/>
              </a:ext>
            </a:extLst>
          </p:cNvPr>
          <p:cNvGrpSpPr/>
          <p:nvPr/>
        </p:nvGrpSpPr>
        <p:grpSpPr>
          <a:xfrm>
            <a:off x="1059094" y="2628854"/>
            <a:ext cx="11007119" cy="2405828"/>
            <a:chOff x="838200" y="3757897"/>
            <a:chExt cx="11007119" cy="240582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170B705-B6B2-FFED-6948-6B2033B0B4BA}"/>
                </a:ext>
              </a:extLst>
            </p:cNvPr>
            <p:cNvGrpSpPr/>
            <p:nvPr/>
          </p:nvGrpSpPr>
          <p:grpSpPr>
            <a:xfrm>
              <a:off x="2438751" y="4156218"/>
              <a:ext cx="2045602" cy="2007507"/>
              <a:chOff x="3545173" y="2926112"/>
              <a:chExt cx="1034321" cy="123145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52780A8-3443-1216-4AC6-6B094EDF35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2CDA1FC-7A39-A664-5241-1B96C124C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7B2E9B6-EE61-E125-A0DF-EA361A867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E1DDA27-B142-4DEA-6BF2-620886EFF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430FF8-5CF4-C387-8969-558963CED998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CF97FD-0C96-F051-CECB-8DB03F889179}"/>
                  </a:ext>
                </a:extLst>
              </p:cNvPr>
              <p:cNvSpPr txBox="1"/>
              <p:nvPr/>
            </p:nvSpPr>
            <p:spPr>
              <a:xfrm>
                <a:off x="3900235" y="3304721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AE78DC-0594-114E-1F86-5633D1C6193F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/>
                  <a:t>o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AE3371D-4EBC-660E-FBF4-E43952D84DFF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/>
                  <a:t>o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4C2549-327C-1B02-7F46-4939CF125D6A}"/>
                </a:ext>
              </a:extLst>
            </p:cNvPr>
            <p:cNvSpPr txBox="1"/>
            <p:nvPr/>
          </p:nvSpPr>
          <p:spPr>
            <a:xfrm>
              <a:off x="6121035" y="4941791"/>
              <a:ext cx="14843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9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/>
                <p:nvPr/>
              </p:nvSpPr>
              <p:spPr>
                <a:xfrm>
                  <a:off x="838200" y="3757897"/>
                  <a:ext cx="1100711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b="1" dirty="0"/>
                    <a:t>Example</a:t>
                  </a:r>
                  <a:r>
                    <a:rPr lang="en-US" sz="1600" dirty="0"/>
                    <a:t>:</a:t>
                  </a:r>
                </a:p>
                <a:p>
                  <a:pPr marL="457200" lvl="1" indent="0">
                    <a:buNone/>
                  </a:pPr>
                  <a:r>
                    <a:rPr lang="en-US" sz="1600" dirty="0"/>
                    <a:t>State: 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			         Policy shown as a table: x plays bottom right corner for the board.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3757897"/>
                  <a:ext cx="1100711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332"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3646553"/>
                  </p:ext>
                </p:extLst>
              </p:nvPr>
            </p:nvGraphicFramePr>
            <p:xfrm>
              <a:off x="6639286" y="3179784"/>
              <a:ext cx="2206439" cy="16897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373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3646553"/>
                  </p:ext>
                </p:extLst>
              </p:nvPr>
            </p:nvGraphicFramePr>
            <p:xfrm>
              <a:off x="6639286" y="3179784"/>
              <a:ext cx="2206439" cy="16897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37393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613" r="-156643" b="-3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55" t="-1613" r="-1818" b="-35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46854-7821-2CD9-97D0-B217767245AE}"/>
              </a:ext>
            </a:extLst>
          </p:cNvPr>
          <p:cNvGrpSpPr/>
          <p:nvPr/>
        </p:nvGrpSpPr>
        <p:grpSpPr>
          <a:xfrm>
            <a:off x="6812111" y="3501094"/>
            <a:ext cx="495235" cy="466012"/>
            <a:chOff x="3475914" y="2799950"/>
            <a:chExt cx="1103580" cy="130735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421FE5-CA9D-04C2-6507-333A434F4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8BFF4C9-7FCD-ADCE-9218-7BE57297E9F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A08B700-427B-BE41-1D11-5A5A1BBB20F0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95D12C-8B9B-8FD1-AAE0-CF4ED0CB6102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8681FC1-44A4-6718-6C8C-F4174CEB337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00B79D2-7AC6-50E7-A399-FF60546E6061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2E9AD87-4B29-CE01-0736-621E6AD74B8E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E781A3-3801-3109-2BE3-F5601E0990E2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215264-5365-6EA5-A824-C8C8755CDE98}"/>
              </a:ext>
            </a:extLst>
          </p:cNvPr>
          <p:cNvGrpSpPr/>
          <p:nvPr/>
        </p:nvGrpSpPr>
        <p:grpSpPr>
          <a:xfrm>
            <a:off x="6847114" y="4037230"/>
            <a:ext cx="464155" cy="379375"/>
            <a:chOff x="3545173" y="3043003"/>
            <a:chExt cx="1034321" cy="106430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434E1A1-358F-6499-493A-FFB178D95B7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B720A99-1293-2D8D-4358-96066EE8A7F2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F53941-36C4-B2E4-9BCA-2D6017F7917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863E64E-49CF-30EC-AA63-AEDD31A114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F616F97-BC29-971D-8D92-C96AE147FE68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EAE1A1D-6AA8-8B14-D5E7-12BCC9BD16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6E51C2C-BB7E-D4A8-90CF-5C8F4B3B23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9094" y="5284454"/>
                <a:ext cx="10112823" cy="121389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chemeClr val="bg1"/>
                    </a:solidFill>
                  </a:rPr>
                  <a:t>Connection to  agents AI: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In AI, we called the policy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 agent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This implies that the state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needs to contain al relevant information from the percept sequence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6E51C2C-BB7E-D4A8-90CF-5C8F4B3B2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094" y="5284454"/>
                <a:ext cx="10112823" cy="1213891"/>
              </a:xfrm>
              <a:prstGeom prst="rect">
                <a:avLst/>
              </a:prstGeom>
              <a:blipFill>
                <a:blip r:embed="rId5"/>
                <a:stretch>
                  <a:fillRect l="-481" t="-7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  <a:blipFill>
                <a:blip r:embed="rId2"/>
                <a:stretch>
                  <a:fillRect l="-522" t="-7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6CD0D52-8F76-129A-3CED-F54B51936865}"/>
              </a:ext>
            </a:extLst>
          </p:cNvPr>
          <p:cNvSpPr txBox="1"/>
          <p:nvPr/>
        </p:nvSpPr>
        <p:spPr>
          <a:xfrm>
            <a:off x="933224" y="2974991"/>
            <a:ext cx="9781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Example</a:t>
            </a:r>
            <a:r>
              <a:rPr lang="en-US" dirty="0"/>
              <a:t>: Probability distribution indicating to play bottom right 60% of the time.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97820" y="3529004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blipFill>
                <a:blip r:embed="rId6"/>
                <a:stretch>
                  <a:fillRect l="-1038" t="-1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61318-BB4F-DE48-8C0A-1BCCF60C4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7A546-E99A-1300-531B-BBE473F4A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91A2D5-E742-1F9A-969C-EB8610C5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Important Issues in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FEA9F-7E0F-6BD5-5844-151231BE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37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42256-461E-DBF5-0113-542FA569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Issues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A5FC02-A888-EAEE-A698-D735AECA5673}"/>
              </a:ext>
            </a:extLst>
          </p:cNvPr>
          <p:cNvGrpSpPr/>
          <p:nvPr/>
        </p:nvGrpSpPr>
        <p:grpSpPr>
          <a:xfrm>
            <a:off x="2256448" y="1371600"/>
            <a:ext cx="7546976" cy="4595283"/>
            <a:chOff x="2256448" y="1371600"/>
            <a:chExt cx="7546976" cy="4595283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40F9F094-39DC-D678-BFB0-D7E27DCAEE6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84161980"/>
                </p:ext>
              </p:extLst>
            </p:nvPr>
          </p:nvGraphicFramePr>
          <p:xfrm>
            <a:off x="2256448" y="1371600"/>
            <a:ext cx="7546976" cy="4595283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3" name="Graphic 2" descr="Scales of justice with solid fill">
              <a:extLst>
                <a:ext uri="{FF2B5EF4-FFF2-40B4-BE49-F238E27FC236}">
                  <a16:creationId xmlns:a16="http://schemas.microsoft.com/office/drawing/2014/main" id="{F239E750-CBC7-6B29-088B-DB80E7A49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4148" y="2489003"/>
              <a:ext cx="622399" cy="622399"/>
            </a:xfrm>
            <a:prstGeom prst="rect">
              <a:avLst/>
            </a:prstGeom>
          </p:spPr>
        </p:pic>
        <p:pic>
          <p:nvPicPr>
            <p:cNvPr id="9" name="Graphic 8" descr="Upward trend with solid fill">
              <a:extLst>
                <a:ext uri="{FF2B5EF4-FFF2-40B4-BE49-F238E27FC236}">
                  <a16:creationId xmlns:a16="http://schemas.microsoft.com/office/drawing/2014/main" id="{7419F0B7-C4D7-5AD1-4DCA-6467742AF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38500" y="3482340"/>
              <a:ext cx="649445" cy="649445"/>
            </a:xfrm>
            <a:prstGeom prst="rect">
              <a:avLst/>
            </a:prstGeom>
          </p:spPr>
        </p:pic>
        <p:pic>
          <p:nvPicPr>
            <p:cNvPr id="11" name="Graphic 10" descr="Bullseye with solid fill">
              <a:extLst>
                <a:ext uri="{FF2B5EF4-FFF2-40B4-BE49-F238E27FC236}">
                  <a16:creationId xmlns:a16="http://schemas.microsoft.com/office/drawing/2014/main" id="{4145B927-618E-1B88-E956-13AD3D6C38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04767" y="5073149"/>
              <a:ext cx="622398" cy="622398"/>
            </a:xfrm>
            <a:prstGeom prst="rect">
              <a:avLst/>
            </a:prstGeom>
          </p:spPr>
        </p:pic>
        <p:pic>
          <p:nvPicPr>
            <p:cNvPr id="13" name="Graphic 12" descr="Lightning bolt with solid fill">
              <a:extLst>
                <a:ext uri="{FF2B5EF4-FFF2-40B4-BE49-F238E27FC236}">
                  <a16:creationId xmlns:a16="http://schemas.microsoft.com/office/drawing/2014/main" id="{0B2F7380-8502-196F-EA01-0E6D311C5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74343" y="5122139"/>
              <a:ext cx="622397" cy="622397"/>
            </a:xfrm>
            <a:prstGeom prst="rect">
              <a:avLst/>
            </a:prstGeom>
          </p:spPr>
        </p:pic>
        <p:pic>
          <p:nvPicPr>
            <p:cNvPr id="15" name="Graphic 14" descr="Hourglass 90% with solid fill">
              <a:extLst>
                <a:ext uri="{FF2B5EF4-FFF2-40B4-BE49-F238E27FC236}">
                  <a16:creationId xmlns:a16="http://schemas.microsoft.com/office/drawing/2014/main" id="{6B2CF773-61A6-E678-5174-66620A2FD5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105806" y="1597163"/>
              <a:ext cx="622397" cy="6223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01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CE26-ED1C-10D1-D0EF-659ED710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4666"/>
          </a:xfrm>
        </p:spPr>
        <p:txBody>
          <a:bodyPr>
            <a:normAutofit fontScale="90000"/>
          </a:bodyPr>
          <a:lstStyle/>
          <a:p>
            <a:r>
              <a:rPr lang="en-US" dirty="0"/>
              <a:t>Credit Assignment Problem: </a:t>
            </a:r>
            <a:br>
              <a:rPr lang="en-US" dirty="0"/>
            </a:br>
            <a:r>
              <a:rPr lang="en-US" dirty="0"/>
              <a:t>Sparse and Delayed Rewards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3BF90-F3B6-9AE5-47EC-637F2DAA6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7661"/>
            <a:ext cx="7895734" cy="429930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Credit assignment problem</a:t>
            </a:r>
            <a:r>
              <a:rPr lang="en-US" dirty="0"/>
              <a:t>: Delayed rewards make it hard to figure out which actions caused the reward.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What were the moves in a chess game that led to winning the game? </a:t>
            </a:r>
          </a:p>
          <a:p>
            <a:pPr lvl="1"/>
            <a:r>
              <a:rPr lang="en-US" dirty="0"/>
              <a:t>How much did getting the Bishop in the right position contribute?</a:t>
            </a:r>
          </a:p>
          <a:p>
            <a:endParaRPr lang="en-US" dirty="0"/>
          </a:p>
          <a:p>
            <a:r>
              <a:rPr lang="en-US" dirty="0"/>
              <a:t>To address this issue, we will learn methods like:</a:t>
            </a:r>
          </a:p>
          <a:p>
            <a:pPr lvl="1"/>
            <a:r>
              <a:rPr lang="en-US" dirty="0"/>
              <a:t>Temporal differencing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Reward shaping</a:t>
            </a:r>
          </a:p>
          <a:p>
            <a:pPr lvl="1"/>
            <a:endParaRPr lang="en-US" dirty="0"/>
          </a:p>
        </p:txBody>
      </p:sp>
      <p:pic>
        <p:nvPicPr>
          <p:cNvPr id="1026" name="Picture 2" descr="Check, Checkmate, &amp; Stalemate Differences Explained (with GIFs)">
            <a:extLst>
              <a:ext uri="{FF2B5EF4-FFF2-40B4-BE49-F238E27FC236}">
                <a16:creationId xmlns:a16="http://schemas.microsoft.com/office/drawing/2014/main" id="{7E0A04EE-C505-28A8-4E5B-D330A17E6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934" y="1936778"/>
            <a:ext cx="2688771" cy="268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40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agent must learn a good policy using the reward signal </a:t>
                </a:r>
                <a:r>
                  <a:rPr lang="en-US" b="1" dirty="0"/>
                  <a:t>while it is being evaluated </a:t>
                </a:r>
                <a:r>
                  <a:rPr lang="en-US" dirty="0"/>
                  <a:t>at the same time. E.g., learn to play chess while playing games.</a:t>
                </a:r>
              </a:p>
              <a:p>
                <a:r>
                  <a:rPr lang="en-US" dirty="0"/>
                  <a:t>At any point in time, the agent can choose actions to:</a:t>
                </a:r>
              </a:p>
              <a:p>
                <a:pPr lvl="1"/>
                <a:r>
                  <a:rPr lang="en-US" b="1" dirty="0"/>
                  <a:t>Exploit</a:t>
                </a:r>
                <a:r>
                  <a:rPr lang="en-US" dirty="0"/>
                  <a:t> the currently known best policy to maximize the return.</a:t>
                </a:r>
              </a:p>
              <a:p>
                <a:pPr lvl="1"/>
                <a:r>
                  <a:rPr lang="en-US" b="1" dirty="0"/>
                  <a:t>Explore</a:t>
                </a:r>
                <a:r>
                  <a:rPr lang="en-US" dirty="0"/>
                  <a:t> new actions to find out more about the environment. This could improve the policy and future returns. </a:t>
                </a:r>
              </a:p>
              <a:p>
                <a:endParaRPr lang="en-US" b="1" dirty="0"/>
              </a:p>
              <a:p>
                <a:r>
                  <a:rPr lang="en-US" b="1" dirty="0"/>
                  <a:t>Trade-off problem</a:t>
                </a:r>
                <a:r>
                  <a:rPr lang="en-US" dirty="0"/>
                  <a:t>: When should we explore?</a:t>
                </a:r>
              </a:p>
              <a:p>
                <a:endParaRPr lang="en-US" dirty="0"/>
              </a:p>
              <a:p>
                <a:r>
                  <a:rPr lang="en-US" b="1" dirty="0"/>
                  <a:t>Typical solution</a:t>
                </a:r>
                <a:r>
                  <a:rPr lang="en-US" dirty="0"/>
                  <a:t>: Follow a policy that exploits but sometimes performs exploratory actions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  <a:blipFill>
                <a:blip r:embed="rId2"/>
                <a:stretch>
                  <a:fillRect l="-947" t="-2202" r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6777729" y="2549054"/>
            <a:ext cx="4718892" cy="2566550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28732" y="4648882"/>
                <a:ext cx="1898603" cy="618664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39968" cy="759072"/>
          </a:xfrm>
        </p:spPr>
        <p:txBody>
          <a:bodyPr>
            <a:normAutofit/>
          </a:bodyPr>
          <a:lstStyle/>
          <a:p>
            <a:r>
              <a:rPr lang="en-US" dirty="0"/>
              <a:t>Convergence  and Optimality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Convergence</a:t>
                </a:r>
                <a:r>
                  <a:rPr lang="en-US" dirty="0"/>
                  <a:t>: Will learning eventually stabilize at a </a:t>
                </a:r>
                <a:r>
                  <a:rPr lang="en-US" b="1" dirty="0"/>
                  <a:t>fixed solution</a:t>
                </a:r>
                <a:r>
                  <a:rPr lang="en-US" dirty="0"/>
                  <a:t>?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Optimality</a:t>
                </a:r>
                <a:r>
                  <a:rPr lang="en-US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Affected by:</a:t>
                </a:r>
                <a:endParaRPr lang="en-US" dirty="0"/>
              </a:p>
              <a:p>
                <a:r>
                  <a:rPr lang="en-US" b="1" dirty="0"/>
                  <a:t>Bias </a:t>
                </a:r>
                <a:r>
                  <a:rPr lang="en-US" dirty="0"/>
                  <a:t>(systematic error):  Do we move towards the </a:t>
                </a:r>
                <a:r>
                  <a:rPr lang="en-US" b="1" dirty="0"/>
                  <a:t>optimal solution</a:t>
                </a:r>
                <a:r>
                  <a:rPr lang="en-US" dirty="0"/>
                  <a:t>? Estimation and approximation may introduce bias.</a:t>
                </a:r>
                <a:endParaRPr lang="en-US" b="1" dirty="0"/>
              </a:p>
              <a:p>
                <a:r>
                  <a:rPr lang="en-US" b="1" dirty="0"/>
                  <a:t>Variance </a:t>
                </a:r>
                <a:br>
                  <a:rPr lang="en-US" dirty="0"/>
                </a:br>
                <a:r>
                  <a:rPr lang="en-US" dirty="0"/>
                  <a:t>ML: The result of randomness (sampling)</a:t>
                </a:r>
                <a:br>
                  <a:rPr lang="en-US" dirty="0"/>
                </a:br>
                <a:r>
                  <a:rPr lang="en-US" dirty="0"/>
                  <a:t>RL: Changing data is added because the training data is not fixed. Observations and rewards depend on the agent’s current actions (i.e., behavior policy).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Question: Does the algorithm learn a similar solution if it is run several times? Does it </a:t>
                </a:r>
                <a:r>
                  <a:rPr lang="en-US" b="1" dirty="0"/>
                  <a:t>converge</a:t>
                </a:r>
                <a:r>
                  <a:rPr lang="en-US" dirty="0"/>
                  <a:t> or exhibit </a:t>
                </a:r>
                <a:r>
                  <a:rPr lang="en-US" b="1" dirty="0"/>
                  <a:t>instability</a:t>
                </a:r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General error components: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RL: The algorithm keeps learning, so variance changes over time.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we choose an algorithm, then we typically face a </a:t>
                </a:r>
                <a:r>
                  <a:rPr lang="en-US" b="1" dirty="0"/>
                  <a:t>variance vs. bias tradeoff</a:t>
                </a:r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will discuss this whenever we introduce a new algorithm.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  <a:blipFill>
                <a:blip r:embed="rId2"/>
                <a:stretch>
                  <a:fillRect l="-352" t="-1324" r="-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870D0FA-F2FE-5E06-CBBC-5AB0B0213F0F}"/>
              </a:ext>
            </a:extLst>
          </p:cNvPr>
          <p:cNvGrpSpPr/>
          <p:nvPr/>
        </p:nvGrpSpPr>
        <p:grpSpPr>
          <a:xfrm>
            <a:off x="9169167" y="998596"/>
            <a:ext cx="1824191" cy="453629"/>
            <a:chOff x="9169167" y="1466261"/>
            <a:chExt cx="1824191" cy="45362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567D5B5-1069-6B0F-6CD7-DA230B4EB66C}"/>
                </a:ext>
              </a:extLst>
            </p:cNvPr>
            <p:cNvSpPr/>
            <p:nvPr/>
          </p:nvSpPr>
          <p:spPr>
            <a:xfrm rot="16200000">
              <a:off x="10005849" y="932380"/>
              <a:ext cx="150828" cy="1824191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3142A9-84CE-825A-9E05-EA379DDC604E}"/>
                </a:ext>
              </a:extLst>
            </p:cNvPr>
            <p:cNvSpPr txBox="1"/>
            <p:nvPr/>
          </p:nvSpPr>
          <p:spPr>
            <a:xfrm>
              <a:off x="9431758" y="1466261"/>
              <a:ext cx="12990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Algorithm bias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EE726BB-4FBC-94A8-61B7-49B1D3FA9421}"/>
              </a:ext>
            </a:extLst>
          </p:cNvPr>
          <p:cNvGrpSpPr/>
          <p:nvPr/>
        </p:nvGrpSpPr>
        <p:grpSpPr>
          <a:xfrm>
            <a:off x="7678168" y="1678581"/>
            <a:ext cx="3628653" cy="1536451"/>
            <a:chOff x="7678168" y="2146246"/>
            <a:chExt cx="3628653" cy="1536451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6CE63-A49C-A21C-779D-1DB8B2BB05B8}"/>
                </a:ext>
              </a:extLst>
            </p:cNvPr>
            <p:cNvCxnSpPr>
              <a:cxnSpLocks/>
            </p:cNvCxnSpPr>
            <p:nvPr/>
          </p:nvCxnSpPr>
          <p:spPr>
            <a:xfrm>
              <a:off x="7678168" y="2146246"/>
              <a:ext cx="2454967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FB6E6-D693-46C8-15CF-288442AA339D}"/>
                </a:ext>
              </a:extLst>
            </p:cNvPr>
            <p:cNvSpPr txBox="1"/>
            <p:nvPr/>
          </p:nvSpPr>
          <p:spPr>
            <a:xfrm>
              <a:off x="8701151" y="2154850"/>
              <a:ext cx="8647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Variance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36686F8-26C0-B1F6-0745-81063A557FE3}"/>
                </a:ext>
              </a:extLst>
            </p:cNvPr>
            <p:cNvCxnSpPr>
              <a:cxnSpLocks/>
            </p:cNvCxnSpPr>
            <p:nvPr/>
          </p:nvCxnSpPr>
          <p:spPr>
            <a:xfrm>
              <a:off x="8862683" y="3318349"/>
              <a:ext cx="673916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3642C1-5AC9-0016-C46F-99088DB56A1F}"/>
                </a:ext>
              </a:extLst>
            </p:cNvPr>
            <p:cNvSpPr txBox="1"/>
            <p:nvPr/>
          </p:nvSpPr>
          <p:spPr>
            <a:xfrm>
              <a:off x="9187202" y="3159477"/>
              <a:ext cx="21196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Irreducible error </a:t>
              </a:r>
              <a:br>
                <a:rPr lang="en-US" sz="1400" dirty="0"/>
              </a:br>
              <a:r>
                <a:rPr lang="en-US" sz="1400" dirty="0"/>
                <a:t>(stochastic environment)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C5B531-9E90-FF45-5622-95E6E5C32852}"/>
                </a:ext>
              </a:extLst>
            </p:cNvPr>
            <p:cNvSpPr txBox="1"/>
            <p:nvPr/>
          </p:nvSpPr>
          <p:spPr>
            <a:xfrm>
              <a:off x="9038454" y="29511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EAC564B-F1C7-199E-5B83-438527B4E0AD}"/>
                </a:ext>
              </a:extLst>
            </p:cNvPr>
            <p:cNvCxnSpPr>
              <a:cxnSpLocks/>
            </p:cNvCxnSpPr>
            <p:nvPr/>
          </p:nvCxnSpPr>
          <p:spPr>
            <a:xfrm>
              <a:off x="8900533" y="2671307"/>
              <a:ext cx="531225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24D58D3-7658-4D97-7824-A4CD55FF5292}"/>
                </a:ext>
              </a:extLst>
            </p:cNvPr>
            <p:cNvSpPr txBox="1"/>
            <p:nvPr/>
          </p:nvSpPr>
          <p:spPr>
            <a:xfrm rot="5400000" flipH="1">
              <a:off x="9021845" y="2312166"/>
              <a:ext cx="288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A3F4F7-6372-9530-C6B2-684F8D32688A}"/>
                </a:ext>
              </a:extLst>
            </p:cNvPr>
            <p:cNvCxnSpPr>
              <a:cxnSpLocks/>
            </p:cNvCxnSpPr>
            <p:nvPr/>
          </p:nvCxnSpPr>
          <p:spPr>
            <a:xfrm>
              <a:off x="8383163" y="2942537"/>
              <a:ext cx="1174494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812472-4F63-2627-BF75-DCD3B5B9BB62}"/>
                </a:ext>
              </a:extLst>
            </p:cNvPr>
            <p:cNvSpPr txBox="1"/>
            <p:nvPr/>
          </p:nvSpPr>
          <p:spPr>
            <a:xfrm>
              <a:off x="9030052" y="2637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B35D8BF-7233-EF13-C203-4AAEF1DBF7BA}"/>
                </a:ext>
              </a:extLst>
            </p:cNvPr>
            <p:cNvSpPr txBox="1"/>
            <p:nvPr/>
          </p:nvSpPr>
          <p:spPr>
            <a:xfrm>
              <a:off x="9424174" y="2495593"/>
              <a:ext cx="17855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 randomness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31220C-A11F-53AF-0FFE-0B5349A97CA4}"/>
                </a:ext>
              </a:extLst>
            </p:cNvPr>
            <p:cNvSpPr txBox="1"/>
            <p:nvPr/>
          </p:nvSpPr>
          <p:spPr>
            <a:xfrm>
              <a:off x="9539223" y="2808179"/>
              <a:ext cx="13429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Changing data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AE6C30-9641-629B-C816-35FD3721715E}"/>
              </a:ext>
            </a:extLst>
          </p:cNvPr>
          <p:cNvGrpSpPr/>
          <p:nvPr/>
        </p:nvGrpSpPr>
        <p:grpSpPr>
          <a:xfrm>
            <a:off x="7759817" y="572800"/>
            <a:ext cx="3996654" cy="1010643"/>
            <a:chOff x="7759817" y="1040465"/>
            <a:chExt cx="3996654" cy="101064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EC91BFF-7CB3-2377-AE6C-06B594A08427}"/>
                </a:ext>
              </a:extLst>
            </p:cNvPr>
            <p:cNvCxnSpPr>
              <a:cxnSpLocks/>
            </p:cNvCxnSpPr>
            <p:nvPr/>
          </p:nvCxnSpPr>
          <p:spPr>
            <a:xfrm>
              <a:off x="7759817" y="2015627"/>
              <a:ext cx="3744372" cy="4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E79028-CBA0-53E3-48F8-74F12CA0608C}"/>
                </a:ext>
              </a:extLst>
            </p:cNvPr>
            <p:cNvSpPr/>
            <p:nvPr/>
          </p:nvSpPr>
          <p:spPr>
            <a:xfrm>
              <a:off x="10993359" y="1992385"/>
              <a:ext cx="71307" cy="58723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C086E3-557E-A6C8-3944-425B9FB75304}"/>
                </a:ext>
              </a:extLst>
            </p:cNvPr>
            <p:cNvSpPr/>
            <p:nvPr/>
          </p:nvSpPr>
          <p:spPr>
            <a:xfrm>
              <a:off x="9097860" y="1992385"/>
              <a:ext cx="71307" cy="5872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3FDA67D-FF21-8DF6-515E-61D2209EC433}"/>
                </a:ext>
              </a:extLst>
            </p:cNvPr>
            <p:cNvSpPr txBox="1"/>
            <p:nvPr/>
          </p:nvSpPr>
          <p:spPr>
            <a:xfrm>
              <a:off x="10904956" y="1040465"/>
              <a:ext cx="851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Optimal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72B8758-7882-1213-4630-01954B74EBE4}"/>
                </a:ext>
              </a:extLst>
            </p:cNvPr>
            <p:cNvSpPr txBox="1"/>
            <p:nvPr/>
          </p:nvSpPr>
          <p:spPr>
            <a:xfrm>
              <a:off x="7759817" y="1183378"/>
              <a:ext cx="1090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Algorithm’s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1A381E-1F00-9121-F4F2-42271FF88E6D}"/>
                </a:ext>
              </a:extLst>
            </p:cNvPr>
            <p:cNvCxnSpPr/>
            <p:nvPr/>
          </p:nvCxnSpPr>
          <p:spPr>
            <a:xfrm>
              <a:off x="8565160" y="1706598"/>
              <a:ext cx="420598" cy="213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F884BBF-3410-E5F0-1213-21AFA49C4E8A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1064666" y="1563685"/>
              <a:ext cx="266048" cy="3562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AE2BA4-3D61-9E9A-9281-330034E5A0F7}"/>
              </a:ext>
            </a:extLst>
          </p:cNvPr>
          <p:cNvGrpSpPr/>
          <p:nvPr/>
        </p:nvGrpSpPr>
        <p:grpSpPr>
          <a:xfrm>
            <a:off x="7756072" y="3591756"/>
            <a:ext cx="4266122" cy="2915729"/>
            <a:chOff x="7756072" y="3591756"/>
            <a:chExt cx="4266122" cy="2915729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BD5C3F5-A278-9917-3A89-AD695411935A}"/>
                </a:ext>
              </a:extLst>
            </p:cNvPr>
            <p:cNvGrpSpPr/>
            <p:nvPr/>
          </p:nvGrpSpPr>
          <p:grpSpPr>
            <a:xfrm>
              <a:off x="7756072" y="3591756"/>
              <a:ext cx="4182396" cy="2915729"/>
              <a:chOff x="7756072" y="3591756"/>
              <a:chExt cx="4182396" cy="291572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4D838CF-2EA3-E8AD-FB2B-A98C28243113}"/>
                  </a:ext>
                </a:extLst>
              </p:cNvPr>
              <p:cNvGrpSpPr/>
              <p:nvPr/>
            </p:nvGrpSpPr>
            <p:grpSpPr>
              <a:xfrm>
                <a:off x="9351164" y="4291049"/>
                <a:ext cx="1824191" cy="453629"/>
                <a:chOff x="9169167" y="1466261"/>
                <a:chExt cx="1824191" cy="453629"/>
              </a:xfrm>
            </p:grpSpPr>
            <p:sp>
              <p:nvSpPr>
                <p:cNvPr id="48" name="Right Brace 47">
                  <a:extLst>
                    <a:ext uri="{FF2B5EF4-FFF2-40B4-BE49-F238E27FC236}">
                      <a16:creationId xmlns:a16="http://schemas.microsoft.com/office/drawing/2014/main" id="{6C350FF2-FF00-1E70-49A8-A01A13ACE00D}"/>
                    </a:ext>
                  </a:extLst>
                </p:cNvPr>
                <p:cNvSpPr/>
                <p:nvPr/>
              </p:nvSpPr>
              <p:spPr>
                <a:xfrm rot="16200000">
                  <a:off x="10005849" y="932380"/>
                  <a:ext cx="150828" cy="1824191"/>
                </a:xfrm>
                <a:prstGeom prst="righ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24695C4-6170-F2FC-407E-C1D083D281B6}"/>
                    </a:ext>
                  </a:extLst>
                </p:cNvPr>
                <p:cNvSpPr txBox="1"/>
                <p:nvPr/>
              </p:nvSpPr>
              <p:spPr>
                <a:xfrm>
                  <a:off x="9431758" y="1466261"/>
                  <a:ext cx="129901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Algorithm bias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765BBAE-0A2C-131E-423F-4CEE5BF572C4}"/>
                  </a:ext>
                </a:extLst>
              </p:cNvPr>
              <p:cNvGrpSpPr/>
              <p:nvPr/>
            </p:nvGrpSpPr>
            <p:grpSpPr>
              <a:xfrm>
                <a:off x="8949276" y="4959786"/>
                <a:ext cx="2539542" cy="1547699"/>
                <a:chOff x="8767279" y="2134998"/>
                <a:chExt cx="2539542" cy="1547699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3F3DC3-3454-B7CE-93E6-96A0ACD92C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48055" y="2134998"/>
                  <a:ext cx="601951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E61EEA2-EE43-6B71-472B-BB9278020441}"/>
                    </a:ext>
                  </a:extLst>
                </p:cNvPr>
                <p:cNvSpPr txBox="1"/>
                <p:nvPr/>
              </p:nvSpPr>
              <p:spPr>
                <a:xfrm>
                  <a:off x="8767279" y="2146246"/>
                  <a:ext cx="86472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Variance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BF7921F-7B28-C026-5812-6EF119080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62683" y="3318349"/>
                  <a:ext cx="673916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1714559-7538-77A3-F934-C0778FAABCA1}"/>
                    </a:ext>
                  </a:extLst>
                </p:cNvPr>
                <p:cNvSpPr txBox="1"/>
                <p:nvPr/>
              </p:nvSpPr>
              <p:spPr>
                <a:xfrm>
                  <a:off x="9187202" y="3159477"/>
                  <a:ext cx="211961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Irreducible error </a:t>
                  </a:r>
                  <a:br>
                    <a:rPr lang="en-US" sz="1400" dirty="0"/>
                  </a:br>
                  <a:r>
                    <a:rPr lang="en-US" sz="1400" dirty="0"/>
                    <a:t>(stochastic environment)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9DEB8724-CBCC-4B97-0128-8C9C3CB95D99}"/>
                    </a:ext>
                  </a:extLst>
                </p:cNvPr>
                <p:cNvSpPr txBox="1"/>
                <p:nvPr/>
              </p:nvSpPr>
              <p:spPr>
                <a:xfrm>
                  <a:off x="9038454" y="2951119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A88B0B7-E21F-C4F4-07B1-BAC0D019F101}"/>
                    </a:ext>
                  </a:extLst>
                </p:cNvPr>
                <p:cNvSpPr txBox="1"/>
                <p:nvPr/>
              </p:nvSpPr>
              <p:spPr>
                <a:xfrm rot="5400000" flipH="1">
                  <a:off x="9021845" y="2312166"/>
                  <a:ext cx="2885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=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AA2B4C5-2039-C0DA-EF8A-515E18624637}"/>
                    </a:ext>
                  </a:extLst>
                </p:cNvPr>
                <p:cNvSpPr txBox="1"/>
                <p:nvPr/>
              </p:nvSpPr>
              <p:spPr>
                <a:xfrm>
                  <a:off x="8954685" y="2533974"/>
                  <a:ext cx="461665" cy="555601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dirty="0"/>
                    <a:t>0 + 0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DD484E1-93F3-3878-F4E9-E160E4655152}"/>
                    </a:ext>
                  </a:extLst>
                </p:cNvPr>
                <p:cNvSpPr txBox="1"/>
                <p:nvPr/>
              </p:nvSpPr>
              <p:spPr>
                <a:xfrm>
                  <a:off x="9424174" y="2495593"/>
                  <a:ext cx="178555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Sample randomness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F110627-1534-D906-C53E-D37CFBF89F4F}"/>
                    </a:ext>
                  </a:extLst>
                </p:cNvPr>
                <p:cNvSpPr txBox="1"/>
                <p:nvPr/>
              </p:nvSpPr>
              <p:spPr>
                <a:xfrm>
                  <a:off x="9557657" y="2808179"/>
                  <a:ext cx="13060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Changing data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347D323-830B-EF36-F342-622860B84E8B}"/>
                  </a:ext>
                </a:extLst>
              </p:cNvPr>
              <p:cNvGrpSpPr/>
              <p:nvPr/>
            </p:nvGrpSpPr>
            <p:grpSpPr>
              <a:xfrm>
                <a:off x="7941814" y="3865253"/>
                <a:ext cx="3996654" cy="1010643"/>
                <a:chOff x="7759817" y="1040465"/>
                <a:chExt cx="3996654" cy="1010643"/>
              </a:xfrm>
            </p:grpSpPr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3FC02E1-C912-CF63-EC49-9D12DA28EC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9817" y="2015627"/>
                  <a:ext cx="3744372" cy="41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E55B72BE-770C-CAE1-FB15-AC36F936391C}"/>
                    </a:ext>
                  </a:extLst>
                </p:cNvPr>
                <p:cNvSpPr/>
                <p:nvPr/>
              </p:nvSpPr>
              <p:spPr>
                <a:xfrm>
                  <a:off x="10993359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9016288A-9559-64A1-6681-707D7FF335F5}"/>
                    </a:ext>
                  </a:extLst>
                </p:cNvPr>
                <p:cNvSpPr/>
                <p:nvPr/>
              </p:nvSpPr>
              <p:spPr>
                <a:xfrm>
                  <a:off x="9097860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894F10-0414-D6D9-186A-CC1ADF594C95}"/>
                    </a:ext>
                  </a:extLst>
                </p:cNvPr>
                <p:cNvSpPr txBox="1"/>
                <p:nvPr/>
              </p:nvSpPr>
              <p:spPr>
                <a:xfrm>
                  <a:off x="10904956" y="1040465"/>
                  <a:ext cx="85151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Optimal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3436912-08B6-60C2-4FDF-F40C748CB1D8}"/>
                    </a:ext>
                  </a:extLst>
                </p:cNvPr>
                <p:cNvSpPr txBox="1"/>
                <p:nvPr/>
              </p:nvSpPr>
              <p:spPr>
                <a:xfrm>
                  <a:off x="7759817" y="1183378"/>
                  <a:ext cx="109042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Algorithm’s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A0B4ADDF-BBA2-699C-CB20-587CE9090FAC}"/>
                    </a:ext>
                  </a:extLst>
                </p:cNvPr>
                <p:cNvCxnSpPr/>
                <p:nvPr/>
              </p:nvCxnSpPr>
              <p:spPr>
                <a:xfrm>
                  <a:off x="8565160" y="1706598"/>
                  <a:ext cx="420598" cy="2132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861D48FC-A6E2-2A66-26BB-0DC0B8BEA469}"/>
                    </a:ext>
                  </a:extLst>
                </p:cNvPr>
                <p:cNvCxnSpPr>
                  <a:stCxn id="66" idx="2"/>
                </p:cNvCxnSpPr>
                <p:nvPr/>
              </p:nvCxnSpPr>
              <p:spPr>
                <a:xfrm flipH="1">
                  <a:off x="11064666" y="1563685"/>
                  <a:ext cx="266048" cy="3562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F372A64-12A6-D17D-A28A-92A101FE2384}"/>
                  </a:ext>
                </a:extLst>
              </p:cNvPr>
              <p:cNvSpPr txBox="1"/>
              <p:nvPr/>
            </p:nvSpPr>
            <p:spPr>
              <a:xfrm>
                <a:off x="7756072" y="3591756"/>
                <a:ext cx="2022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After Convergence</a:t>
                </a:r>
              </a:p>
            </p:txBody>
          </p:sp>
        </p:grpSp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6DDB3966-4503-773A-0120-B6BC84DFCA45}"/>
                </a:ext>
              </a:extLst>
            </p:cNvPr>
            <p:cNvSpPr/>
            <p:nvPr/>
          </p:nvSpPr>
          <p:spPr>
            <a:xfrm>
              <a:off x="11306821" y="5320381"/>
              <a:ext cx="84903" cy="66388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44ECB-6393-F769-B3E5-03E4F923445A}"/>
                </a:ext>
              </a:extLst>
            </p:cNvPr>
            <p:cNvSpPr txBox="1"/>
            <p:nvPr/>
          </p:nvSpPr>
          <p:spPr>
            <a:xfrm>
              <a:off x="11376619" y="5400552"/>
              <a:ext cx="6455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Fixed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71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7EE7-88F7-50DB-0377-695A9AFB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C19B-FD8D-C525-24CE-5D700EB1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Issue</a:t>
            </a:r>
            <a:r>
              <a:rPr lang="en-US" dirty="0"/>
              <a:t>: Real-world environments are expensive and slow (robots, healthcare,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Sample efficiency</a:t>
            </a:r>
            <a:r>
              <a:rPr lang="en-US" dirty="0"/>
              <a:t>: How many interactions does an algorithm need to learn a good policy?</a:t>
            </a:r>
          </a:p>
          <a:p>
            <a:r>
              <a:rPr lang="en-US" b="1" dirty="0"/>
              <a:t>High sample efficiency</a:t>
            </a:r>
            <a:r>
              <a:rPr lang="en-US" dirty="0"/>
              <a:t>: Learns quickly with </a:t>
            </a:r>
            <a:r>
              <a:rPr lang="en-US" b="1" dirty="0"/>
              <a:t>few interactions.</a:t>
            </a:r>
          </a:p>
          <a:p>
            <a:r>
              <a:rPr lang="en-US" b="1" dirty="0"/>
              <a:t>Low sample efficiency</a:t>
            </a:r>
            <a:r>
              <a:rPr lang="en-US" dirty="0"/>
              <a:t>: Requires a lot</a:t>
            </a:r>
            <a:r>
              <a:rPr lang="en-US" b="1" dirty="0"/>
              <a:t> of data</a:t>
            </a:r>
            <a:r>
              <a:rPr lang="en-US" dirty="0"/>
              <a:t> to perform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RL often has low </a:t>
            </a:r>
            <a:r>
              <a:rPr lang="en-US" b="1" dirty="0"/>
              <a:t>sample efficiency </a:t>
            </a:r>
            <a:r>
              <a:rPr lang="en-US" dirty="0"/>
              <a:t>(needs millions of interactions).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We will cover key approaches to improve sample efficiency:</a:t>
            </a:r>
          </a:p>
          <a:p>
            <a:pPr lvl="1"/>
            <a:r>
              <a:rPr lang="en-US" dirty="0"/>
              <a:t>Model-based RL (planning with dynamic programming)</a:t>
            </a:r>
          </a:p>
          <a:p>
            <a:pPr lvl="1"/>
            <a:r>
              <a:rPr lang="en-US" dirty="0"/>
              <a:t>Learning and planning (e.g., Dyna)</a:t>
            </a:r>
          </a:p>
          <a:p>
            <a:pPr lvl="1"/>
            <a:r>
              <a:rPr lang="en-US" dirty="0"/>
              <a:t>Experience replay</a:t>
            </a:r>
          </a:p>
          <a:p>
            <a:pPr lvl="1"/>
            <a:r>
              <a:rPr lang="en-US" dirty="0"/>
              <a:t>Offline RL on a prerecorded data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1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09F92-5AA4-A7BC-C052-B9238CBE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5607"/>
          </a:xfrm>
        </p:spPr>
        <p:txBody>
          <a:bodyPr>
            <a:normAutofit/>
          </a:bodyPr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D3927-58FE-EF28-E65C-32D67F7CE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959"/>
            <a:ext cx="10515600" cy="440400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Interesting problems are very large with many or continuous states and actions.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Linear function approximation</a:t>
            </a:r>
          </a:p>
          <a:p>
            <a:pPr lvl="1"/>
            <a:r>
              <a:rPr lang="en-US" dirty="0"/>
              <a:t>enables </a:t>
            </a:r>
            <a:r>
              <a:rPr lang="en-US" b="1" dirty="0"/>
              <a:t>generalization</a:t>
            </a:r>
            <a:r>
              <a:rPr lang="en-US" dirty="0"/>
              <a:t> (we can predict a value for a state we have not seen before), </a:t>
            </a:r>
          </a:p>
          <a:p>
            <a:pPr lvl="1"/>
            <a:r>
              <a:rPr lang="en-US" dirty="0"/>
              <a:t>but it can affect </a:t>
            </a:r>
            <a:r>
              <a:rPr lang="en-US" b="1" dirty="0"/>
              <a:t>stability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Non-linear function approximation (neural networks in DRL) together with bootstrapping lead to:</a:t>
            </a:r>
          </a:p>
          <a:p>
            <a:pPr lvl="1"/>
            <a:r>
              <a:rPr lang="en-US" dirty="0"/>
              <a:t>Divergence</a:t>
            </a:r>
          </a:p>
          <a:p>
            <a:pPr lvl="1"/>
            <a:r>
              <a:rPr lang="en-US" dirty="0"/>
              <a:t>Oscillations</a:t>
            </a:r>
          </a:p>
          <a:p>
            <a:pPr lvl="1"/>
            <a:r>
              <a:rPr lang="en-US" dirty="0"/>
              <a:t>Overestimation bias</a:t>
            </a:r>
          </a:p>
          <a:p>
            <a:pPr lvl="1"/>
            <a:endParaRPr lang="en-US" dirty="0"/>
          </a:p>
          <a:p>
            <a:r>
              <a:rPr lang="en-US" dirty="0"/>
              <a:t>We will cover these issues and potential fixes when we talk about approximation and DRL.</a:t>
            </a:r>
          </a:p>
        </p:txBody>
      </p:sp>
    </p:spTree>
    <p:extLst>
      <p:ext uri="{BB962C8B-B14F-4D97-AF65-F5344CB8AC3E}">
        <p14:creationId xmlns:p14="http://schemas.microsoft.com/office/powerpoint/2010/main" val="24516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984524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08436"/>
            <a:ext cx="5157787" cy="2352645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84524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08436"/>
            <a:ext cx="5183188" cy="2352645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b="1" dirty="0"/>
              <a:t>Data-driven approach</a:t>
            </a:r>
            <a:r>
              <a:rPr lang="en-US" dirty="0"/>
              <a:t>: The agent interacts with the environment via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vs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Specify a controller for a dynamic process.</a:t>
                </a:r>
              </a:p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 </a:t>
                </a:r>
                <a:r>
                  <a:rPr lang="en-US" dirty="0"/>
                  <a:t>(planning),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 and robust </a:t>
                </a:r>
                <a:r>
                  <a:rPr lang="en-US" dirty="0"/>
                  <a:t>solutions.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</a:t>
                </a:r>
                <a:r>
                  <a:rPr lang="en-US" sz="1200"/>
                  <a:t>(feature vector</a:t>
                </a:r>
                <a:r>
                  <a:rPr lang="en-US" sz="12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and the role of the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The important RL issues of:</a:t>
            </a:r>
          </a:p>
          <a:p>
            <a:pPr lvl="1"/>
            <a:r>
              <a:rPr lang="en-US" sz="1300" dirty="0"/>
              <a:t>Credit assignment problem</a:t>
            </a:r>
          </a:p>
          <a:p>
            <a:pPr lvl="1"/>
            <a:r>
              <a:rPr lang="en-US" sz="1300" dirty="0"/>
              <a:t>Exploitation vs exploration</a:t>
            </a:r>
          </a:p>
          <a:p>
            <a:pPr lvl="1"/>
            <a:r>
              <a:rPr lang="en-US" sz="1300" dirty="0"/>
              <a:t>Sample efficiency</a:t>
            </a:r>
          </a:p>
          <a:p>
            <a:pPr lvl="1"/>
            <a:r>
              <a:rPr lang="en-US" sz="1300" dirty="0"/>
              <a:t>Variance vs bias</a:t>
            </a:r>
          </a:p>
          <a:p>
            <a:pPr lvl="1"/>
            <a:r>
              <a:rPr lang="en-US" sz="1300" dirty="0"/>
              <a:t>Approximation and generalization</a:t>
            </a:r>
          </a:p>
          <a:p>
            <a:pPr marL="457200" lvl="1" indent="0">
              <a:buNone/>
            </a:pPr>
            <a:endParaRPr lang="en-US" sz="1300" dirty="0"/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8532</TotalTime>
  <Words>3917</Words>
  <Application>Microsoft Office PowerPoint</Application>
  <PresentationFormat>Widescreen</PresentationFormat>
  <Paragraphs>578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When to Use RL vs Supervised Learning</vt:lpstr>
      <vt:lpstr>Many Faces of Reinforcement Learning</vt:lpstr>
      <vt:lpstr>Contemporary application examples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Episodic and Continuing Tasks</vt:lpstr>
      <vt:lpstr>Actions</vt:lpstr>
      <vt:lpstr>Deterministic Policy</vt:lpstr>
      <vt:lpstr>Stochastic Policy</vt:lpstr>
      <vt:lpstr>A Small Example</vt:lpstr>
      <vt:lpstr>Maze Example</vt:lpstr>
      <vt:lpstr>Maze Example: RL-Solution as a Policy</vt:lpstr>
      <vt:lpstr>Maze Example: RL-Solution as a Value Function</vt:lpstr>
      <vt:lpstr>Important Issues in RL</vt:lpstr>
      <vt:lpstr>Important Issues</vt:lpstr>
      <vt:lpstr>Credit Assignment Problem:  Sparse and Delayed Rewards</vt:lpstr>
      <vt:lpstr>Exploration vs. Exploitation</vt:lpstr>
      <vt:lpstr>Convergence  and Optimality </vt:lpstr>
      <vt:lpstr>Sample Efficiency</vt:lpstr>
      <vt:lpstr>Scalability</vt:lpstr>
      <vt:lpstr>RL and Planning</vt:lpstr>
      <vt:lpstr>Model-based vs. Model-free RL</vt:lpstr>
      <vt:lpstr>RL vs Optimal Control Theory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114</cp:revision>
  <dcterms:created xsi:type="dcterms:W3CDTF">2025-09-08T14:44:49Z</dcterms:created>
  <dcterms:modified xsi:type="dcterms:W3CDTF">2026-08-31T14:57:29Z</dcterms:modified>
</cp:coreProperties>
</file>