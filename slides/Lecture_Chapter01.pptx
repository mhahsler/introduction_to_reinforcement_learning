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263" r:id="rId4"/>
    <p:sldId id="317" r:id="rId5"/>
    <p:sldId id="348" r:id="rId6"/>
    <p:sldId id="265" r:id="rId7"/>
    <p:sldId id="314" r:id="rId8"/>
    <p:sldId id="268" r:id="rId9"/>
    <p:sldId id="270" r:id="rId10"/>
    <p:sldId id="319" r:id="rId11"/>
    <p:sldId id="352" r:id="rId12"/>
    <p:sldId id="384" r:id="rId13"/>
    <p:sldId id="385" r:id="rId14"/>
    <p:sldId id="326" r:id="rId15"/>
    <p:sldId id="349" r:id="rId16"/>
    <p:sldId id="276" r:id="rId17"/>
    <p:sldId id="320" r:id="rId18"/>
    <p:sldId id="278" r:id="rId19"/>
    <p:sldId id="279" r:id="rId20"/>
    <p:sldId id="321" r:id="rId21"/>
    <p:sldId id="353" r:id="rId22"/>
    <p:sldId id="327" r:id="rId23"/>
    <p:sldId id="386" r:id="rId24"/>
    <p:sldId id="387" r:id="rId25"/>
    <p:sldId id="332" r:id="rId26"/>
    <p:sldId id="350" r:id="rId27"/>
    <p:sldId id="335" r:id="rId28"/>
    <p:sldId id="336" r:id="rId29"/>
    <p:sldId id="337" r:id="rId30"/>
    <p:sldId id="351" r:id="rId31"/>
    <p:sldId id="388" r:id="rId32"/>
    <p:sldId id="389" r:id="rId33"/>
    <p:sldId id="34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270"/>
            <p14:sldId id="319"/>
          </p14:sldIdLst>
        </p14:section>
        <p14:section name="RL Basics - State" id="{1EF9568E-E6EA-43A7-A485-40CC16B3A20D}">
          <p14:sldIdLst>
            <p14:sldId id="352"/>
            <p14:sldId id="384"/>
            <p14:sldId id="385"/>
            <p14:sldId id="326"/>
          </p14:sldIdLst>
        </p14:section>
        <p14:section name="RL Basics Reward" id="{E21F16A8-A95D-48EB-BDD4-0909B7C5A5F1}">
          <p14:sldIdLst>
            <p14:sldId id="349"/>
            <p14:sldId id="276"/>
            <p14:sldId id="320"/>
            <p14:sldId id="278"/>
            <p14:sldId id="279"/>
            <p14:sldId id="321"/>
          </p14:sldIdLst>
        </p14:section>
        <p14:section name="RL Basics - Actions and Policy" id="{D7B36B21-2FD8-4566-9DCC-7C9869C906F4}">
          <p14:sldIdLst>
            <p14:sldId id="353"/>
            <p14:sldId id="327"/>
            <p14:sldId id="386"/>
            <p14:sldId id="387"/>
            <p14:sldId id="332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0" autoAdjust="0"/>
    <p:restoredTop sz="94660"/>
  </p:normalViewPr>
  <p:slideViewPr>
    <p:cSldViewPr snapToGrid="0">
      <p:cViewPr varScale="1">
        <p:scale>
          <a:sx n="79" d="100"/>
          <a:sy n="79" d="100"/>
        </p:scale>
        <p:origin x="68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0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10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0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8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11" Type="http://schemas.openxmlformats.org/officeDocument/2006/relationships/image" Target="../media/image27.jpg"/><Relationship Id="rId5" Type="http://schemas.openxmlformats.org/officeDocument/2006/relationships/image" Target="../media/image22.png"/><Relationship Id="rId10" Type="http://schemas.openxmlformats.org/officeDocument/2006/relationships/image" Target="../media/image26.jpg"/><Relationship Id="rId4" Type="http://schemas.openxmlformats.org/officeDocument/2006/relationships/image" Target="../media/image21.png"/><Relationship Id="rId9" Type="http://schemas.openxmlformats.org/officeDocument/2006/relationships/hyperlink" Target="https://creativecommons.org/licenses/by-nc/4.0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4.png"/><Relationship Id="rId7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4.png"/><Relationship Id="rId7" Type="http://schemas.openxmlformats.org/officeDocument/2006/relationships/image" Target="../media/image3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4.png"/><Relationship Id="rId9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.png"/><Relationship Id="rId7" Type="http://schemas.openxmlformats.org/officeDocument/2006/relationships/image" Target="../media/image43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sv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.png"/><Relationship Id="rId5" Type="http://schemas.openxmlformats.org/officeDocument/2006/relationships/image" Target="../media/image4.png"/><Relationship Id="rId10" Type="http://schemas.openxmlformats.org/officeDocument/2006/relationships/image" Target="../media/image67.png"/><Relationship Id="rId4" Type="http://schemas.openxmlformats.org/officeDocument/2006/relationships/image" Target="../media/image62.png"/><Relationship Id="rId9" Type="http://schemas.openxmlformats.org/officeDocument/2006/relationships/image" Target="../media/image6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6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b="1" dirty="0"/>
              <a:t>Markov decision processes</a:t>
            </a:r>
          </a:p>
          <a:p>
            <a:r>
              <a:rPr lang="en-US" b="1" dirty="0"/>
              <a:t>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Approximate Solution Methods</a:t>
            </a:r>
            <a:endParaRPr lang="en-US" dirty="0"/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pPr lvl="1"/>
            <a:r>
              <a:rPr lang="en-US" dirty="0"/>
              <a:t>Reward</a:t>
            </a:r>
          </a:p>
          <a:p>
            <a:pPr lvl="1"/>
            <a:r>
              <a:rPr lang="en-US" dirty="0"/>
              <a:t>States</a:t>
            </a:r>
          </a:p>
          <a:p>
            <a:pPr lvl="1"/>
            <a:r>
              <a:rPr lang="en-US" dirty="0"/>
              <a:t>Actions and policies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discover actions by trying them (d</a:t>
            </a:r>
            <a:r>
              <a:rPr dirty="0"/>
              <a:t>ata-driven</a:t>
            </a:r>
            <a:r>
              <a:rPr lang="en-US" dirty="0"/>
              <a:t>)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/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We often assume a time delay of one unit between executing the action and receiving the observation as well as the reward. This is called a discrete-time process (vs a continuous-time process).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66046" y="3606083"/>
                <a:ext cx="2952033" cy="1807860"/>
              </a:xfrm>
              <a:prstGeom prst="wedgeRoundRectCallout">
                <a:avLst>
                  <a:gd name="adj1" fmla="val -131493"/>
                  <a:gd name="adj2" fmla="val 20415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3606083"/>
                <a:ext cx="2952033" cy="1807860"/>
              </a:xfrm>
              <a:prstGeom prst="wedgeRoundRectCallout">
                <a:avLst>
                  <a:gd name="adj1" fmla="val -131493"/>
                  <a:gd name="adj2" fmla="val 20415"/>
                  <a:gd name="adj3" fmla="val 16667"/>
                </a:avLst>
              </a:prstGeom>
              <a:blipFill>
                <a:blip r:embed="rId2"/>
                <a:stretch>
                  <a:fillRect t="-13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830416"/>
                <a:ext cx="3771720" cy="2243396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830416"/>
                <a:ext cx="3771720" cy="2243396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4E0FB57-A8F3-C51E-E3F8-BE72DEC5E123}"/>
              </a:ext>
            </a:extLst>
          </p:cNvPr>
          <p:cNvGrpSpPr/>
          <p:nvPr/>
        </p:nvGrpSpPr>
        <p:grpSpPr>
          <a:xfrm>
            <a:off x="1586821" y="1395043"/>
            <a:ext cx="4207277" cy="4067913"/>
            <a:chOff x="1586821" y="1395043"/>
            <a:chExt cx="4207277" cy="406791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94A6329-3154-A3C3-1569-C581ED57786B}"/>
                </a:ext>
              </a:extLst>
            </p:cNvPr>
            <p:cNvGrpSpPr/>
            <p:nvPr/>
          </p:nvGrpSpPr>
          <p:grpSpPr>
            <a:xfrm>
              <a:off x="1586821" y="1395043"/>
              <a:ext cx="4207277" cy="4067913"/>
              <a:chOff x="1586821" y="1395043"/>
              <a:chExt cx="4207277" cy="4067913"/>
            </a:xfrm>
          </p:grpSpPr>
          <p:pic>
            <p:nvPicPr>
              <p:cNvPr id="1026" name="Picture 2" descr="undefined">
                <a:extLst>
                  <a:ext uri="{FF2B5EF4-FFF2-40B4-BE49-F238E27FC236}">
                    <a16:creationId xmlns:a16="http://schemas.microsoft.com/office/drawing/2014/main" id="{3C85739F-DA4A-3E31-59A1-72C3F0652A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9FFD21E-A444-F220-1768-AC2A0A136F2F}"/>
                </a:ext>
              </a:extLst>
            </p:cNvPr>
            <p:cNvSpPr txBox="1"/>
            <p:nvPr/>
          </p:nvSpPr>
          <p:spPr>
            <a:xfrm rot="20152154">
              <a:off x="1664921" y="1552713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/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1607217" y="2020402"/>
            <a:ext cx="8586590" cy="4472473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6"/>
              <a:ext cx="1409178" cy="748713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536" b="1" spc="-21" dirty="0">
                  <a:cs typeface="Arial"/>
                </a:rPr>
                <a:t>Machine Learning</a:t>
              </a:r>
              <a:endParaRPr sz="2536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19579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Unsupervised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Process </a:t>
              </a:r>
              <a:r>
                <a:rPr sz="1268" dirty="0">
                  <a:cs typeface="Arial"/>
                </a:rPr>
                <a:t>and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interpret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data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based</a:t>
              </a:r>
              <a:r>
                <a:rPr sz="1268" spc="-42" dirty="0">
                  <a:cs typeface="Arial"/>
                </a:rPr>
                <a:t> only</a:t>
              </a:r>
              <a:endParaRPr sz="1268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268" dirty="0">
                  <a:cs typeface="Arial"/>
                </a:rPr>
                <a:t>on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the</a:t>
              </a:r>
              <a:r>
                <a:rPr sz="1268" spc="-53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endParaRPr sz="1268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Develop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models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map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and</a:t>
              </a:r>
              <a:r>
                <a:rPr sz="1268" spc="-3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output </a:t>
              </a:r>
              <a:r>
                <a:rPr sz="1268" spc="-42" dirty="0">
                  <a:cs typeface="Arial"/>
                </a:rPr>
                <a:t>data</a:t>
              </a:r>
              <a:endParaRPr sz="1268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8"/>
              <a:ext cx="1555464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479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479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Learn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optimal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control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actions</a:t>
              </a:r>
              <a:r>
                <a:rPr sz="1268" spc="-42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maximize</a:t>
              </a:r>
              <a:r>
                <a:rPr sz="1268" spc="1057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long-</a:t>
              </a:r>
              <a:r>
                <a:rPr sz="1268" dirty="0">
                  <a:cs typeface="Arial"/>
                </a:rPr>
                <a:t>term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reward</a:t>
              </a:r>
              <a:endParaRPr sz="1268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7"/>
              <a:ext cx="92334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Clustering</a:t>
              </a:r>
              <a:endParaRPr sz="1479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Dimension</a:t>
              </a:r>
              <a:r>
                <a:rPr sz="1479" spc="127" dirty="0">
                  <a:cs typeface="Arial"/>
                </a:rPr>
                <a:t> </a:t>
              </a:r>
              <a:r>
                <a:rPr sz="1479" spc="-21" dirty="0">
                  <a:cs typeface="Arial"/>
                </a:rPr>
                <a:t>Reduction</a:t>
              </a:r>
              <a:endParaRPr sz="1479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Regression</a:t>
              </a:r>
              <a:endParaRPr sz="1479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Classification</a:t>
              </a:r>
              <a:endParaRPr sz="1479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2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Single-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Multi-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70208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Machine learning is studied in AI to learn from examples.</a:t>
            </a:r>
          </a:p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RL is a 3</a:t>
            </a:r>
            <a:r>
              <a:rPr lang="en-US" sz="2114" spc="-42" baseline="30000" dirty="0">
                <a:cs typeface="Tahoma"/>
              </a:rPr>
              <a:t>rd</a:t>
            </a:r>
            <a:r>
              <a:rPr lang="en-US" sz="2114" spc="-42" dirty="0">
                <a:cs typeface="Tahoma"/>
              </a:rPr>
              <a:t> type</a:t>
            </a:r>
            <a:r>
              <a:rPr sz="2114" spc="-42" dirty="0">
                <a:cs typeface="Tahoma"/>
              </a:rPr>
              <a:t> </a:t>
            </a:r>
            <a:r>
              <a:rPr sz="2114" dirty="0">
                <a:cs typeface="Tahoma"/>
              </a:rPr>
              <a:t>of</a:t>
            </a:r>
            <a:r>
              <a:rPr sz="2114" spc="-42" dirty="0">
                <a:cs typeface="Tahoma"/>
              </a:rPr>
              <a:t> </a:t>
            </a:r>
            <a:r>
              <a:rPr sz="2114" spc="-74" dirty="0">
                <a:cs typeface="Tahoma"/>
              </a:rPr>
              <a:t>machine</a:t>
            </a:r>
            <a:r>
              <a:rPr sz="2114" spc="-53" dirty="0">
                <a:cs typeface="Tahoma"/>
              </a:rPr>
              <a:t> learning</a:t>
            </a:r>
            <a:endParaRPr sz="2114" dirty="0"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319872" y="3812396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-127603" y="5804003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608893" y="1418265"/>
            <a:ext cx="1453630" cy="2216590"/>
            <a:chOff x="9094849" y="1563664"/>
            <a:chExt cx="2458705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49" y="1563664"/>
              <a:ext cx="2388165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36519" y="1344275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411449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Observations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simple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5A7762-7D8F-7A0A-C295-9A1622A3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42BB37-E046-7971-D104-973DFB3F5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81A7D06-4121-83F9-EBA1-56326FFA2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37CB1E-70C8-6D06-7E3F-81A9288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States</a:t>
            </a:r>
          </a:p>
        </p:txBody>
      </p:sp>
    </p:spTree>
    <p:extLst>
      <p:ext uri="{BB962C8B-B14F-4D97-AF65-F5344CB8AC3E}">
        <p14:creationId xmlns:p14="http://schemas.microsoft.com/office/powerpoint/2010/main" val="3191967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contains all information needed to determine what happens next:</a:t>
                </a:r>
              </a:p>
              <a:p>
                <a:pPr lvl="2"/>
                <a:r>
                  <a:rPr lang="en-US" dirty="0"/>
                  <a:t>Physical states, e.g.,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sentiment,…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it knows about the environment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 (e.g., what is my current strategy), including beliefs,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With state, we will mean the agent state 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  <a:blipFill>
                <a:blip r:embed="rId2"/>
                <a:stretch>
                  <a:fillRect l="-766" t="-2168" r="-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CEDC59-7DE2-F0BF-30DA-9C2FFBDA2E6D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80A47B2-AB16-D2FE-6BD7-BEB807607AB3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Speech Bubble: Rectangle with Corners Rounded 17">
              <a:extLst>
                <a:ext uri="{FF2B5EF4-FFF2-40B4-BE49-F238E27FC236}">
                  <a16:creationId xmlns:a16="http://schemas.microsoft.com/office/drawing/2014/main" id="{85A5F9A3-FC7A-B640-21A3-1B7C2F89AF09}"/>
                </a:ext>
              </a:extLst>
            </p:cNvPr>
            <p:cNvSpPr/>
            <p:nvPr/>
          </p:nvSpPr>
          <p:spPr>
            <a:xfrm>
              <a:off x="9361357" y="4654446"/>
              <a:ext cx="2450892" cy="1044422"/>
            </a:xfrm>
            <a:prstGeom prst="wedgeRoundRectCallout">
              <a:avLst>
                <a:gd name="adj1" fmla="val -29701"/>
                <a:gd name="adj2" fmla="val -66343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is an information state: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Agent may try to reconstruct the complete state information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bSup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update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p>
                            </m:sSubSup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using state estimation. </a:t>
                </a:r>
              </a:p>
              <a:p>
                <a:r>
                  <a:rPr lang="en-US" dirty="0"/>
                  <a:t>This leads to Partially Observable Markov Decision Processes (POMDP)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POMDP examples </a:t>
                </a:r>
              </a:p>
              <a:p>
                <a:r>
                  <a:rPr lang="en-US" dirty="0"/>
                  <a:t>Self-driving cars with only cameras and no radar/lidar (to reduce cost)</a:t>
                </a:r>
              </a:p>
              <a:p>
                <a:r>
                  <a:rPr lang="en-US" dirty="0"/>
                  <a:t>Poker game (opponents’ cards are unknown)</a:t>
                </a:r>
              </a:p>
              <a:p>
                <a:r>
                  <a:rPr lang="en-US" dirty="0"/>
                  <a:t>Human health status (we cannot sense everything and the detailed system dynamics are unknown)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741" t="-1794" r="-2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9361357" y="4654446"/>
              <a:ext cx="2450892" cy="1044422"/>
            </a:xfrm>
            <a:prstGeom prst="wedgeRoundRectCallout">
              <a:avLst>
                <a:gd name="adj1" fmla="val -29701"/>
                <a:gd name="adj2" fmla="val -66343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Immediate Rewards</a:t>
            </a: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7153838" cy="2562274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dirty="0"/>
                  <a:t>An </a:t>
                </a:r>
                <a:r>
                  <a:rPr lang="en-US" b="1" dirty="0"/>
                  <a:t>immediate reward </a:t>
                </a:r>
                <a:r>
                  <a:rPr lang="en-US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b="1" dirty="0"/>
                  <a:t>Reward function</a:t>
                </a:r>
                <a:r>
                  <a:rPr lang="en-US" dirty="0"/>
                  <a:t>: The reward is often defined as a function of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dirty="0"/>
                  <a:t>1 point for winning a game (state is a winning board). 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dirty="0"/>
                  <a:t>Since the interpreter is part of the agent design, the reward signal can also be manipulated to improve learning. E.g., add a reward for intermediate goals, such as achieving 3 in a row in Connect-4. </a:t>
                </a:r>
              </a:p>
              <a:p>
                <a:pPr>
                  <a:spcBef>
                    <a:spcPts val="708"/>
                  </a:spcBef>
                </a:pPr>
                <a:endParaRPr lang="en-US" dirty="0"/>
              </a:p>
              <a:p>
                <a:pPr>
                  <a:spcBef>
                    <a:spcPts val="708"/>
                  </a:spcBef>
                </a:pPr>
                <a:r>
                  <a:rPr lang="en-US" dirty="0"/>
                  <a:t>The </a:t>
                </a:r>
                <a:r>
                  <a:rPr lang="en-US" b="1" dirty="0"/>
                  <a:t>agent’s task </a:t>
                </a:r>
                <a:r>
                  <a:rPr lang="en-US" dirty="0"/>
                  <a:t>is to choose actions to maximize the long-term reward called the return.</a:t>
                </a:r>
              </a:p>
            </p:txBody>
          </p:sp>
        </mc:Choice>
        <mc:Fallback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7153838" cy="2562274"/>
              </a:xfrm>
              <a:blipFill>
                <a:blip r:embed="rId2"/>
                <a:stretch>
                  <a:fillRect l="-597" t="-3563" r="-512" b="-2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840481" y="4104668"/>
                <a:ext cx="7583444" cy="2263633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b="1" dirty="0"/>
                  <a:t>Reward hypothesis</a:t>
                </a:r>
                <a:r>
                  <a:rPr lang="en-US" dirty="0"/>
                  <a:t>: all goals and purposes, whether in AI or humans, can be reduced to maximizing the expected value of a cumulative scalar reward signal: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algn="l"/>
                <a:endParaRPr lang="en-US" dirty="0"/>
              </a:p>
              <a:p>
                <a:r>
                  <a:rPr lang="en-US" dirty="0"/>
                  <a:t>That is, the </a:t>
                </a:r>
                <a:r>
                  <a:rPr lang="en-US" sz="2000" b="1" dirty="0"/>
                  <a:t>immediate reward structure fully determines the goal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1" y="4104668"/>
                <a:ext cx="7583444" cy="2263633"/>
              </a:xfrm>
              <a:prstGeom prst="rect">
                <a:avLst/>
              </a:prstGeom>
              <a:blipFill>
                <a:blip r:embed="rId3"/>
                <a:stretch>
                  <a:fillRect l="-642" t="-800" r="-481" b="-3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361357" y="4654446"/>
              <a:ext cx="2450892" cy="1044422"/>
            </a:xfrm>
            <a:prstGeom prst="wedgeRoundRectCallout">
              <a:avLst>
                <a:gd name="adj1" fmla="val -29701"/>
                <a:gd name="adj2" fmla="val -66343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includes designing the interpreter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dirty="0"/>
              <a:t>Classical control task 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spc="-74" dirty="0"/>
              <a:t>characteristics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430472" y="2982123"/>
            <a:ext cx="4767574" cy="2308324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Designing effective reward functions is crucial for successful RL applications!</a:t>
            </a:r>
          </a:p>
          <a:p>
            <a:endParaRPr lang="en-US" dirty="0"/>
          </a:p>
          <a:p>
            <a:r>
              <a:rPr lang="en-US" dirty="0"/>
              <a:t>It is hard to define a good reward function: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Alignment problem and reward hacking</a:t>
            </a: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Task-dependent return definitions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EB83A3-881B-5095-F5D4-546297FA9A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110791"/>
                <a:ext cx="7893106" cy="3313637"/>
              </a:xfr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(infinite horizon).</a:t>
                </a:r>
              </a:p>
              <a:p>
                <a:pPr lvl="1"/>
                <a:r>
                  <a:rPr lang="en-US" dirty="0"/>
                  <a:t>Example: A smart thermostat controlling room temperature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b="0" i="1" dirty="0" smtClean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dirty="0" smtClean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dirty="0" smtClean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b="0" i="1" spc="-85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b="0" i="1" spc="-85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b="0" i="1" spc="-85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b="0" i="1" spc="-85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b="0" i="1" spc="-85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b="0" i="1" spc="-85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b="0" i="1" spc="-85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b="0" i="1" spc="-85" dirty="0" smtClean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spc="-85" dirty="0" smtClean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b="0" i="1" spc="-85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pc="-85" dirty="0" smtClean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b="0" i="1" spc="32" dirty="0" smtClean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 is a weight prevents infinite sums.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EB83A3-881B-5095-F5D4-546297FA9A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110791"/>
                <a:ext cx="7893106" cy="3313637"/>
              </a:xfrm>
              <a:blipFill>
                <a:blip r:embed="rId2"/>
                <a:stretch>
                  <a:fillRect l="-850" t="-31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7"/>
                <a:ext cx="10515600" cy="193499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775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finite horizon.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becomes a finite sum with horizon </a:t>
                </a:r>
                <a14:m>
                  <m:oMath xmlns:m="http://schemas.openxmlformats.org/officeDocument/2006/math">
                    <m:r>
                      <a:rPr lang="en-US"/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dirty="0"/>
                          </m:ctrlPr>
                        </m:sSubPr>
                        <m:e>
                          <m:r>
                            <a:rPr lang="en-US" dirty="0"/>
                            <m:t>𝐺</m:t>
                          </m:r>
                        </m:e>
                        <m:sub>
                          <m:r>
                            <a:rPr lang="en-US" dirty="0"/>
                            <m:t>𝑡</m:t>
                          </m:r>
                        </m:sub>
                      </m:sSub>
                      <m:r>
                        <a:rPr lang="en-US" dirty="0"/>
                        <m:t>=</m:t>
                      </m:r>
                      <m:sSub>
                        <m:sSubPr>
                          <m:ctrlPr>
                            <a:rPr lang="en-US" dirty="0"/>
                          </m:ctrlPr>
                        </m:sSubPr>
                        <m:e>
                          <m:r>
                            <a:rPr lang="en-US" dirty="0"/>
                            <m:t>𝑅</m:t>
                          </m:r>
                        </m:e>
                        <m:sub>
                          <m:r>
                            <a:rPr lang="en-US" dirty="0"/>
                            <m:t>𝑡</m:t>
                          </m:r>
                          <m:r>
                            <a:rPr lang="en-US" dirty="0"/>
                            <m:t>+1</m:t>
                          </m:r>
                        </m:sub>
                      </m:sSub>
                      <m:r>
                        <a:rPr lang="nn-NO" dirty="0"/>
                        <m:t>+</m:t>
                      </m:r>
                      <m:sSub>
                        <m:sSubPr>
                          <m:ctrlPr>
                            <a:rPr lang="en-US" dirty="0"/>
                          </m:ctrlPr>
                        </m:sSubPr>
                        <m:e>
                          <m:r>
                            <a:rPr lang="en-US" dirty="0"/>
                            <m:t>𝑅</m:t>
                          </m:r>
                        </m:e>
                        <m:sub>
                          <m:r>
                            <a:rPr lang="en-US" dirty="0"/>
                            <m:t>𝑡</m:t>
                          </m:r>
                          <m:r>
                            <a:rPr lang="en-US" dirty="0"/>
                            <m:t>+2</m:t>
                          </m:r>
                        </m:sub>
                      </m:sSub>
                      <m:r>
                        <a:rPr lang="nn-NO" dirty="0"/>
                        <m:t>+</m:t>
                      </m:r>
                      <m:r>
                        <a:rPr lang="en-US" dirty="0"/>
                        <m:t>⋅ ⋅ ⋅</m:t>
                      </m:r>
                      <m:r>
                        <a:rPr lang="nn-NO" dirty="0"/>
                        <m:t>+</m:t>
                      </m:r>
                      <m:sSub>
                        <m:sSubPr>
                          <m:ctrlPr>
                            <a:rPr lang="en-US" dirty="0"/>
                          </m:ctrlPr>
                        </m:sSubPr>
                        <m:e>
                          <m:r>
                            <a:rPr lang="en-US" dirty="0"/>
                            <m:t>𝑅</m:t>
                          </m:r>
                        </m:e>
                        <m:sub>
                          <m:r>
                            <a:rPr lang="en-US" dirty="0"/>
                            <m:t>𝑇</m:t>
                          </m:r>
                        </m:sub>
                      </m:sSub>
                      <m:r>
                        <a:rPr lang="en-US" dirty="0"/>
                        <m:t>=</m:t>
                      </m:r>
                      <m:nary>
                        <m:naryPr>
                          <m:chr m:val="∑"/>
                          <m:ctrlPr>
                            <a:rPr lang="en-US" dirty="0"/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/>
                            <m:t>𝑘</m:t>
                          </m:r>
                          <m:r>
                            <a:rPr lang="en-US" dirty="0"/>
                            <m:t>=1</m:t>
                          </m:r>
                        </m:sub>
                        <m:sup>
                          <m:r>
                            <a:rPr lang="en-US" dirty="0"/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dirty="0"/>
                              </m:ctrlPr>
                            </m:sSubPr>
                            <m:e>
                              <m:r>
                                <a:rPr lang="en-US" dirty="0"/>
                                <m:t>𝑅</m:t>
                              </m:r>
                            </m:e>
                            <m:sub>
                              <m:r>
                                <a:rPr lang="en-US" dirty="0"/>
                                <m:t>𝑡</m:t>
                              </m:r>
                              <m:r>
                                <a:rPr lang="en-US" dirty="0"/>
                                <m:t>+</m:t>
                              </m:r>
                              <m:r>
                                <a:rPr lang="en-US" dirty="0"/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7"/>
                <a:ext cx="10515600" cy="1934994"/>
              </a:xfrm>
              <a:prstGeom prst="rect">
                <a:avLst/>
              </a:prstGeom>
              <a:blipFill>
                <a:blip r:embed="rId3"/>
                <a:stretch>
                  <a:fillRect l="-754" t="-63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614606" y="4384261"/>
                <a:ext cx="4264503" cy="1323048"/>
              </a:xfrm>
              <a:prstGeom prst="wedgeRoundRectCallout">
                <a:avLst>
                  <a:gd name="adj1" fmla="val -54040"/>
                  <a:gd name="adj2" fmla="val 79626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4606" y="4384261"/>
                <a:ext cx="4264503" cy="1323048"/>
              </a:xfrm>
              <a:prstGeom prst="wedgeRoundRectCallout">
                <a:avLst>
                  <a:gd name="adj1" fmla="val -54040"/>
                  <a:gd name="adj2" fmla="val 79626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4DEBFE-DDC8-6917-A9C6-1CC2D170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41904E-8244-EAB5-B9EB-6DD2962AE1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B62A4F8-9D24-DAC3-E733-C4AF72B59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1D56AF-611E-6C86-789C-AE2A56BBC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Actions and policies</a:t>
            </a:r>
          </a:p>
        </p:txBody>
      </p:sp>
    </p:spTree>
    <p:extLst>
      <p:ext uri="{BB962C8B-B14F-4D97-AF65-F5344CB8AC3E}">
        <p14:creationId xmlns:p14="http://schemas.microsoft.com/office/powerpoint/2010/main" val="1741075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141138" cy="47796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 to maximize its long-term reward.</a:t>
                </a:r>
              </a:p>
              <a:p>
                <a:endParaRPr lang="en-US" dirty="0"/>
              </a:p>
              <a:p>
                <a:r>
                  <a:rPr lang="en-US" dirty="0"/>
                  <a:t>We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Often available actions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 card during a Blackjack game (FAS)</a:t>
                </a:r>
              </a:p>
              <a:p>
                <a:pPr lvl="1"/>
                <a:r>
                  <a:rPr lang="en-US" dirty="0"/>
                  <a:t>Steering while driving an autonomous car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141138" cy="4779633"/>
              </a:xfrm>
              <a:blipFill>
                <a:blip r:embed="rId2"/>
                <a:stretch>
                  <a:fillRect l="-1025" t="-2551" r="-10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2"/>
                <a:ext cx="10515600" cy="2844942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A policy is the rule of how an agent chooses actions.</a:t>
                </a:r>
              </a:p>
              <a:p>
                <a:r>
                  <a:rPr lang="en-US" dirty="0"/>
                  <a:t>The choice depends on the current knowledge of the agent, which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or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Example:</a:t>
                </a:r>
              </a:p>
              <a:p>
                <a:pPr marL="457200" lvl="1" indent="0">
                  <a:buNone/>
                </a:pPr>
                <a:r>
                  <a:rPr lang="en-US" dirty="0"/>
                  <a:t>State: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			        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: x always plays bottom right corner.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2"/>
                <a:ext cx="10515600" cy="2844942"/>
              </a:xfrm>
              <a:blipFill>
                <a:blip r:embed="rId2"/>
                <a:stretch>
                  <a:fillRect l="-928" t="-4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1170B705-B6B2-FFED-6948-6B2033B0B4BA}"/>
              </a:ext>
            </a:extLst>
          </p:cNvPr>
          <p:cNvGrpSpPr/>
          <p:nvPr/>
        </p:nvGrpSpPr>
        <p:grpSpPr>
          <a:xfrm>
            <a:off x="2649089" y="3480876"/>
            <a:ext cx="2045602" cy="2069063"/>
            <a:chOff x="3545173" y="2926112"/>
            <a:chExt cx="1034321" cy="12692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52780A8-3443-1216-4AC6-6B094EDF3516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2CDA1FC-7A39-A664-5241-1B96C124CA55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7B2E9B6-EE61-E125-A0DF-EA361A867CE6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E1DDA27-B142-4DEA-6BF2-620886EFF6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430FF8-5CF4-C387-8969-558963CED998}"/>
                </a:ext>
              </a:extLst>
            </p:cNvPr>
            <p:cNvSpPr txBox="1"/>
            <p:nvPr/>
          </p:nvSpPr>
          <p:spPr>
            <a:xfrm>
              <a:off x="3559424" y="2926112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CF97FD-0C96-F051-CECB-8DB03F889179}"/>
                </a:ext>
              </a:extLst>
            </p:cNvPr>
            <p:cNvSpPr txBox="1"/>
            <p:nvPr/>
          </p:nvSpPr>
          <p:spPr>
            <a:xfrm>
              <a:off x="3900235" y="3304721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7AE78DC-0594-114E-1F86-5633D1C6193F}"/>
                </a:ext>
              </a:extLst>
            </p:cNvPr>
            <p:cNvSpPr txBox="1"/>
            <p:nvPr/>
          </p:nvSpPr>
          <p:spPr>
            <a:xfrm>
              <a:off x="4229724" y="3314238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AE3371D-4EBC-660E-FBF4-E43952D84DFF}"/>
                </a:ext>
              </a:extLst>
            </p:cNvPr>
            <p:cNvSpPr txBox="1"/>
            <p:nvPr/>
          </p:nvSpPr>
          <p:spPr>
            <a:xfrm>
              <a:off x="3892738" y="3685570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mapping from states to the probability of selecting each action: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Example: Probability distribution indicating to play bottom right most of the time.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  <a:blipFill>
                <a:blip r:embed="rId2"/>
                <a:stretch>
                  <a:fillRect l="-696" t="-6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9431419"/>
                  </p:ext>
                </p:extLst>
              </p:nvPr>
            </p:nvGraphicFramePr>
            <p:xfrm>
              <a:off x="2713220" y="3443990"/>
              <a:ext cx="3200398" cy="290419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974361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469034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9431419"/>
                  </p:ext>
                </p:extLst>
              </p:nvPr>
            </p:nvGraphicFramePr>
            <p:xfrm>
              <a:off x="2713220" y="3443990"/>
              <a:ext cx="3200398" cy="290419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974361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469034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429" r="-327419" b="-58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7640" t="-1429" r="-152174" b="-58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8672" t="-1429" r="-1660" b="-58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8672" t="-87654" r="-1660" b="-4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8672" t="-185366" r="-1660" b="-3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8672" t="-285366" r="-1660" b="-2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8672" t="-390123" r="-1660" b="-1037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8672" t="-484146" r="-1660" b="-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one 1 and all other probabilities being 0!</a:t>
            </a:r>
          </a:p>
        </p:txBody>
      </p:sp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Policy: Exploration and exploitation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88A32-413E-5E55-FF1F-00F719F84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1496947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The agent needs to learn the optimal policy using the reward signal. </a:t>
            </a:r>
          </a:p>
          <a:p>
            <a:r>
              <a:rPr lang="en-US" dirty="0"/>
              <a:t>At any point in time, the agent can choose to do:</a:t>
            </a:r>
          </a:p>
          <a:p>
            <a:pPr lvl="1"/>
            <a:r>
              <a:rPr lang="en-US" b="1" dirty="0"/>
              <a:t>Exploitation</a:t>
            </a:r>
            <a:r>
              <a:rPr lang="en-US" dirty="0"/>
              <a:t>: maximize return using current information about the environment (= use current best policy).</a:t>
            </a:r>
          </a:p>
          <a:p>
            <a:pPr lvl="1"/>
            <a:r>
              <a:rPr lang="en-US" b="1" dirty="0"/>
              <a:t>Exploration</a:t>
            </a:r>
            <a:r>
              <a:rPr lang="en-US" dirty="0"/>
              <a:t>: try out a new action to find out more about the environment. Has the potential to improve the policy. </a:t>
            </a:r>
          </a:p>
          <a:p>
            <a:r>
              <a:rPr lang="en-US" b="1" dirty="0"/>
              <a:t>Trade-off problem</a:t>
            </a:r>
            <a:r>
              <a:rPr lang="en-US" dirty="0"/>
              <a:t>: What is the best split between both strategies?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2791752" y="3277274"/>
            <a:ext cx="5915278" cy="2898017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More of my current favorite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76695" y="4767815"/>
                <a:ext cx="1898602" cy="618665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91914" y="4095562"/>
                <a:ext cx="4342726" cy="175432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Problem statement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{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At goal: episode terminates </a:t>
                </a:r>
              </a:p>
            </p:txBody>
          </p:sp>
        </mc:Choice>
        <mc:Fallback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1914" y="4095562"/>
                <a:ext cx="4342726" cy="1754326"/>
              </a:xfrm>
              <a:prstGeom prst="rect">
                <a:avLst/>
              </a:prstGeom>
              <a:blipFill>
                <a:blip r:embed="rId4"/>
                <a:stretch>
                  <a:fillRect l="-978" t="-1375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341794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/>
          <a:lstStyle/>
          <a:p>
            <a:r>
              <a:rPr lang="en-US" dirty="0"/>
              <a:t>Maze example: RL-solution as a value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89028" y="3064341"/>
            <a:ext cx="3417947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agent chooses actions to move to states with better state value.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013078" cy="12926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value function estimates the long-term reward expected in a state by following a policy.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013078" cy="1292662"/>
              </a:xfrm>
              <a:prstGeom prst="rect">
                <a:avLst/>
              </a:prstGeom>
              <a:blipFill>
                <a:blip r:embed="rId6"/>
                <a:stretch>
                  <a:fillRect l="-1216" t="-2358" b="-5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681163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85000" lnSpcReduction="20000"/>
          </a:bodyPr>
          <a:lstStyle/>
          <a:p>
            <a:r>
              <a:rPr lang="en-US" dirty="0"/>
              <a:t>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environment.</a:t>
            </a:r>
          </a:p>
          <a:p>
            <a:r>
              <a:rPr lang="en-US" dirty="0"/>
              <a:t>The agent can </a:t>
            </a:r>
            <a:r>
              <a:rPr lang="en-US" b="1" dirty="0"/>
              <a:t>plan</a:t>
            </a:r>
            <a:r>
              <a:rPr lang="en-US" dirty="0"/>
              <a:t> offline to find the optimal policy.</a:t>
            </a:r>
          </a:p>
          <a:p>
            <a:r>
              <a:rPr lang="en-US" dirty="0"/>
              <a:t>Issues:</a:t>
            </a:r>
          </a:p>
          <a:p>
            <a:pPr lvl="1"/>
            <a:r>
              <a:rPr lang="en-US" dirty="0"/>
              <a:t>Computational complexity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85000" lnSpcReduction="20000"/>
          </a:bodyPr>
          <a:lstStyle/>
          <a:p>
            <a:r>
              <a:rPr lang="en-US" dirty="0"/>
              <a:t>Model is unknown.</a:t>
            </a:r>
          </a:p>
          <a:p>
            <a:r>
              <a:rPr lang="en-US" dirty="0"/>
              <a:t>The agent needs to interact with the environment.</a:t>
            </a:r>
          </a:p>
          <a:p>
            <a:r>
              <a:rPr lang="en-US" dirty="0"/>
              <a:t>Agent uses online</a:t>
            </a:r>
            <a:br>
              <a:rPr lang="en-US" dirty="0"/>
            </a:br>
            <a:r>
              <a:rPr lang="en-US" dirty="0"/>
              <a:t>		</a:t>
            </a:r>
            <a:r>
              <a:rPr lang="en-US" b="1" dirty="0"/>
              <a:t>trial &amp; error </a:t>
            </a:r>
            <a:br>
              <a:rPr lang="en-US" dirty="0"/>
            </a:b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Issues: </a:t>
            </a:r>
          </a:p>
          <a:p>
            <a:pPr lvl="1"/>
            <a:r>
              <a:rPr lang="en-US" dirty="0"/>
              <a:t>Sample efficiency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Predictive Control (MPC) vs. RL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969347" cy="47796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RL and MPC are methods for optimal control of a dynamical system.</a:t>
                </a:r>
              </a:p>
              <a:p>
                <a:r>
                  <a:rPr lang="en-US" dirty="0"/>
                  <a:t>MPC is </a:t>
                </a:r>
              </a:p>
              <a:p>
                <a:pPr lvl="1"/>
                <a:r>
                  <a:rPr lang="en-US" dirty="0"/>
                  <a:t>model-based,</a:t>
                </a:r>
              </a:p>
              <a:p>
                <a:pPr lvl="1"/>
                <a:r>
                  <a:rPr lang="en-US" dirty="0"/>
                  <a:t>continuous, </a:t>
                </a:r>
              </a:p>
              <a:p>
                <a:pPr lvl="1"/>
                <a:r>
                  <a:rPr lang="en-US" dirty="0"/>
                  <a:t>solved offline (often with a closed-form solution), and</a:t>
                </a:r>
              </a:p>
              <a:p>
                <a:pPr lvl="1"/>
                <a:r>
                  <a:rPr lang="en-US" dirty="0"/>
                  <a:t>results in stable and robust solutions. </a:t>
                </a:r>
              </a:p>
              <a:p>
                <a:r>
                  <a:rPr lang="en-US" dirty="0"/>
                  <a:t>MPC is very popular in robotics (mechanical/electrical engineering)</a:t>
                </a:r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r>
                  <a:rPr lang="en-US" dirty="0"/>
                  <a:t>Minimize the infinite-horizon quadratic continuous-time cost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linear time-invariant first-order dynamic constraints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969347" cy="4779633"/>
              </a:xfrm>
              <a:blipFill>
                <a:blip r:embed="rId2"/>
                <a:stretch>
                  <a:fillRect l="-816" t="-2551" b="-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9152092" y="4619565"/>
                <a:ext cx="2459979" cy="947221"/>
              </a:xfrm>
              <a:prstGeom prst="wedgeRoundRectCallout">
                <a:avLst>
                  <a:gd name="adj1" fmla="val -113457"/>
                  <a:gd name="adj2" fmla="val -10916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/>
                  <a:t> is the state (vector)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6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600" dirty="0"/>
                  <a:t> are the reward (cost) model</a:t>
                </a:r>
              </a:p>
            </p:txBody>
          </p:sp>
        </mc:Choice>
        <mc:Fallback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2092" y="4619565"/>
                <a:ext cx="2459979" cy="947221"/>
              </a:xfrm>
              <a:prstGeom prst="wedgeRoundRectCallout">
                <a:avLst>
                  <a:gd name="adj1" fmla="val -113457"/>
                  <a:gd name="adj2" fmla="val -10916"/>
                  <a:gd name="adj3" fmla="val 16667"/>
                </a:avLst>
              </a:prstGeom>
              <a:blipFill>
                <a:blip r:embed="rId3"/>
                <a:stretch>
                  <a:fillRect t="-7595" b="-13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9223572" y="5839918"/>
                <a:ext cx="2388499" cy="610177"/>
              </a:xfrm>
              <a:prstGeom prst="wedgeRoundRectCallout">
                <a:avLst>
                  <a:gd name="adj1" fmla="val -141468"/>
                  <a:gd name="adj2" fmla="val -3413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600" dirty="0"/>
                  <a:t> are the transition model.</a:t>
                </a:r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3572" y="5839918"/>
                <a:ext cx="2388499" cy="610177"/>
              </a:xfrm>
              <a:prstGeom prst="wedgeRoundRectCallout">
                <a:avLst>
                  <a:gd name="adj1" fmla="val -141468"/>
                  <a:gd name="adj2" fmla="val -34137"/>
                  <a:gd name="adj3" fmla="val 16667"/>
                </a:avLst>
              </a:prstGeom>
              <a:blipFill>
                <a:blip r:embed="rId4"/>
                <a:stretch>
                  <a:fillRect b="-8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Summary: 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agent, environment, 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4812</TotalTime>
  <Words>3094</Words>
  <Application>Microsoft Office PowerPoint</Application>
  <PresentationFormat>Widescreen</PresentationFormat>
  <Paragraphs>450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Many Faces of Reinforcement Learning</vt:lpstr>
      <vt:lpstr>Contemporary application examples</vt:lpstr>
      <vt:lpstr>Elements of RL</vt:lpstr>
      <vt:lpstr>Summary of Notation</vt:lpstr>
      <vt:lpstr>State</vt:lpstr>
      <vt:lpstr>Degree of observability</vt:lpstr>
      <vt:lpstr>Elements of RL</vt:lpstr>
      <vt:lpstr>Reward</vt:lpstr>
      <vt:lpstr>Reward examples</vt:lpstr>
      <vt:lpstr>Reward characteristics</vt:lpstr>
      <vt:lpstr>Issues with the reward function</vt:lpstr>
      <vt:lpstr>Task-dependent return definitions</vt:lpstr>
      <vt:lpstr>Elements of RL</vt:lpstr>
      <vt:lpstr>Action</vt:lpstr>
      <vt:lpstr>Deterministic Policy</vt:lpstr>
      <vt:lpstr>Stochastic Policy</vt:lpstr>
      <vt:lpstr>Policy: Exploration and exploitation</vt:lpstr>
      <vt:lpstr>A small example</vt:lpstr>
      <vt:lpstr>Maze example</vt:lpstr>
      <vt:lpstr>Maze example: RL-solution as a policy</vt:lpstr>
      <vt:lpstr>Maze example: RL-solution as a value function</vt:lpstr>
      <vt:lpstr>RL and planning</vt:lpstr>
      <vt:lpstr>Model-based vs. model-free RL</vt:lpstr>
      <vt:lpstr>Model Predictive Control (MPC) vs. RL</vt:lpstr>
      <vt:lpstr>Summary: 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66</cp:revision>
  <dcterms:created xsi:type="dcterms:W3CDTF">2025-09-08T14:44:49Z</dcterms:created>
  <dcterms:modified xsi:type="dcterms:W3CDTF">2026-01-02T19:10:42Z</dcterms:modified>
</cp:coreProperties>
</file>