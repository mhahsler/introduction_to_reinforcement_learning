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270" r:id="rId11"/>
    <p:sldId id="319" r:id="rId12"/>
    <p:sldId id="352" r:id="rId13"/>
    <p:sldId id="384" r:id="rId14"/>
    <p:sldId id="385" r:id="rId15"/>
    <p:sldId id="326" r:id="rId16"/>
    <p:sldId id="349" r:id="rId17"/>
    <p:sldId id="276" r:id="rId18"/>
    <p:sldId id="320" r:id="rId19"/>
    <p:sldId id="278" r:id="rId20"/>
    <p:sldId id="279" r:id="rId21"/>
    <p:sldId id="321" r:id="rId22"/>
    <p:sldId id="353" r:id="rId23"/>
    <p:sldId id="327" r:id="rId24"/>
    <p:sldId id="391" r:id="rId25"/>
    <p:sldId id="386" r:id="rId26"/>
    <p:sldId id="387" r:id="rId27"/>
    <p:sldId id="332" r:id="rId28"/>
    <p:sldId id="350" r:id="rId29"/>
    <p:sldId id="335" r:id="rId30"/>
    <p:sldId id="336" r:id="rId31"/>
    <p:sldId id="337" r:id="rId32"/>
    <p:sldId id="351" r:id="rId33"/>
    <p:sldId id="388" r:id="rId34"/>
    <p:sldId id="389" r:id="rId35"/>
    <p:sldId id="34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270"/>
            <p14:sldId id="319"/>
          </p14:sldIdLst>
        </p14:section>
        <p14:section name="RL Basics - State" id="{1EF9568E-E6EA-43A7-A485-40CC16B3A20D}">
          <p14:sldIdLst>
            <p14:sldId id="352"/>
            <p14:sldId id="384"/>
            <p14:sldId id="385"/>
            <p14:sldId id="326"/>
          </p14:sldIdLst>
        </p14:section>
        <p14:section name="RL Basics Reward" id="{E21F16A8-A95D-48EB-BDD4-0909B7C5A5F1}">
          <p14:sldIdLst>
            <p14:sldId id="349"/>
            <p14:sldId id="276"/>
            <p14:sldId id="320"/>
            <p14:sldId id="278"/>
            <p14:sldId id="279"/>
            <p14:sldId id="321"/>
          </p14:sldIdLst>
        </p14:section>
        <p14:section name="RL Basics - Actions and Policy" id="{D7B36B21-2FD8-4566-9DCC-7C9869C906F4}">
          <p14:sldIdLst>
            <p14:sldId id="353"/>
            <p14:sldId id="327"/>
            <p14:sldId id="391"/>
            <p14:sldId id="386"/>
            <p14:sldId id="387"/>
            <p14:sldId id="332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91" d="100"/>
          <a:sy n="91" d="100"/>
        </p:scale>
        <p:origin x="61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0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10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8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11" Type="http://schemas.openxmlformats.org/officeDocument/2006/relationships/image" Target="../media/image27.jpg"/><Relationship Id="rId5" Type="http://schemas.openxmlformats.org/officeDocument/2006/relationships/image" Target="../media/image22.png"/><Relationship Id="rId10" Type="http://schemas.openxmlformats.org/officeDocument/2006/relationships/image" Target="../media/image26.jpg"/><Relationship Id="rId4" Type="http://schemas.openxmlformats.org/officeDocument/2006/relationships/image" Target="../media/image21.png"/><Relationship Id="rId9" Type="http://schemas.openxmlformats.org/officeDocument/2006/relationships/hyperlink" Target="https://creativecommons.org/licenses/by-nc/4.0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6.png"/><Relationship Id="rId7" Type="http://schemas.openxmlformats.org/officeDocument/2006/relationships/image" Target="../media/image43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6.png"/><Relationship Id="rId10" Type="http://schemas.openxmlformats.org/officeDocument/2006/relationships/image" Target="../media/image67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b="1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b="1" dirty="0"/>
              <a:t>Part II: Approximate Solution Methods</a:t>
            </a:r>
            <a:endParaRPr lang="en-US" dirty="0"/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pPr lvl="1"/>
            <a:r>
              <a:rPr lang="en-US" dirty="0"/>
              <a:t>Reward</a:t>
            </a:r>
          </a:p>
          <a:p>
            <a:pPr lvl="1"/>
            <a:r>
              <a:rPr lang="en-US" dirty="0"/>
              <a:t>States</a:t>
            </a:r>
          </a:p>
          <a:p>
            <a:pPr lvl="1"/>
            <a:r>
              <a:rPr lang="en-US" dirty="0"/>
              <a:t>Actions and policies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discover actions by trying them (d</a:t>
            </a:r>
            <a:r>
              <a:rPr dirty="0"/>
              <a:t>ata-driven</a:t>
            </a:r>
            <a:r>
              <a:rPr lang="en-US" dirty="0"/>
              <a:t>)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3606083"/>
                <a:ext cx="3771720" cy="1807860"/>
              </a:xfrm>
              <a:prstGeom prst="wedgeRoundRectCallout">
                <a:avLst>
                  <a:gd name="adj1" fmla="val -110581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3771720" cy="2924684"/>
              </a:xfrm>
              <a:prstGeom prst="wedgeRoundRectCallout">
                <a:avLst>
                  <a:gd name="adj1" fmla="val -110589"/>
                  <a:gd name="adj2" fmla="val -18397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4E0FB57-A8F3-C51E-E3F8-BE72DEC5E123}"/>
              </a:ext>
            </a:extLst>
          </p:cNvPr>
          <p:cNvGrpSpPr/>
          <p:nvPr/>
        </p:nvGrpSpPr>
        <p:grpSpPr>
          <a:xfrm>
            <a:off x="1586821" y="1395043"/>
            <a:ext cx="4207277" cy="4067913"/>
            <a:chOff x="1586821" y="1395043"/>
            <a:chExt cx="4207277" cy="4067913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4A6329-3154-A3C3-1569-C581ED57786B}"/>
                </a:ext>
              </a:extLst>
            </p:cNvPr>
            <p:cNvGrpSpPr/>
            <p:nvPr/>
          </p:nvGrpSpPr>
          <p:grpSpPr>
            <a:xfrm>
              <a:off x="1586821" y="1395043"/>
              <a:ext cx="4207277" cy="4067913"/>
              <a:chOff x="1586821" y="1395043"/>
              <a:chExt cx="4207277" cy="4067913"/>
            </a:xfrm>
          </p:grpSpPr>
          <p:pic>
            <p:nvPicPr>
              <p:cNvPr id="1026" name="Picture 2" descr="undefined">
                <a:extLst>
                  <a:ext uri="{FF2B5EF4-FFF2-40B4-BE49-F238E27FC236}">
                    <a16:creationId xmlns:a16="http://schemas.microsoft.com/office/drawing/2014/main" id="{3C85739F-DA4A-3E31-59A1-72C3F0652A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8A59FD58-7C26-E577-7006-FA8928A785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3177E4B7-379F-1F75-E109-B9339624911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B1DEF2A0-F256-66F2-B86C-E3B749E7BE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9FFD21E-A444-F220-1768-AC2A0A136F2F}"/>
                </a:ext>
              </a:extLst>
            </p:cNvPr>
            <p:cNvSpPr txBox="1"/>
            <p:nvPr/>
          </p:nvSpPr>
          <p:spPr>
            <a:xfrm rot="20152154">
              <a:off x="1664921" y="1552713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1607217" y="2020402"/>
            <a:ext cx="8586590" cy="4472473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6"/>
              <a:ext cx="1409178" cy="748713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536" b="1" spc="-21" dirty="0">
                  <a:cs typeface="Arial"/>
                </a:rPr>
                <a:t>Machine Learning</a:t>
              </a:r>
              <a:endParaRPr sz="2536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19579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Unsupervised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Process </a:t>
              </a:r>
              <a:r>
                <a:rPr sz="1268" dirty="0">
                  <a:cs typeface="Arial"/>
                </a:rPr>
                <a:t>and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interpret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data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based</a:t>
              </a:r>
              <a:r>
                <a:rPr sz="1268" spc="-42" dirty="0">
                  <a:cs typeface="Arial"/>
                </a:rPr>
                <a:t> only</a:t>
              </a:r>
              <a:endParaRPr sz="1268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268" dirty="0">
                  <a:cs typeface="Arial"/>
                </a:rPr>
                <a:t>on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the</a:t>
              </a:r>
              <a:r>
                <a:rPr sz="1268" spc="-53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endParaRPr sz="1268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cs typeface="Arial"/>
                </a:rPr>
                <a:t>Supervised</a:t>
              </a:r>
              <a:r>
                <a:rPr sz="1479" b="1" spc="1057" dirty="0">
                  <a:cs typeface="Arial"/>
                </a:rPr>
                <a:t> </a:t>
              </a:r>
              <a:r>
                <a:rPr sz="1479" b="1" spc="-21" dirty="0">
                  <a:cs typeface="Arial"/>
                </a:rPr>
                <a:t>Learning</a:t>
              </a:r>
              <a:endParaRPr sz="1479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Develop</a:t>
              </a:r>
              <a:r>
                <a:rPr sz="1268" spc="-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models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53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map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input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and</a:t>
              </a:r>
              <a:r>
                <a:rPr sz="1268" spc="-3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output </a:t>
              </a:r>
              <a:r>
                <a:rPr sz="1268" spc="-42" dirty="0">
                  <a:cs typeface="Arial"/>
                </a:rPr>
                <a:t>data</a:t>
              </a:r>
              <a:endParaRPr sz="1268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8"/>
              <a:ext cx="1555464" cy="1177074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479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479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479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268" spc="-21" dirty="0">
                  <a:cs typeface="Arial"/>
                </a:rPr>
                <a:t>Learn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optimal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control</a:t>
              </a:r>
              <a:r>
                <a:rPr sz="1268" spc="1057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actions</a:t>
              </a:r>
              <a:r>
                <a:rPr sz="1268" spc="-42" dirty="0">
                  <a:cs typeface="Arial"/>
                </a:rPr>
                <a:t> </a:t>
              </a:r>
              <a:r>
                <a:rPr sz="1268" dirty="0">
                  <a:cs typeface="Arial"/>
                </a:rPr>
                <a:t>to</a:t>
              </a:r>
              <a:r>
                <a:rPr sz="1268" spc="-42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maximize</a:t>
              </a:r>
              <a:r>
                <a:rPr sz="1268" spc="1057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long-</a:t>
              </a:r>
              <a:r>
                <a:rPr sz="1268" dirty="0">
                  <a:cs typeface="Arial"/>
                </a:rPr>
                <a:t>term</a:t>
              </a:r>
              <a:r>
                <a:rPr sz="1268" spc="11" dirty="0">
                  <a:cs typeface="Arial"/>
                </a:rPr>
                <a:t> </a:t>
              </a:r>
              <a:r>
                <a:rPr sz="1268" spc="-21" dirty="0">
                  <a:cs typeface="Arial"/>
                </a:rPr>
                <a:t>reward</a:t>
              </a:r>
              <a:endParaRPr sz="1268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7"/>
              <a:ext cx="92334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Clustering</a:t>
              </a:r>
              <a:endParaRPr sz="1479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Dimension</a:t>
              </a:r>
              <a:r>
                <a:rPr sz="1479" spc="127" dirty="0">
                  <a:cs typeface="Arial"/>
                </a:rPr>
                <a:t> </a:t>
              </a:r>
              <a:r>
                <a:rPr sz="1479" spc="-21" dirty="0">
                  <a:cs typeface="Arial"/>
                </a:rPr>
                <a:t>Reduction</a:t>
              </a:r>
              <a:endParaRPr sz="1479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Regression</a:t>
              </a:r>
              <a:endParaRPr sz="1479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spc="-21" dirty="0">
                  <a:cs typeface="Arial"/>
                </a:rPr>
                <a:t>Classification</a:t>
              </a:r>
              <a:endParaRPr sz="1479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2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Single-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58794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479" dirty="0">
                  <a:cs typeface="Arial"/>
                </a:rPr>
                <a:t>Multi-</a:t>
              </a:r>
              <a:r>
                <a:rPr sz="1479" spc="-21" dirty="0">
                  <a:cs typeface="Arial"/>
                </a:rPr>
                <a:t>Agent</a:t>
              </a:r>
              <a:endParaRPr sz="1479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70208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Machine learning is studied in AI to learn from examples.</a:t>
            </a:r>
          </a:p>
          <a:p>
            <a:pPr marL="26841">
              <a:spcBef>
                <a:spcPts val="201"/>
              </a:spcBef>
            </a:pPr>
            <a:r>
              <a:rPr lang="en-US" sz="2114" spc="-42" dirty="0">
                <a:cs typeface="Tahoma"/>
              </a:rPr>
              <a:t>RL is a 3</a:t>
            </a:r>
            <a:r>
              <a:rPr lang="en-US" sz="2114" spc="-42" baseline="30000" dirty="0">
                <a:cs typeface="Tahoma"/>
              </a:rPr>
              <a:t>rd</a:t>
            </a:r>
            <a:r>
              <a:rPr lang="en-US" sz="2114" spc="-42" dirty="0">
                <a:cs typeface="Tahoma"/>
              </a:rPr>
              <a:t> type</a:t>
            </a:r>
            <a:r>
              <a:rPr sz="2114" spc="-42" dirty="0">
                <a:cs typeface="Tahoma"/>
              </a:rPr>
              <a:t> </a:t>
            </a:r>
            <a:r>
              <a:rPr sz="2114" dirty="0">
                <a:cs typeface="Tahoma"/>
              </a:rPr>
              <a:t>of</a:t>
            </a:r>
            <a:r>
              <a:rPr sz="2114" spc="-42" dirty="0">
                <a:cs typeface="Tahoma"/>
              </a:rPr>
              <a:t> </a:t>
            </a:r>
            <a:r>
              <a:rPr sz="2114" spc="-74" dirty="0">
                <a:cs typeface="Tahoma"/>
              </a:rPr>
              <a:t>machine</a:t>
            </a:r>
            <a:r>
              <a:rPr sz="2114" spc="-53" dirty="0">
                <a:cs typeface="Tahoma"/>
              </a:rPr>
              <a:t> learning</a:t>
            </a:r>
            <a:endParaRPr sz="2114" dirty="0"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5A7762-7D8F-7A0A-C295-9A1622A3D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42BB37-E046-7971-D104-973DFB3F50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1A7D06-4121-83F9-EBA1-56326FFA2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37CB1E-70C8-6D06-7E3F-81A9288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States – What does the agent know about its situation?</a:t>
            </a:r>
          </a:p>
        </p:txBody>
      </p:sp>
    </p:spTree>
    <p:extLst>
      <p:ext uri="{BB962C8B-B14F-4D97-AF65-F5344CB8AC3E}">
        <p14:creationId xmlns:p14="http://schemas.microsoft.com/office/powerpoint/2010/main" val="3191967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2234522"/>
              </a:xfrm>
              <a:blipFill>
                <a:blip r:embed="rId2"/>
                <a:stretch>
                  <a:fillRect b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to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strategy),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dirty="0"/>
                  <a:t>With state, we will mean the </a:t>
                </a:r>
                <a:r>
                  <a:rPr lang="en-US" b="1" dirty="0"/>
                  <a:t>agent state </a:t>
                </a:r>
                <a:r>
                  <a:rPr lang="en-US" dirty="0"/>
                  <a:t>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166548" cy="4779633"/>
              </a:xfrm>
              <a:blipFill>
                <a:blip r:embed="rId2"/>
                <a:stretch>
                  <a:fillRect l="-596" t="-1913" r="-1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FCEDC59-7DE2-F0BF-30DA-9C2FFBDA2E6D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80A47B2-AB16-D2FE-6BD7-BEB807607AB3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Speech Bubble: Rectangle with Corners Rounded 17">
              <a:extLst>
                <a:ext uri="{FF2B5EF4-FFF2-40B4-BE49-F238E27FC236}">
                  <a16:creationId xmlns:a16="http://schemas.microsoft.com/office/drawing/2014/main" id="{85A5F9A3-FC7A-B640-21A3-1B7C2F89AF09}"/>
                </a:ext>
              </a:extLst>
            </p:cNvPr>
            <p:cNvSpPr/>
            <p:nvPr/>
          </p:nvSpPr>
          <p:spPr>
            <a:xfrm>
              <a:off x="8976476" y="4654446"/>
              <a:ext cx="2835773" cy="1044422"/>
            </a:xfrm>
            <a:prstGeom prst="wedgeRoundRectCallout">
              <a:avLst>
                <a:gd name="adj1" fmla="val -21332"/>
                <a:gd name="adj2" fmla="val -6433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r>
                  <a:rPr lang="en-US" dirty="0"/>
                  <a:t>Agent may try to reconstruct the complete state information (state estimation)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This leads to Partially Observable Markov Decision Processes (POMDP)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 with only cameras and no radar/lidar (to reduce cost)</a:t>
                </a:r>
              </a:p>
              <a:p>
                <a:pPr lvl="1"/>
                <a:r>
                  <a:rPr lang="en-US" dirty="0"/>
                  <a:t>Poker game (opponents’ cards and what cards will be dealt next are unknown)</a:t>
                </a:r>
              </a:p>
              <a:p>
                <a:pPr lvl="1"/>
                <a:r>
                  <a:rPr lang="en-US" dirty="0"/>
                  <a:t>Human health status (we cannot sense everything and the detailed system dynamics are unknown)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329" t="-11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839517" y="4654446"/>
              <a:ext cx="2972732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Immediate Rewards – How to define the goal?</a:t>
            </a: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(state is a winning board).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return.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Reward hypothesis</a:t>
                </a:r>
                <a:r>
                  <a:rPr lang="en-US" sz="1600" dirty="0"/>
                  <a:t>: </a:t>
                </a:r>
                <a:r>
                  <a:rPr lang="en-US" sz="1600" i="1" dirty="0"/>
                  <a:t>“All of what we mean by goals and purposes can be well thought of as the maximization of the expected cumulative reward.”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584" y="3344382"/>
                <a:ext cx="7138858" cy="1256370"/>
              </a:xfrm>
              <a:prstGeom prst="rect">
                <a:avLst/>
              </a:prstGeom>
              <a:blipFill>
                <a:blip r:embed="rId3"/>
                <a:stretch>
                  <a:fillRect l="-426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goal: </a:t>
            </a:r>
          </a:p>
          <a:p>
            <a:pPr>
              <a:spcBef>
                <a:spcPts val="917"/>
              </a:spcBef>
            </a:pPr>
            <a:r>
              <a:rPr lang="en-US" sz="1600" b="1" dirty="0"/>
              <a:t>Reward shaping</a:t>
            </a:r>
            <a:r>
              <a:rPr lang="en-US" sz="1600" dirty="0"/>
              <a:t>: The reward signal can be manipulated to improve learning. E.g., add a reward for intermediate goals, such as achieving 3 in a row in Connect-4.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 .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430472" y="2982123"/>
            <a:ext cx="4767574" cy="2308324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Designing an effective reward function is crucial for successful RL applications!</a:t>
            </a:r>
          </a:p>
          <a:p>
            <a:endParaRPr lang="en-US" dirty="0"/>
          </a:p>
          <a:p>
            <a:r>
              <a:rPr lang="en-US" dirty="0"/>
              <a:t>It is hard to define a good reward function: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Alignment problem and reward hacking.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Definition: Return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550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Return is the expected cumulative reward that the agent wants to maximize.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7"/>
                <a:ext cx="8208078" cy="5127282"/>
              </a:xfrm>
              <a:prstGeom prst="rect">
                <a:avLst/>
              </a:prstGeom>
              <a:blipFill>
                <a:blip r:embed="rId2"/>
                <a:stretch>
                  <a:fillRect l="-297" t="-118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141" y="359724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EBFE-DDC8-6917-A9C6-1CC2D1707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41904E-8244-EAB5-B9EB-6DD2962AE1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7B62A4F8-9D24-DAC3-E733-C4AF72B59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1D56AF-611E-6C86-789C-AE2A56BBC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Actions – What can the agent do?</a:t>
            </a:r>
          </a:p>
        </p:txBody>
      </p:sp>
    </p:spTree>
    <p:extLst>
      <p:ext uri="{BB962C8B-B14F-4D97-AF65-F5344CB8AC3E}">
        <p14:creationId xmlns:p14="http://schemas.microsoft.com/office/powerpoint/2010/main" val="17410757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to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B974F7-A2EF-6F67-47A1-A53B2EA7D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CA16F8-20AC-9E75-34FD-6E2204273F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ED5DE9D-9264-EE74-2A57-BC947710B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62F65D-ABA2-2D28-A282-7F22997D65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Policy – How should the agent act?</a:t>
            </a:r>
          </a:p>
        </p:txBody>
      </p:sp>
    </p:spTree>
    <p:extLst>
      <p:ext uri="{BB962C8B-B14F-4D97-AF65-F5344CB8AC3E}">
        <p14:creationId xmlns:p14="http://schemas.microsoft.com/office/powerpoint/2010/main" val="4274878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policy is the rule of how an agent chooses actions.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State: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			        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: x always plays bottom right corner.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170271"/>
              </a:xfrm>
              <a:blipFill>
                <a:blip r:embed="rId2"/>
                <a:stretch>
                  <a:fillRect l="-812" t="-4231"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1170B705-B6B2-FFED-6948-6B2033B0B4BA}"/>
              </a:ext>
            </a:extLst>
          </p:cNvPr>
          <p:cNvGrpSpPr/>
          <p:nvPr/>
        </p:nvGrpSpPr>
        <p:grpSpPr>
          <a:xfrm>
            <a:off x="2750201" y="4267787"/>
            <a:ext cx="2045602" cy="2069063"/>
            <a:chOff x="3545173" y="2926112"/>
            <a:chExt cx="1034321" cy="12692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952780A8-3443-1216-4AC6-6B094EDF3516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2CDA1FC-7A39-A664-5241-1B96C124CA55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7B2E9B6-EE61-E125-A0DF-EA361A867CE6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E1DDA27-B142-4DEA-6BF2-620886EFF6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430FF8-5CF4-C387-8969-558963CED998}"/>
                </a:ext>
              </a:extLst>
            </p:cNvPr>
            <p:cNvSpPr txBox="1"/>
            <p:nvPr/>
          </p:nvSpPr>
          <p:spPr>
            <a:xfrm>
              <a:off x="3559424" y="2926112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ACF97FD-0C96-F051-CECB-8DB03F889179}"/>
                </a:ext>
              </a:extLst>
            </p:cNvPr>
            <p:cNvSpPr txBox="1"/>
            <p:nvPr/>
          </p:nvSpPr>
          <p:spPr>
            <a:xfrm>
              <a:off x="3900235" y="3304721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AE78DC-0594-114E-1F86-5633D1C6193F}"/>
                </a:ext>
              </a:extLst>
            </p:cNvPr>
            <p:cNvSpPr txBox="1"/>
            <p:nvPr/>
          </p:nvSpPr>
          <p:spPr>
            <a:xfrm>
              <a:off x="4229724" y="3314238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AE3371D-4EBC-660E-FBF4-E43952D84DFF}"/>
                </a:ext>
              </a:extLst>
            </p:cNvPr>
            <p:cNvSpPr txBox="1"/>
            <p:nvPr/>
          </p:nvSpPr>
          <p:spPr>
            <a:xfrm>
              <a:off x="3892738" y="3685570"/>
              <a:ext cx="284814" cy="5097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8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DEC2FD1-5CD7-56FD-9ABD-B36E517A8AED}"/>
              </a:ext>
            </a:extLst>
          </p:cNvPr>
          <p:cNvGrpSpPr/>
          <p:nvPr/>
        </p:nvGrpSpPr>
        <p:grpSpPr>
          <a:xfrm>
            <a:off x="5751892" y="4458342"/>
            <a:ext cx="5058249" cy="693716"/>
            <a:chOff x="6178319" y="4751925"/>
            <a:chExt cx="5058249" cy="69371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2AB00F1-894B-FAD4-D9B5-AAB448F766B9}"/>
                </a:ext>
              </a:extLst>
            </p:cNvPr>
            <p:cNvGrpSpPr/>
            <p:nvPr/>
          </p:nvGrpSpPr>
          <p:grpSpPr>
            <a:xfrm>
              <a:off x="6834478" y="4840735"/>
              <a:ext cx="416016" cy="516442"/>
              <a:chOff x="3545173" y="2926112"/>
              <a:chExt cx="1034321" cy="1181193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E29E324-1283-A895-1E0F-E2BBBEFA57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4316412-1CB7-F872-2F50-0EA73919CA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25A8D8E-E3CE-65BD-D6D5-7933FACCF0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0DE3313-5A23-03A3-87D8-63A73FE4E4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2DB42C2-84BC-5646-3215-20E220571882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75E840F-3ED7-BA35-DC7F-2039747D3001}"/>
                  </a:ext>
                </a:extLst>
              </p:cNvPr>
              <p:cNvSpPr txBox="1"/>
              <p:nvPr/>
            </p:nvSpPr>
            <p:spPr>
              <a:xfrm>
                <a:off x="3900235" y="3304722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4C2549-327C-1B02-7F46-4939CF125D6A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64E388E-A081-24D6-B29D-6E20AC29AC15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5" cy="4188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b="1" dirty="0"/>
                  <a:t>o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/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 </a:t>
                  </a:r>
                  <a:r>
                    <a:rPr lang="en-US" sz="2800" dirty="0"/>
                    <a:t>play bottom right</a:t>
                  </a:r>
                  <a:endParaRPr 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70A60B6B-9AD9-CB98-63D5-E6B489A438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8319" y="4751925"/>
                  <a:ext cx="5058249" cy="693716"/>
                </a:xfrm>
                <a:prstGeom prst="rect">
                  <a:avLst/>
                </a:prstGeom>
                <a:blipFill>
                  <a:blip r:embed="rId3"/>
                  <a:stretch>
                    <a:fillRect b="-2105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Example</a:t>
                </a:r>
                <a:r>
                  <a:rPr lang="en-US" dirty="0"/>
                  <a:t>: Probability distribution indicating to play bottom right 60% of the time.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016680"/>
              </a:xfrm>
              <a:blipFill>
                <a:blip r:embed="rId2"/>
                <a:stretch>
                  <a:fillRect l="-522" t="-5136" b="-3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Policy: Exploration vs. Exploitation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88A32-413E-5E55-FF1F-00F719F845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29"/>
            <a:ext cx="10515600" cy="1954131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The agent has to learn a good policy using the reward signal </a:t>
            </a:r>
            <a:r>
              <a:rPr lang="en-US" b="1" dirty="0"/>
              <a:t>while it is evaluated </a:t>
            </a:r>
            <a:r>
              <a:rPr lang="en-US" dirty="0"/>
              <a:t>at the same time. </a:t>
            </a:r>
          </a:p>
          <a:p>
            <a:r>
              <a:rPr lang="en-US" dirty="0"/>
              <a:t>At any point in time, the agent can choose actions to perform:</a:t>
            </a:r>
          </a:p>
          <a:p>
            <a:pPr lvl="1"/>
            <a:r>
              <a:rPr lang="en-US" b="1" dirty="0"/>
              <a:t>Exploitation</a:t>
            </a:r>
            <a:r>
              <a:rPr lang="en-US" dirty="0"/>
              <a:t>: Follow the currently known best policy to maximize the return.</a:t>
            </a:r>
          </a:p>
          <a:p>
            <a:pPr lvl="1"/>
            <a:r>
              <a:rPr lang="en-US" b="1" dirty="0"/>
              <a:t>Exploration</a:t>
            </a:r>
            <a:r>
              <a:rPr lang="en-US" dirty="0"/>
              <a:t>: Try new actions to find out more about the environment. This could improve the policy. </a:t>
            </a:r>
          </a:p>
          <a:p>
            <a:endParaRPr lang="en-US" b="1" dirty="0"/>
          </a:p>
          <a:p>
            <a:r>
              <a:rPr lang="en-US" b="1" dirty="0"/>
              <a:t>Trade-off problem</a:t>
            </a:r>
            <a:r>
              <a:rPr lang="en-US" dirty="0"/>
              <a:t>: What is the best split between both strategies?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2791752" y="3354054"/>
            <a:ext cx="5915278" cy="2898017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3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More of my current favorite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76695" y="4767815"/>
                <a:ext cx="1898602" cy="618665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89028" y="3064341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292662"/>
              </a:xfrm>
              <a:prstGeom prst="rect">
                <a:avLst/>
              </a:prstGeom>
              <a:blipFill>
                <a:blip r:embed="rId6"/>
                <a:stretch>
                  <a:fillRect l="-1038" t="-2358" b="-5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dirty="0"/>
              <a:t>The agent needs to interact with the environment: The agent uses online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 Note: Optimal Control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Methods for optimal control of dynamical systems. They are</a:t>
                </a:r>
              </a:p>
              <a:p>
                <a:pPr lvl="1"/>
                <a:r>
                  <a:rPr lang="en-US" b="1" dirty="0"/>
                  <a:t>model-based</a:t>
                </a:r>
                <a:r>
                  <a:rPr lang="en-US" dirty="0"/>
                  <a:t>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</a:t>
                </a:r>
                <a:r>
                  <a:rPr lang="en-US" dirty="0"/>
                  <a:t> and robust solutions. 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 the feedback;</a:t>
                </a:r>
              </a:p>
              <a:p>
                <a:pPr lvl="1"/>
                <a:r>
                  <a:rPr lang="en-US" dirty="0"/>
                  <a:t>uses numerical optimization instead of closed form solutions;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711" t="-1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8320763" y="3818528"/>
                <a:ext cx="3316736" cy="607976"/>
              </a:xfrm>
              <a:prstGeom prst="wedgeRoundRectCallout">
                <a:avLst>
                  <a:gd name="adj1" fmla="val -116753"/>
                  <a:gd name="adj2" fmla="val -6812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(vector)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763" y="3818528"/>
                <a:ext cx="3316736" cy="607976"/>
              </a:xfrm>
              <a:prstGeom prst="wedgeRoundRectCallout">
                <a:avLst>
                  <a:gd name="adj1" fmla="val -116753"/>
                  <a:gd name="adj2" fmla="val -68122"/>
                  <a:gd name="adj3" fmla="val 16667"/>
                </a:avLst>
              </a:prstGeom>
              <a:blipFill>
                <a:blip r:embed="rId3"/>
                <a:stretch>
                  <a:fillRect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8320763" y="4482792"/>
                <a:ext cx="3285646" cy="257434"/>
              </a:xfrm>
              <a:prstGeom prst="wedgeRoundRectCallout">
                <a:avLst>
                  <a:gd name="adj1" fmla="val -127577"/>
                  <a:gd name="adj2" fmla="val -12477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763" y="4482792"/>
                <a:ext cx="3285646" cy="257434"/>
              </a:xfrm>
              <a:prstGeom prst="wedgeRoundRectCallout">
                <a:avLst>
                  <a:gd name="adj1" fmla="val -127577"/>
                  <a:gd name="adj2" fmla="val -124778"/>
                  <a:gd name="adj3" fmla="val 16667"/>
                </a:avLst>
              </a:prstGeom>
              <a:blipFill>
                <a:blip r:embed="rId4"/>
                <a:stretch>
                  <a:fillRect b="-8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3046478" y="6212336"/>
            <a:ext cx="4400069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MPC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153547" cy="2903105"/>
            <a:chOff x="8510288" y="1213550"/>
            <a:chExt cx="3153547" cy="2903105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842689" y="3808878"/>
              <a:ext cx="266409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Example: Cart Pole Balancing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Summary: 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</a:t>
            </a:r>
            <a:r>
              <a:rPr lang="en-US" sz="1700"/>
              <a:t>, environment, </a:t>
            </a:r>
            <a:r>
              <a:rPr lang="en-US" sz="1700" dirty="0"/>
              <a:t>and </a:t>
            </a:r>
            <a:r>
              <a:rPr lang="en-US" sz="1700"/>
              <a:t>the role of the </a:t>
            </a:r>
            <a:r>
              <a:rPr lang="en-US" sz="1700" dirty="0"/>
              <a:t>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5279</TotalTime>
  <Words>3532</Words>
  <Application>Microsoft Office PowerPoint</Application>
  <PresentationFormat>Widescreen</PresentationFormat>
  <Paragraphs>499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3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Many Faces of Reinforcement Learning</vt:lpstr>
      <vt:lpstr>Contemporary application examples</vt:lpstr>
      <vt:lpstr>Elements of RL</vt:lpstr>
      <vt:lpstr>Summary of Notation</vt:lpstr>
      <vt:lpstr>State</vt:lpstr>
      <vt:lpstr>Degree of Observability</vt:lpstr>
      <vt:lpstr>Elements of RL</vt:lpstr>
      <vt:lpstr>Reward</vt:lpstr>
      <vt:lpstr>Reward Examples</vt:lpstr>
      <vt:lpstr>Reward Characteristics</vt:lpstr>
      <vt:lpstr>Issues With the Reward Function</vt:lpstr>
      <vt:lpstr>Definition: Return</vt:lpstr>
      <vt:lpstr>Elements of RL</vt:lpstr>
      <vt:lpstr>Action</vt:lpstr>
      <vt:lpstr>Elements of RL</vt:lpstr>
      <vt:lpstr>Deterministic Policy</vt:lpstr>
      <vt:lpstr>Stochastic Policy</vt:lpstr>
      <vt:lpstr>Policy: Exploration vs. Exploitation</vt:lpstr>
      <vt:lpstr>A Small Example</vt:lpstr>
      <vt:lpstr>Maze Example</vt:lpstr>
      <vt:lpstr>Maze Example: RL-Solution as a Policy</vt:lpstr>
      <vt:lpstr>Maze Example: RL-Solution as a Value Function</vt:lpstr>
      <vt:lpstr>RL and Planning</vt:lpstr>
      <vt:lpstr>Model-based vs. Model-free RL</vt:lpstr>
      <vt:lpstr>Side Note: Optimal Control Theory</vt:lpstr>
      <vt:lpstr>Summary: 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81</cp:revision>
  <dcterms:created xsi:type="dcterms:W3CDTF">2025-09-08T14:44:49Z</dcterms:created>
  <dcterms:modified xsi:type="dcterms:W3CDTF">2026-01-26T21:54:18Z</dcterms:modified>
</cp:coreProperties>
</file>