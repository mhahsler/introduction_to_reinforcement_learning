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270" r:id="rId11"/>
    <p:sldId id="319" r:id="rId12"/>
    <p:sldId id="352" r:id="rId13"/>
    <p:sldId id="384" r:id="rId14"/>
    <p:sldId id="385" r:id="rId15"/>
    <p:sldId id="326" r:id="rId16"/>
    <p:sldId id="349" r:id="rId17"/>
    <p:sldId id="276" r:id="rId18"/>
    <p:sldId id="320" r:id="rId19"/>
    <p:sldId id="278" r:id="rId20"/>
    <p:sldId id="279" r:id="rId21"/>
    <p:sldId id="321" r:id="rId22"/>
    <p:sldId id="353" r:id="rId23"/>
    <p:sldId id="327" r:id="rId24"/>
    <p:sldId id="391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91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6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6.png"/><Relationship Id="rId10" Type="http://schemas.openxmlformats.org/officeDocument/2006/relationships/image" Target="../media/image67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 – What does the agent know about its situation?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  <a:blipFill>
                <a:blip r:embed="rId2"/>
                <a:stretch>
                  <a:fillRect b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to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strategy),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</a:t>
                </a:r>
                <a:r>
                  <a:rPr lang="en-US" b="1" dirty="0"/>
                  <a:t>agent state </a:t>
                </a:r>
                <a:r>
                  <a:rPr lang="en-US" dirty="0"/>
                  <a:t>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596" t="-1913" r="-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8976476" y="4654446"/>
              <a:ext cx="2835773" cy="1044422"/>
            </a:xfrm>
            <a:prstGeom prst="wedgeRoundRectCallout">
              <a:avLst>
                <a:gd name="adj1" fmla="val -21332"/>
                <a:gd name="adj2" fmla="val -6433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(state estimation)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 with only cameras and no radar/lidar (to reduce cost)</a:t>
                </a:r>
              </a:p>
              <a:p>
                <a:pPr lvl="1"/>
                <a:r>
                  <a:rPr lang="en-US" dirty="0"/>
                  <a:t>Poker game (opponents’ cards and what cards will be dealt next are unknown)</a:t>
                </a:r>
              </a:p>
              <a:p>
                <a:pPr lvl="1"/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 – How to define the goal?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</a:t>
                </a:r>
                <a:r>
                  <a:rPr lang="en-US" sz="1600" i="1" dirty="0"/>
                  <a:t>“All of what we mean by goals and purposes can be well thought of as the maximization of the expected cumulative reward.”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  <a:blipFill>
                <a:blip r:embed="rId3"/>
                <a:stretch>
                  <a:fillRect l="-426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goal: </a:t>
            </a:r>
          </a:p>
          <a:p>
            <a:pPr>
              <a:spcBef>
                <a:spcPts val="917"/>
              </a:spcBef>
            </a:pPr>
            <a:r>
              <a:rPr lang="en-US" sz="1600" b="1" dirty="0"/>
              <a:t>Reward shaping</a:t>
            </a:r>
            <a:r>
              <a:rPr lang="en-US" sz="1600" dirty="0"/>
              <a:t>: The reward signal can be manipulated to improve learning. E.g., add a reward for intermediate goals, such as achieving 3 in a row in Connect-4.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.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Return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550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Return is the expected cumulative reward that the agent wants to maximize.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297" t="-11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– What can the agent do?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to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974F7-A2EF-6F67-47A1-A53B2EA7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A16F8-20AC-9E75-34FD-6E2204273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D5DE9D-9264-EE74-2A57-BC947710B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62F65D-ABA2-2D28-A282-7F22997D6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Policy – How should the agent act?</a:t>
            </a:r>
          </a:p>
        </p:txBody>
      </p:sp>
    </p:spTree>
    <p:extLst>
      <p:ext uri="{BB962C8B-B14F-4D97-AF65-F5344CB8AC3E}">
        <p14:creationId xmlns:p14="http://schemas.microsoft.com/office/powerpoint/2010/main" val="4274878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  <a:blipFill>
                <a:blip r:embed="rId2"/>
                <a:stretch>
                  <a:fillRect l="-812" t="-4231"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750201" y="4267787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EC2FD1-5CD7-56FD-9ABD-B36E517A8AED}"/>
              </a:ext>
            </a:extLst>
          </p:cNvPr>
          <p:cNvGrpSpPr/>
          <p:nvPr/>
        </p:nvGrpSpPr>
        <p:grpSpPr>
          <a:xfrm>
            <a:off x="5751892" y="4458342"/>
            <a:ext cx="5058249" cy="693716"/>
            <a:chOff x="6178319" y="4751925"/>
            <a:chExt cx="5058249" cy="69371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AB00F1-894B-FAD4-D9B5-AAB448F766B9}"/>
                </a:ext>
              </a:extLst>
            </p:cNvPr>
            <p:cNvGrpSpPr/>
            <p:nvPr/>
          </p:nvGrpSpPr>
          <p:grpSpPr>
            <a:xfrm>
              <a:off x="6834478" y="4840735"/>
              <a:ext cx="416016" cy="516442"/>
              <a:chOff x="3545173" y="2926112"/>
              <a:chExt cx="1034321" cy="1181193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E29E324-1283-A895-1E0F-E2BBBEFA57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4316412-1CB7-F872-2F50-0EA73919CA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25A8D8E-E3CE-65BD-D6D5-7933FACCF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0DE3313-5A23-03A3-87D8-63A73FE4E4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DB42C2-84BC-5646-3215-20E220571882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5E840F-3ED7-BA35-DC7F-2039747D3001}"/>
                  </a:ext>
                </a:extLst>
              </p:cNvPr>
              <p:cNvSpPr txBox="1"/>
              <p:nvPr/>
            </p:nvSpPr>
            <p:spPr>
              <a:xfrm>
                <a:off x="3900235" y="330472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4C2549-327C-1B02-7F46-4939CF125D6A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64E388E-A081-24D6-B29D-6E20AC29AC15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/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2800" dirty="0"/>
                    <a:t>play bottom right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blipFill>
                  <a:blip r:embed="rId3"/>
                  <a:stretch>
                    <a:fillRect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bottom right 60% of the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522" t="-5136" b="-3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vs.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29"/>
            <a:ext cx="10515600" cy="195413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The agent has to learn a good policy using the reward signal </a:t>
            </a:r>
            <a:r>
              <a:rPr lang="en-US" b="1" dirty="0"/>
              <a:t>while it is evaluated </a:t>
            </a:r>
            <a:r>
              <a:rPr lang="en-US" dirty="0"/>
              <a:t>at the same time.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Follow the currently known best policy to maximize the return.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new actions to find out more about the environment. This could improve the policy. </a:t>
            </a:r>
          </a:p>
          <a:p>
            <a:endParaRPr lang="en-US" b="1" dirty="0"/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35405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blipFill>
                <a:blip r:embed="rId6"/>
                <a:stretch>
                  <a:fillRect l="-1038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environment: The 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Methods for optimal control of dynamical systems. They are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 the feedback;</a:t>
                </a:r>
              </a:p>
              <a:p>
                <a:pPr lvl="1"/>
                <a:r>
                  <a:rPr lang="en-US" dirty="0"/>
                  <a:t>uses numerical optimization instead of closed form solutions;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711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8320763" y="3818528"/>
                <a:ext cx="3316736" cy="607976"/>
              </a:xfrm>
              <a:prstGeom prst="wedgeRoundRectCallout">
                <a:avLst>
                  <a:gd name="adj1" fmla="val -116753"/>
                  <a:gd name="adj2" fmla="val -6812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763" y="3818528"/>
                <a:ext cx="3316736" cy="607976"/>
              </a:xfrm>
              <a:prstGeom prst="wedgeRoundRectCallout">
                <a:avLst>
                  <a:gd name="adj1" fmla="val -116753"/>
                  <a:gd name="adj2" fmla="val -68122"/>
                  <a:gd name="adj3" fmla="val 16667"/>
                </a:avLst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8320763" y="4482792"/>
                <a:ext cx="3285646" cy="257434"/>
              </a:xfrm>
              <a:prstGeom prst="wedgeRoundRectCallout">
                <a:avLst>
                  <a:gd name="adj1" fmla="val -127577"/>
                  <a:gd name="adj2" fmla="val -12477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763" y="4482792"/>
                <a:ext cx="3285646" cy="257434"/>
              </a:xfrm>
              <a:prstGeom prst="wedgeRoundRectCallout">
                <a:avLst>
                  <a:gd name="adj1" fmla="val -127577"/>
                  <a:gd name="adj2" fmla="val -124778"/>
                  <a:gd name="adj3" fmla="val 16667"/>
                </a:avLst>
              </a:prstGeom>
              <a:blipFill>
                <a:blip r:embed="rId4"/>
                <a:stretch>
                  <a:fillRect b="-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3046478" y="6212336"/>
            <a:ext cx="4400069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MPC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153547" cy="2903105"/>
            <a:chOff x="8510288" y="1213550"/>
            <a:chExt cx="3153547" cy="2903105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842689" y="3808878"/>
              <a:ext cx="26640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Example: Cart Pole Balancing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</a:t>
            </a:r>
            <a:r>
              <a:rPr lang="en-US" sz="1700"/>
              <a:t>, environment, </a:t>
            </a:r>
            <a:r>
              <a:rPr lang="en-US" sz="1700" dirty="0"/>
              <a:t>and </a:t>
            </a:r>
            <a:r>
              <a:rPr lang="en-US" sz="1700"/>
              <a:t>the role of the </a:t>
            </a:r>
            <a:r>
              <a:rPr lang="en-US" sz="1700" dirty="0"/>
              <a:t>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5283</TotalTime>
  <Words>3532</Words>
  <Application>Microsoft Office PowerPoint</Application>
  <PresentationFormat>Widescreen</PresentationFormat>
  <Paragraphs>499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Definition: Return</vt:lpstr>
      <vt:lpstr>Elements of RL</vt:lpstr>
      <vt:lpstr>Action</vt:lpstr>
      <vt:lpstr>Elements of RL</vt:lpstr>
      <vt:lpstr>Deterministic Policy</vt:lpstr>
      <vt:lpstr>Stochastic Policy</vt:lpstr>
      <vt:lpstr>Policy: Exploration vs.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Optimal Control Theory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81</cp:revision>
  <dcterms:created xsi:type="dcterms:W3CDTF">2025-09-08T14:44:49Z</dcterms:created>
  <dcterms:modified xsi:type="dcterms:W3CDTF">2026-01-30T23:37:18Z</dcterms:modified>
</cp:coreProperties>
</file>