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84" r:id="rId3"/>
    <p:sldId id="382" r:id="rId4"/>
    <p:sldId id="389" r:id="rId5"/>
    <p:sldId id="383" r:id="rId6"/>
    <p:sldId id="385" r:id="rId7"/>
    <p:sldId id="386" r:id="rId8"/>
    <p:sldId id="388" r:id="rId9"/>
    <p:sldId id="387" r:id="rId10"/>
    <p:sldId id="390" r:id="rId11"/>
    <p:sldId id="391" r:id="rId12"/>
    <p:sldId id="392" r:id="rId13"/>
    <p:sldId id="393" r:id="rId14"/>
    <p:sldId id="398" r:id="rId15"/>
    <p:sldId id="395" r:id="rId16"/>
    <p:sldId id="397" r:id="rId17"/>
    <p:sldId id="399" r:id="rId18"/>
    <p:sldId id="394" r:id="rId19"/>
    <p:sldId id="396" r:id="rId20"/>
    <p:sldId id="401" r:id="rId21"/>
    <p:sldId id="40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286E67-F0F0-421C-8F74-7B93ABA17FBF}">
          <p14:sldIdLst>
            <p14:sldId id="256"/>
            <p14:sldId id="384"/>
            <p14:sldId id="382"/>
            <p14:sldId id="389"/>
            <p14:sldId id="383"/>
            <p14:sldId id="385"/>
            <p14:sldId id="386"/>
            <p14:sldId id="388"/>
            <p14:sldId id="387"/>
            <p14:sldId id="390"/>
            <p14:sldId id="391"/>
            <p14:sldId id="392"/>
            <p14:sldId id="393"/>
            <p14:sldId id="398"/>
            <p14:sldId id="395"/>
            <p14:sldId id="397"/>
            <p14:sldId id="399"/>
            <p14:sldId id="394"/>
            <p14:sldId id="396"/>
            <p14:sldId id="401"/>
            <p14:sldId id="4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4599F94E-CEE6-441E-89CC-EB005ECD8F06}">
      <a14:m xmlns:a14="http://schemas.microsoft.com/office/drawing/2010/main">
        <m:mathPr xmlns:m="http://schemas.openxmlformats.org/officeDocument/2006/math">
          <m:brkBin m:val="before"/>
          <m:brkBinSub m:val="--"/>
        </m:mathPr>
      </a14:m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23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14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D5558-2701-D852-1A01-0BF39B58DE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E150F4-19D6-3927-AF4C-79938CACB9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C3DC3-6BE4-4AD5-BF83-83DBE6741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D0FF9-FEE5-7DEA-F2A0-04CD3C8E9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CCB2C-BF64-0CEB-C138-EC1E0FF1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8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EA809-C199-A2CA-4B62-C11FD8360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90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BD398-BC57-413F-4426-6AE62DCF0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10515600" cy="47796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09A95-DE70-5583-0BB6-25CA049AF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2F8C87-113F-3949-D291-E8101A07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8CBE1-6776-590E-6A36-B274F6F61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5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7B990-0C44-FE72-89C1-7BAFB2C8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BF51AA-25F1-19ED-49F4-909710D8F4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F3394-E947-7BBC-4B4E-FC222CF9E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90F51-989A-F265-1B59-526B06EC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400B-F255-95CF-8BD8-3D8AE595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33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DC8DE-D8D3-04F9-7952-B3C9B444D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C6199-C068-6A1D-B9C6-37C04A922F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26636-1E6C-5A66-DCE9-40F0239C9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85DEA3-FC5C-77B6-8AEC-BF4A26C76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A2BAE8-516B-EE07-0EF8-4E37D353B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1D7F8D-0B8A-CA54-C5D1-DAFB9A217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7762D-C67C-6FB4-D8AF-A2AEADD0B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F3E59-5CAF-AE52-066A-662EAF232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294A81-151A-F8B5-9A7D-43577F3F69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BDED1E-7743-9D82-5A8F-215AF2DB8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3FED4-7E43-512F-BDC2-AB5A6F6A9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71D6A-F625-133A-E751-2B967B94A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256629-E601-1BA5-526C-36960EEBE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5DDDF-B6D4-29FB-6B7F-C7017B4E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717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2B25A-3F20-51F4-D136-F73B17683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F8609-CAA0-6678-FCA9-C0252974D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11A081-E4EB-7E96-A0AA-2E4D49099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D0AC27-1467-337C-D636-190385E3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317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C8C3DB-E47E-C122-D7BD-AAAC105B2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94795-A7C6-B915-9849-6DDF9E556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BBD6E5-D6AC-7828-B9FA-162561BDB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587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DDA5E-FB2F-65E3-9AC6-77E9E333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88CA7-EDCF-7BC9-0D50-5F550487A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F96387-78E1-111C-2860-3620802599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170FC-BF4D-52B4-3D96-975E35B67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B24C2-CDEC-1D6D-42DB-F885EAF6C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CA044-7F46-1F0F-A966-A66706F2D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192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2354-EE3F-C81F-2C98-42CA24F0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37B54A-0E38-1C0F-EA90-8D9A628CC2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DF9108-1890-E2BF-7EA2-A2F28DEA6C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668F02-6193-91DC-69E0-6CC09A247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34B642-5606-ACB8-4ADF-6DDE8BE4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89560E-8858-1CED-6B2E-1EF0F58F2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757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A8BF-0F66-F00E-4527-03CBDE1E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48F7C1-32BC-0F71-0130-0DFB9C183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9C7E0-3252-37DB-73A7-7F070748F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6C5EE-EAD9-8D18-3741-930600D3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647D8-342D-AED5-3763-DD02F7C2A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4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D0B639-7A1F-68FA-45DD-3196E2CB5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4F1BB-B40D-E6E4-111B-122348C26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52DAFD-560D-9508-6F31-281EC9743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C6320-E161-CE4A-CBDD-27072D2A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C3E81-2AD2-5FBE-B6F5-1512F3AF9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46CF1-7E31-D1FD-63E0-29688510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99997-F7F8-3FB5-F294-092654769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FEC26E-B485-AE94-5C91-D0E504CEB5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22BF2E-04DA-469E-97C5-BB68A0368813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ECD47-D4F5-A47B-6CA1-E8E47C1C4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C2B9-7B85-792D-492E-EE9D50875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362146-1680-4254-AA84-26EEDD4102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3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nc-sa/4.0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80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7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B02EEF-8413-288E-566D-063A066A6C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7" r="23298" b="3714"/>
          <a:stretch>
            <a:fillRect/>
          </a:stretch>
        </p:blipFill>
        <p:spPr bwMode="auto">
          <a:xfrm>
            <a:off x="3653200" y="-18278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EE42B-57B4-EB74-A37C-6675858E7D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463968" cy="3204134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800" dirty="0">
                <a:solidFill>
                  <a:schemeClr val="bg1"/>
                </a:solidFill>
              </a:rPr>
              <a:t>Reinforcement Learning</a:t>
            </a:r>
            <a:br>
              <a:rPr lang="en-US" sz="4800" dirty="0">
                <a:solidFill>
                  <a:schemeClr val="bg1"/>
                </a:solidFill>
              </a:rPr>
            </a:br>
            <a:br>
              <a:rPr lang="en-US" sz="4800" dirty="0">
                <a:solidFill>
                  <a:schemeClr val="bg1"/>
                </a:solidFill>
              </a:rPr>
            </a:br>
            <a:r>
              <a:rPr lang="en-US" sz="4000" dirty="0">
                <a:solidFill>
                  <a:schemeClr val="bg1"/>
                </a:solidFill>
              </a:rPr>
              <a:t>Temporal Difference Learning</a:t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2800" dirty="0">
                <a:solidFill>
                  <a:schemeClr val="bg1"/>
                </a:solidFill>
              </a:rPr>
              <a:t>Sutton/Barto*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>
                <a:solidFill>
                  <a:schemeClr val="bg1"/>
                </a:solidFill>
              </a:rPr>
              <a:t>Chapter 6</a:t>
            </a:r>
            <a:endParaRPr lang="en-US" sz="27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FF10C2-8C10-0E89-D285-D614C36EE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868822"/>
            <a:ext cx="4169519" cy="1443894"/>
          </a:xfrm>
        </p:spPr>
        <p:txBody>
          <a:bodyPr>
            <a:normAutofit fontScale="92500"/>
          </a:bodyPr>
          <a:lstStyle/>
          <a:p>
            <a:pPr algn="l"/>
            <a:r>
              <a:rPr lang="en-US" sz="1700" dirty="0">
                <a:solidFill>
                  <a:schemeClr val="bg1"/>
                </a:solidFill>
              </a:rPr>
              <a:t>Michael Hahsler, SMU</a:t>
            </a: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With figures from Sutton/Barto*</a:t>
            </a:r>
          </a:p>
          <a:p>
            <a:pPr algn="l"/>
            <a:endParaRPr lang="en-US" sz="1300" dirty="0">
              <a:solidFill>
                <a:schemeClr val="bg1"/>
              </a:solidFill>
            </a:endParaRPr>
          </a:p>
          <a:p>
            <a:pPr algn="l"/>
            <a:r>
              <a:rPr lang="en-US" sz="1300" dirty="0">
                <a:solidFill>
                  <a:schemeClr val="bg1"/>
                </a:solidFill>
              </a:rPr>
              <a:t>*Sutton and Barto, Reinforcement Learning: An Introduction, 2</a:t>
            </a:r>
            <a:r>
              <a:rPr lang="en-US" sz="1300" baseline="30000" dirty="0">
                <a:solidFill>
                  <a:schemeClr val="bg1"/>
                </a:solidFill>
              </a:rPr>
              <a:t>nd</a:t>
            </a:r>
            <a:r>
              <a:rPr lang="en-US" sz="1300" dirty="0">
                <a:solidFill>
                  <a:schemeClr val="bg1"/>
                </a:solidFill>
              </a:rPr>
              <a:t> edition, MIT Press, Cambridge, MA, 2018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object 23">
            <a:hlinkClick r:id="rId3"/>
            <a:extLst>
              <a:ext uri="{FF2B5EF4-FFF2-40B4-BE49-F238E27FC236}">
                <a16:creationId xmlns:a16="http://schemas.microsoft.com/office/drawing/2014/main" id="{3CBD6548-3D4E-9A40-CA35-355261D4E92C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61016" y="6265038"/>
            <a:ext cx="1037459" cy="38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75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4E1A2-75E3-3C9C-6C10-EE078C5AD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11474" y="1140632"/>
                <a:ext cx="5273179" cy="2049857"/>
              </a:xfr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>
                <a:sp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b="1" dirty="0"/>
                  <a:t>Value Function</a:t>
                </a: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return (cumulative reward) following time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return from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to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(discounted and corrected)</a:t>
                </a:r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1200" dirty="0"/>
                  <a:t> (expected return)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state s under the optimal policy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value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the optimal policy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state-value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array estimates of action-value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expected approximate action value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	target for estimate at time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7E69C9C-42B6-9B0F-9AE0-20D17703E4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11474" y="1140632"/>
                <a:ext cx="5273179" cy="2049857"/>
              </a:xfrm>
              <a:blipFill>
                <a:blip r:embed="rId2"/>
                <a:stretch>
                  <a:fillRect b="-8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D475E5-BE3B-5594-57DC-46A17411F2F9}"/>
                  </a:ext>
                </a:extLst>
              </p:cNvPr>
              <p:cNvSpPr txBox="1"/>
              <p:nvPr/>
            </p:nvSpPr>
            <p:spPr>
              <a:xfrm>
                <a:off x="822820" y="1124198"/>
                <a:ext cx="5273179" cy="2308324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r>
                  <a:rPr lang="en-US" sz="1200" b="1" dirty="0"/>
                  <a:t>General</a:t>
                </a:r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	capital letters: random variables</a:t>
                </a:r>
                <a:br>
                  <a:rPr lang="en-US" sz="1200" dirty="0"/>
                </a:b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lower-case letters: realizations of random variables </a:t>
                </a:r>
                <a:br>
                  <a:rPr lang="en-US" sz="1200" dirty="0"/>
                </a:br>
                <a:r>
                  <a:rPr lang="en-US" sz="1200" dirty="0"/>
                  <a:t>	or scalar functions</a:t>
                </a:r>
              </a:p>
              <a:p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r>
                  <a:rPr lang="en-US" sz="1200" dirty="0"/>
                  <a:t> 	Bold lower-case letters: real-valued vectors </a:t>
                </a:r>
                <a:br>
                  <a:rPr lang="en-US" sz="1200" dirty="0"/>
                </a:br>
                <a:r>
                  <a:rPr lang="en-US" sz="1200" dirty="0"/>
                  <a:t>	(even if random variables)</a:t>
                </a:r>
              </a:p>
              <a:p>
                <a14:m>
                  <m:oMath xmlns:m="http://schemas.openxmlformats.org/officeDocument/2006/math">
                    <m:r>
                      <a:rPr lang="en-US" sz="1200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1200" dirty="0"/>
                  <a:t>	bold capitals: matrices</a:t>
                </a:r>
              </a:p>
              <a:p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1200" dirty="0"/>
                  <a:t>	Greek letters: parameters (vectors if in bolt)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200" dirty="0"/>
                  <a:t>	probability that a 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takes on the value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200" dirty="0"/>
                  <a:t>	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 selected from distribution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200">
                        <a:latin typeface="Cambria Math" panose="02040503050406030204" pitchFamily="18" charset="0"/>
                      </a:rPr>
                      <m:t>Pr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⁡{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200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1200" dirty="0"/>
              </a:p>
              <a:p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200" dirty="0"/>
                  <a:t>	expectation of a random variable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200" dirty="0"/>
                  <a:t>, i.e.,</a:t>
                </a: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  <m:sup/>
                      <m:e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dirty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r>
                      <a:rPr lang="en-US" sz="12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a value of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at which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 takes its maximal value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CD475E5-BE3B-5594-57DC-46A17411F2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20" y="1124198"/>
                <a:ext cx="5273179" cy="2308324"/>
              </a:xfrm>
              <a:prstGeom prst="rect">
                <a:avLst/>
              </a:prstGeom>
              <a:blipFill>
                <a:blip r:embed="rId3"/>
                <a:stretch>
                  <a:fillRect b="-94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2819" y="3570646"/>
                <a:ext cx="5273179" cy="2985823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sz="1200" b="1" dirty="0"/>
                  <a:t>MDP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	states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	an action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 	a reward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𝒮</m:t>
                    </m:r>
                  </m:oMath>
                </a14:m>
                <a:r>
                  <a:rPr lang="en-US" sz="1200" dirty="0"/>
                  <a:t> 	set of all (nonterminal) states,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𝒮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1200" dirty="0"/>
                  <a:t> are all states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set of all actions available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1200" dirty="0"/>
                  <a:t> 	discount-rate parameter</a:t>
                </a:r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1200" dirty="0"/>
                  <a:t> 	discrete time step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1200" dirty="0"/>
                  <a:t> 	final time step of an episode (a.k.a. horizon)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action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	random variable for the state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200" dirty="0"/>
                  <a:t> 	random variable for the reward at time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sz="1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12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1200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2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sz="1200" i="1" dirty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transition to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/>
                  <a:t> and receiving reward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200" dirty="0"/>
                  <a:t>, </a:t>
                </a:r>
                <a:br>
                  <a:rPr lang="en-US" sz="1200" dirty="0"/>
                </a:br>
                <a:r>
                  <a:rPr lang="en-US" sz="1200" dirty="0"/>
                  <a:t>	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sz="1200" dirty="0"/>
                  <a:t>	expected immediate reward from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after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1200" i="1" dirty="0">
                  <a:latin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2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probability of taking action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1200" dirty="0"/>
                  <a:t> in state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stochastic policy </a:t>
                </a:r>
                <a14:m>
                  <m:oMath xmlns:m="http://schemas.openxmlformats.org/officeDocument/2006/math">
                    <m:r>
                      <a:rPr lang="en-US" sz="1200" i="1" dirty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>
                  <a:ea typeface="Cambria Math" panose="020405030504060302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/>
                  <a:t>	action taken in state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1200" dirty="0"/>
                  <a:t> under deterministic policy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sz="1200" dirty="0"/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6F45EA4F-65F9-5141-0B09-C395CF9CA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819" y="3570646"/>
                <a:ext cx="5273179" cy="2985823"/>
              </a:xfrm>
              <a:prstGeom prst="rect">
                <a:avLst/>
              </a:prstGeom>
              <a:blipFill>
                <a:blip r:embed="rId4"/>
                <a:stretch>
                  <a:fillRect t="-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0694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10212-5336-C701-866E-6597FCA4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Temporal Difference (TD)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0C313-ED3A-E833-A040-230C55E14A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dirty="0"/>
                  <a:t>We will first focus on:</a:t>
                </a:r>
              </a:p>
              <a:p>
                <a:pPr lvl="1"/>
                <a:r>
                  <a:rPr lang="en-US" dirty="0"/>
                  <a:t>On-step</a:t>
                </a:r>
              </a:p>
              <a:p>
                <a:pPr lvl="1"/>
                <a:r>
                  <a:rPr lang="en-US" dirty="0"/>
                  <a:t>Tabular</a:t>
                </a:r>
              </a:p>
              <a:p>
                <a:pPr lvl="1"/>
                <a:r>
                  <a:rPr lang="en-US" dirty="0"/>
                  <a:t>Model-free TD</a:t>
                </a:r>
              </a:p>
              <a:p>
                <a:pPr lvl="1"/>
                <a:endParaRPr lang="en-US" dirty="0"/>
              </a:p>
              <a:p>
                <a:r>
                  <a:rPr lang="en-US" b="1" dirty="0"/>
                  <a:t>Idea</a:t>
                </a:r>
                <a:r>
                  <a:rPr lang="en-US" dirty="0"/>
                  <a:t>: incrementally make the state value 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 little more similar to the immediate reward and the discounted value of the next state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 difference is called the </a:t>
                </a:r>
                <a:r>
                  <a:rPr lang="en-US" b="1" dirty="0"/>
                  <a:t>DT error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Called temporal difference because it uses differences between successive predictions made over time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Combines ideas from MC and DP</a:t>
                </a:r>
              </a:p>
              <a:p>
                <a:pPr lvl="1"/>
                <a:r>
                  <a:rPr lang="en-US" dirty="0"/>
                  <a:t>From MC: learn from raw experience</a:t>
                </a:r>
              </a:p>
              <a:p>
                <a:pPr lvl="1"/>
                <a:r>
                  <a:rPr lang="en-US" dirty="0"/>
                  <a:t>From DP: estimate without waiting for the final outcome (aka </a:t>
                </a:r>
                <a:r>
                  <a:rPr lang="en-US" dirty="0" err="1"/>
                  <a:t>bootstraping</a:t>
                </a:r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70C313-ED3A-E833-A040-230C55E14A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t="-19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796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FB2077-6714-528E-FB23-B2B1BA53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 Prediction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95BE15-E705-EBDF-2293-CDEA1840E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2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87989-265D-BCD0-24A2-62684E253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TD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D19F22-F117-573B-ECD5-0EBA0132CB5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Follow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and update estimate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MC: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groupChr>
                      <m:groupChrPr>
                        <m:chr m:val="←"/>
                        <m:pos m:val="to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TD: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groupChr>
                      <m:groupChrPr>
                        <m:chr m:val="←"/>
                        <m:pos m:val="top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)]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1D19F22-F117-573B-ECD5-0EBA0132CB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68A07290-301C-7032-71D6-1CB108C1EAAB}"/>
              </a:ext>
            </a:extLst>
          </p:cNvPr>
          <p:cNvGrpSpPr/>
          <p:nvPr/>
        </p:nvGrpSpPr>
        <p:grpSpPr>
          <a:xfrm>
            <a:off x="4699685" y="1920094"/>
            <a:ext cx="1541724" cy="537879"/>
            <a:chOff x="4699685" y="1920094"/>
            <a:chExt cx="1541724" cy="537879"/>
          </a:xfrm>
        </p:grpSpPr>
        <p:sp>
          <p:nvSpPr>
            <p:cNvPr id="4" name="Right Brace 3">
              <a:extLst>
                <a:ext uri="{FF2B5EF4-FFF2-40B4-BE49-F238E27FC236}">
                  <a16:creationId xmlns:a16="http://schemas.microsoft.com/office/drawing/2014/main" id="{114C8F32-06B0-D869-D536-7BBF5C78D0A5}"/>
                </a:ext>
              </a:extLst>
            </p:cNvPr>
            <p:cNvSpPr/>
            <p:nvPr/>
          </p:nvSpPr>
          <p:spPr>
            <a:xfrm rot="16200000" flipV="1">
              <a:off x="5386274" y="1602838"/>
              <a:ext cx="168546" cy="154172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CBC98F2-9264-2ADA-BDB4-85BCB1E97F5E}"/>
                </a:ext>
              </a:extLst>
            </p:cNvPr>
            <p:cNvSpPr txBox="1"/>
            <p:nvPr/>
          </p:nvSpPr>
          <p:spPr>
            <a:xfrm>
              <a:off x="4942165" y="1920094"/>
              <a:ext cx="10567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MC Error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875633-9C72-9EE6-1B64-B7B45913B066}"/>
              </a:ext>
            </a:extLst>
          </p:cNvPr>
          <p:cNvGrpSpPr/>
          <p:nvPr/>
        </p:nvGrpSpPr>
        <p:grpSpPr>
          <a:xfrm>
            <a:off x="4512329" y="3510649"/>
            <a:ext cx="3725659" cy="537879"/>
            <a:chOff x="4699685" y="1920094"/>
            <a:chExt cx="1541724" cy="537879"/>
          </a:xfrm>
        </p:grpSpPr>
        <p:sp>
          <p:nvSpPr>
            <p:cNvPr id="9" name="Right Brace 8">
              <a:extLst>
                <a:ext uri="{FF2B5EF4-FFF2-40B4-BE49-F238E27FC236}">
                  <a16:creationId xmlns:a16="http://schemas.microsoft.com/office/drawing/2014/main" id="{081EF24B-FDDC-57EA-DD46-44587ECCD551}"/>
                </a:ext>
              </a:extLst>
            </p:cNvPr>
            <p:cNvSpPr/>
            <p:nvPr/>
          </p:nvSpPr>
          <p:spPr>
            <a:xfrm rot="16200000" flipV="1">
              <a:off x="5386274" y="1602838"/>
              <a:ext cx="168546" cy="154172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0154ED7-E9AD-AC50-4A6E-FBD3C1C9365A}"/>
                </a:ext>
              </a:extLst>
            </p:cNvPr>
            <p:cNvSpPr txBox="1"/>
            <p:nvPr/>
          </p:nvSpPr>
          <p:spPr>
            <a:xfrm>
              <a:off x="5267152" y="1920094"/>
              <a:ext cx="40678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TD Error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8CF09A0-818F-5F40-4472-2943AC1A66D9}"/>
              </a:ext>
            </a:extLst>
          </p:cNvPr>
          <p:cNvGrpSpPr/>
          <p:nvPr/>
        </p:nvGrpSpPr>
        <p:grpSpPr>
          <a:xfrm>
            <a:off x="2115130" y="4571292"/>
            <a:ext cx="7537064" cy="847117"/>
            <a:chOff x="3220703" y="2257187"/>
            <a:chExt cx="4619580" cy="847117"/>
          </a:xfrm>
        </p:grpSpPr>
        <p:sp>
          <p:nvSpPr>
            <p:cNvPr id="12" name="Right Brace 11">
              <a:extLst>
                <a:ext uri="{FF2B5EF4-FFF2-40B4-BE49-F238E27FC236}">
                  <a16:creationId xmlns:a16="http://schemas.microsoft.com/office/drawing/2014/main" id="{DB467B9E-487B-7E61-B117-98627BE25B20}"/>
                </a:ext>
              </a:extLst>
            </p:cNvPr>
            <p:cNvSpPr/>
            <p:nvPr/>
          </p:nvSpPr>
          <p:spPr>
            <a:xfrm rot="16200000" flipH="1" flipV="1">
              <a:off x="5414044" y="1562984"/>
              <a:ext cx="168547" cy="1556954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67C0F56-3D54-6751-0D3D-658F027B96FA}"/>
                </a:ext>
              </a:extLst>
            </p:cNvPr>
            <p:cNvSpPr txBox="1"/>
            <p:nvPr/>
          </p:nvSpPr>
          <p:spPr>
            <a:xfrm>
              <a:off x="3220703" y="2457973"/>
              <a:ext cx="461958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Uses reward + estimate for next state = target</a:t>
              </a:r>
            </a:p>
            <a:p>
              <a:pPr algn="ctr"/>
              <a:r>
                <a:rPr lang="en-US" dirty="0"/>
                <a:t>Without waiting for the end of the sequence. Similar to bootstrapping in DP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3558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E36AA-2655-FFF5-7881-32B8F5909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Tabular TD(0)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04425E-63FB-9C5C-D27A-96BE1B7B4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6508" y="1337315"/>
            <a:ext cx="7810209" cy="34977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35ACD8-755A-24FF-8EB6-4204F3F1C9E3}"/>
                  </a:ext>
                </a:extLst>
              </p:cNvPr>
              <p:cNvSpPr txBox="1"/>
              <p:nvPr/>
            </p:nvSpPr>
            <p:spPr>
              <a:xfrm>
                <a:off x="1081924" y="5151353"/>
                <a:ext cx="102718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Note</a:t>
                </a:r>
                <a:r>
                  <a:rPr lang="en-US" dirty="0"/>
                  <a:t>: We can only update for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at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since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and the reward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935ACD8-755A-24FF-8EB6-4204F3F1C9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924" y="5151353"/>
                <a:ext cx="10271876" cy="369332"/>
              </a:xfrm>
              <a:prstGeom prst="rect">
                <a:avLst/>
              </a:prstGeom>
              <a:blipFill>
                <a:blip r:embed="rId3"/>
                <a:stretch>
                  <a:fillRect l="-47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6283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11095-5FFA-CC66-454C-D10676BA2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TD Prediction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651C54-F857-A543-AF9A-0826AE484D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Online updates </a:t>
                </a:r>
                <a:r>
                  <a:rPr lang="en-US" dirty="0"/>
                  <a:t>at each step. Bootstraps using estimate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the value of the next state. </a:t>
                </a:r>
                <a:br>
                  <a:rPr lang="en-US" dirty="0"/>
                </a:br>
                <a:r>
                  <a:rPr lang="en-US" dirty="0"/>
                  <a:t>MC has to wait for the end of the episode.</a:t>
                </a:r>
              </a:p>
              <a:p>
                <a:endParaRPr lang="en-US" dirty="0"/>
              </a:p>
              <a:p>
                <a:r>
                  <a:rPr lang="en-US" b="1" dirty="0"/>
                  <a:t>Model-free</a:t>
                </a:r>
                <a:r>
                  <a:rPr lang="en-US" dirty="0"/>
                  <a:t>. Only needs samples.</a:t>
                </a:r>
                <a:br>
                  <a:rPr lang="en-US" dirty="0"/>
                </a:br>
                <a:r>
                  <a:rPr lang="en-US" dirty="0"/>
                  <a:t>DP needs the transition probabilities!</a:t>
                </a:r>
              </a:p>
              <a:p>
                <a:endParaRPr lang="en-US" b="1" dirty="0"/>
              </a:p>
              <a:p>
                <a:r>
                  <a:rPr lang="en-US" b="1" dirty="0"/>
                  <a:t>Convergence</a:t>
                </a:r>
                <a:r>
                  <a:rPr lang="en-US" dirty="0"/>
                  <a:t>: For any fixed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, TD(0) converges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</m:oMath>
                </a14:m>
                <a:r>
                  <a:rPr lang="en-US" dirty="0"/>
                  <a:t> with probability 1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decreases sufficiently slowly over time. </a:t>
                </a:r>
                <a:br>
                  <a:rPr lang="en-US" dirty="0"/>
                </a:br>
                <a:r>
                  <a:rPr lang="en-US" dirty="0"/>
                  <a:t>Converges typically faster than MC prediction.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1651C54-F857-A543-AF9A-0826AE484D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 r="-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8214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CD6C69-A73D-CF25-463F-EC940FC0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Sarsa: On-policy TD Control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0B5B47-1AC0-4A21-D15D-1F7142A402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8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17A85-AD27-D78C-6EE7-8EFC9C60F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E76A2D-11FD-3349-6432-A6DAAA3C05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b="1" dirty="0"/>
                  <a:t>Idea</a:t>
                </a:r>
                <a:r>
                  <a:rPr lang="en-US" dirty="0"/>
                  <a:t>: Use GPI with TD methods for policy evaluation (prediction).</a:t>
                </a:r>
              </a:p>
              <a:p>
                <a:r>
                  <a:rPr lang="en-US" b="1" dirty="0"/>
                  <a:t>Evaluation</a:t>
                </a:r>
                <a:r>
                  <a:rPr lang="en-US" dirty="0"/>
                  <a:t>: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using the table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for current behavior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dirty="0"/>
                  <a:t> like TD prediction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groupChr>
                      <m:groupChrPr>
                        <m:chr m:val="←"/>
                        <m:pos m:val="top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/>
                    </m:groupCh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 algn="r">
                  <a:buNone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 for a terminal state is defined as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Update uses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is called </a:t>
                </a:r>
                <a:r>
                  <a:rPr lang="en-US" b="1" dirty="0"/>
                  <a:t>Sarsa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E76A2D-11FD-3349-6432-A6DAAA3C05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69032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65D83-AF66-468C-2BD2-B60F40C3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Sarsa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476306-7294-055F-2284-AF672A56B6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396010"/>
            <a:ext cx="10515600" cy="4732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86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47666C-E544-A8E2-3E86-3E49FE62D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Q-learning: Off-policy TD Control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AB6C6B-376F-4E19-AC6C-EECCB099A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67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97FAA-94D1-C411-5F84-BD11DAFEA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FCB7B-AD2F-2F02-9738-B745C6FBC5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An extremely influential method developed by Watkins (1989).</a:t>
                </a:r>
              </a:p>
              <a:p>
                <a:r>
                  <a:rPr lang="en-US" dirty="0"/>
                  <a:t>Update rule only uses Sars: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directly approximates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dirty="0"/>
                  <a:t> independent of the behavior policy being followed!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Off-policy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3FCB7B-AD2F-2F02-9738-B745C6FBC5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1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peech Bubble: Rectangle with Corners Rounded 3">
            <a:extLst>
              <a:ext uri="{FF2B5EF4-FFF2-40B4-BE49-F238E27FC236}">
                <a16:creationId xmlns:a16="http://schemas.microsoft.com/office/drawing/2014/main" id="{AEB9BEF0-AB2C-E41A-D1B7-4EEEAD69C231}"/>
              </a:ext>
            </a:extLst>
          </p:cNvPr>
          <p:cNvSpPr/>
          <p:nvPr/>
        </p:nvSpPr>
        <p:spPr>
          <a:xfrm>
            <a:off x="8411083" y="3043347"/>
            <a:ext cx="2010286" cy="621233"/>
          </a:xfrm>
          <a:prstGeom prst="wedgeRoundRectCallout">
            <a:avLst>
              <a:gd name="adj1" fmla="val -35067"/>
              <a:gd name="adj2" fmla="val -77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 next action is not observed, but greedily chosen!</a:t>
            </a:r>
          </a:p>
        </p:txBody>
      </p:sp>
    </p:spTree>
    <p:extLst>
      <p:ext uri="{BB962C8B-B14F-4D97-AF65-F5344CB8AC3E}">
        <p14:creationId xmlns:p14="http://schemas.microsoft.com/office/powerpoint/2010/main" val="4004526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01268-36EB-E39E-FDF7-3CEE63747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Alg. Q-Learning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B7A3C4-3DE2-A697-7764-609086D4B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87336" y="1927972"/>
            <a:ext cx="8154789" cy="34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8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6363-9D21-FCAF-D518-75DBE389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Q-Learning’s Maximization Bias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4E4FF9-9BED-6723-C7F4-56C4276CC2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73965"/>
                <a:ext cx="10515600" cy="1283049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Q-learning has a </a:t>
                </a:r>
                <a:r>
                  <a:rPr lang="en-US" b="1" dirty="0"/>
                  <a:t>maximization bias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/>
                  <a:t> always takes the maximum overestimates and thus will have a positive bias.</a:t>
                </a:r>
              </a:p>
              <a:p>
                <a:r>
                  <a:rPr lang="en-US" dirty="0"/>
                  <a:t>Solution: </a:t>
                </a:r>
                <a:r>
                  <a:rPr lang="en-US" b="1" dirty="0"/>
                  <a:t>double Q-learning </a:t>
                </a:r>
                <a:r>
                  <a:rPr lang="en-US" dirty="0"/>
                  <a:t>by learning two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 functions and averaging them.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34E4FF9-9BED-6723-C7F4-56C4276CC2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73965"/>
                <a:ext cx="10515600" cy="1283049"/>
              </a:xfrm>
              <a:blipFill>
                <a:blip r:embed="rId2"/>
                <a:stretch>
                  <a:fillRect l="-812" t="-8571" r="-1739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DAD96510-1563-B66E-3094-A8C2EBB9C4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496" y="2506781"/>
            <a:ext cx="7811008" cy="4051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700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72C525-9440-DBEC-A10C-3B5C71AC3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Sarsa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25947-2373-C66A-17CA-F57992596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291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C4385-3C91-82A2-B0A7-C06386ED8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Expected Sarsa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5F37D-A373-4729-2DE5-C78B1820DA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Like Q-learning, but use the expectation over all actions instead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ax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/>
                    </m:func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m:rPr>
                          <m:aln/>
                        </m:rPr>
                        <a:rPr lang="en-US" sz="2400" i="1">
                          <a:latin typeface="Cambria Math" panose="02040503050406030204" pitchFamily="18" charset="0"/>
                        </a:rPr>
                        <m:t>←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𝔼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begChr m:val="|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𝛾</m:t>
                          </m:r>
                          <m:nary>
                            <m:naryPr>
                              <m:chr m:val="∑"/>
                              <m:supHide m:val="on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/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00000"/>
                  </a:lnSpc>
                </a:pPr>
                <a:endParaRPr lang="en-US" dirty="0"/>
              </a:p>
              <a:p>
                <a:pPr>
                  <a:lnSpc>
                    <a:spcPct val="100000"/>
                  </a:lnSpc>
                </a:pPr>
                <a:r>
                  <a:rPr lang="en-US" b="1" dirty="0"/>
                  <a:t>Properties: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Moves in the direction of Sarsa (in expectation).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Eliminates Sarsa’s variance due to the random selection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Can set the learning rate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since it uses expectation!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Can be used off-policy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generalizes Q-learning. 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85F37D-A373-4729-2DE5-C78B1820DA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189" b="-5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2243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A947AF-1111-8FC8-9C49-9ED02B2A1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Comaprison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455082-DEC7-913B-105C-3428E5E309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1753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A2BBB-A726-1EF6-3427-57B33AC4A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Comparison: 1-step Backup Diagrams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27D81A-F2A7-9C05-925E-39F3F345B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340" y="3640886"/>
            <a:ext cx="5734850" cy="22291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A8F4E1-AA11-EA65-8209-64A2D6CE0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286" y="3731387"/>
            <a:ext cx="1038370" cy="20481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8A0168-D948-DB08-23EA-3F5C62A0CDFE}"/>
                  </a:ext>
                </a:extLst>
              </p:cNvPr>
              <p:cNvSpPr txBox="1"/>
              <p:nvPr/>
            </p:nvSpPr>
            <p:spPr>
              <a:xfrm>
                <a:off x="2083014" y="3384236"/>
                <a:ext cx="4306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78A0168-D948-DB08-23EA-3F5C62A0C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3014" y="3384236"/>
                <a:ext cx="43063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BB00F4-1A5A-D5B1-1923-30E7AB671293}"/>
                  </a:ext>
                </a:extLst>
              </p:cNvPr>
              <p:cNvSpPr txBox="1"/>
              <p:nvPr/>
            </p:nvSpPr>
            <p:spPr>
              <a:xfrm>
                <a:off x="2298329" y="4446711"/>
                <a:ext cx="6502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BB00F4-1A5A-D5B1-1923-30E7AB671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329" y="4446711"/>
                <a:ext cx="65024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D4DCAB-8567-439C-FC82-BD0F72977E73}"/>
                  </a:ext>
                </a:extLst>
              </p:cNvPr>
              <p:cNvSpPr txBox="1"/>
              <p:nvPr/>
            </p:nvSpPr>
            <p:spPr>
              <a:xfrm>
                <a:off x="2298330" y="5096376"/>
                <a:ext cx="6020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AD4DCAB-8567-439C-FC82-BD0F72977E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8330" y="5096376"/>
                <a:ext cx="602038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811601-E15B-A2EA-6A3C-8E69FECEDE50}"/>
                  </a:ext>
                </a:extLst>
              </p:cNvPr>
              <p:cNvSpPr txBox="1"/>
              <p:nvPr/>
            </p:nvSpPr>
            <p:spPr>
              <a:xfrm>
                <a:off x="2186529" y="3775749"/>
                <a:ext cx="6020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E811601-E15B-A2EA-6A3C-8E69FECED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529" y="3775749"/>
                <a:ext cx="602038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84C7A8-3D3A-7BB1-3E84-0C6C6A718B86}"/>
                  </a:ext>
                </a:extLst>
              </p:cNvPr>
              <p:cNvSpPr txBox="1"/>
              <p:nvPr/>
            </p:nvSpPr>
            <p:spPr>
              <a:xfrm>
                <a:off x="1698460" y="4013981"/>
                <a:ext cx="60203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F84C7A8-3D3A-7BB1-3E84-0C6C6A718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8460" y="4013981"/>
                <a:ext cx="602038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506427-5DBB-46F6-7064-8C167FF27BD1}"/>
                  </a:ext>
                </a:extLst>
              </p:cNvPr>
              <p:cNvSpPr txBox="1"/>
              <p:nvPr/>
            </p:nvSpPr>
            <p:spPr>
              <a:xfrm>
                <a:off x="5598300" y="4661302"/>
                <a:ext cx="6479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max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9506427-5DBB-46F6-7064-8C167FF27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8300" y="4661302"/>
                <a:ext cx="647933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540664-58DD-C85E-EB0B-3CF84B97E40F}"/>
                  </a:ext>
                </a:extLst>
              </p:cNvPr>
              <p:cNvSpPr txBox="1"/>
              <p:nvPr/>
            </p:nvSpPr>
            <p:spPr>
              <a:xfrm>
                <a:off x="9403340" y="4661302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1540664-58DD-C85E-EB0B-3CF84B97E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3340" y="4661302"/>
                <a:ext cx="3786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>
            <a:extLst>
              <a:ext uri="{FF2B5EF4-FFF2-40B4-BE49-F238E27FC236}">
                <a16:creationId xmlns:a16="http://schemas.microsoft.com/office/drawing/2014/main" id="{DC8187D2-C651-211E-F36F-28F57A9AE11F}"/>
              </a:ext>
            </a:extLst>
          </p:cNvPr>
          <p:cNvGrpSpPr/>
          <p:nvPr/>
        </p:nvGrpSpPr>
        <p:grpSpPr>
          <a:xfrm>
            <a:off x="2788567" y="1496579"/>
            <a:ext cx="5965095" cy="1634099"/>
            <a:chOff x="2637816" y="2832616"/>
            <a:chExt cx="5965095" cy="163409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816A4BA-29C5-E498-E49B-2A5D1934C3AC}"/>
                </a:ext>
              </a:extLst>
            </p:cNvPr>
            <p:cNvGrpSpPr/>
            <p:nvPr/>
          </p:nvGrpSpPr>
          <p:grpSpPr>
            <a:xfrm>
              <a:off x="2637816" y="2832616"/>
              <a:ext cx="5965095" cy="1560336"/>
              <a:chOff x="2373562" y="2568409"/>
              <a:chExt cx="5965095" cy="1560336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079CA762-1D81-E9C9-CDF2-B465A9EF93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373562" y="2955408"/>
                <a:ext cx="5965095" cy="606381"/>
              </a:xfrm>
              <a:prstGeom prst="rect">
                <a:avLst/>
              </a:prstGeom>
            </p:spPr>
          </p:pic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D8A8134D-2B73-F837-EAFB-A58F7D294338}"/>
                  </a:ext>
                </a:extLst>
              </p:cNvPr>
              <p:cNvSpPr/>
              <p:nvPr/>
            </p:nvSpPr>
            <p:spPr>
              <a:xfrm>
                <a:off x="3510268" y="3109621"/>
                <a:ext cx="1082180" cy="796292"/>
              </a:xfrm>
              <a:prstGeom prst="arc">
                <a:avLst>
                  <a:gd name="adj1" fmla="val 1428106"/>
                  <a:gd name="adj2" fmla="val 9287936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DB63FB16-329F-D55F-9114-898178CEA391}"/>
                      </a:ext>
                    </a:extLst>
                  </p:cNvPr>
                  <p:cNvSpPr txBox="1"/>
                  <p:nvPr/>
                </p:nvSpPr>
                <p:spPr>
                  <a:xfrm>
                    <a:off x="2981238" y="3429000"/>
                    <a:ext cx="1049672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280AECF7-65CC-8754-EB3F-824EB281ED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81238" y="3429000"/>
                    <a:ext cx="1049672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CCC48D9B-D98F-0C33-B10A-3DC1477DEDA2}"/>
                      </a:ext>
                    </a:extLst>
                  </p:cNvPr>
                  <p:cNvSpPr txBox="1"/>
                  <p:nvPr/>
                </p:nvSpPr>
                <p:spPr>
                  <a:xfrm>
                    <a:off x="4030910" y="3429000"/>
                    <a:ext cx="1049672" cy="27699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20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1200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BCB15AD7-1E19-57F6-65EB-1A4D65FF70E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30910" y="3429000"/>
                    <a:ext cx="1049672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Arc 19">
                <a:extLst>
                  <a:ext uri="{FF2B5EF4-FFF2-40B4-BE49-F238E27FC236}">
                    <a16:creationId xmlns:a16="http://schemas.microsoft.com/office/drawing/2014/main" id="{EB6D555F-71D5-466F-AA26-1C0B46F3DF17}"/>
                  </a:ext>
                </a:extLst>
              </p:cNvPr>
              <p:cNvSpPr/>
              <p:nvPr/>
            </p:nvSpPr>
            <p:spPr>
              <a:xfrm>
                <a:off x="3426902" y="2568409"/>
                <a:ext cx="725648" cy="1208900"/>
              </a:xfrm>
              <a:prstGeom prst="arc">
                <a:avLst>
                  <a:gd name="adj1" fmla="val 535615"/>
                  <a:gd name="adj2" fmla="val 6545153"/>
                </a:avLst>
              </a:prstGeom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B447D22-5746-B9E6-4B7F-D58201646AB7}"/>
                  </a:ext>
                </a:extLst>
              </p:cNvPr>
              <p:cNvSpPr txBox="1"/>
              <p:nvPr/>
            </p:nvSpPr>
            <p:spPr>
              <a:xfrm>
                <a:off x="3789726" y="3867135"/>
                <a:ext cx="72564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update</a:t>
                </a:r>
              </a:p>
            </p:txBody>
          </p:sp>
          <p:sp>
            <p:nvSpPr>
              <p:cNvPr id="22" name="Right Brace 21">
                <a:extLst>
                  <a:ext uri="{FF2B5EF4-FFF2-40B4-BE49-F238E27FC236}">
                    <a16:creationId xmlns:a16="http://schemas.microsoft.com/office/drawing/2014/main" id="{E25CDC5A-37CC-002F-E578-D71B185F9446}"/>
                  </a:ext>
                </a:extLst>
              </p:cNvPr>
              <p:cNvSpPr/>
              <p:nvPr/>
            </p:nvSpPr>
            <p:spPr>
              <a:xfrm rot="16200000">
                <a:off x="3901011" y="2344894"/>
                <a:ext cx="164691" cy="1218182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7225B51-8649-F146-DE31-A737A77E9A34}"/>
                  </a:ext>
                </a:extLst>
              </p:cNvPr>
              <p:cNvSpPr txBox="1"/>
              <p:nvPr/>
            </p:nvSpPr>
            <p:spPr>
              <a:xfrm>
                <a:off x="3636948" y="2643914"/>
                <a:ext cx="72564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dirty="0">
                    <a:solidFill>
                      <a:schemeClr val="tx2">
                        <a:lumMod val="90000"/>
                        <a:lumOff val="10000"/>
                      </a:schemeClr>
                    </a:solidFill>
                  </a:rPr>
                  <a:t>1-step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Speech Bubble: Rectangle with Corners Rounded 5">
                  <a:extLst>
                    <a:ext uri="{FF2B5EF4-FFF2-40B4-BE49-F238E27FC236}">
                      <a16:creationId xmlns:a16="http://schemas.microsoft.com/office/drawing/2014/main" id="{AE3E163A-3FD0-7FFA-C2DB-4366ECEC4DFF}"/>
                    </a:ext>
                  </a:extLst>
                </p:cNvPr>
                <p:cNvSpPr/>
                <p:nvPr/>
              </p:nvSpPr>
              <p:spPr>
                <a:xfrm>
                  <a:off x="5452586" y="4041516"/>
                  <a:ext cx="1781788" cy="425199"/>
                </a:xfrm>
                <a:prstGeom prst="wedgeRoundRectCallout">
                  <a:avLst>
                    <a:gd name="adj1" fmla="val -75683"/>
                    <a:gd name="adj2" fmla="val -67167"/>
                    <a:gd name="adj3" fmla="val 1666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200" dirty="0"/>
                    <a:t>Used to bootstrap the remaining return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endParaRPr lang="en-US" sz="1200" dirty="0"/>
                </a:p>
              </p:txBody>
            </p:sp>
          </mc:Choice>
          <mc:Fallback>
            <p:sp>
              <p:nvSpPr>
                <p:cNvPr id="6" name="Speech Bubble: Rectangle with Corners Rounded 5">
                  <a:extLst>
                    <a:ext uri="{FF2B5EF4-FFF2-40B4-BE49-F238E27FC236}">
                      <a16:creationId xmlns:a16="http://schemas.microsoft.com/office/drawing/2014/main" id="{AE3E163A-3FD0-7FFA-C2DB-4366ECEC4D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2586" y="4041516"/>
                  <a:ext cx="1781788" cy="425199"/>
                </a:xfrm>
                <a:prstGeom prst="wedgeRoundRectCallout">
                  <a:avLst>
                    <a:gd name="adj1" fmla="val -75683"/>
                    <a:gd name="adj2" fmla="val -67167"/>
                    <a:gd name="adj3" fmla="val 16667"/>
                  </a:avLst>
                </a:prstGeom>
                <a:blipFill>
                  <a:blip r:embed="rId14"/>
                  <a:stretch>
                    <a:fillRect b="-89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2334048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8276F-7795-B966-030F-FCC384999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Sarsa vs. Q-Learning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C98B4E-B7CF-E345-6580-CEE34C1DC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7330"/>
            <a:ext cx="4403895" cy="4779633"/>
          </a:xfrm>
        </p:spPr>
        <p:txBody>
          <a:bodyPr>
            <a:normAutofit/>
          </a:bodyPr>
          <a:lstStyle/>
          <a:p>
            <a:r>
              <a:rPr lang="en-US" sz="1800" b="1" dirty="0"/>
              <a:t>Cliff Walking</a:t>
            </a:r>
            <a:r>
              <a:rPr lang="en-US" sz="1800" dirty="0"/>
              <a:t>: Consider the </a:t>
            </a:r>
            <a:r>
              <a:rPr lang="en-US" sz="1800" dirty="0" err="1"/>
              <a:t>gridworld</a:t>
            </a:r>
            <a:r>
              <a:rPr lang="en-US" sz="1800" dirty="0"/>
              <a:t> shown to the right. </a:t>
            </a:r>
          </a:p>
          <a:p>
            <a:r>
              <a:rPr lang="en-US" sz="1800" dirty="0"/>
              <a:t>This is a standard undiscounted, episodic task, with start and goal states.</a:t>
            </a:r>
          </a:p>
          <a:p>
            <a:r>
              <a:rPr lang="en-US" sz="1800" dirty="0"/>
              <a:t>Actions causing movement up, down, right, and left. </a:t>
            </a:r>
          </a:p>
          <a:p>
            <a:r>
              <a:rPr lang="en-US" sz="1800" dirty="0"/>
              <a:t>Reward is −1 on all transitions except those into the region marked “The Cliff.” Stepping into this region incurs a reward of −100 and sends the sends the agent instantly back to the start.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9A7B5-A9CC-EE24-F78E-F3E2FA24D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8274" y="240397"/>
            <a:ext cx="5979790" cy="3006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03F5773-6D0D-1D71-F1CD-C7746EF7F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76" y="3812721"/>
            <a:ext cx="4399920" cy="29040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6B79D4-4AA8-3E1C-81C7-278DEEA363AF}"/>
                  </a:ext>
                </a:extLst>
              </p:cNvPr>
              <p:cNvSpPr txBox="1"/>
              <p:nvPr/>
            </p:nvSpPr>
            <p:spPr>
              <a:xfrm>
                <a:off x="6499781" y="3494758"/>
                <a:ext cx="536204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Performance of the Sarsa and Q-learning methods with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1600" dirty="0"/>
                  <a:t>-greedy action selection,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r>
                  <a:rPr lang="en-US" sz="1600" dirty="0"/>
                  <a:t>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86B79D4-4AA8-3E1C-81C7-278DEEA363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781" y="3494758"/>
                <a:ext cx="5362044" cy="584775"/>
              </a:xfrm>
              <a:prstGeom prst="rect">
                <a:avLst/>
              </a:prstGeom>
              <a:blipFill>
                <a:blip r:embed="rId4"/>
                <a:stretch>
                  <a:fillRect l="-568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C3FCB8B5-813B-D263-F7C1-1BC210D5ED90}"/>
              </a:ext>
            </a:extLst>
          </p:cNvPr>
          <p:cNvSpPr/>
          <p:nvPr/>
        </p:nvSpPr>
        <p:spPr>
          <a:xfrm>
            <a:off x="10016519" y="5264757"/>
            <a:ext cx="1542614" cy="696293"/>
          </a:xfrm>
          <a:prstGeom prst="wedgeRoundRectCallout">
            <a:avLst>
              <a:gd name="adj1" fmla="val -79398"/>
              <a:gd name="adj2" fmla="val -6180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Why does the optimal path perform worse?</a:t>
            </a:r>
          </a:p>
        </p:txBody>
      </p:sp>
    </p:spTree>
    <p:extLst>
      <p:ext uri="{BB962C8B-B14F-4D97-AF65-F5344CB8AC3E}">
        <p14:creationId xmlns:p14="http://schemas.microsoft.com/office/powerpoint/2010/main" val="2000631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E47B388-9EDE-BEEF-286A-0670BB57C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3879" y="593726"/>
            <a:ext cx="8556776" cy="59956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6EC57F-A3C1-ECE0-DBDD-E93D09AB1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892503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15B90-DA12-5311-A694-71F151366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BA507-BEF2-070A-4241-AF2BA18035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/>
                  <a:t>Time differencing (TD) </a:t>
                </a:r>
                <a:r>
                  <a:rPr lang="en-US" dirty="0"/>
                  <a:t>is an alternative to MC for the prediction (policy evaluation) problem.</a:t>
                </a:r>
              </a:p>
              <a:p>
                <a:endParaRPr lang="en-US" dirty="0"/>
              </a:p>
              <a:p>
                <a:r>
                  <a:rPr lang="en-US" b="1" dirty="0"/>
                  <a:t>Method</a:t>
                </a:r>
                <a:r>
                  <a:rPr lang="en-US" dirty="0"/>
                  <a:t>: Stepwise reduces the TD error for the next step.</a:t>
                </a:r>
              </a:p>
              <a:p>
                <a:r>
                  <a:rPr lang="en-US" b="1" dirty="0"/>
                  <a:t>Issue</a:t>
                </a:r>
                <a:r>
                  <a:rPr lang="en-US" dirty="0"/>
                  <a:t>: Uses experience so it needs to maintain exploration</a:t>
                </a:r>
              </a:p>
              <a:p>
                <a:pPr lvl="1"/>
                <a:r>
                  <a:rPr lang="en-US" dirty="0"/>
                  <a:t>On-policy: Sarsa</a:t>
                </a:r>
              </a:p>
              <a:p>
                <a:pPr lvl="1"/>
                <a:r>
                  <a:rPr lang="en-US" dirty="0"/>
                  <a:t>Off-policy: Q-learning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Q-learning and Sarsa are the most used RL methods.</a:t>
                </a:r>
              </a:p>
              <a:p>
                <a:pPr lvl="1"/>
                <a:r>
                  <a:rPr lang="en-US" dirty="0"/>
                  <a:t>Learn online (after each observation)</a:t>
                </a:r>
              </a:p>
              <a:p>
                <a:pPr lvl="1"/>
                <a:r>
                  <a:rPr lang="en-US" dirty="0"/>
                  <a:t>Simple with minimal computation</a:t>
                </a:r>
              </a:p>
              <a:p>
                <a:endParaRPr lang="en-US" dirty="0"/>
              </a:p>
              <a:p>
                <a:r>
                  <a:rPr lang="en-US" dirty="0"/>
                  <a:t>We considered one-step, tabular, model-free TD. We will extend the TD ideas to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𝒏</m:t>
                    </m:r>
                  </m:oMath>
                </a14:m>
                <a:r>
                  <a:rPr lang="en-US" b="1" dirty="0"/>
                  <a:t>-steps </a:t>
                </a:r>
                <a:r>
                  <a:rPr lang="en-US" dirty="0"/>
                  <a:t>and </a:t>
                </a:r>
                <a:r>
                  <a:rPr lang="en-US" b="1" dirty="0"/>
                  <a:t>function approximation </a:t>
                </a:r>
                <a:r>
                  <a:rPr lang="en-US" dirty="0"/>
                  <a:t>instead of tables.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6BBA507-BEF2-070A-4241-AF2BA18035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806" r="-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4880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5349</TotalTime>
  <Words>1291</Words>
  <Application>Microsoft Office PowerPoint</Application>
  <PresentationFormat>Widescreen</PresentationFormat>
  <Paragraphs>150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Cambria Math</vt:lpstr>
      <vt:lpstr>Office Theme</vt:lpstr>
      <vt:lpstr>Reinforcement Learning  Temporal Difference Learning Sutton/Barto* Chapter 6</vt:lpstr>
      <vt:lpstr>Summary of Notation</vt:lpstr>
      <vt:lpstr>Temporal Difference (TD)</vt:lpstr>
      <vt:lpstr>TD Prediction</vt:lpstr>
      <vt:lpstr>TD Prediction</vt:lpstr>
      <vt:lpstr>Alg. Tabular TD(0)</vt:lpstr>
      <vt:lpstr>Advantages of TD Prediction Methods</vt:lpstr>
      <vt:lpstr>Sarsa: On-policy TD Control</vt:lpstr>
      <vt:lpstr>Sarsa</vt:lpstr>
      <vt:lpstr>Alg. Sarsa</vt:lpstr>
      <vt:lpstr>Q-learning: Off-policy TD Control</vt:lpstr>
      <vt:lpstr>Q-learning</vt:lpstr>
      <vt:lpstr>Alg. Q-Learning</vt:lpstr>
      <vt:lpstr>Q-Learning’s Maximization Bias</vt:lpstr>
      <vt:lpstr>Expected Sarsa</vt:lpstr>
      <vt:lpstr>Expected Sarsa</vt:lpstr>
      <vt:lpstr>Comaprison</vt:lpstr>
      <vt:lpstr>Comparison: 1-step Backup Diagrams</vt:lpstr>
      <vt:lpstr>Sarsa vs. Q-Learning</vt:lpstr>
      <vt:lpstr>Comparison</vt:lpstr>
      <vt:lpstr>Summary</vt:lpstr>
    </vt:vector>
  </TitlesOfParts>
  <Company>Southern Methodist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134</cp:revision>
  <dcterms:created xsi:type="dcterms:W3CDTF">2025-09-08T14:44:49Z</dcterms:created>
  <dcterms:modified xsi:type="dcterms:W3CDTF">2025-09-18T22:55:27Z</dcterms:modified>
</cp:coreProperties>
</file>