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85" r:id="rId4"/>
    <p:sldId id="398" r:id="rId5"/>
    <p:sldId id="396" r:id="rId6"/>
    <p:sldId id="386" r:id="rId7"/>
    <p:sldId id="387" r:id="rId8"/>
    <p:sldId id="388" r:id="rId9"/>
    <p:sldId id="392" r:id="rId10"/>
    <p:sldId id="391" r:id="rId11"/>
    <p:sldId id="394" r:id="rId12"/>
    <p:sldId id="393" r:id="rId13"/>
    <p:sldId id="389" r:id="rId14"/>
    <p:sldId id="390" r:id="rId15"/>
    <p:sldId id="395" r:id="rId16"/>
    <p:sldId id="39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388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0.png"/><Relationship Id="rId7" Type="http://schemas.openxmlformats.org/officeDocument/2006/relationships/image" Target="../media/image8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4.png"/><Relationship Id="rId7" Type="http://schemas.openxmlformats.org/officeDocument/2006/relationships/image" Target="../media/image34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png"/><Relationship Id="rId5" Type="http://schemas.openxmlformats.org/officeDocument/2006/relationships/image" Target="../media/image321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028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77802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Remember</a:t>
                </a:r>
                <a:r>
                  <a:rPr lang="en-US" sz="1600" dirty="0"/>
                  <a:t>: The state value is the expected return. So we need a return estimate.</a:t>
                </a:r>
              </a:p>
              <a:p>
                <a:pPr marL="0" indent="0">
                  <a:buNone/>
                </a:pPr>
                <a:r>
                  <a:rPr lang="en-US" sz="1600" b="1" dirty="0"/>
                  <a:t>Issue</a:t>
                </a:r>
                <a:r>
                  <a:rPr lang="en-US" sz="1600" dirty="0"/>
                  <a:t>: How far do we look ahead in the sampled episode to estimate the return?</a:t>
                </a:r>
                <a:endParaRPr lang="en-US" sz="1600" b="1" dirty="0"/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1-step DT</a:t>
                </a:r>
              </a:p>
              <a:p>
                <a:pPr lvl="1"/>
                <a:r>
                  <a:rPr lang="en-US" sz="1600" dirty="0"/>
                  <a:t>We have already discussed 1-step TD: Q-Learning, Sarsa</a:t>
                </a:r>
              </a:p>
              <a:p>
                <a:pPr lvl="1"/>
                <a:r>
                  <a:rPr lang="en-US" sz="1600" dirty="0"/>
                  <a:t>We only observe the next step and its reward. The remaining return is </a:t>
                </a:r>
                <a:r>
                  <a:rPr lang="en-US" sz="1600" b="1" dirty="0"/>
                  <a:t>bootstrapped</a:t>
                </a:r>
                <a:r>
                  <a:rPr lang="en-US" sz="1600" dirty="0"/>
                  <a:t> using the estimate of the next state’s value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or action values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⋅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 This </a:t>
                </a:r>
                <a:r>
                  <a:rPr lang="en-US" sz="1600" b="1" dirty="0"/>
                  <a:t>propagates errors</a:t>
                </a:r>
                <a:r>
                  <a:rPr lang="en-US" sz="1600" dirty="0"/>
                  <a:t>!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778026"/>
              </a:xfrm>
              <a:blipFill>
                <a:blip r:embed="rId3"/>
                <a:stretch>
                  <a:fillRect l="-348" t="-2405" b="-24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00218" y="4710701"/>
                <a:ext cx="1061005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 DT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Looks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time steps ahead and bootstraps the rest. Observed rewards should </a:t>
                </a:r>
                <a:r>
                  <a:rPr lang="en-US" sz="1600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TD unifies and generalizes MC and one-step TD.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18" y="4710701"/>
                <a:ext cx="10610054" cy="830997"/>
              </a:xfrm>
              <a:prstGeom prst="rect">
                <a:avLst/>
              </a:prstGeom>
              <a:blipFill>
                <a:blip r:embed="rId4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3008265" y="3179108"/>
            <a:ext cx="5965095" cy="1634099"/>
            <a:chOff x="2637816" y="2832616"/>
            <a:chExt cx="5965095" cy="1634099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4041516"/>
                  <a:ext cx="2651371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4041516"/>
                  <a:ext cx="2651371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  <a:blipFill>
                  <a:blip r:embed="rId8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3084949" y="5522208"/>
            <a:ext cx="5403210" cy="832369"/>
            <a:chOff x="3084949" y="5522208"/>
            <a:chExt cx="5403210" cy="83236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3084949" y="5522208"/>
              <a:ext cx="5403210" cy="832369"/>
              <a:chOff x="3245492" y="5722123"/>
              <a:chExt cx="5403210" cy="832369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C25B38B9-8EEE-3230-C9A7-D1B5877AC90A}"/>
                  </a:ext>
                </a:extLst>
              </p:cNvPr>
              <p:cNvGrpSpPr/>
              <p:nvPr/>
            </p:nvGrpSpPr>
            <p:grpSpPr>
              <a:xfrm>
                <a:off x="3245492" y="5722123"/>
                <a:ext cx="4870596" cy="666396"/>
                <a:chOff x="2879313" y="2782204"/>
                <a:chExt cx="5439985" cy="879847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E7470490-29F2-50C7-075E-7377CEFC4DB5}"/>
                    </a:ext>
                  </a:extLst>
                </p:cNvPr>
                <p:cNvGrpSpPr/>
                <p:nvPr/>
              </p:nvGrpSpPr>
              <p:grpSpPr>
                <a:xfrm>
                  <a:off x="2879313" y="2782204"/>
                  <a:ext cx="5439985" cy="631088"/>
                  <a:chOff x="2879313" y="2782204"/>
                  <a:chExt cx="5439985" cy="631088"/>
                </a:xfrm>
              </p:grpSpPr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B94B77C9-C9AA-6F5D-D56B-315043DD70EF}"/>
                      </a:ext>
                    </a:extLst>
                  </p:cNvPr>
                  <p:cNvSpPr/>
                  <p:nvPr/>
                </p:nvSpPr>
                <p:spPr>
                  <a:xfrm>
                    <a:off x="3378394" y="3224828"/>
                    <a:ext cx="174504" cy="188464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/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8EAB5D2C-C971-DEFC-52FE-D0987A0552AA}"/>
                      </a:ext>
                    </a:extLst>
                  </p:cNvPr>
                  <p:cNvSpPr/>
                  <p:nvPr/>
                </p:nvSpPr>
                <p:spPr>
                  <a:xfrm>
                    <a:off x="7907350" y="3224828"/>
                    <a:ext cx="174504" cy="188464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/>
                  </a:p>
                </p:txBody>
              </p:sp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0F54933B-23C4-19A8-0DB4-85CED3BAE1BB}"/>
                      </a:ext>
                    </a:extLst>
                  </p:cNvPr>
                  <p:cNvCxnSpPr/>
                  <p:nvPr/>
                </p:nvCxnSpPr>
                <p:spPr>
                  <a:xfrm>
                    <a:off x="3664580" y="3319060"/>
                    <a:ext cx="4132251" cy="0"/>
                  </a:xfrm>
                  <a:prstGeom prst="straightConnector1">
                    <a:avLst/>
                  </a:prstGeom>
                  <a:ln w="57150">
                    <a:headEnd type="triangle" w="med" len="med"/>
                    <a:tailEnd type="triangle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141C27E2-D7A4-5F48-644A-B5DB89090844}"/>
                      </a:ext>
                    </a:extLst>
                  </p:cNvPr>
                  <p:cNvSpPr txBox="1"/>
                  <p:nvPr/>
                </p:nvSpPr>
                <p:spPr>
                  <a:xfrm>
                    <a:off x="2879313" y="2782204"/>
                    <a:ext cx="117266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dirty="0"/>
                      <a:t>1-step TD</a:t>
                    </a:r>
                  </a:p>
                </p:txBody>
              </p:sp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83257FD-880A-AF81-88C4-FE4114583699}"/>
                      </a:ext>
                    </a:extLst>
                  </p:cNvPr>
                  <p:cNvSpPr txBox="1"/>
                  <p:nvPr/>
                </p:nvSpPr>
                <p:spPr>
                  <a:xfrm>
                    <a:off x="7669904" y="2798160"/>
                    <a:ext cx="649394" cy="40636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MC </a:t>
                    </a:r>
                  </a:p>
                </p:txBody>
              </p:sp>
            </p:grp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22D92CF-821B-F68A-10A5-9F501334710E}"/>
                    </a:ext>
                  </a:extLst>
                </p:cNvPr>
                <p:cNvSpPr txBox="1"/>
                <p:nvPr/>
              </p:nvSpPr>
              <p:spPr>
                <a:xfrm>
                  <a:off x="5090858" y="3354274"/>
                  <a:ext cx="117266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Spectrum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7079259" y="6246715"/>
                <a:ext cx="156944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/>
                  <a:t>(whole episode)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sz="1400" dirty="0"/>
                    <a:t>-step TD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816099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10 states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updates one state value.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769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2" y="3720372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/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  <a:blipFill>
                <a:blip r:embed="rId5"/>
                <a:stretch>
                  <a:fillRect t="-285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3B6702-D9F1-9CDF-DE51-C7708AD222CA}"/>
              </a:ext>
            </a:extLst>
          </p:cNvPr>
          <p:cNvSpPr/>
          <p:nvPr/>
        </p:nvSpPr>
        <p:spPr>
          <a:xfrm>
            <a:off x="754424" y="5702958"/>
            <a:ext cx="1458686" cy="338555"/>
          </a:xfrm>
          <a:prstGeom prst="wedgeRoundRectCallout">
            <a:avLst>
              <a:gd name="adj1" fmla="val 122871"/>
              <a:gd name="adj2" fmla="val 46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The update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E859F95-A5C2-CE37-B3D7-5DC8E7DDC4E6}"/>
              </a:ext>
            </a:extLst>
          </p:cNvPr>
          <p:cNvGrpSpPr/>
          <p:nvPr/>
        </p:nvGrpSpPr>
        <p:grpSpPr>
          <a:xfrm>
            <a:off x="9986271" y="4309326"/>
            <a:ext cx="2365690" cy="1216727"/>
            <a:chOff x="9986271" y="4309326"/>
            <a:chExt cx="2365690" cy="121672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D81C03-2FFC-3430-6A96-CC215F8CB002}"/>
                </a:ext>
              </a:extLst>
            </p:cNvPr>
            <p:cNvGrpSpPr/>
            <p:nvPr/>
          </p:nvGrpSpPr>
          <p:grpSpPr>
            <a:xfrm>
              <a:off x="9986271" y="4309326"/>
              <a:ext cx="1996323" cy="913879"/>
              <a:chOff x="10044440" y="1032968"/>
              <a:chExt cx="1996323" cy="91387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8B9856B-B3C4-5BCC-42AC-811D84A88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44440" y="1577515"/>
                <a:ext cx="1996323" cy="0"/>
              </a:xfrm>
              <a:prstGeom prst="line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 steps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t="-8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Right Brace 15">
                <a:extLst>
                  <a:ext uri="{FF2B5EF4-FFF2-40B4-BE49-F238E27FC236}">
                    <a16:creationId xmlns:a16="http://schemas.microsoft.com/office/drawing/2014/main" id="{DF1F0B09-177D-1C23-8922-13B60D4726FE}"/>
                  </a:ext>
                </a:extLst>
              </p:cNvPr>
              <p:cNvSpPr/>
              <p:nvPr/>
            </p:nvSpPr>
            <p:spPr>
              <a:xfrm rot="16200000">
                <a:off x="10847163" y="722444"/>
                <a:ext cx="146575" cy="141696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/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Observed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blipFill>
                  <a:blip r:embed="rId9"/>
                  <a:stretch>
                    <a:fillRect l="-917" t="-3922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Guarantee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70851"/>
                <a:ext cx="10515600" cy="2406112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Explanation</a:t>
                </a:r>
                <a:r>
                  <a:rPr lang="en-US" dirty="0"/>
                  <a:t>: Using observed rewards (which have in expectation no error) in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reduces the error compared to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as a return estimate.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every update is guaranteed to reduce the expected error. </a:t>
                </a:r>
                <a:br>
                  <a:rPr lang="en-US" dirty="0"/>
                </a:br>
                <a:r>
                  <a:rPr lang="en-US" b="1" dirty="0"/>
                  <a:t>All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methods (including 1-step and MC) converge</a:t>
                </a:r>
                <a:r>
                  <a:rPr lang="en-US" dirty="0"/>
                  <a:t>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70851"/>
                <a:ext cx="10515600" cy="2406112"/>
              </a:xfrm>
              <a:blipFill>
                <a:blip r:embed="rId2"/>
                <a:stretch>
                  <a:fillRect l="-928" t="-4569" b="-7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382473" y="1392572"/>
                <a:ext cx="7231310" cy="203382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return is guaranteed to be less than or equal to the discounted worst error of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2473" y="1392572"/>
                <a:ext cx="7231310" cy="2033827"/>
              </a:xfrm>
              <a:prstGeom prst="rect">
                <a:avLst/>
              </a:prstGeom>
              <a:blipFill>
                <a:blip r:embed="rId3"/>
                <a:stretch>
                  <a:fillRect l="-841" t="-890" r="-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dirty="0"/>
                  <a:t>On policy</a:t>
                </a:r>
              </a:p>
              <a:p>
                <a:pPr lvl="1"/>
                <a:r>
                  <a:rPr lang="en-US" b="1" dirty="0"/>
                  <a:t>Remember</a:t>
                </a:r>
                <a:r>
                  <a:rPr lang="en-US" dirty="0"/>
                  <a:t>: The policy needs to keep exploring so we typically learn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lvl="1"/>
                <a:r>
                  <a:rPr lang="en-US" dirty="0"/>
                  <a:t>Use state-action pairs and learns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so we can find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Return estimate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189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/>
              <p:nvPr/>
            </p:nvSpPr>
            <p:spPr>
              <a:xfrm>
                <a:off x="8462748" y="578972"/>
                <a:ext cx="2327171" cy="818358"/>
              </a:xfrm>
              <a:prstGeom prst="wedgeRoundRectCallout">
                <a:avLst>
                  <a:gd name="adj1" fmla="val -58080"/>
                  <a:gd name="adj2" fmla="val 7488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has nothing to do with the steps,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2748" y="578972"/>
                <a:ext cx="2327171" cy="818358"/>
              </a:xfrm>
              <a:prstGeom prst="wedgeRoundRectCallout">
                <a:avLst>
                  <a:gd name="adj1" fmla="val -58080"/>
                  <a:gd name="adj2" fmla="val 74886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5866228" y="3287652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7549272" y="1946300"/>
            <a:ext cx="4572390" cy="4775368"/>
            <a:chOff x="7549272" y="1946300"/>
            <a:chExt cx="4572390" cy="47753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5221A8-2300-AE4C-B12E-E7B10DAE2C2B}"/>
                </a:ext>
              </a:extLst>
            </p:cNvPr>
            <p:cNvSpPr/>
            <p:nvPr/>
          </p:nvSpPr>
          <p:spPr>
            <a:xfrm>
              <a:off x="7549272" y="1946300"/>
              <a:ext cx="589586" cy="196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Since the soft behavioral policy provides exploration, we can learn the optimal deterministic policy!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90693" y="3478420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0693" y="3478420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644990" y="202308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989157" y="530029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345819" y="4316643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7" cy="5673149"/>
            <a:chOff x="5659709" y="1062757"/>
            <a:chExt cx="6430497" cy="5673149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7" cy="5673149"/>
              <a:chOff x="5659709" y="1062757"/>
              <a:chExt cx="6430497" cy="567314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7" y="4418437"/>
                <a:ext cx="1724099" cy="543806"/>
              </a:xfrm>
              <a:prstGeom prst="wedgeRoundRectCallout">
                <a:avLst>
                  <a:gd name="adj1" fmla="val -109818"/>
                  <a:gd name="adj2" fmla="val 15813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AEA7A5-93F3-FE1D-2FF9-E7F3208BA93C}"/>
                  </a:ext>
                </a:extLst>
              </p:cNvPr>
              <p:cNvSpPr txBox="1"/>
              <p:nvPr/>
            </p:nvSpPr>
            <p:spPr>
              <a:xfrm>
                <a:off x="5942112" y="6151131"/>
                <a:ext cx="5458761" cy="584775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Off-Policy: The behavioral policy provides exploration so we can learn a deterministic policy!</a:t>
                </a:r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326967" y="32457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9657" y="691912"/>
                <a:ext cx="5506608" cy="5755780"/>
              </a:xfrm>
            </p:spPr>
            <p:txBody>
              <a:bodyPr anchor="ctr"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vary the learning behavior between one-step DT methods and Monte Carlo Methods (whole episode).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 </a:t>
                </a:r>
                <a:r>
                  <a:rPr lang="en-US" sz="1800" dirty="0"/>
                  <a:t>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</a:t>
                </a:r>
                <a:r>
                  <a:rPr lang="en-US" sz="1800" dirty="0"/>
                  <a:t>: Updates are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since they need to know future events (rewards and states).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</a:p>
              <a:p>
                <a:pPr lvl="1"/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Eligibility traces </a:t>
                </a:r>
                <a:r>
                  <a:rPr lang="en-US" sz="1800" dirty="0"/>
                  <a:t>address the delay and computation drawbacks. We will cover these methods later.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9657" y="691912"/>
                <a:ext cx="5506608" cy="5755780"/>
              </a:xfrm>
              <a:blipFill>
                <a:blip r:embed="rId3"/>
                <a:stretch>
                  <a:fillRect l="-775" t="-424" r="-1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10964</TotalTime>
  <Words>1542</Words>
  <Application>Microsoft Office PowerPoint</Application>
  <PresentationFormat>Widescreen</PresentationFormat>
  <Paragraphs>173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Summary of Notation</vt:lpstr>
      <vt:lpstr>1-step TD vs. n-step TD vs. MC</vt:lpstr>
      <vt:lpstr>Why is a Longer Look-ahead Useful?</vt:lpstr>
      <vt:lpstr>n-step TD Prediction</vt:lpstr>
      <vt:lpstr>n-step TD Prediction</vt:lpstr>
      <vt:lpstr>Alg. n-step TD Prediction</vt:lpstr>
      <vt:lpstr>Convergence Guarantee</vt:lpstr>
      <vt:lpstr>n-step Control: Sarsa</vt:lpstr>
      <vt:lpstr>n-step Sarsa</vt:lpstr>
      <vt:lpstr>Speedup of n-step Sarsa</vt:lpstr>
      <vt:lpstr>Alg. From DT prediction to  n-step Sarsa Control</vt:lpstr>
      <vt:lpstr>n-step Off-Policy Learning</vt:lpstr>
      <vt:lpstr>n-step Off-Policy Learning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154</cp:revision>
  <dcterms:created xsi:type="dcterms:W3CDTF">2025-09-08T14:44:49Z</dcterms:created>
  <dcterms:modified xsi:type="dcterms:W3CDTF">2026-02-04T16:30:17Z</dcterms:modified>
</cp:coreProperties>
</file>