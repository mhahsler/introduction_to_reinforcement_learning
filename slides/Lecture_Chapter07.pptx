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388" r:id="rId10"/>
    <p:sldId id="392" r:id="rId11"/>
    <p:sldId id="391" r:id="rId12"/>
    <p:sldId id="394" r:id="rId13"/>
    <p:sldId id="393" r:id="rId14"/>
    <p:sldId id="389" r:id="rId15"/>
    <p:sldId id="390" r:id="rId16"/>
    <p:sldId id="395" r:id="rId17"/>
    <p:sldId id="39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388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85" d="100"/>
          <a:sy n="85" d="100"/>
        </p:scale>
        <p:origin x="116" y="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7.png"/><Relationship Id="rId7" Type="http://schemas.openxmlformats.org/officeDocument/2006/relationships/image" Target="../media/image34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png"/><Relationship Id="rId5" Type="http://schemas.openxmlformats.org/officeDocument/2006/relationships/image" Target="../media/image321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212903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400" b="1" dirty="0"/>
                  <a:t>Remember</a:t>
                </a:r>
                <a:r>
                  <a:rPr lang="en-US" sz="1400" dirty="0"/>
                  <a:t>: Policy evaluation estimates the value function. </a:t>
                </a:r>
                <a:br>
                  <a:rPr lang="en-US" sz="1400" dirty="0"/>
                </a:br>
                <a:r>
                  <a:rPr lang="en-US" sz="1400" dirty="0"/>
                  <a:t>The state value is the expected return from following the policy from a state.</a:t>
                </a:r>
              </a:p>
              <a:p>
                <a:pPr marL="0" indent="0">
                  <a:buNone/>
                </a:pPr>
                <a:r>
                  <a:rPr lang="en-US" sz="1400" b="1" dirty="0"/>
                  <a:t>Question</a:t>
                </a:r>
                <a:r>
                  <a:rPr lang="en-US" sz="1400" dirty="0"/>
                  <a:t>: How far do we look ahead in the sampled episode to estimate the return?</a:t>
                </a:r>
                <a:endParaRPr lang="en-US" sz="1400" b="1" dirty="0"/>
              </a:p>
              <a:p>
                <a:pPr marL="0" indent="0">
                  <a:buNone/>
                </a:pPr>
                <a:endParaRPr lang="en-US" sz="1400" b="1" dirty="0"/>
              </a:p>
              <a:p>
                <a:pPr marL="0" indent="0">
                  <a:buNone/>
                </a:pPr>
                <a:r>
                  <a:rPr lang="en-US" sz="1400" b="1" dirty="0"/>
                  <a:t>1-step DT</a:t>
                </a:r>
              </a:p>
              <a:p>
                <a:pPr lvl="1"/>
                <a:r>
                  <a:rPr lang="en-US" sz="1400" dirty="0"/>
                  <a:t>We have already discussed 1-step TD in TD(0) and control algorithms like Q-Learning, Sarsa</a:t>
                </a:r>
              </a:p>
              <a:p>
                <a:pPr lvl="1"/>
                <a:r>
                  <a:rPr lang="en-US" sz="1400" dirty="0"/>
                  <a:t>We only observe the next step and its reward. The remaining return is </a:t>
                </a:r>
                <a:r>
                  <a:rPr lang="en-US" sz="1400" b="1" dirty="0"/>
                  <a:t>bootstrapped</a:t>
                </a:r>
                <a:r>
                  <a:rPr lang="en-US" sz="1400" dirty="0"/>
                  <a:t> using the estimate of the next state’s value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400" dirty="0"/>
                  <a:t> This </a:t>
                </a:r>
                <a:r>
                  <a:rPr lang="en-US" sz="1400" b="1" dirty="0"/>
                  <a:t>propagates state value errors</a:t>
                </a:r>
                <a:r>
                  <a:rPr lang="en-US" sz="1400" dirty="0"/>
                  <a:t>!</a:t>
                </a:r>
                <a:endParaRPr lang="en-US" sz="1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400" b="1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2129036"/>
              </a:xfrm>
              <a:blipFill>
                <a:blip r:embed="rId3"/>
                <a:stretch>
                  <a:fillRect l="-174" t="-1433" r="-406" b="-3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893238" y="4851304"/>
                <a:ext cx="10610054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400" b="1" dirty="0"/>
                  <a:t>-step DT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Looks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time steps ahead and bootstraps the rest. Using more observed rewards should help to </a:t>
                </a:r>
                <a:r>
                  <a:rPr lang="en-US" sz="1400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TD unifies and generalizes MC and one-step TD.</a:t>
                </a: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38" y="4851304"/>
                <a:ext cx="10610054" cy="954107"/>
              </a:xfrm>
              <a:prstGeom prst="rect">
                <a:avLst/>
              </a:prstGeom>
              <a:blipFill>
                <a:blip r:embed="rId4"/>
                <a:stretch>
                  <a:fillRect t="-1282" b="-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1468447" y="3291395"/>
            <a:ext cx="5965095" cy="1634099"/>
            <a:chOff x="2637816" y="2832616"/>
            <a:chExt cx="5965095" cy="1634099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4041516"/>
                  <a:ext cx="2651371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4041516"/>
                  <a:ext cx="2651371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  <a:blipFill>
                  <a:blip r:embed="rId8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5842341" y="5539571"/>
            <a:ext cx="5403210" cy="832369"/>
            <a:chOff x="3084949" y="5522208"/>
            <a:chExt cx="5403210" cy="83236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3084949" y="5522208"/>
              <a:ext cx="5403210" cy="832369"/>
              <a:chOff x="3245492" y="5722123"/>
              <a:chExt cx="5403210" cy="832369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C25B38B9-8EEE-3230-C9A7-D1B5877AC90A}"/>
                  </a:ext>
                </a:extLst>
              </p:cNvPr>
              <p:cNvGrpSpPr/>
              <p:nvPr/>
            </p:nvGrpSpPr>
            <p:grpSpPr>
              <a:xfrm>
                <a:off x="3245492" y="5722123"/>
                <a:ext cx="4870596" cy="666396"/>
                <a:chOff x="2879313" y="2782204"/>
                <a:chExt cx="5439985" cy="879847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E7470490-29F2-50C7-075E-7377CEFC4DB5}"/>
                    </a:ext>
                  </a:extLst>
                </p:cNvPr>
                <p:cNvGrpSpPr/>
                <p:nvPr/>
              </p:nvGrpSpPr>
              <p:grpSpPr>
                <a:xfrm>
                  <a:off x="2879313" y="2782204"/>
                  <a:ext cx="5439985" cy="631088"/>
                  <a:chOff x="2879313" y="2782204"/>
                  <a:chExt cx="5439985" cy="631088"/>
                </a:xfrm>
              </p:grpSpPr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B94B77C9-C9AA-6F5D-D56B-315043DD70EF}"/>
                      </a:ext>
                    </a:extLst>
                  </p:cNvPr>
                  <p:cNvSpPr/>
                  <p:nvPr/>
                </p:nvSpPr>
                <p:spPr>
                  <a:xfrm>
                    <a:off x="3378394" y="3224828"/>
                    <a:ext cx="174504" cy="188464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/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8EAB5D2C-C971-DEFC-52FE-D0987A0552AA}"/>
                      </a:ext>
                    </a:extLst>
                  </p:cNvPr>
                  <p:cNvSpPr/>
                  <p:nvPr/>
                </p:nvSpPr>
                <p:spPr>
                  <a:xfrm>
                    <a:off x="7907350" y="3224828"/>
                    <a:ext cx="174504" cy="188464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/>
                  </a:p>
                </p:txBody>
              </p:sp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0F54933B-23C4-19A8-0DB4-85CED3BAE1BB}"/>
                      </a:ext>
                    </a:extLst>
                  </p:cNvPr>
                  <p:cNvCxnSpPr/>
                  <p:nvPr/>
                </p:nvCxnSpPr>
                <p:spPr>
                  <a:xfrm>
                    <a:off x="3664580" y="3319060"/>
                    <a:ext cx="4132251" cy="0"/>
                  </a:xfrm>
                  <a:prstGeom prst="straightConnector1">
                    <a:avLst/>
                  </a:prstGeom>
                  <a:ln w="57150">
                    <a:headEnd type="triangle" w="med" len="med"/>
                    <a:tailEnd type="triangle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141C27E2-D7A4-5F48-644A-B5DB89090844}"/>
                      </a:ext>
                    </a:extLst>
                  </p:cNvPr>
                  <p:cNvSpPr txBox="1"/>
                  <p:nvPr/>
                </p:nvSpPr>
                <p:spPr>
                  <a:xfrm>
                    <a:off x="2879313" y="2782204"/>
                    <a:ext cx="117266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dirty="0"/>
                      <a:t>1-step TD</a:t>
                    </a:r>
                  </a:p>
                </p:txBody>
              </p:sp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83257FD-880A-AF81-88C4-FE4114583699}"/>
                      </a:ext>
                    </a:extLst>
                  </p:cNvPr>
                  <p:cNvSpPr txBox="1"/>
                  <p:nvPr/>
                </p:nvSpPr>
                <p:spPr>
                  <a:xfrm>
                    <a:off x="7669904" y="2798160"/>
                    <a:ext cx="649394" cy="40636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MC </a:t>
                    </a:r>
                  </a:p>
                </p:txBody>
              </p:sp>
            </p:grp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22D92CF-821B-F68A-10A5-9F501334710E}"/>
                    </a:ext>
                  </a:extLst>
                </p:cNvPr>
                <p:cNvSpPr txBox="1"/>
                <p:nvPr/>
              </p:nvSpPr>
              <p:spPr>
                <a:xfrm>
                  <a:off x="5090858" y="3354274"/>
                  <a:ext cx="117266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Spectrum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7079259" y="6246715"/>
                <a:ext cx="156944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/>
                  <a:t>(whole episode)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sz="1400" dirty="0"/>
                    <a:t>-step TD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FE06CAD-D1C8-994B-C32F-E08E4BB15968}"/>
                  </a:ext>
                </a:extLst>
              </p:cNvPr>
              <p:cNvSpPr txBox="1"/>
              <p:nvPr/>
            </p:nvSpPr>
            <p:spPr>
              <a:xfrm>
                <a:off x="7516908" y="3782654"/>
                <a:ext cx="284964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FE06CAD-D1C8-994B-C32F-E08E4BB15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6908" y="3782654"/>
                <a:ext cx="2849647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1026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2" y="3720372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/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  <a:blipFill>
                <a:blip r:embed="rId5"/>
                <a:stretch>
                  <a:fillRect t="-285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/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E859F95-A5C2-CE37-B3D7-5DC8E7DDC4E6}"/>
              </a:ext>
            </a:extLst>
          </p:cNvPr>
          <p:cNvGrpSpPr/>
          <p:nvPr/>
        </p:nvGrpSpPr>
        <p:grpSpPr>
          <a:xfrm>
            <a:off x="9986271" y="4309326"/>
            <a:ext cx="2365690" cy="1216727"/>
            <a:chOff x="9986271" y="4309326"/>
            <a:chExt cx="2365690" cy="121672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D81C03-2FFC-3430-6A96-CC215F8CB002}"/>
                </a:ext>
              </a:extLst>
            </p:cNvPr>
            <p:cNvGrpSpPr/>
            <p:nvPr/>
          </p:nvGrpSpPr>
          <p:grpSpPr>
            <a:xfrm>
              <a:off x="9986271" y="4309326"/>
              <a:ext cx="1996323" cy="913879"/>
              <a:chOff x="10044440" y="1032968"/>
              <a:chExt cx="1996323" cy="91387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8B9856B-B3C4-5BCC-42AC-811D84A88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44440" y="1577515"/>
                <a:ext cx="1996323" cy="0"/>
              </a:xfrm>
              <a:prstGeom prst="line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 steps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8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Right Brace 15">
                <a:extLst>
                  <a:ext uri="{FF2B5EF4-FFF2-40B4-BE49-F238E27FC236}">
                    <a16:creationId xmlns:a16="http://schemas.microsoft.com/office/drawing/2014/main" id="{DF1F0B09-177D-1C23-8922-13B60D4726FE}"/>
                  </a:ext>
                </a:extLst>
              </p:cNvPr>
              <p:cNvSpPr/>
              <p:nvPr/>
            </p:nvSpPr>
            <p:spPr>
              <a:xfrm rot="16200000">
                <a:off x="10847163" y="722444"/>
                <a:ext cx="146575" cy="141696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/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Observed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917" t="-3922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Guarantee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949907"/>
                <a:ext cx="10515600" cy="2398427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Explanation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Observed rewards have in expectation no error.</a:t>
                </a:r>
              </a:p>
              <a:p>
                <a:pPr lvl="1"/>
                <a:r>
                  <a:rPr lang="en-US" dirty="0"/>
                  <a:t>The error-prone bootstrap estimate is smaller because it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away and thus discounted.</a:t>
                </a:r>
              </a:p>
              <a:p>
                <a:pPr lvl="1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adds more observed rewards decreases the impact of the bootstrapping error. 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This also means that every update is guaranteed to reduce the expected error and moves the estimate closer to the true value function.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		</a:t>
                </a:r>
                <a:r>
                  <a:rPr lang="en-US" b="1" dirty="0"/>
                  <a:t>All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methods (including 1-step and MC) converge</a:t>
                </a:r>
                <a:r>
                  <a:rPr lang="en-US" dirty="0"/>
                  <a:t>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949907"/>
                <a:ext cx="10515600" cy="2398427"/>
              </a:xfrm>
              <a:blipFill>
                <a:blip r:embed="rId2"/>
                <a:stretch>
                  <a:fillRect l="-638" t="-4580" r="-928" b="-3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382473" y="1392572"/>
                <a:ext cx="7231310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return is guaranteed to be less than or equal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/>
                  <a:t> times the worst error of using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2473" y="1392572"/>
                <a:ext cx="7231310" cy="2033827"/>
              </a:xfrm>
              <a:prstGeom prst="rect">
                <a:avLst/>
              </a:prstGeom>
              <a:blipFill>
                <a:blip r:embed="rId3"/>
                <a:stretch>
                  <a:fillRect l="-841" t="-890" r="-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3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-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5866228" y="3287652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9856838" y="4018671"/>
            <a:ext cx="2264824" cy="2702997"/>
            <a:chOff x="9856838" y="4018671"/>
            <a:chExt cx="2264824" cy="27029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</a:extLst>
          </p:cNvPr>
          <p:cNvSpPr/>
          <p:nvPr/>
        </p:nvSpPr>
        <p:spPr>
          <a:xfrm>
            <a:off x="7157803" y="4497050"/>
            <a:ext cx="2872675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</a:extLst>
          </p:cNvPr>
          <p:cNvSpPr/>
          <p:nvPr/>
        </p:nvSpPr>
        <p:spPr>
          <a:xfrm>
            <a:off x="8694038" y="5573658"/>
            <a:ext cx="2466140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</a:extLst>
          </p:cNvPr>
          <p:cNvSpPr/>
          <p:nvPr/>
        </p:nvSpPr>
        <p:spPr>
          <a:xfrm>
            <a:off x="7029133" y="1960277"/>
            <a:ext cx="2264769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Notes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Since the soft behavioral policy provides exploration, we can learn the optimal deterministic policy!</a:t>
                </a:r>
              </a:p>
              <a:p>
                <a:pPr lvl="1"/>
                <a:r>
                  <a:rPr lang="en-US" b="1" dirty="0"/>
                  <a:t>Sample efficiency</a:t>
                </a:r>
                <a:r>
                  <a:rPr lang="en-US" dirty="0"/>
                  <a:t>: Can only learn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Updating the behaviot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-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406" t="-1913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90693" y="3478420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0693" y="3478420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7" cy="5673149"/>
            <a:chOff x="5659709" y="1062757"/>
            <a:chExt cx="6430497" cy="5673149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7" cy="5673149"/>
              <a:chOff x="5659709" y="1062757"/>
              <a:chExt cx="6430497" cy="567314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7" y="4418437"/>
                <a:ext cx="1724099" cy="543806"/>
              </a:xfrm>
              <a:prstGeom prst="wedgeRoundRectCallout">
                <a:avLst>
                  <a:gd name="adj1" fmla="val -109818"/>
                  <a:gd name="adj2" fmla="val 15813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AEA7A5-93F3-FE1D-2FF9-E7F3208BA93C}"/>
                  </a:ext>
                </a:extLst>
              </p:cNvPr>
              <p:cNvSpPr txBox="1"/>
              <p:nvPr/>
            </p:nvSpPr>
            <p:spPr>
              <a:xfrm>
                <a:off x="5942112" y="6151131"/>
                <a:ext cx="5458761" cy="584775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Off-Policy: The behavioral policy provides exploration so we can learn a deterministic policy!</a:t>
                </a:r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326967" y="32457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We could update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-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9657" y="691912"/>
                <a:ext cx="5506608" cy="5755780"/>
              </a:xfrm>
            </p:spPr>
            <p:txBody>
              <a:bodyPr anchor="ctr"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choose the amount of bootstrapping from 1-step to no bootstrapping (MC).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error.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 </a:t>
                </a:r>
                <a:r>
                  <a:rPr lang="en-US" sz="1800" dirty="0"/>
                  <a:t>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</a:t>
                </a:r>
                <a:r>
                  <a:rPr lang="en-US" sz="1800" dirty="0"/>
                  <a:t>: Updates are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</a:p>
              <a:p>
                <a:pPr lvl="1"/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Eligibility traces </a:t>
                </a:r>
                <a:r>
                  <a:rPr lang="en-US" sz="1800" dirty="0"/>
                  <a:t>address the delay and computation drawbacks. We will cover these methods later.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9657" y="691912"/>
                <a:ext cx="5506608" cy="5755780"/>
              </a:xfrm>
              <a:blipFill>
                <a:blip r:embed="rId3"/>
                <a:stretch>
                  <a:fillRect l="-775" t="-2860" r="-1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11058</TotalTime>
  <Words>1785</Words>
  <Application>Microsoft Office PowerPoint</Application>
  <PresentationFormat>Widescreen</PresentationFormat>
  <Paragraphs>202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</vt:lpstr>
      <vt:lpstr>Alg. n-step TD Prediction</vt:lpstr>
      <vt:lpstr>Convergence Guarantee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156</cp:revision>
  <dcterms:created xsi:type="dcterms:W3CDTF">2025-09-08T14:44:49Z</dcterms:created>
  <dcterms:modified xsi:type="dcterms:W3CDTF">2026-02-19T19:53:52Z</dcterms:modified>
</cp:coreProperties>
</file>