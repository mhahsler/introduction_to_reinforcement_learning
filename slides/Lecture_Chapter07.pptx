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3" r:id="rId3"/>
    <p:sldId id="479" r:id="rId4"/>
    <p:sldId id="385" r:id="rId5"/>
    <p:sldId id="398" r:id="rId6"/>
    <p:sldId id="396" r:id="rId7"/>
    <p:sldId id="386" r:id="rId8"/>
    <p:sldId id="387" r:id="rId9"/>
    <p:sldId id="481" r:id="rId10"/>
    <p:sldId id="480" r:id="rId11"/>
    <p:sldId id="392" r:id="rId12"/>
    <p:sldId id="391" r:id="rId13"/>
    <p:sldId id="394" r:id="rId14"/>
    <p:sldId id="393" r:id="rId15"/>
    <p:sldId id="389" r:id="rId16"/>
    <p:sldId id="390" r:id="rId17"/>
    <p:sldId id="395" r:id="rId18"/>
    <p:sldId id="39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-step Bootstrapping" id="{83286E67-F0F0-421C-8F74-7B93ABA17FBF}">
          <p14:sldIdLst>
            <p14:sldId id="256"/>
            <p14:sldId id="313"/>
            <p14:sldId id="479"/>
          </p14:sldIdLst>
        </p14:section>
        <p14:section name="Introduction" id="{226A1DFA-741C-4500-8EC5-5BCBA926DBFB}">
          <p14:sldIdLst>
            <p14:sldId id="385"/>
            <p14:sldId id="398"/>
          </p14:sldIdLst>
        </p14:section>
        <p14:section name="Prediction" id="{EF7F6E9E-DC9D-4F07-AF20-87249B8EBE01}">
          <p14:sldIdLst>
            <p14:sldId id="396"/>
            <p14:sldId id="386"/>
            <p14:sldId id="387"/>
            <p14:sldId id="481"/>
            <p14:sldId id="480"/>
          </p14:sldIdLst>
        </p14:section>
        <p14:section name="On-Policy Control" id="{6A91EB9B-FC66-4409-8B96-60AEBB5F5225}">
          <p14:sldIdLst>
            <p14:sldId id="392"/>
            <p14:sldId id="391"/>
            <p14:sldId id="394"/>
            <p14:sldId id="393"/>
          </p14:sldIdLst>
        </p14:section>
        <p14:section name="Off-Policy Learning" id="{17518668-3964-4791-B96A-2B49493E2477}">
          <p14:sldIdLst>
            <p14:sldId id="389"/>
            <p14:sldId id="390"/>
            <p14:sldId id="395"/>
            <p14:sldId id="3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59" autoAdjust="0"/>
    <p:restoredTop sz="94653"/>
  </p:normalViewPr>
  <p:slideViewPr>
    <p:cSldViewPr snapToGrid="0">
      <p:cViewPr varScale="1">
        <p:scale>
          <a:sx n="38" d="100"/>
          <a:sy n="38" d="100"/>
        </p:scale>
        <p:origin x="86" y="174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D5558-2701-D852-1A01-0BF39B58D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150F4-19D6-3927-AF4C-79938CACB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C3DC3-6BE4-4AD5-BF83-83DBE674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D0FF9-FEE5-7DEA-F2A0-04CD3C8E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CCB2C-BF64-0CEB-C138-EC1E0FF1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8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EA809-C199-A2CA-4B62-C11FD8360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0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BD398-BC57-413F-4426-6AE62DCF0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330"/>
            <a:ext cx="10515600" cy="477963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09A95-DE70-5583-0BB6-25CA049AF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F8C87-113F-3949-D291-E8101A072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8CBE1-6776-590E-6A36-B274F6F61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6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7B990-0C44-FE72-89C1-7BAFB2C8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F51AA-25F1-19ED-49F4-909710D8F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F3394-E947-7BBC-4B4E-FC222CF9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90F51-989A-F265-1B59-526B06EC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6400B-F255-95CF-8BD8-3D8AE595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37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C8DE-D8D3-04F9-7952-B3C9B444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C6199-C068-6A1D-B9C6-37C04A922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26636-1E6C-5A66-DCE9-40F0239C9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5DEA3-FC5C-77B6-8AEC-BF4A26C7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2BAE8-516B-EE07-0EF8-4E37D353B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D7F8D-0B8A-CA54-C5D1-DAFB9A21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3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762D-C67C-6FB4-D8AF-A2AEADD0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F3E59-5CAF-AE52-066A-662EAF232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94A81-151A-F8B5-9A7D-43577F3F6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BDED1E-7743-9D82-5A8F-215AF2DB83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3FED4-7E43-512F-BDC2-AB5A6F6A9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E71D6A-F625-133A-E751-2B967B94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56629-E601-1BA5-526C-36960EEB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65DDDF-B6D4-29FB-6B7F-C7017B4E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1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B25A-3F20-51F4-D136-F73B17683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FF8609-CAA0-6678-FCA9-C0252974D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1A081-E4EB-7E96-A0AA-2E4D49099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0AC27-1467-337C-D636-190385E3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1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C8C3DB-E47E-C122-D7BD-AAAC105B2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194795-A7C6-B915-9849-6DDF9E556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BD6E5-D6AC-7828-B9FA-162561BD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8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DA5E-FB2F-65E3-9AC6-77E9E333A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88CA7-EDCF-7BC9-0D50-5F550487A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96387-78E1-111C-2860-362080259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170FC-BF4D-52B4-3D96-975E35B67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B24C2-CDEC-1D6D-42DB-F885EAF6C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CA044-7F46-1F0F-A966-A66706F2D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92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2354-EE3F-C81F-2C98-42CA24F04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37B54A-0E38-1C0F-EA90-8D9A628CC2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F9108-1890-E2BF-7EA2-A2F28DEA6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68F02-6193-91DC-69E0-6CC09A24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4B642-5606-ACB8-4ADF-6DDE8BE4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9560E-8858-1CED-6B2E-1EF0F58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57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A8BF-0F66-F00E-4527-03CBDE1E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8F7C1-32BC-0F71-0130-0DFB9C183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9C7E0-3252-37DB-73A7-7F070748F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6C5EE-EAD9-8D18-3741-930600D3B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647D8-342D-AED5-3763-DD02F7C2A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844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D0B639-7A1F-68FA-45DD-3196E2CB5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4F1BB-B40D-E6E4-111B-122348C26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2DAFD-560D-9508-6F31-281EC974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C6320-E161-CE4A-CBDD-27072D2A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C3E81-2AD2-5FBE-B6F5-1512F3AF9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80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46CF1-7E31-D1FD-63E0-29688510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99997-F7F8-3FB5-F294-092654769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EC26E-B485-AE94-5C91-D0E504CEB5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2BF2E-04DA-469E-97C5-BB68A036881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ECD47-D4F5-A47B-6CA1-E8E47C1C4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8C2B9-7B85-792D-492E-EE9D50875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9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s://creativecommons.org/licenses/by-nc-sa/4.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8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0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0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9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36.png"/><Relationship Id="rId7" Type="http://schemas.openxmlformats.org/officeDocument/2006/relationships/image" Target="../media/image36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1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8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21.png"/><Relationship Id="rId7" Type="http://schemas.openxmlformats.org/officeDocument/2006/relationships/image" Target="../media/image33.png"/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1.png"/><Relationship Id="rId5" Type="http://schemas.openxmlformats.org/officeDocument/2006/relationships/image" Target="../media/image321.png"/><Relationship Id="rId9" Type="http://schemas.openxmlformats.org/officeDocument/2006/relationships/image" Target="../media/image35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02EEF-8413-288E-566D-063A066A6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7" r="23298" b="3714"/>
          <a:stretch>
            <a:fillRect/>
          </a:stretch>
        </p:blipFill>
        <p:spPr bwMode="auto">
          <a:xfrm>
            <a:off x="3523485" y="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 descr="Reinforcement Learning n -step Bootstrapping Sutton/Barto* Chapter 7">
                <a:extLst>
                  <a:ext uri="{FF2B5EF4-FFF2-40B4-BE49-F238E27FC236}">
                    <a16:creationId xmlns:a16="http://schemas.microsoft.com/office/drawing/2014/main" id="{A51EE42B-57B4-EB74-A37C-6675858E7D29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477981" y="1122363"/>
                <a:ext cx="4463968" cy="3204134"/>
              </a:xfrm>
            </p:spPr>
            <p:txBody>
              <a:bodyPr anchor="b">
                <a:normAutofit fontScale="90000"/>
              </a:bodyPr>
              <a:lstStyle/>
              <a:p>
                <a:pPr algn="l"/>
                <a:r>
                  <a:rPr lang="en-US" sz="4800" dirty="0">
                    <a:solidFill>
                      <a:schemeClr val="bg1"/>
                    </a:solidFill>
                  </a:rPr>
                  <a:t>Reinforcement Learning</a:t>
                </a:r>
                <a:br>
                  <a:rPr lang="en-US" sz="4800" dirty="0">
                    <a:solidFill>
                      <a:schemeClr val="bg1"/>
                    </a:solidFill>
                  </a:rPr>
                </a:br>
                <a:br>
                  <a:rPr lang="en-US" sz="48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4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4000" dirty="0">
                    <a:solidFill>
                      <a:schemeClr val="bg1"/>
                    </a:solidFill>
                  </a:rPr>
                  <a:t>-step Bootstrapping</a:t>
                </a:r>
                <a:br>
                  <a:rPr lang="en-US" sz="4000" dirty="0">
                    <a:solidFill>
                      <a:schemeClr val="bg1"/>
                    </a:solidFill>
                  </a:rPr>
                </a:br>
                <a:r>
                  <a:rPr lang="en-US" sz="2800" dirty="0">
                    <a:solidFill>
                      <a:schemeClr val="bg1"/>
                    </a:solidFill>
                  </a:rPr>
                  <a:t>Sutton/Barto*</a:t>
                </a:r>
                <a:r>
                  <a:rPr lang="en-US" sz="2700" dirty="0">
                    <a:solidFill>
                      <a:schemeClr val="bg1"/>
                    </a:solidFill>
                  </a:rPr>
                  <a:t> Chapter 7</a:t>
                </a:r>
              </a:p>
            </p:txBody>
          </p:sp>
        </mc:Choice>
        <mc:Fallback xmlns="">
          <p:sp>
            <p:nvSpPr>
              <p:cNvPr id="2" name="Title 1" descr="Reinforcement Learning n -step Bootstrapping Sutton/Barto* Chapter 7">
                <a:extLst>
                  <a:ext uri="{FF2B5EF4-FFF2-40B4-BE49-F238E27FC236}">
                    <a16:creationId xmlns:a16="http://schemas.microsoft.com/office/drawing/2014/main" id="{A51EE42B-57B4-EB74-A37C-6675858E7D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477981" y="1122363"/>
                <a:ext cx="4463968" cy="3204134"/>
              </a:xfrm>
              <a:blipFill>
                <a:blip r:embed="rId3"/>
                <a:stretch>
                  <a:fillRect l="-5321" b="-4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28C7D-14A3-CFEB-3DEC-2E0127284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741" y="198362"/>
            <a:ext cx="4182403" cy="100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F10C2-8C10-0E89-D285-D614C36EE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868822"/>
            <a:ext cx="4169519" cy="1443894"/>
          </a:xfrm>
        </p:spPr>
        <p:txBody>
          <a:bodyPr>
            <a:normAutofit fontScale="92500"/>
          </a:bodyPr>
          <a:lstStyle/>
          <a:p>
            <a:pPr algn="l"/>
            <a:r>
              <a:rPr lang="en-US" sz="1700" dirty="0">
                <a:solidFill>
                  <a:schemeClr val="bg1"/>
                </a:solidFill>
              </a:rPr>
              <a:t>Michael Hahsler, SMU</a:t>
            </a: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With figures from Sutton/Barto*</a:t>
            </a:r>
          </a:p>
          <a:p>
            <a:pPr algn="l"/>
            <a:endParaRPr lang="en-US" sz="1300" dirty="0">
              <a:solidFill>
                <a:schemeClr val="bg1"/>
              </a:solidFill>
            </a:endParaRP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*Sutton and Barto, Reinforcement Learning: An Introduction, 2</a:t>
            </a:r>
            <a:r>
              <a:rPr lang="en-US" sz="1300" baseline="30000" dirty="0">
                <a:solidFill>
                  <a:schemeClr val="bg1"/>
                </a:solidFill>
              </a:rPr>
              <a:t>nd</a:t>
            </a:r>
            <a:r>
              <a:rPr lang="en-US" sz="1300" dirty="0">
                <a:solidFill>
                  <a:schemeClr val="bg1"/>
                </a:solidFill>
              </a:rPr>
              <a:t> edition, MIT Press, Cambridge, MA, 2018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1C6744-BD97-2C10-F393-A0B726F71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961015" y="4798687"/>
            <a:ext cx="1037459" cy="1303078"/>
            <a:chOff x="5248582" y="2401735"/>
            <a:chExt cx="1694835" cy="205453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F5FC233-1ACF-0EE9-5B1F-F0A29270EE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48582" y="2401735"/>
              <a:ext cx="1694835" cy="2054530"/>
            </a:xfrm>
            <a:prstGeom prst="rect">
              <a:avLst/>
            </a:prstGeom>
          </p:spPr>
        </p:pic>
        <p:pic>
          <p:nvPicPr>
            <p:cNvPr id="9" name="Picture 8" descr="QR code linking to the online course material.">
              <a:extLst>
                <a:ext uri="{FF2B5EF4-FFF2-40B4-BE49-F238E27FC236}">
                  <a16:creationId xmlns:a16="http://schemas.microsoft.com/office/drawing/2014/main" id="{26CB3135-CE78-1137-FBA3-29AA8592D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15643" y="2435129"/>
              <a:ext cx="1560711" cy="1560711"/>
            </a:xfrm>
            <a:prstGeom prst="rect">
              <a:avLst/>
            </a:prstGeom>
          </p:spPr>
        </p:pic>
      </p:grpSp>
      <p:pic>
        <p:nvPicPr>
          <p:cNvPr id="4" name="object 23">
            <a:hlinkClick r:id="rId7"/>
            <a:extLst>
              <a:ext uri="{FF2B5EF4-FFF2-40B4-BE49-F238E27FC236}">
                <a16:creationId xmlns:a16="http://schemas.microsoft.com/office/drawing/2014/main" id="{3CBD6548-3D4E-9A40-CA35-355261D4E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1016" y="6265038"/>
            <a:ext cx="1037459" cy="38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5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A3493-2ED6-DF09-F569-7F3DCA81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of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5E019-92A5-79AC-D777-59B4926F6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Introduction to reinforcement learning</a:t>
            </a:r>
          </a:p>
          <a:p>
            <a:r>
              <a:rPr lang="en-US" dirty="0"/>
              <a:t>Markov decision processes</a:t>
            </a:r>
          </a:p>
          <a:p>
            <a:r>
              <a:rPr lang="en-US" b="1" dirty="0"/>
              <a:t>Part I: Tabular Methods</a:t>
            </a:r>
          </a:p>
          <a:p>
            <a:pPr lvl="1"/>
            <a:r>
              <a:rPr lang="en-US" dirty="0"/>
              <a:t>Dynamic programming</a:t>
            </a:r>
          </a:p>
          <a:p>
            <a:pPr lvl="1"/>
            <a:r>
              <a:rPr lang="en-US" dirty="0"/>
              <a:t>Monte Carlo methods</a:t>
            </a:r>
          </a:p>
          <a:p>
            <a:pPr lvl="1"/>
            <a:r>
              <a:rPr lang="en-US" dirty="0"/>
              <a:t>Temporal-difference learning</a:t>
            </a:r>
          </a:p>
          <a:p>
            <a:pPr lvl="1"/>
            <a:r>
              <a:rPr lang="en-US" b="1" dirty="0"/>
              <a:t>Multi-step bootstrapping</a:t>
            </a:r>
          </a:p>
          <a:p>
            <a:pPr lvl="1"/>
            <a:r>
              <a:rPr lang="en-US" dirty="0"/>
              <a:t>Planning and learning with tabular methods</a:t>
            </a:r>
          </a:p>
          <a:p>
            <a:r>
              <a:rPr lang="en-US" dirty="0"/>
              <a:t>Part II: Approximate Solution Methods</a:t>
            </a:r>
          </a:p>
          <a:p>
            <a:pPr lvl="1"/>
            <a:r>
              <a:rPr lang="en-US" dirty="0"/>
              <a:t>Prediction and Control using Approximation</a:t>
            </a:r>
          </a:p>
          <a:p>
            <a:pPr lvl="1"/>
            <a:r>
              <a:rPr lang="en-US" dirty="0"/>
              <a:t>Eligibility Traces</a:t>
            </a:r>
          </a:p>
          <a:p>
            <a:pPr lvl="1"/>
            <a:r>
              <a:rPr lang="en-US" dirty="0"/>
              <a:t>Policy Gradient Methods</a:t>
            </a:r>
          </a:p>
          <a:p>
            <a:r>
              <a:rPr lang="en-US" dirty="0"/>
              <a:t>Part III: Modern RL Methods</a:t>
            </a:r>
          </a:p>
          <a:p>
            <a:pPr lvl="1"/>
            <a:r>
              <a:rPr lang="en-US" dirty="0"/>
              <a:t>Deep Reinforcement Learning</a:t>
            </a:r>
          </a:p>
          <a:p>
            <a:pPr lvl="1"/>
            <a:r>
              <a:rPr lang="en-US" dirty="0"/>
              <a:t>Current Applications</a:t>
            </a:r>
          </a:p>
        </p:txBody>
      </p:sp>
    </p:spTree>
    <p:extLst>
      <p:ext uri="{BB962C8B-B14F-4D97-AF65-F5344CB8AC3E}">
        <p14:creationId xmlns:p14="http://schemas.microsoft.com/office/powerpoint/2010/main" val="3653367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E1A2-75E3-3C9C-6C10-EE078C5AD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 descr="General. X capital letters: random variables x, p lower-case letters: realizations of random variables or scalar functions. w Bold lower-case letters: real-valued vectors (even if random variables). W bold capitals: matrices. alpha Greek letters: parameters (vectors if in bolt). Pr{X equals x} probability that a random variable X takes on the value x. X~p random variable X selected from distribution p (x) equals Pr{X equals x}. E[X] expectation of a random variable X, i.e., E [X] equals the sum over x, of p (x) x. argmax sub a f(a) a value of action a at which f(a) takes its maximal value">
                <a:extLst>
                  <a:ext uri="{FF2B5EF4-FFF2-40B4-BE49-F238E27FC236}">
                    <a16:creationId xmlns:a16="http://schemas.microsoft.com/office/drawing/2014/main" id="{5CD475E5-BE3B-5594-57DC-46A17411F2F9}"/>
                  </a:ext>
                </a:extLst>
              </p:cNvPr>
              <p:cNvSpPr txBox="1"/>
              <p:nvPr/>
            </p:nvSpPr>
            <p:spPr>
              <a:xfrm>
                <a:off x="822820" y="1124198"/>
                <a:ext cx="5273179" cy="2308324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1200" b="1" dirty="0"/>
                  <a:t>General</a:t>
                </a:r>
                <a:endParaRPr lang="en-US" sz="1200" dirty="0"/>
              </a:p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	capital letters: random variables</a:t>
                </a:r>
                <a:br>
                  <a:rPr lang="en-US" sz="1200" dirty="0"/>
                </a:b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200" dirty="0"/>
                  <a:t>	lower-case letters: realizations of random variables </a:t>
                </a:r>
                <a:br>
                  <a:rPr lang="en-US" sz="1200" dirty="0"/>
                </a:br>
                <a:r>
                  <a:rPr lang="en-US" sz="1200" dirty="0"/>
                  <a:t>	or scalar functions</a:t>
                </a:r>
              </a:p>
              <a:p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1200" dirty="0"/>
                  <a:t> 	Bold lower-case letters: real-valued vectors </a:t>
                </a:r>
                <a:br>
                  <a:rPr lang="en-US" sz="1200" dirty="0"/>
                </a:br>
                <a:r>
                  <a:rPr lang="en-US" sz="1200" dirty="0"/>
                  <a:t>	(even if random variables)</a:t>
                </a:r>
              </a:p>
              <a:p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sz="1200" dirty="0"/>
                  <a:t>	bold capitals: matrices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200" dirty="0"/>
                  <a:t>	Greek letters: parameters (vectors if in bolt)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 dirty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200" dirty="0"/>
                  <a:t>	probability that a random variable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 takes on the value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200" dirty="0"/>
              </a:p>
              <a:p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200" dirty="0"/>
                  <a:t>	random variable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 selected from distribution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200" dirty="0"/>
              </a:p>
              <a:p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200" dirty="0"/>
                  <a:t>	expectation of a random variable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, i.e.,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sz="120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dirty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dirty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sz="12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a value of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at which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takes its maximal value</a:t>
                </a:r>
              </a:p>
            </p:txBody>
          </p:sp>
        </mc:Choice>
        <mc:Fallback xmlns="">
          <p:sp>
            <p:nvSpPr>
              <p:cNvPr id="10" name="TextBox 9" descr="General. X capital letters: random variables x, p lower-case letters: realizations of random variables or scalar functions. w Bold lower-case letters: real-valued vectors (even if random variables). W bold capitals: matrices. alpha Greek letters: parameters (vectors if in bolt). Pr{X equals x} probability that a random variable X takes on the value x. X~p random variable X selected from distribution p (x) equals Pr{X equals x}. E[X] expectation of a random variable X, i.e., E [X] equals the sum over x, of p (x) x. argmax sub a f(a) a value of action a at which f(a) takes its maximal value">
                <a:extLst>
                  <a:ext uri="{FF2B5EF4-FFF2-40B4-BE49-F238E27FC236}">
                    <a16:creationId xmlns:a16="http://schemas.microsoft.com/office/drawing/2014/main" id="{5CD475E5-BE3B-5594-57DC-46A17411F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20" y="1124198"/>
                <a:ext cx="5273179" cy="2308324"/>
              </a:xfrm>
              <a:prstGeom prst="rect">
                <a:avLst/>
              </a:prstGeom>
              <a:blipFill>
                <a:blip r:embed="rId3"/>
                <a:stretch>
                  <a:fillRect b="-9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 descr="Value Function. G sub t return (cumulative reward) following time t. G sub t:h return from t to h (discounted and corrected). v sub pi (s) value of state s under policy pi (expected return). v sub star (s) value of state s under the optimal policy. q sub pi (s,a) value of taking action a in state s under policy pi. q sub star (s,a) value of taking action a in state s under the optimal policy. V, V sub t array estimates of state-value function v sub pi or v sub star. Q,Q sub t array estimates of action-value function q sub pi or v sub star">
                <a:extLst>
                  <a:ext uri="{FF2B5EF4-FFF2-40B4-BE49-F238E27FC236}">
                    <a16:creationId xmlns:a16="http://schemas.microsoft.com/office/drawing/2014/main" id="{47E69C9C-42B6-9B0F-9AE0-20D17703E4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819" y="3700831"/>
                <a:ext cx="5273179" cy="1902124"/>
              </a:xfr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200" b="1" dirty="0"/>
                  <a:t>Value Function</a:t>
                </a: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return (cumulative reward) following time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return from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(discounted and corrected)</a:t>
                </a:r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policy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200" dirty="0"/>
                  <a:t> (expected return)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state s under the optimal policy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policy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the optimal policy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array estimates of 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array estimates of 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 descr="Value Function. G sub t return (cumulative reward) following time t. G sub t:h return from t to h (discounted and corrected). v sub pi (s) value of state s under policy pi (expected return). v sub star (s) value of state s under the optimal policy. q sub pi (s,a) value of taking action a in state s under policy pi. q sub star (s,a) value of taking action a in state s under the optimal policy. V, V sub t array estimates of state-value function v sub pi or v sub star. Q,Q sub t array estimates of action-value function q sub pi or v sub star">
                <a:extLst>
                  <a:ext uri="{FF2B5EF4-FFF2-40B4-BE49-F238E27FC236}">
                    <a16:creationId xmlns:a16="http://schemas.microsoft.com/office/drawing/2014/main" id="{47E69C9C-42B6-9B0F-9AE0-20D17703E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819" y="3700831"/>
                <a:ext cx="5273179" cy="1902124"/>
              </a:xfrm>
              <a:blipFill>
                <a:blip r:embed="rId2"/>
                <a:stretch>
                  <a:fillRect b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 descr="MDP. s, s prime states. a an action. r a reward. S set of all (nonterminal) states, S to the power plus are all states. A(s) set of all actions available in state s. gamma discount-rate parameter. t discrete time step. T final time step of an episode (a.k.a. horizon). A sub t random variable for the action at time t. S sub t random variable for the state at time t. R sub t random variable for the reward at time t. p (s prime,r | s, a) probability of transition to state s prime and receiving reward r, from state s taking action a . p (s prime | s, a) probability of transition to state s prime fom state s taking action a . r(s,a) expected immediate reward from state s after action a. r(s,a,s prime) expected immediate reward from state s to s prime with action a. pi (a given s) probability of taking action a in state s under stochastic policy pi. pi (s) action taken in state s under deterministic policy pi">
                <a:extLst>
                  <a:ext uri="{FF2B5EF4-FFF2-40B4-BE49-F238E27FC236}">
                    <a16:creationId xmlns:a16="http://schemas.microsoft.com/office/drawing/2014/main" id="{6F45EA4F-65F9-5141-0B09-C395CF9CA7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67338" y="1124198"/>
                <a:ext cx="5273179" cy="369338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1200" b="1" dirty="0"/>
                  <a:t>MDP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200" dirty="0"/>
                  <a:t> 	states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	an action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200" dirty="0"/>
                  <a:t> 	a reward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1200" dirty="0"/>
                  <a:t> 	set of all (nonterminal) states,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200" dirty="0"/>
                  <a:t> are all states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set of all actions available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200" dirty="0"/>
                  <a:t> 	discount-rate parameter</a:t>
                </a: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200" dirty="0"/>
                  <a:t> 	discrete time step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/>
                  <a:t> 	final time step of an episode (a.k.a. horizon)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random variable for the action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	random variable for the state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random variable for the reward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probability of transition to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200" dirty="0"/>
                  <a:t> and receiving reward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200" dirty="0"/>
                  <a:t>, </a:t>
                </a:r>
                <a:br>
                  <a:rPr lang="en-US" sz="1200" dirty="0"/>
                </a:br>
                <a:r>
                  <a:rPr lang="en-US" sz="1200" dirty="0"/>
                  <a:t>	from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	probability of transition to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200" dirty="0"/>
                  <a:t> fom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expected immediate reward from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after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200" b="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sz="1200" dirty="0"/>
                  <a:t>	expected immediate reward from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200" dirty="0"/>
                  <a:t> with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probability of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stochastic policy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dirty="0"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action taken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deterministic policy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1" name="Content Placeholder 2" descr="MDP. s, s prime states. a an action. r a reward. S set of all (nonterminal) states, S to the power plus are all states. A(s) set of all actions available in state s. gamma discount-rate parameter. t discrete time step. T final time step of an episode (a.k.a. horizon). A sub t random variable for the action at time t. S sub t random variable for the state at time t. R sub t random variable for the reward at time t. p (s prime,r | s, a) probability of transition to state s prime and receiving reward r, from state s taking action a . p (s prime | s, a) probability of transition to state s prime fom state s taking action a . r(s,a) expected immediate reward from state s after action a. r(s,a,s prime) expected immediate reward from state s to s prime with action a. pi (a given s) probability of taking action a in state s under stochastic policy pi. pi (s) action taken in state s under deterministic policy pi">
                <a:extLst>
                  <a:ext uri="{FF2B5EF4-FFF2-40B4-BE49-F238E27FC236}">
                    <a16:creationId xmlns:a16="http://schemas.microsoft.com/office/drawing/2014/main" id="{6F45EA4F-65F9-5141-0B09-C395CF9CA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338" y="1124198"/>
                <a:ext cx="5273179" cy="3693383"/>
              </a:xfrm>
              <a:prstGeom prst="rect">
                <a:avLst/>
              </a:prstGeom>
              <a:blipFill>
                <a:blip r:embed="rId4"/>
                <a:stretch>
                  <a:fillRect t="-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 descr="Temporal Difference Learning. U sub t target for estimate at time t. delta sub t TD error. G sub t:t plus n n -step return using rewards from t plus 1 to t plus n and bootstrap the rest">
                <a:extLst>
                  <a:ext uri="{FF2B5EF4-FFF2-40B4-BE49-F238E27FC236}">
                    <a16:creationId xmlns:a16="http://schemas.microsoft.com/office/drawing/2014/main" id="{4C5E539A-F9A7-F959-ACD3-4ADE5900F5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67338" y="4947712"/>
                <a:ext cx="5273179" cy="10156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</a:pPr>
                <a:r>
                  <a:rPr lang="en-US" sz="1200" b="1" dirty="0"/>
                  <a:t>Temporal Difference Learning</a:t>
                </a: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target for estimate at time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TD error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	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-step return using rewards from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to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and </a:t>
                </a:r>
                <a:br>
                  <a:rPr lang="en-US" sz="1200" dirty="0">
                    <a:solidFill>
                      <a:schemeClr val="tx1"/>
                    </a:solidFill>
                  </a:rPr>
                </a:br>
                <a:r>
                  <a:rPr lang="en-US" sz="1200" dirty="0">
                    <a:solidFill>
                      <a:schemeClr val="tx1"/>
                    </a:solidFill>
                  </a:rPr>
                  <a:t>	bootstrap the rest</a:t>
                </a:r>
              </a:p>
            </p:txBody>
          </p:sp>
        </mc:Choice>
        <mc:Fallback xmlns="">
          <p:sp>
            <p:nvSpPr>
              <p:cNvPr id="4" name="Content Placeholder 2" descr="Temporal Difference Learning. U sub t target for estimate at time t. delta sub t TD error. G sub t:t plus n n -step return using rewards from t plus 1 to t plus n and bootstrap the rest">
                <a:extLst>
                  <a:ext uri="{FF2B5EF4-FFF2-40B4-BE49-F238E27FC236}">
                    <a16:creationId xmlns:a16="http://schemas.microsoft.com/office/drawing/2014/main" id="{4C5E539A-F9A7-F959-ACD3-4ADE5900F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338" y="4947712"/>
                <a:ext cx="5273179" cy="1015663"/>
              </a:xfrm>
              <a:prstGeom prst="rect">
                <a:avLst/>
              </a:prstGeom>
              <a:blipFill>
                <a:blip r:embed="rId5"/>
                <a:stretch>
                  <a:fillRect b="-2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69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 descr="Policy Evaluation: 1-step TD vs. n -step TD vs. MC">
                <a:extLst>
                  <a:ext uri="{FF2B5EF4-FFF2-40B4-BE49-F238E27FC236}">
                    <a16:creationId xmlns:a16="http://schemas.microsoft.com/office/drawing/2014/main" id="{FC43A04E-6361-AAD5-BA6A-E9D14BAE83F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Policy Evaluation: 1-step TD vs.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-step TD vs. MC</a:t>
                </a:r>
              </a:p>
            </p:txBody>
          </p:sp>
        </mc:Choice>
        <mc:Fallback xmlns="">
          <p:sp>
            <p:nvSpPr>
              <p:cNvPr id="2" name="Title 1" descr="Policy Evaluation: 1-step TD vs. n -step TD vs. MC">
                <a:extLst>
                  <a:ext uri="{FF2B5EF4-FFF2-40B4-BE49-F238E27FC236}">
                    <a16:creationId xmlns:a16="http://schemas.microsoft.com/office/drawing/2014/main" id="{FC43A04E-6361-AAD5-BA6A-E9D14BAE83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13710" b="-28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 descr="Question: How far ahead in the sampled episode do we look to estimate the return?. MC: We use the whole episode. 1-step TD: We only observe the next step and its reward. The remaining return is bootstrapped . This propagates state value errors!">
                <a:extLst>
                  <a:ext uri="{FF2B5EF4-FFF2-40B4-BE49-F238E27FC236}">
                    <a16:creationId xmlns:a16="http://schemas.microsoft.com/office/drawing/2014/main" id="{885DA0A5-DD6E-AE51-3C17-167B058ECA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92292"/>
                <a:ext cx="10515600" cy="183106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Question</a:t>
                </a:r>
                <a:r>
                  <a:rPr lang="en-US" sz="1800" dirty="0"/>
                  <a:t>: How far ahead in the sampled episode do we look to estimate the return?</a:t>
                </a: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r>
                  <a:rPr lang="en-US" sz="1800" b="1" dirty="0"/>
                  <a:t>MC: </a:t>
                </a:r>
                <a:r>
                  <a:rPr lang="en-US" sz="1800" dirty="0"/>
                  <a:t>We use the whole episode.</a:t>
                </a:r>
                <a:endParaRPr lang="en-US" sz="1800" b="1" dirty="0"/>
              </a:p>
              <a:p>
                <a:r>
                  <a:rPr lang="en-US" sz="1800" b="1" dirty="0"/>
                  <a:t>1-step TD: </a:t>
                </a:r>
                <a:r>
                  <a:rPr lang="en-US" sz="1800" dirty="0"/>
                  <a:t>We only observe the </a:t>
                </a:r>
                <a:r>
                  <a:rPr lang="en-US" sz="1800" b="1" dirty="0"/>
                  <a:t>next step </a:t>
                </a:r>
                <a:r>
                  <a:rPr lang="en-US" sz="1800" dirty="0"/>
                  <a:t>and its reward. The remaining return is </a:t>
                </a:r>
                <a:r>
                  <a:rPr lang="en-US" sz="1800" b="1" dirty="0"/>
                  <a:t>bootstrapped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800" dirty="0"/>
                  <a:t> This </a:t>
                </a:r>
                <a:r>
                  <a:rPr lang="en-US" sz="1800" b="1" dirty="0"/>
                  <a:t>propagates state value errors</a:t>
                </a:r>
                <a:r>
                  <a:rPr lang="en-US" sz="1800" dirty="0"/>
                  <a:t>!</a:t>
                </a:r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6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6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6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 descr="Question: How far ahead in the sampled episode do we look to estimate the return?. MC: We use the whole episode. 1-step TD: We only observe the next step and its reward. The remaining return is bootstrapped . This propagates state value errors!">
                <a:extLst>
                  <a:ext uri="{FF2B5EF4-FFF2-40B4-BE49-F238E27FC236}">
                    <a16:creationId xmlns:a16="http://schemas.microsoft.com/office/drawing/2014/main" id="{885DA0A5-DD6E-AE51-3C17-167B058ECA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92292"/>
                <a:ext cx="10515600" cy="1831065"/>
              </a:xfrm>
              <a:blipFill>
                <a:blip r:embed="rId3"/>
                <a:stretch>
                  <a:fillRect l="-522"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 descr="n -step TD. Looks n time steps ahead and bootstraps the rest. Using more observed rewards should help to reduce the bootstrapping error. TD unifies and generalizes MC and one-step TD">
                <a:extLst>
                  <a:ext uri="{FF2B5EF4-FFF2-40B4-BE49-F238E27FC236}">
                    <a16:creationId xmlns:a16="http://schemas.microsoft.com/office/drawing/2014/main" id="{9C57C0C7-6461-D5DA-62EB-5D5138CE4FB4}"/>
                  </a:ext>
                </a:extLst>
              </p:cNvPr>
              <p:cNvSpPr txBox="1"/>
              <p:nvPr/>
            </p:nvSpPr>
            <p:spPr>
              <a:xfrm>
                <a:off x="942099" y="4644434"/>
                <a:ext cx="1061005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dirty="0"/>
                  <a:t>-step TD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Looks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 steps ahead and bootstraps the rest. Using more observed rewards should help to </a:t>
                </a:r>
                <a:r>
                  <a:rPr lang="en-US" b="1" dirty="0"/>
                  <a:t>reduce the bootstrapping error.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TD unifies and generalizes MC and one-step TD.</a:t>
                </a:r>
              </a:p>
            </p:txBody>
          </p:sp>
        </mc:Choice>
        <mc:Fallback xmlns="">
          <p:sp>
            <p:nvSpPr>
              <p:cNvPr id="32" name="TextBox 31" descr="n -step TD. Looks n time steps ahead and bootstraps the rest. Using more observed rewards should help to reduce the bootstrapping error. TD unifies and generalizes MC and one-step TD">
                <a:extLst>
                  <a:ext uri="{FF2B5EF4-FFF2-40B4-BE49-F238E27FC236}">
                    <a16:creationId xmlns:a16="http://schemas.microsoft.com/office/drawing/2014/main" id="{9C57C0C7-6461-D5DA-62EB-5D5138CE4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099" y="4644434"/>
                <a:ext cx="10610054" cy="1200329"/>
              </a:xfrm>
              <a:prstGeom prst="rect">
                <a:avLst/>
              </a:prstGeom>
              <a:blipFill>
                <a:blip r:embed="rId4"/>
                <a:stretch>
                  <a:fillRect l="-402" t="-2538" b="-7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 descr="An episode as a sequence: state S_t, action A_t, reward R_t+1, state S_t+1, action A_t+1, reward R_t+2, state S_t+2, action A_t+2, reward R_t+3, state S_t+3, action A_t+3, and so on. Labels: V(S sub t); V(S sub t plus 1); update; 1-step; Used to bootstrap estimate of the remaining return G sub t plus 1.">
            <a:extLst>
              <a:ext uri="{FF2B5EF4-FFF2-40B4-BE49-F238E27FC236}">
                <a16:creationId xmlns:a16="http://schemas.microsoft.com/office/drawing/2014/main" id="{3E329277-23EA-AB5C-2858-C3C4005FB05E}"/>
              </a:ext>
            </a:extLst>
          </p:cNvPr>
          <p:cNvGrpSpPr/>
          <p:nvPr/>
        </p:nvGrpSpPr>
        <p:grpSpPr>
          <a:xfrm>
            <a:off x="2745815" y="3029566"/>
            <a:ext cx="5965095" cy="1634100"/>
            <a:chOff x="2637816" y="2832616"/>
            <a:chExt cx="5965095" cy="1634100"/>
          </a:xfrm>
        </p:grpSpPr>
        <p:grpSp>
          <p:nvGrpSpPr>
            <p:cNvPr id="33" name="Group 32" descr="An episode as a sequence: state S_t, action A_t, reward R_t+1, state S_t+1, action A_t+1, reward R_t+2, state S_t+2, action A_t+2, reward R_t+3, state S_t+3, action A_t+3, and so on. Labels: V(S sub t); V(S sub t plus 1); update; 1-step.">
              <a:extLst>
                <a:ext uri="{FF2B5EF4-FFF2-40B4-BE49-F238E27FC236}">
                  <a16:creationId xmlns:a16="http://schemas.microsoft.com/office/drawing/2014/main" id="{B1753D92-4CD1-A5C9-E205-1999C3D682A5}"/>
                </a:ext>
              </a:extLst>
            </p:cNvPr>
            <p:cNvGrpSpPr/>
            <p:nvPr/>
          </p:nvGrpSpPr>
          <p:grpSpPr>
            <a:xfrm>
              <a:off x="2637816" y="2832616"/>
              <a:ext cx="5965095" cy="1560336"/>
              <a:chOff x="2373562" y="2568409"/>
              <a:chExt cx="5965095" cy="1560336"/>
            </a:xfrm>
          </p:grpSpPr>
          <p:pic>
            <p:nvPicPr>
              <p:cNvPr id="22" name="Picture 21" descr="An episode as a sequence: state S_t, action A_t, reward R_t+1, state S_t+1, action A_t+1, reward R_t+2, state S_t+2, action A_t+2, reward R_t+3, state S_t+3, action A_t+3, and so on.">
                <a:extLst>
                  <a:ext uri="{FF2B5EF4-FFF2-40B4-BE49-F238E27FC236}">
                    <a16:creationId xmlns:a16="http://schemas.microsoft.com/office/drawing/2014/main" id="{6F6E7CC0-68DD-A056-E3F1-DDE933683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73562" y="2955408"/>
                <a:ext cx="5965095" cy="606381"/>
              </a:xfrm>
              <a:prstGeom prst="rect">
                <a:avLst/>
              </a:prstGeom>
            </p:spPr>
          </p:pic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67D652EB-8C2E-F956-C6A7-9E7E090FE6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3510268" y="3109621"/>
                <a:ext cx="1082180" cy="796292"/>
              </a:xfrm>
              <a:prstGeom prst="arc">
                <a:avLst>
                  <a:gd name="adj1" fmla="val 1428106"/>
                  <a:gd name="adj2" fmla="val 9287936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 descr="Equation: V(S sub t)">
                    <a:extLst>
                      <a:ext uri="{FF2B5EF4-FFF2-40B4-BE49-F238E27FC236}">
                        <a16:creationId xmlns:a16="http://schemas.microsoft.com/office/drawing/2014/main" id="{280AECF7-65CC-8754-EB3F-824EB281EDE8}"/>
                      </a:ext>
                    </a:extLst>
                  </p:cNvPr>
                  <p:cNvSpPr txBox="1"/>
                  <p:nvPr/>
                </p:nvSpPr>
                <p:spPr>
                  <a:xfrm>
                    <a:off x="2981238" y="3429000"/>
                    <a:ext cx="1049672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25" name="TextBox 24" descr="Equation: V(S sub t)">
                    <a:extLst>
                      <a:ext uri="{FF2B5EF4-FFF2-40B4-BE49-F238E27FC236}">
                        <a16:creationId xmlns:a16="http://schemas.microsoft.com/office/drawing/2014/main" id="{280AECF7-65CC-8754-EB3F-824EB281ED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1238" y="3429000"/>
                    <a:ext cx="1049672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888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 descr="Equation: V(S sub t plus 1)">
                    <a:extLst>
                      <a:ext uri="{FF2B5EF4-FFF2-40B4-BE49-F238E27FC236}">
                        <a16:creationId xmlns:a16="http://schemas.microsoft.com/office/drawing/2014/main" id="{BCB15AD7-1E19-57F6-65EB-1A4D65FF70E0}"/>
                      </a:ext>
                    </a:extLst>
                  </p:cNvPr>
                  <p:cNvSpPr txBox="1"/>
                  <p:nvPr/>
                </p:nvSpPr>
                <p:spPr>
                  <a:xfrm>
                    <a:off x="4030910" y="3429000"/>
                    <a:ext cx="1049672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26" name="TextBox 25" descr="Equation: V(S sub t plus 1)">
                    <a:extLst>
                      <a:ext uri="{FF2B5EF4-FFF2-40B4-BE49-F238E27FC236}">
                        <a16:creationId xmlns:a16="http://schemas.microsoft.com/office/drawing/2014/main" id="{BCB15AD7-1E19-57F6-65EB-1A4D65FF70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30910" y="3429000"/>
                    <a:ext cx="104967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888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Arc 26">
                <a:extLst>
                  <a:ext uri="{FF2B5EF4-FFF2-40B4-BE49-F238E27FC236}">
                    <a16:creationId xmlns:a16="http://schemas.microsoft.com/office/drawing/2014/main" id="{99AF2566-B92C-9D23-FEEB-DC0D4448E0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3426902" y="2568409"/>
                <a:ext cx="725648" cy="1208900"/>
              </a:xfrm>
              <a:prstGeom prst="arc">
                <a:avLst>
                  <a:gd name="adj1" fmla="val 535615"/>
                  <a:gd name="adj2" fmla="val 6545153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92AC8E0-FCC6-E71B-5BC4-5120FE23E4B9}"/>
                  </a:ext>
                </a:extLst>
              </p:cNvPr>
              <p:cNvSpPr txBox="1"/>
              <p:nvPr/>
            </p:nvSpPr>
            <p:spPr>
              <a:xfrm>
                <a:off x="3789726" y="3867135"/>
                <a:ext cx="72564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update</a:t>
                </a:r>
              </a:p>
            </p:txBody>
          </p:sp>
          <p:sp>
            <p:nvSpPr>
              <p:cNvPr id="29" name="Right Brace 28">
                <a:extLst>
                  <a:ext uri="{FF2B5EF4-FFF2-40B4-BE49-F238E27FC236}">
                    <a16:creationId xmlns:a16="http://schemas.microsoft.com/office/drawing/2014/main" id="{5F51F495-2EAC-8264-CC4A-93D946C095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6200000">
                <a:off x="3901011" y="2344894"/>
                <a:ext cx="164691" cy="1218182"/>
              </a:xfrm>
              <a:prstGeom prst="righ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AFCAA45-F198-4B6F-1877-3432EB76686F}"/>
                  </a:ext>
                </a:extLst>
              </p:cNvPr>
              <p:cNvSpPr txBox="1"/>
              <p:nvPr/>
            </p:nvSpPr>
            <p:spPr>
              <a:xfrm>
                <a:off x="3636948" y="2643914"/>
                <a:ext cx="72564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1-step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Speech Bubble: Rectangle with Corners Rounded 33" descr="Used to bootstrap estimate of the remaining return G sub t plus 1">
                  <a:extLst>
                    <a:ext uri="{FF2B5EF4-FFF2-40B4-BE49-F238E27FC236}">
                      <a16:creationId xmlns:a16="http://schemas.microsoft.com/office/drawing/2014/main" id="{B40E3416-D980-4AD9-2BA7-399F65D76A9C}"/>
                    </a:ext>
                  </a:extLst>
                </p:cNvPr>
                <p:cNvSpPr/>
                <p:nvPr/>
              </p:nvSpPr>
              <p:spPr>
                <a:xfrm>
                  <a:off x="5452585" y="3967462"/>
                  <a:ext cx="2801639" cy="499254"/>
                </a:xfrm>
                <a:prstGeom prst="wedgeRoundRectCallout">
                  <a:avLst>
                    <a:gd name="adj1" fmla="val -69704"/>
                    <a:gd name="adj2" fmla="val -50390"/>
                    <a:gd name="adj3" fmla="val 16667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Used to bootstrap estimate of the remaining return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4" name="Speech Bubble: Rectangle with Corners Rounded 33" descr="Used to bootstrap estimate of the remaining return G sub t plus 1">
                  <a:extLst>
                    <a:ext uri="{FF2B5EF4-FFF2-40B4-BE49-F238E27FC236}">
                      <a16:creationId xmlns:a16="http://schemas.microsoft.com/office/drawing/2014/main" id="{B40E3416-D980-4AD9-2BA7-399F65D76A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2585" y="3967462"/>
                  <a:ext cx="2801639" cy="499254"/>
                </a:xfrm>
                <a:prstGeom prst="wedgeRoundRectCallout">
                  <a:avLst>
                    <a:gd name="adj1" fmla="val -69704"/>
                    <a:gd name="adj2" fmla="val -50390"/>
                    <a:gd name="adj3" fmla="val 16667"/>
                  </a:avLst>
                </a:prstGeom>
                <a:blipFill>
                  <a:blip r:embed="rId8"/>
                  <a:stretch>
                    <a:fillRect t="-5682" b="-204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 descr="Scale from 1-step TD on the left to MC (whole episode) on the right, with n-step TD as the range of methods in between.">
            <a:extLst>
              <a:ext uri="{FF2B5EF4-FFF2-40B4-BE49-F238E27FC236}">
                <a16:creationId xmlns:a16="http://schemas.microsoft.com/office/drawing/2014/main" id="{11C9C314-988F-0A98-1955-8D7377802AD9}"/>
              </a:ext>
            </a:extLst>
          </p:cNvPr>
          <p:cNvGrpSpPr/>
          <p:nvPr/>
        </p:nvGrpSpPr>
        <p:grpSpPr>
          <a:xfrm>
            <a:off x="3541531" y="5788233"/>
            <a:ext cx="5623139" cy="893096"/>
            <a:chOff x="2888293" y="5522210"/>
            <a:chExt cx="5623139" cy="893096"/>
          </a:xfrm>
        </p:grpSpPr>
        <p:grpSp>
          <p:nvGrpSpPr>
            <p:cNvPr id="15" name="Group 14" descr="Scale from 1-step TD on the left to MC (whole episode) on the right.">
              <a:extLst>
                <a:ext uri="{FF2B5EF4-FFF2-40B4-BE49-F238E27FC236}">
                  <a16:creationId xmlns:a16="http://schemas.microsoft.com/office/drawing/2014/main" id="{EB9E5956-B033-E66C-9244-F254E34930E3}"/>
                </a:ext>
              </a:extLst>
            </p:cNvPr>
            <p:cNvGrpSpPr/>
            <p:nvPr/>
          </p:nvGrpSpPr>
          <p:grpSpPr>
            <a:xfrm>
              <a:off x="2888293" y="5522210"/>
              <a:ext cx="5623139" cy="893096"/>
              <a:chOff x="3048836" y="5722125"/>
              <a:chExt cx="5623139" cy="893096"/>
            </a:xfrm>
          </p:grpSpPr>
          <p:grpSp>
            <p:nvGrpSpPr>
              <p:cNvPr id="10" name="Group 9" descr="Scale from 1-step TD on the left to MC on the right.">
                <a:extLst>
                  <a:ext uri="{FF2B5EF4-FFF2-40B4-BE49-F238E27FC236}">
                    <a16:creationId xmlns:a16="http://schemas.microsoft.com/office/drawing/2014/main" id="{E7470490-29F2-50C7-075E-7377CEFC4DB5}"/>
                  </a:ext>
                </a:extLst>
              </p:cNvPr>
              <p:cNvGrpSpPr/>
              <p:nvPr/>
            </p:nvGrpSpPr>
            <p:grpSpPr>
              <a:xfrm>
                <a:off x="3048836" y="5722125"/>
                <a:ext cx="5067252" cy="477986"/>
                <a:chOff x="2659667" y="2782204"/>
                <a:chExt cx="5659631" cy="631088"/>
              </a:xfrm>
            </p:grpSpPr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B94B77C9-C9AA-6F5D-D56B-315043DD70E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>
                  <a:off x="3378394" y="3224828"/>
                  <a:ext cx="174504" cy="18846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8EAB5D2C-C971-DEFC-52FE-D0987A0552A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>
                  <a:off x="7907350" y="3224828"/>
                  <a:ext cx="174504" cy="18846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0F54933B-23C4-19A8-0DB4-85CED3BAE1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/>
                <p:nvPr/>
              </p:nvCxnSpPr>
              <p:spPr>
                <a:xfrm>
                  <a:off x="3664580" y="3319060"/>
                  <a:ext cx="4132251" cy="0"/>
                </a:xfrm>
                <a:prstGeom prst="straightConnector1">
                  <a:avLst/>
                </a:prstGeom>
                <a:ln w="57150">
                  <a:headEnd type="triangl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41C27E2-D7A4-5F48-644A-B5DB89090844}"/>
                    </a:ext>
                  </a:extLst>
                </p:cNvPr>
                <p:cNvSpPr txBox="1"/>
                <p:nvPr/>
              </p:nvSpPr>
              <p:spPr>
                <a:xfrm>
                  <a:off x="2659667" y="2782204"/>
                  <a:ext cx="1392309" cy="4876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1-step TD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83257FD-880A-AF81-88C4-FE4114583699}"/>
                    </a:ext>
                  </a:extLst>
                </p:cNvPr>
                <p:cNvSpPr txBox="1"/>
                <p:nvPr/>
              </p:nvSpPr>
              <p:spPr>
                <a:xfrm>
                  <a:off x="7669904" y="2798160"/>
                  <a:ext cx="649394" cy="4876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MC </a:t>
                  </a:r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8BFD95-D1AF-D3B0-1498-24CDC947051F}"/>
                  </a:ext>
                </a:extLst>
              </p:cNvPr>
              <p:cNvSpPr txBox="1"/>
              <p:nvPr/>
            </p:nvSpPr>
            <p:spPr>
              <a:xfrm>
                <a:off x="6822540" y="6245889"/>
                <a:ext cx="18494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/>
                  <a:t>(whole episode)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 descr="n -step TD">
                  <a:extLst>
                    <a:ext uri="{FF2B5EF4-FFF2-40B4-BE49-F238E27FC236}">
                      <a16:creationId xmlns:a16="http://schemas.microsoft.com/office/drawing/2014/main" id="{5A8B58D0-D9D0-BAF2-8636-E6875C7D5815}"/>
                    </a:ext>
                  </a:extLst>
                </p:cNvPr>
                <p:cNvSpPr txBox="1"/>
                <p:nvPr/>
              </p:nvSpPr>
              <p:spPr>
                <a:xfrm>
                  <a:off x="5171964" y="5534292"/>
                  <a:ext cx="12465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dirty="0"/>
                    <a:t>-step TD </a:t>
                  </a:r>
                </a:p>
              </p:txBody>
            </p:sp>
          </mc:Choice>
          <mc:Fallback xmlns="">
            <p:sp>
              <p:nvSpPr>
                <p:cNvPr id="16" name="TextBox 15" descr="n -step TD">
                  <a:extLst>
                    <a:ext uri="{FF2B5EF4-FFF2-40B4-BE49-F238E27FC236}">
                      <a16:creationId xmlns:a16="http://schemas.microsoft.com/office/drawing/2014/main" id="{5A8B58D0-D9D0-BAF2-8636-E6875C7D58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964" y="5534292"/>
                  <a:ext cx="1246582" cy="369332"/>
                </a:xfrm>
                <a:prstGeom prst="rect">
                  <a:avLst/>
                </a:prstGeom>
                <a:blipFill>
                  <a:blip r:embed="rId9"/>
                  <a:stretch>
                    <a:fillRect t="-6557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7379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581FB-75E1-939B-1734-9A3A5E7DA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a Longer Look-ahead Useful?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43D5A25-1072-1AD7-D8D1-460CD5D84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331"/>
            <a:ext cx="10515600" cy="69967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Example</a:t>
            </a:r>
            <a:r>
              <a:rPr lang="en-US" dirty="0"/>
              <a:t>: Maze with only one final reward for reaching the goal. </a:t>
            </a:r>
            <a:br>
              <a:rPr lang="en-US" dirty="0"/>
            </a:br>
            <a:r>
              <a:rPr lang="en-US" dirty="0"/>
              <a:t>We learn from the </a:t>
            </a:r>
            <a:r>
              <a:rPr lang="en-US" b="1" dirty="0"/>
              <a:t>first episode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CA45E4-C211-7029-512E-B626F9027F51}"/>
              </a:ext>
            </a:extLst>
          </p:cNvPr>
          <p:cNvSpPr txBox="1"/>
          <p:nvPr/>
        </p:nvSpPr>
        <p:spPr>
          <a:xfrm>
            <a:off x="1283608" y="2318614"/>
            <a:ext cx="249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Episode (MC)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7086F-4FE3-4B76-D2E3-6ED4B79424DB}"/>
              </a:ext>
            </a:extLst>
          </p:cNvPr>
          <p:cNvSpPr txBox="1"/>
          <p:nvPr/>
        </p:nvSpPr>
        <p:spPr>
          <a:xfrm>
            <a:off x="4846864" y="2343189"/>
            <a:ext cx="249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1-step look ahead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BAAE08-C8A0-AF74-313E-B5C800716589}"/>
              </a:ext>
            </a:extLst>
          </p:cNvPr>
          <p:cNvSpPr txBox="1"/>
          <p:nvPr/>
        </p:nvSpPr>
        <p:spPr>
          <a:xfrm>
            <a:off x="8260541" y="2343189"/>
            <a:ext cx="249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10-step look ahead</a:t>
            </a:r>
          </a:p>
        </p:txBody>
      </p:sp>
      <p:pic>
        <p:nvPicPr>
          <p:cNvPr id="4" name="Content Placeholder 4" descr="Sutton and Barto Figure 7.4, three gridworld panels. Path taken: a winding path through the grid that ends at the goal G. Action values increased by one-step Sarsa: only one arrow, the last action into G. Action values increased by 10-step Sarsa: arrows on the last 10 actions of the path leading to G. Caption: Gridworld example of the speedup of policy learning due to the use of n-step methods. The first panel shows the path taken by an agent in a single episode, ending at a location of high reward, marked by the G. In this example the values were all initially 0, and all rewards were zero except for a positive reward at G. The arrows in the other two panels show which action values were strengthened as a result of this path by one-step and n-step Sarsa methods. The one-step method strengthens only the last action of the sequence of actions that led to the high reward, whereas the n-step method strengthens the last n actions of the sequence, so that much more is learned from the one episode.">
            <a:extLst>
              <a:ext uri="{FF2B5EF4-FFF2-40B4-BE49-F238E27FC236}">
                <a16:creationId xmlns:a16="http://schemas.microsoft.com/office/drawing/2014/main" id="{F54C7612-C89E-C0DD-842F-9EC0D68D64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91" t="13698" r="5202" b="44797"/>
          <a:stretch>
            <a:fillRect/>
          </a:stretch>
        </p:blipFill>
        <p:spPr>
          <a:xfrm>
            <a:off x="747486" y="2663371"/>
            <a:ext cx="10530259" cy="268423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94153B3-450A-085C-3C96-299EB57D1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5636" y="3888565"/>
            <a:ext cx="195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9468A7-5AC3-5A40-8933-972333C8F0BD}"/>
              </a:ext>
            </a:extLst>
          </p:cNvPr>
          <p:cNvSpPr txBox="1"/>
          <p:nvPr/>
        </p:nvSpPr>
        <p:spPr>
          <a:xfrm>
            <a:off x="965200" y="5230699"/>
            <a:ext cx="30697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Updates in reverse order all state values on the path using the goal reward.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3F307-3E7B-8CE6-F229-F5A1E0C8CC21}"/>
              </a:ext>
            </a:extLst>
          </p:cNvPr>
          <p:cNvSpPr txBox="1"/>
          <p:nvPr/>
        </p:nvSpPr>
        <p:spPr>
          <a:xfrm>
            <a:off x="4370352" y="5230698"/>
            <a:ext cx="3069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Can only update one state value with the goal reward.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36E2F7-F8B8-2A59-9E25-A531E0CB5822}"/>
              </a:ext>
            </a:extLst>
          </p:cNvPr>
          <p:cNvSpPr txBox="1"/>
          <p:nvPr/>
        </p:nvSpPr>
        <p:spPr>
          <a:xfrm>
            <a:off x="7824751" y="5206124"/>
            <a:ext cx="3452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State value can be updated with the goal reward even if it is up to 10 steps away.</a:t>
            </a:r>
            <a:br>
              <a:rPr lang="en-US" dirty="0"/>
            </a:br>
            <a:r>
              <a:rPr lang="en-US" dirty="0"/>
              <a:t>Learns faster than 1-step TD.</a:t>
            </a:r>
          </a:p>
        </p:txBody>
      </p:sp>
    </p:spTree>
    <p:extLst>
      <p:ext uri="{BB962C8B-B14F-4D97-AF65-F5344CB8AC3E}">
        <p14:creationId xmlns:p14="http://schemas.microsoft.com/office/powerpoint/2010/main" val="83464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6E0E6-B94F-9317-6D17-F2C05C4B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 descr="n -step TD Prediction">
                <a:extLst>
                  <a:ext uri="{FF2B5EF4-FFF2-40B4-BE49-F238E27FC236}">
                    <a16:creationId xmlns:a16="http://schemas.microsoft.com/office/drawing/2014/main" id="{DEAA54D5-A706-39E6-7AFF-36D79A0279C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-step TD Prediction</a:t>
                </a:r>
              </a:p>
            </p:txBody>
          </p:sp>
        </mc:Choice>
        <mc:Fallback xmlns="">
          <p:sp>
            <p:nvSpPr>
              <p:cNvPr id="4" name="Title 3" descr="n -step TD Prediction">
                <a:extLst>
                  <a:ext uri="{FF2B5EF4-FFF2-40B4-BE49-F238E27FC236}">
                    <a16:creationId xmlns:a16="http://schemas.microsoft.com/office/drawing/2014/main" id="{DEAA54D5-A706-39E6-7AFF-36D79A0279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4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C56159-9323-5507-2CD1-C89D8951B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Estimate the value function for a given policy. </a:t>
            </a:r>
          </a:p>
        </p:txBody>
      </p:sp>
    </p:spTree>
    <p:extLst>
      <p:ext uri="{BB962C8B-B14F-4D97-AF65-F5344CB8AC3E}">
        <p14:creationId xmlns:p14="http://schemas.microsoft.com/office/powerpoint/2010/main" val="2648172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 descr="Backup diagrams of n-step methods (Sutton and Barto Figure 7.1): a row of chains of alternating states (open circles) and actions (dots). 1-step TD and TD(0) goes one step; 2-step TD two steps; 3-step TD three steps; then n-step TD; and infinity-step TD and Monte Carlo runs all the way to the terminal state (a gray square). Labels: R sub t plus 1; V(S sub t plus 1); V(S sub t).">
            <a:extLst>
              <a:ext uri="{FF2B5EF4-FFF2-40B4-BE49-F238E27FC236}">
                <a16:creationId xmlns:a16="http://schemas.microsoft.com/office/drawing/2014/main" id="{E481D1FB-CB76-10B4-AAF2-565B474050E1}"/>
              </a:ext>
            </a:extLst>
          </p:cNvPr>
          <p:cNvGrpSpPr/>
          <p:nvPr/>
        </p:nvGrpSpPr>
        <p:grpSpPr>
          <a:xfrm>
            <a:off x="3318150" y="1038934"/>
            <a:ext cx="5200795" cy="4414234"/>
            <a:chOff x="3318150" y="1038934"/>
            <a:chExt cx="5200795" cy="4414234"/>
          </a:xfrm>
        </p:grpSpPr>
        <p:pic>
          <p:nvPicPr>
            <p:cNvPr id="17" name="Picture 16" descr="Backup diagrams of n-step methods (Sutton and Barto Figure 7.1): a row of chains of alternating states (open circles) and actions (dots). 1-step TD and TD(0) goes one step; 2-step TD two steps; 3-step TD three steps; then n-step TD; and infinity-step TD and Monte Carlo runs all the way to the terminal state (a gray square).">
              <a:extLst>
                <a:ext uri="{FF2B5EF4-FFF2-40B4-BE49-F238E27FC236}">
                  <a16:creationId xmlns:a16="http://schemas.microsoft.com/office/drawing/2014/main" id="{59C05D1A-35B9-726A-B9FB-4539015C1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18150" y="1038934"/>
              <a:ext cx="5200795" cy="441423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 descr="Equation: R sub t plus 1">
                  <a:extLst>
                    <a:ext uri="{FF2B5EF4-FFF2-40B4-BE49-F238E27FC236}">
                      <a16:creationId xmlns:a16="http://schemas.microsoft.com/office/drawing/2014/main" id="{125A7302-8A22-B180-53C3-BC6CC6CD4173}"/>
                    </a:ext>
                  </a:extLst>
                </p:cNvPr>
                <p:cNvSpPr txBox="1"/>
                <p:nvPr/>
              </p:nvSpPr>
              <p:spPr>
                <a:xfrm>
                  <a:off x="3702638" y="1750393"/>
                  <a:ext cx="566687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 descr="Equation: R sub t plus 1">
                  <a:extLst>
                    <a:ext uri="{FF2B5EF4-FFF2-40B4-BE49-F238E27FC236}">
                      <a16:creationId xmlns:a16="http://schemas.microsoft.com/office/drawing/2014/main" id="{125A7302-8A22-B180-53C3-BC6CC6CD4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2638" y="1750393"/>
                  <a:ext cx="566687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 descr="Equation: V(S sub t plus 1)">
                  <a:extLst>
                    <a:ext uri="{FF2B5EF4-FFF2-40B4-BE49-F238E27FC236}">
                      <a16:creationId xmlns:a16="http://schemas.microsoft.com/office/drawing/2014/main" id="{823ACA19-7483-1ABC-2CD2-F35C437F894F}"/>
                    </a:ext>
                  </a:extLst>
                </p:cNvPr>
                <p:cNvSpPr txBox="1"/>
                <p:nvPr/>
              </p:nvSpPr>
              <p:spPr>
                <a:xfrm>
                  <a:off x="3813207" y="2286791"/>
                  <a:ext cx="566687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 descr="Equation: V(S sub t plus 1)">
                  <a:extLst>
                    <a:ext uri="{FF2B5EF4-FFF2-40B4-BE49-F238E27FC236}">
                      <a16:creationId xmlns:a16="http://schemas.microsoft.com/office/drawing/2014/main" id="{823ACA19-7483-1ABC-2CD2-F35C437F89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3207" y="2286791"/>
                  <a:ext cx="566687" cy="276999"/>
                </a:xfrm>
                <a:prstGeom prst="rect">
                  <a:avLst/>
                </a:prstGeom>
                <a:blipFill>
                  <a:blip r:embed="rId4"/>
                  <a:stretch>
                    <a:fillRect r="-19565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 descr="Equation: V(S sub t)">
                  <a:extLst>
                    <a:ext uri="{FF2B5EF4-FFF2-40B4-BE49-F238E27FC236}">
                      <a16:creationId xmlns:a16="http://schemas.microsoft.com/office/drawing/2014/main" id="{F9A7E01B-3795-04F8-3F68-4BF896CF1A1B}"/>
                    </a:ext>
                  </a:extLst>
                </p:cNvPr>
                <p:cNvSpPr txBox="1"/>
                <p:nvPr/>
              </p:nvSpPr>
              <p:spPr>
                <a:xfrm>
                  <a:off x="3825437" y="1566995"/>
                  <a:ext cx="566687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120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 descr="Equation: V(S sub t)">
                  <a:extLst>
                    <a:ext uri="{FF2B5EF4-FFF2-40B4-BE49-F238E27FC236}">
                      <a16:creationId xmlns:a16="http://schemas.microsoft.com/office/drawing/2014/main" id="{F9A7E01B-3795-04F8-3F68-4BF896CF1A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5437" y="1566995"/>
                  <a:ext cx="566687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 descr="n -step TD Prediction">
                <a:extLst>
                  <a:ext uri="{FF2B5EF4-FFF2-40B4-BE49-F238E27FC236}">
                    <a16:creationId xmlns:a16="http://schemas.microsoft.com/office/drawing/2014/main" id="{AD3C032F-6175-705F-FE89-1EF9E650E71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-step TD Prediction </a:t>
                </a:r>
              </a:p>
            </p:txBody>
          </p:sp>
        </mc:Choice>
        <mc:Fallback xmlns="">
          <p:sp>
            <p:nvSpPr>
              <p:cNvPr id="2" name="Title 1" descr="n -step TD Prediction">
                <a:extLst>
                  <a:ext uri="{FF2B5EF4-FFF2-40B4-BE49-F238E27FC236}">
                    <a16:creationId xmlns:a16="http://schemas.microsoft.com/office/drawing/2014/main" id="{AD3C032F-6175-705F-FE89-1EF9E650E7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6"/>
                <a:stretch>
                  <a:fillRect l="-483" t="-19672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peech Bubble: Rectangle with Corners Rounded 13" descr="Update with reward R sub t plus 1 + bootstrap the remaining return G sub t plus 1 by the value of the next state V(S sub t plus 1)">
                <a:extLst>
                  <a:ext uri="{FF2B5EF4-FFF2-40B4-BE49-F238E27FC236}">
                    <a16:creationId xmlns:a16="http://schemas.microsoft.com/office/drawing/2014/main" id="{E5A035D4-82B1-F750-0FDC-9E3D1661FF92}"/>
                  </a:ext>
                </a:extLst>
              </p:cNvPr>
              <p:cNvSpPr/>
              <p:nvPr/>
            </p:nvSpPr>
            <p:spPr>
              <a:xfrm>
                <a:off x="754287" y="1755096"/>
                <a:ext cx="2157589" cy="1130593"/>
              </a:xfrm>
              <a:prstGeom prst="wedgeRoundRectCallout">
                <a:avLst>
                  <a:gd name="adj1" fmla="val 84571"/>
                  <a:gd name="adj2" fmla="val -22481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dirty="0"/>
                  <a:t>Update with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400" dirty="0"/>
                  <a:t> + bootstrap the remaining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400" dirty="0"/>
                  <a:t> by the value of the next state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.</a:t>
                </a:r>
              </a:p>
            </p:txBody>
          </p:sp>
        </mc:Choice>
        <mc:Fallback xmlns="">
          <p:sp>
            <p:nvSpPr>
              <p:cNvPr id="14" name="Speech Bubble: Rectangle with Corners Rounded 13" descr="Update with reward R sub t plus 1 + bootstrap the remaining return G sub t plus 1 by the value of the next state V(S sub t plus 1)">
                <a:extLst>
                  <a:ext uri="{FF2B5EF4-FFF2-40B4-BE49-F238E27FC236}">
                    <a16:creationId xmlns:a16="http://schemas.microsoft.com/office/drawing/2014/main" id="{E5A035D4-82B1-F750-0FDC-9E3D1661FF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287" y="1755096"/>
                <a:ext cx="2157589" cy="1130593"/>
              </a:xfrm>
              <a:prstGeom prst="wedgeRoundRectCallout">
                <a:avLst>
                  <a:gd name="adj1" fmla="val 84571"/>
                  <a:gd name="adj2" fmla="val -22481"/>
                  <a:gd name="adj3" fmla="val 16667"/>
                </a:avLst>
              </a:prstGeom>
              <a:blipFill>
                <a:blip r:embed="rId7"/>
                <a:stretch>
                  <a:fillRect t="-1596" b="-5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 descr="Brace annotation: Update with the whole sequence of observed rewards to no bootstrapping.">
            <a:extLst>
              <a:ext uri="{FF2B5EF4-FFF2-40B4-BE49-F238E27FC236}">
                <a16:creationId xmlns:a16="http://schemas.microsoft.com/office/drawing/2014/main" id="{A19657BF-07EC-5E16-0F8F-213FF5972E5E}"/>
              </a:ext>
            </a:extLst>
          </p:cNvPr>
          <p:cNvGrpSpPr/>
          <p:nvPr/>
        </p:nvGrpSpPr>
        <p:grpSpPr>
          <a:xfrm>
            <a:off x="7967513" y="1750393"/>
            <a:ext cx="3290513" cy="3460070"/>
            <a:chOff x="7967513" y="1750393"/>
            <a:chExt cx="3290513" cy="34600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Speech Bubble: Rectangle with Corners Rounded 14" descr="Update with the whole sequence of observed rewards to no bootstrapping">
                  <a:extLst>
                    <a:ext uri="{FF2B5EF4-FFF2-40B4-BE49-F238E27FC236}">
                      <a16:creationId xmlns:a16="http://schemas.microsoft.com/office/drawing/2014/main" id="{28550480-EEED-F900-3E4A-FF07C3F8AB94}"/>
                    </a:ext>
                  </a:extLst>
                </p:cNvPr>
                <p:cNvSpPr/>
                <p:nvPr/>
              </p:nvSpPr>
              <p:spPr>
                <a:xfrm>
                  <a:off x="8721949" y="2299895"/>
                  <a:ext cx="2536077" cy="894587"/>
                </a:xfrm>
                <a:prstGeom prst="wedgeRoundRectCallout">
                  <a:avLst>
                    <a:gd name="adj1" fmla="val -68504"/>
                    <a:gd name="adj2" fmla="val 79718"/>
                    <a:gd name="adj3" fmla="val 16667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400" dirty="0"/>
                    <a:t>Update with the whole sequence of observed rewards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400" dirty="0"/>
                    <a:t> no bootstrapping.</a:t>
                  </a:r>
                </a:p>
              </p:txBody>
            </p:sp>
          </mc:Choice>
          <mc:Fallback xmlns="">
            <p:sp>
              <p:nvSpPr>
                <p:cNvPr id="15" name="Speech Bubble: Rectangle with Corners Rounded 14" descr="Update with the whole sequence of observed rewards to no bootstrapping">
                  <a:extLst>
                    <a:ext uri="{FF2B5EF4-FFF2-40B4-BE49-F238E27FC236}">
                      <a16:creationId xmlns:a16="http://schemas.microsoft.com/office/drawing/2014/main" id="{28550480-EEED-F900-3E4A-FF07C3F8AB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1949" y="2299895"/>
                  <a:ext cx="2536077" cy="894587"/>
                </a:xfrm>
                <a:prstGeom prst="wedgeRoundRectCallout">
                  <a:avLst>
                    <a:gd name="adj1" fmla="val -68504"/>
                    <a:gd name="adj2" fmla="val 79718"/>
                    <a:gd name="adj3" fmla="val 16667"/>
                  </a:avLst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E3545678-D718-8AC1-2DDE-65A2B43393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67513" y="1750393"/>
              <a:ext cx="199063" cy="346007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 descr="Return Estimate. 1-step TD: G sub t:t plus 1, equals R sub t plus 1, plus gamma V(S sub t plus 1). 2-step TD: G sub t:t plus 2, equals R sub t plus 1, plus gamma R sub t plus 2, plus gamma squared V(S sub t plus 2). …. n -step TD: G sub t:t plus n, equals R sub t plus 1, plus gamma R sub t plus 2, plus dot dot dot plus gamma to the power n minus 1, R sub t plus n, plus gamma to the power n V (S sub t plus n). MC: G sub t equals R sub t plus 1, plus gamma R sub t plus 2, plus dot dot dot plus gamma to the power T minus t minus 1, R sub T. Update: V (S sub t) gets V (S sub t) plus alpha [G sub t:t plus n, minus V(S sub t)]">
                <a:extLst>
                  <a:ext uri="{FF2B5EF4-FFF2-40B4-BE49-F238E27FC236}">
                    <a16:creationId xmlns:a16="http://schemas.microsoft.com/office/drawing/2014/main" id="{E90DE811-595E-8CBB-4AEB-304DB735AFA9}"/>
                  </a:ext>
                </a:extLst>
              </p:cNvPr>
              <p:cNvSpPr txBox="1"/>
              <p:nvPr/>
            </p:nvSpPr>
            <p:spPr>
              <a:xfrm>
                <a:off x="637041" y="3868550"/>
                <a:ext cx="6376791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/>
                  <a:t>Return Estimate</a:t>
                </a:r>
              </a:p>
              <a:p>
                <a:r>
                  <a:rPr lang="en-US" sz="1600" b="0" dirty="0"/>
                  <a:t>1-step TD: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2-step TD: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…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/>
                  <a:t>-step TD: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/>
              </a:p>
              <a:p>
                <a:r>
                  <a:rPr lang="en-US" sz="1600" dirty="0"/>
                  <a:t>MC: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b="1" dirty="0"/>
                  <a:t>Update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 descr="Return Estimate. 1-step TD: G sub t:t plus 1, equals R sub t plus 1, plus gamma V(S sub t plus 1). 2-step TD: G sub t:t plus 2, equals R sub t plus 1, plus gamma R sub t plus 2, plus gamma squared V(S sub t plus 2). …. n -step TD: G sub t:t plus n, equals R sub t plus 1, plus gamma R sub t plus 2, plus dot dot dot plus gamma to the power n minus 1, R sub t plus n, plus gamma to the power n V (S sub t plus n). MC: G sub t equals R sub t plus 1, plus gamma R sub t plus 2, plus dot dot dot plus gamma to the power T minus t minus 1, R sub T. Update: V (S sub t) gets V (S sub t) plus alpha [G sub t:t plus n, minus V(S sub t)]">
                <a:extLst>
                  <a:ext uri="{FF2B5EF4-FFF2-40B4-BE49-F238E27FC236}">
                    <a16:creationId xmlns:a16="http://schemas.microsoft.com/office/drawing/2014/main" id="{E90DE811-595E-8CBB-4AEB-304DB735A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41" y="3868550"/>
                <a:ext cx="6376791" cy="2062103"/>
              </a:xfrm>
              <a:prstGeom prst="rect">
                <a:avLst/>
              </a:prstGeom>
              <a:blipFill>
                <a:blip r:embed="rId9"/>
                <a:stretch>
                  <a:fillRect l="-574" t="-888" b="-2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 descr="Notation. G sub t:t plus n … the n -step return is calculated from the rewards up to t plus n and the rest is bootstrapped using the value function">
                <a:extLst>
                  <a:ext uri="{FF2B5EF4-FFF2-40B4-BE49-F238E27FC236}">
                    <a16:creationId xmlns:a16="http://schemas.microsoft.com/office/drawing/2014/main" id="{9804826F-9AE8-BB0B-FA2E-3E36076ACC01}"/>
                  </a:ext>
                </a:extLst>
              </p:cNvPr>
              <p:cNvSpPr txBox="1"/>
              <p:nvPr/>
            </p:nvSpPr>
            <p:spPr>
              <a:xfrm>
                <a:off x="8837705" y="4141820"/>
                <a:ext cx="2362349" cy="1384995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1400" b="1" dirty="0"/>
                  <a:t>Notation</a:t>
                </a:r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400" dirty="0"/>
                  <a:t>  … the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400" dirty="0"/>
                  <a:t>-step return is calculated from the rewards up to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400" dirty="0"/>
                  <a:t> and the rest is bootstrapped using the value function.</a:t>
                </a:r>
              </a:p>
            </p:txBody>
          </p:sp>
        </mc:Choice>
        <mc:Fallback xmlns="">
          <p:sp>
            <p:nvSpPr>
              <p:cNvPr id="26" name="TextBox 25" descr="Notation. G sub t:t plus n … the n -step return is calculated from the rewards up to t plus n and the rest is bootstrapped using the value function">
                <a:extLst>
                  <a:ext uri="{FF2B5EF4-FFF2-40B4-BE49-F238E27FC236}">
                    <a16:creationId xmlns:a16="http://schemas.microsoft.com/office/drawing/2014/main" id="{9804826F-9AE8-BB0B-FA2E-3E36076AC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7705" y="4141820"/>
                <a:ext cx="2362349" cy="1384995"/>
              </a:xfrm>
              <a:prstGeom prst="rect">
                <a:avLst/>
              </a:prstGeom>
              <a:blipFill>
                <a:blip r:embed="rId10"/>
                <a:stretch>
                  <a:fillRect l="-513" r="-1026"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Speech Bubble: Rectangle with Corners Rounded 26" descr="The update needs G sub t:t plus n and is n steps delayed!">
                <a:extLst>
                  <a:ext uri="{FF2B5EF4-FFF2-40B4-BE49-F238E27FC236}">
                    <a16:creationId xmlns:a16="http://schemas.microsoft.com/office/drawing/2014/main" id="{3E3ADA8B-8A4F-3382-9E61-2CE86283C2FB}"/>
                  </a:ext>
                </a:extLst>
              </p:cNvPr>
              <p:cNvSpPr/>
              <p:nvPr/>
            </p:nvSpPr>
            <p:spPr>
              <a:xfrm>
                <a:off x="2680283" y="6126976"/>
                <a:ext cx="4009937" cy="319673"/>
              </a:xfrm>
              <a:prstGeom prst="wedgeRoundRectCallout">
                <a:avLst>
                  <a:gd name="adj1" fmla="val -31269"/>
                  <a:gd name="adj2" fmla="val -115663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dirty="0"/>
                  <a:t>The update needs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and is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400" dirty="0"/>
                  <a:t> steps delayed!</a:t>
                </a:r>
              </a:p>
            </p:txBody>
          </p:sp>
        </mc:Choice>
        <mc:Fallback xmlns="">
          <p:sp>
            <p:nvSpPr>
              <p:cNvPr id="27" name="Speech Bubble: Rectangle with Corners Rounded 26" descr="The update needs G sub t:t plus n and is n steps delayed!">
                <a:extLst>
                  <a:ext uri="{FF2B5EF4-FFF2-40B4-BE49-F238E27FC236}">
                    <a16:creationId xmlns:a16="http://schemas.microsoft.com/office/drawing/2014/main" id="{3E3ADA8B-8A4F-3382-9E61-2CE86283C2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283" y="6126976"/>
                <a:ext cx="4009937" cy="319673"/>
              </a:xfrm>
              <a:prstGeom prst="wedgeRoundRectCallout">
                <a:avLst>
                  <a:gd name="adj1" fmla="val -31269"/>
                  <a:gd name="adj2" fmla="val -115663"/>
                  <a:gd name="adj3" fmla="val 16667"/>
                </a:avLst>
              </a:prstGeom>
              <a:blipFill>
                <a:blip r:embed="rId11"/>
                <a:stretch>
                  <a:fillRect b="-7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68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 descr="Alg. n -step TD Prediction">
                <a:extLst>
                  <a:ext uri="{FF2B5EF4-FFF2-40B4-BE49-F238E27FC236}">
                    <a16:creationId xmlns:a16="http://schemas.microsoft.com/office/drawing/2014/main" id="{84016E2A-017B-E3E1-20B3-74045202D0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Alg.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-step TD Prediction</a:t>
                </a:r>
              </a:p>
            </p:txBody>
          </p:sp>
        </mc:Choice>
        <mc:Fallback xmlns="">
          <p:sp>
            <p:nvSpPr>
              <p:cNvPr id="2" name="Title 1" descr="Alg. n -step TD Prediction">
                <a:extLst>
                  <a:ext uri="{FF2B5EF4-FFF2-40B4-BE49-F238E27FC236}">
                    <a16:creationId xmlns:a16="http://schemas.microsoft.com/office/drawing/2014/main" id="{84016E2A-017B-E3E1-20B3-74045202D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20161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lgorithm box: n-step TD for estimating V ≈ v pi. Input: a policy pi. Algorithm parameters: step size alpha in (0, 1], a positive integer n. Initialize V(s) arbitrarily, for all s in S. All store and access operations (for S_t and R_t) can take their index mod n + 1. Loop for each episode: Initialize and store S_0 ≠ terminal; T ← infinity; Loop for t = 0, 1, 2, …: If t &lt; T, then: Take an action according to pi(· | S_t); Observe and store the next reward as R_t+1 and the next state as S_t+1; If S_t+1 is terminal, then T ← t + 1. tau ← t − n + 1 (tau is the time whose state's estimate is being updated). If tau ≥ 0: G ← sum from i = tau + 1 to min(tau + n, T) of gamma to the power i − tau − 1 times R_i; If tau + n &lt; T, then: G ← G + gamma to the n times V(S_tau+n), giving G_tau:tau+n; V(S_tau) ← V(S_tau) + alpha [G − V(S_tau)]. Until tau = T − 1.">
            <a:extLst>
              <a:ext uri="{FF2B5EF4-FFF2-40B4-BE49-F238E27FC236}">
                <a16:creationId xmlns:a16="http://schemas.microsoft.com/office/drawing/2014/main" id="{EC034EDA-40C7-0E1C-E97A-1D86B8964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110" y="1311069"/>
            <a:ext cx="7765780" cy="51818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43E6ED-89CE-1779-C4B7-7D54066D44FE}"/>
              </a:ext>
            </a:extLst>
          </p:cNvPr>
          <p:cNvSpPr txBox="1"/>
          <p:nvPr/>
        </p:nvSpPr>
        <p:spPr>
          <a:xfrm>
            <a:off x="4424253" y="4954746"/>
            <a:ext cx="36645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()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BE955289-DCEB-4971-C670-C936C2BF5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3152" y="3720372"/>
            <a:ext cx="1829957" cy="588954"/>
          </a:xfrm>
          <a:prstGeom prst="wedgeRoundRectCallout">
            <a:avLst>
              <a:gd name="adj1" fmla="val 107580"/>
              <a:gd name="adj2" fmla="val 11279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Detect the end of the episode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peech Bubble: Rectangle with Corners Rounded 11">
                <a:extLst>
                  <a:ext uri="{FF2B5EF4-FFF2-40B4-BE49-F238E27FC236}">
                    <a16:creationId xmlns:a16="http://schemas.microsoft.com/office/drawing/2014/main" id="{4914E5E8-E349-09FD-90D9-4EB3CD1EA1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09406" y="4760687"/>
                <a:ext cx="2003704" cy="786244"/>
              </a:xfrm>
              <a:prstGeom prst="wedgeRoundRectCallout">
                <a:avLst>
                  <a:gd name="adj1" fmla="val 91754"/>
                  <a:gd name="adj2" fmla="val 800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Start only when we can update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≥ 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Speech Bubble: Rectangle with Corners Rounded 11">
                <a:extLst>
                  <a:ext uri="{FF2B5EF4-FFF2-40B4-BE49-F238E27FC236}">
                    <a16:creationId xmlns:a16="http://schemas.microsoft.com/office/drawing/2014/main" id="{4914E5E8-E349-09FD-90D9-4EB3CD1EA1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06" y="4760687"/>
                <a:ext cx="2003704" cy="786244"/>
              </a:xfrm>
              <a:prstGeom prst="wedgeRoundRectCallout">
                <a:avLst>
                  <a:gd name="adj1" fmla="val 91754"/>
                  <a:gd name="adj2" fmla="val 800"/>
                  <a:gd name="adj3" fmla="val 16667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peech Bubble: Rectangle with Corners Rounded 12">
                <a:extLst>
                  <a:ext uri="{FF2B5EF4-FFF2-40B4-BE49-F238E27FC236}">
                    <a16:creationId xmlns:a16="http://schemas.microsoft.com/office/drawing/2014/main" id="{F26C6334-EC59-8CC4-D349-78BE5FEC6E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425988" y="5293300"/>
                <a:ext cx="2329544" cy="1258502"/>
              </a:xfrm>
              <a:prstGeom prst="wedgeRoundRectCallout">
                <a:avLst>
                  <a:gd name="adj1" fmla="val -73081"/>
                  <a:gd name="adj2" fmla="val -20962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Use bootstrapping if the episode is not over. </a:t>
                </a:r>
                <a:r>
                  <a:rPr lang="en-US" sz="1600" b="1" dirty="0"/>
                  <a:t>Note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 is called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in the equations! </a:t>
                </a:r>
              </a:p>
            </p:txBody>
          </p:sp>
        </mc:Choice>
        <mc:Fallback xmlns="">
          <p:sp>
            <p:nvSpPr>
              <p:cNvPr id="13" name="Speech Bubble: Rectangle with Corners Rounded 12">
                <a:extLst>
                  <a:ext uri="{FF2B5EF4-FFF2-40B4-BE49-F238E27FC236}">
                    <a16:creationId xmlns:a16="http://schemas.microsoft.com/office/drawing/2014/main" id="{F26C6334-EC59-8CC4-D349-78BE5FEC6E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5988" y="5293300"/>
                <a:ext cx="2329544" cy="1258502"/>
              </a:xfrm>
              <a:prstGeom prst="wedgeRoundRectCallout">
                <a:avLst>
                  <a:gd name="adj1" fmla="val -73081"/>
                  <a:gd name="adj2" fmla="val -20962"/>
                  <a:gd name="adj3" fmla="val 16667"/>
                </a:avLst>
              </a:prstGeom>
              <a:blipFill>
                <a:blip r:embed="rId5"/>
                <a:stretch>
                  <a:fillRect t="-2970" b="-7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peech Bubble: Rectangle with Corners Rounded 13">
                <a:extLst>
                  <a:ext uri="{FF2B5EF4-FFF2-40B4-BE49-F238E27FC236}">
                    <a16:creationId xmlns:a16="http://schemas.microsoft.com/office/drawing/2014/main" id="{203B6702-D9F1-9CDF-DE51-C7708AD22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92308" y="5702958"/>
                <a:ext cx="1920802" cy="645376"/>
              </a:xfrm>
              <a:prstGeom prst="wedgeRoundRectCallout">
                <a:avLst>
                  <a:gd name="adj1" fmla="val 104922"/>
                  <a:gd name="adj2" fmla="val -26729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The update is delayed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/>
                  <a:t> steps</a:t>
                </a:r>
              </a:p>
            </p:txBody>
          </p:sp>
        </mc:Choice>
        <mc:Fallback xmlns="">
          <p:sp>
            <p:nvSpPr>
              <p:cNvPr id="14" name="Speech Bubble: Rectangle with Corners Rounded 13">
                <a:extLst>
                  <a:ext uri="{FF2B5EF4-FFF2-40B4-BE49-F238E27FC236}">
                    <a16:creationId xmlns:a16="http://schemas.microsoft.com/office/drawing/2014/main" id="{203B6702-D9F1-9CDF-DE51-C7708AD22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08" y="5702958"/>
                <a:ext cx="1920802" cy="645376"/>
              </a:xfrm>
              <a:prstGeom prst="wedgeRoundRectCallout">
                <a:avLst>
                  <a:gd name="adj1" fmla="val 104922"/>
                  <a:gd name="adj2" fmla="val -26729"/>
                  <a:gd name="adj3" fmla="val 16667"/>
                </a:avLst>
              </a:prstGeom>
              <a:blipFill>
                <a:blip r:embed="rId6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DE859F95-A5C2-CE37-B3D7-5DC8E7DDC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986271" y="4309326"/>
            <a:ext cx="2365690" cy="1216727"/>
            <a:chOff x="9986271" y="4309326"/>
            <a:chExt cx="2365690" cy="1216727"/>
          </a:xfrm>
        </p:grpSpPr>
        <p:grpSp>
          <p:nvGrpSpPr>
            <p:cNvPr id="18" name="Group 17" descr="Time line: an arrow with tau on the left and t on the right, with a brace over the n steps between them.">
              <a:extLst>
                <a:ext uri="{FF2B5EF4-FFF2-40B4-BE49-F238E27FC236}">
                  <a16:creationId xmlns:a16="http://schemas.microsoft.com/office/drawing/2014/main" id="{6BD81C03-2FFC-3430-6A96-CC215F8CB002}"/>
                </a:ext>
              </a:extLst>
            </p:cNvPr>
            <p:cNvGrpSpPr/>
            <p:nvPr/>
          </p:nvGrpSpPr>
          <p:grpSpPr>
            <a:xfrm>
              <a:off x="9986271" y="4309326"/>
              <a:ext cx="1996323" cy="913879"/>
              <a:chOff x="10044440" y="1032968"/>
              <a:chExt cx="1996323" cy="913879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D8B9856B-B3C4-5BCC-42AC-811D84A88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44440" y="1577515"/>
                <a:ext cx="1996323" cy="0"/>
              </a:xfrm>
              <a:prstGeom prst="line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 descr="Equation: t">
                    <a:extLst>
                      <a:ext uri="{FF2B5EF4-FFF2-40B4-BE49-F238E27FC236}">
                        <a16:creationId xmlns:a16="http://schemas.microsoft.com/office/drawing/2014/main" id="{44A9B8B8-C293-91A1-01EB-1F759EBE74C9}"/>
                      </a:ext>
                    </a:extLst>
                  </p:cNvPr>
                  <p:cNvSpPr txBox="1"/>
                  <p:nvPr/>
                </p:nvSpPr>
                <p:spPr>
                  <a:xfrm>
                    <a:off x="11437576" y="1577515"/>
                    <a:ext cx="37692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" name="TextBox 7" descr="Equation: t">
                    <a:extLst>
                      <a:ext uri="{FF2B5EF4-FFF2-40B4-BE49-F238E27FC236}">
                        <a16:creationId xmlns:a16="http://schemas.microsoft.com/office/drawing/2014/main" id="{44A9B8B8-C293-91A1-01EB-1F759EBE74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37576" y="1577515"/>
                    <a:ext cx="376929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 descr="Equation: tau">
                    <a:extLst>
                      <a:ext uri="{FF2B5EF4-FFF2-40B4-BE49-F238E27FC236}">
                        <a16:creationId xmlns:a16="http://schemas.microsoft.com/office/drawing/2014/main" id="{D60D0466-EF57-5F71-0C88-02AB91FDD90D}"/>
                      </a:ext>
                    </a:extLst>
                  </p:cNvPr>
                  <p:cNvSpPr txBox="1"/>
                  <p:nvPr/>
                </p:nvSpPr>
                <p:spPr>
                  <a:xfrm>
                    <a:off x="10044440" y="1577515"/>
                    <a:ext cx="37692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 descr="Equation: tau">
                    <a:extLst>
                      <a:ext uri="{FF2B5EF4-FFF2-40B4-BE49-F238E27FC236}">
                        <a16:creationId xmlns:a16="http://schemas.microsoft.com/office/drawing/2014/main" id="{D60D0466-EF57-5F71-0C88-02AB91FDD9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44440" y="1577515"/>
                    <a:ext cx="376929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 descr="n steps">
                    <a:extLst>
                      <a:ext uri="{FF2B5EF4-FFF2-40B4-BE49-F238E27FC236}">
                        <a16:creationId xmlns:a16="http://schemas.microsoft.com/office/drawing/2014/main" id="{CA6A7031-056F-EB6D-642F-809EE4320E9D}"/>
                      </a:ext>
                    </a:extLst>
                  </p:cNvPr>
                  <p:cNvSpPr txBox="1"/>
                  <p:nvPr/>
                </p:nvSpPr>
                <p:spPr>
                  <a:xfrm>
                    <a:off x="10416206" y="1032968"/>
                    <a:ext cx="111129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  <a:r>
                      <a:rPr lang="en-US" dirty="0"/>
                      <a:t> steps</a:t>
                    </a:r>
                  </a:p>
                </p:txBody>
              </p:sp>
            </mc:Choice>
            <mc:Fallback xmlns="">
              <p:sp>
                <p:nvSpPr>
                  <p:cNvPr id="15" name="TextBox 14" descr="n steps">
                    <a:extLst>
                      <a:ext uri="{FF2B5EF4-FFF2-40B4-BE49-F238E27FC236}">
                        <a16:creationId xmlns:a16="http://schemas.microsoft.com/office/drawing/2014/main" id="{CA6A7031-056F-EB6D-642F-809EE4320E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16206" y="1032968"/>
                    <a:ext cx="1111291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8333" b="-2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Right Brace 15">
                <a:extLst>
                  <a:ext uri="{FF2B5EF4-FFF2-40B4-BE49-F238E27FC236}">
                    <a16:creationId xmlns:a16="http://schemas.microsoft.com/office/drawing/2014/main" id="{DF1F0B09-177D-1C23-8922-13B60D4726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6200000">
                <a:off x="10847163" y="722444"/>
                <a:ext cx="146575" cy="1416969"/>
              </a:xfrm>
              <a:prstGeom prst="righ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 descr="Observed Rs plus V(S sub t)">
                  <a:extLst>
                    <a:ext uri="{FF2B5EF4-FFF2-40B4-BE49-F238E27FC236}">
                      <a16:creationId xmlns:a16="http://schemas.microsoft.com/office/drawing/2014/main" id="{ABD183B9-C0A7-1967-D463-484C00285B8B}"/>
                    </a:ext>
                  </a:extLst>
                </p:cNvPr>
                <p:cNvSpPr txBox="1"/>
                <p:nvPr/>
              </p:nvSpPr>
              <p:spPr>
                <a:xfrm>
                  <a:off x="10355638" y="5218276"/>
                  <a:ext cx="199632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Observed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9" name="TextBox 18" descr="Observed Rs plus V(S sub t)">
                  <a:extLst>
                    <a:ext uri="{FF2B5EF4-FFF2-40B4-BE49-F238E27FC236}">
                      <a16:creationId xmlns:a16="http://schemas.microsoft.com/office/drawing/2014/main" id="{ABD183B9-C0A7-1967-D463-484C00285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5638" y="5218276"/>
                  <a:ext cx="1996323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917" t="-3922" b="-196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65712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34AF4-4767-BE73-5248-2A894D1A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Error Reduction Property and Convergence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C0AB8C-EE24-D6EE-CD41-08A2D933C6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466" y="3606799"/>
                <a:ext cx="10515600" cy="188897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Explanation</a:t>
                </a:r>
                <a:r>
                  <a:rPr lang="en-US" sz="1800" dirty="0"/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/>
              </a:p>
              <a:p>
                <a:r>
                  <a:rPr lang="en-US" sz="1800" dirty="0"/>
                  <a:t>The averages of observed rewards have in expectation no error (are unbiased).</a:t>
                </a:r>
              </a:p>
              <a:p>
                <a:r>
                  <a:rPr lang="en-US" sz="1800" dirty="0"/>
                  <a:t>The impact of the error-prone bootstrap estimate is smaller because it is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 time steps away and thus discounted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dirty="0"/>
                  <a:t> (related to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800" dirty="0"/>
                  <a:t>-contracting property of Bellman updates).</a:t>
                </a:r>
              </a:p>
              <a:p>
                <a:r>
                  <a:rPr lang="en-US" sz="1800" dirty="0"/>
                  <a:t>Expectation just means we need many estimates (= use many episodes)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C0AB8C-EE24-D6EE-CD41-08A2D933C6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466" y="3606799"/>
                <a:ext cx="10515600" cy="1888979"/>
              </a:xfrm>
              <a:blipFill>
                <a:blip r:embed="rId2"/>
                <a:stretch>
                  <a:fillRect l="-464" t="-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D9954E-8BC2-1D59-59D7-361BEEF7AC40}"/>
                  </a:ext>
                </a:extLst>
              </p:cNvPr>
              <p:cNvSpPr txBox="1"/>
              <p:nvPr/>
            </p:nvSpPr>
            <p:spPr>
              <a:xfrm>
                <a:off x="2072082" y="1252872"/>
                <a:ext cx="7743038" cy="2033827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2000" b="1" dirty="0"/>
                  <a:t>Error Reduction Property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000" b="1" dirty="0"/>
                  <a:t>-step Returns 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The expected value of n-step returns is always better than the current approximation (for the worst state).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D9954E-8BC2-1D59-59D7-361BEEF7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082" y="1252872"/>
                <a:ext cx="7743038" cy="2033827"/>
              </a:xfrm>
              <a:prstGeom prst="rect">
                <a:avLst/>
              </a:prstGeom>
              <a:blipFill>
                <a:blip r:embed="rId3"/>
                <a:stretch>
                  <a:fillRect l="-786" t="-1190" r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5E86A9-F4CE-EE45-120B-538532B55D95}"/>
                  </a:ext>
                </a:extLst>
              </p:cNvPr>
              <p:cNvSpPr txBox="1"/>
              <p:nvPr/>
            </p:nvSpPr>
            <p:spPr>
              <a:xfrm>
                <a:off x="2072082" y="5689862"/>
                <a:ext cx="7743038" cy="400110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Implication: All </a:t>
                </a:r>
                <a14:m>
                  <m:oMath xmlns:m="http://schemas.openxmlformats.org/officeDocument/2006/math"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-step methods (including 1-step and MC) converge!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5E86A9-F4CE-EE45-120B-538532B55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082" y="5689862"/>
                <a:ext cx="7743038" cy="400110"/>
              </a:xfrm>
              <a:prstGeom prst="rect">
                <a:avLst/>
              </a:prstGeom>
              <a:blipFill>
                <a:blip r:embed="rId4"/>
                <a:stretch>
                  <a:fillRect t="-4348" b="-23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09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BE528-C1DE-F2F1-563E-D757ECA4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Bias-Variance Tradeoff in RL</a:t>
            </a:r>
          </a:p>
        </p:txBody>
      </p:sp>
      <p:graphicFrame>
        <p:nvGraphicFramePr>
          <p:cNvPr id="4" name="Table 3" descr="Table with 4 rows and 3 columns. Column headers: Method, Bias of Estimate, Variance of Estimate. Row 1: MC, No bias: G sub t is an unbiased sample, High: difference between sample returns; falls with sample size. Row 2: n -step, Increased bias, Reduced. Row 3: TD, High bias: G sub t is bootstrapped; falls when getting close to the optimal value function, Low: only one reward is sampled.">
            <a:extLst>
              <a:ext uri="{FF2B5EF4-FFF2-40B4-BE49-F238E27FC236}">
                <a16:creationId xmlns:a16="http://schemas.microsoft.com/office/drawing/2014/main" id="{312CB263-077E-07CB-B5DD-A047F2822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467832"/>
              </p:ext>
            </p:extLst>
          </p:nvPr>
        </p:nvGraphicFramePr>
        <p:xfrm>
          <a:off x="1070490" y="3753134"/>
          <a:ext cx="10051019" cy="2470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390">
                  <a:extLst>
                    <a:ext uri="{9D8B030D-6E8A-4147-A177-3AD203B41FA5}">
                      <a16:colId xmlns:a16="http://schemas.microsoft.com/office/drawing/2014/main" val="585080336"/>
                    </a:ext>
                  </a:extLst>
                </a:gridCol>
                <a:gridCol w="4664531">
                  <a:extLst>
                    <a:ext uri="{9D8B030D-6E8A-4147-A177-3AD203B41FA5}">
                      <a16:colId xmlns:a16="http://schemas.microsoft.com/office/drawing/2014/main" val="1752107938"/>
                    </a:ext>
                  </a:extLst>
                </a:gridCol>
                <a:gridCol w="4062098">
                  <a:extLst>
                    <a:ext uri="{9D8B030D-6E8A-4147-A177-3AD203B41FA5}">
                      <a16:colId xmlns:a16="http://schemas.microsoft.com/office/drawing/2014/main" val="3538857757"/>
                    </a:ext>
                  </a:extLst>
                </a:gridCol>
              </a:tblGrid>
              <a:tr h="418041">
                <a:tc>
                  <a:txBody>
                    <a:bodyPr/>
                    <a:lstStyle/>
                    <a:p>
                      <a:r>
                        <a:rPr lang="en-US" sz="20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Variance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016133"/>
                  </a:ext>
                </a:extLst>
              </a:tr>
              <a:tr h="13301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Unbiased – </a:t>
                      </a:r>
                      <a:r>
                        <a:rPr lang="en-US" sz="2000" dirty="0"/>
                        <a:t>only uses actual observed rewards.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High - </a:t>
                      </a:r>
                      <a:r>
                        <a:rPr lang="en-US" sz="2000" dirty="0"/>
                        <a:t>accumulating rewards across long, stochastic trajectories creates massive fluctuations.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207269"/>
                  </a:ext>
                </a:extLst>
              </a:tr>
              <a:tr h="7220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High - </a:t>
                      </a:r>
                      <a:r>
                        <a:rPr lang="en-US" sz="2000" b="0" dirty="0"/>
                        <a:t> bootstrapping uses </a:t>
                      </a:r>
                      <a:r>
                        <a:rPr lang="en-US" sz="2000" dirty="0"/>
                        <a:t>outdated value estimates for the next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Lower - </a:t>
                      </a:r>
                      <a:r>
                        <a:rPr lang="en-US" sz="2000" dirty="0"/>
                        <a:t>looking only one step ahead shrinks the variance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062867"/>
                  </a:ext>
                </a:extLst>
              </a:tr>
            </a:tbl>
          </a:graphicData>
        </a:graphic>
      </p:graphicFrame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18BCD2A-BFE6-F180-0184-EE2B45D90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331"/>
            <a:ext cx="10515600" cy="2355803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b="1" dirty="0"/>
              <a:t>Bias:</a:t>
            </a:r>
            <a:r>
              <a:rPr lang="en-US" dirty="0"/>
              <a:t> The error that occurs when an estimator systematically deviates from the true expected value. High bias means the target relies on a guess or bootstrapped estimate rather than actual ground truth. </a:t>
            </a:r>
          </a:p>
          <a:p>
            <a:pPr lvl="0"/>
            <a:r>
              <a:rPr lang="en-US" b="1" dirty="0"/>
              <a:t>Variance:</a:t>
            </a:r>
            <a:r>
              <a:rPr lang="en-US" dirty="0"/>
              <a:t> How much the value or return estimate fluctuates due to the randomness (stochasticity) of trajectories, actions, and environments. High variance means a small change in sample episodes leads to wildly different updates.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111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 descr="n -step Control: Sarsa">
                <a:extLst>
                  <a:ext uri="{FF2B5EF4-FFF2-40B4-BE49-F238E27FC236}">
                    <a16:creationId xmlns:a16="http://schemas.microsoft.com/office/drawing/2014/main" id="{C0944D32-5F67-3759-0E01-9E6ED1636AF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-step Control: Sarsa</a:t>
                </a:r>
              </a:p>
            </p:txBody>
          </p:sp>
        </mc:Choice>
        <mc:Fallback xmlns="">
          <p:sp>
            <p:nvSpPr>
              <p:cNvPr id="4" name="Title 3" descr="n -step Control: Sarsa">
                <a:extLst>
                  <a:ext uri="{FF2B5EF4-FFF2-40B4-BE49-F238E27FC236}">
                    <a16:creationId xmlns:a16="http://schemas.microsoft.com/office/drawing/2014/main" id="{C0944D32-5F67-3759-0E01-9E6ED1636A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4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 descr="On-Policy learning using n -step return estimates">
                <a:extLst>
                  <a:ext uri="{FF2B5EF4-FFF2-40B4-BE49-F238E27FC236}">
                    <a16:creationId xmlns:a16="http://schemas.microsoft.com/office/drawing/2014/main" id="{D8BFD2D0-399A-1A99-8CB8-AA18E396C95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On-Policy learning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-step return estimates.</a:t>
                </a:r>
              </a:p>
            </p:txBody>
          </p:sp>
        </mc:Choice>
        <mc:Fallback xmlns="">
          <p:sp>
            <p:nvSpPr>
              <p:cNvPr id="5" name="Text Placeholder 4" descr="On-Policy learning using n -step return estimates">
                <a:extLst>
                  <a:ext uri="{FF2B5EF4-FFF2-40B4-BE49-F238E27FC236}">
                    <a16:creationId xmlns:a16="http://schemas.microsoft.com/office/drawing/2014/main" id="{D8BFD2D0-399A-1A99-8CB8-AA18E396C9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870" t="-52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351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 descr="n -step Sarsa">
                <a:extLst>
                  <a:ext uri="{FF2B5EF4-FFF2-40B4-BE49-F238E27FC236}">
                    <a16:creationId xmlns:a16="http://schemas.microsoft.com/office/drawing/2014/main" id="{2FF0FE0E-E041-84BE-0F39-AE6BA8D2874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-step Sarsa</a:t>
                </a:r>
              </a:p>
            </p:txBody>
          </p:sp>
        </mc:Choice>
        <mc:Fallback xmlns="">
          <p:sp>
            <p:nvSpPr>
              <p:cNvPr id="2" name="Title 1" descr="n -step Sarsa">
                <a:extLst>
                  <a:ext uri="{FF2B5EF4-FFF2-40B4-BE49-F238E27FC236}">
                    <a16:creationId xmlns:a16="http://schemas.microsoft.com/office/drawing/2014/main" id="{2FF0FE0E-E041-84BE-0F39-AE6BA8D28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0161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peech Bubble: Rectangle with Corners Rounded 3">
                <a:extLst>
                  <a:ext uri="{FF2B5EF4-FFF2-40B4-BE49-F238E27FC236}">
                    <a16:creationId xmlns:a16="http://schemas.microsoft.com/office/drawing/2014/main" id="{FC23A07C-A168-39B7-4E5B-CB74A33475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5554656" y="321312"/>
                <a:ext cx="2327171" cy="818358"/>
              </a:xfrm>
              <a:prstGeom prst="wedgeRoundRectCallout">
                <a:avLst>
                  <a:gd name="adj1" fmla="val 44338"/>
                  <a:gd name="adj2" fmla="val 81297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/>
                  <a:t>Note</a:t>
                </a:r>
                <a:r>
                  <a:rPr lang="en-US" sz="1200" dirty="0"/>
                  <a:t>: (0) is not the number of steps but means that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200" dirty="0"/>
                  <a:t>. We will learn about eligibility traces later.</a:t>
                </a:r>
              </a:p>
            </p:txBody>
          </p:sp>
        </mc:Choice>
        <mc:Fallback xmlns="">
          <p:sp>
            <p:nvSpPr>
              <p:cNvPr id="4" name="Speech Bubble: Rectangle with Corners Rounded 3">
                <a:extLst>
                  <a:ext uri="{FF2B5EF4-FFF2-40B4-BE49-F238E27FC236}">
                    <a16:creationId xmlns:a16="http://schemas.microsoft.com/office/drawing/2014/main" id="{FC23A07C-A168-39B7-4E5B-CB74A33475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656" y="321312"/>
                <a:ext cx="2327171" cy="818358"/>
              </a:xfrm>
              <a:prstGeom prst="wedgeRoundRectCallout">
                <a:avLst>
                  <a:gd name="adj1" fmla="val 44338"/>
                  <a:gd name="adj2" fmla="val 81297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Generalized policy iteration with action values: an evaluation arrow from pi to Q, labelled Q goes to q pi, and an improvement arrow from Q back to pi, labelled pi goes to greedy(Q). Labels: GPI; pi squiggly right arrow epsilon minus greedy(Q); n -step TD prediction.">
            <a:extLst>
              <a:ext uri="{FF2B5EF4-FFF2-40B4-BE49-F238E27FC236}">
                <a16:creationId xmlns:a16="http://schemas.microsoft.com/office/drawing/2014/main" id="{720993E9-4E86-02DE-66E1-B419B2709FF9}"/>
              </a:ext>
            </a:extLst>
          </p:cNvPr>
          <p:cNvGrpSpPr/>
          <p:nvPr/>
        </p:nvGrpSpPr>
        <p:grpSpPr>
          <a:xfrm>
            <a:off x="9576769" y="176093"/>
            <a:ext cx="2420910" cy="2140608"/>
            <a:chOff x="9576769" y="176093"/>
            <a:chExt cx="2420910" cy="2140608"/>
          </a:xfrm>
        </p:grpSpPr>
        <p:grpSp>
          <p:nvGrpSpPr>
            <p:cNvPr id="6" name="Group 5" descr="Generalized policy iteration with action values: an evaluation arrow from pi to Q, labelled Q goes to q pi, and an improvement arrow from Q back to pi, labelled pi goes to greedy(Q). Labels: GPI.">
              <a:extLst>
                <a:ext uri="{FF2B5EF4-FFF2-40B4-BE49-F238E27FC236}">
                  <a16:creationId xmlns:a16="http://schemas.microsoft.com/office/drawing/2014/main" id="{9B1A94A5-7EE7-37CC-E728-AF66A80A33AA}"/>
                </a:ext>
              </a:extLst>
            </p:cNvPr>
            <p:cNvGrpSpPr/>
            <p:nvPr/>
          </p:nvGrpSpPr>
          <p:grpSpPr>
            <a:xfrm>
              <a:off x="9576769" y="204828"/>
              <a:ext cx="2310430" cy="2111873"/>
              <a:chOff x="8990601" y="218543"/>
              <a:chExt cx="3001301" cy="2828670"/>
            </a:xfrm>
          </p:grpSpPr>
          <p:pic>
            <p:nvPicPr>
              <p:cNvPr id="11" name="Content Placeholder 4" descr="Generalized policy iteration with action values: an evaluation arrow from pi to Q, labelled Q goes to q pi, and an improvement arrow from Q back to pi, labelled pi goes to greedy(Q).">
                <a:extLst>
                  <a:ext uri="{FF2B5EF4-FFF2-40B4-BE49-F238E27FC236}">
                    <a16:creationId xmlns:a16="http://schemas.microsoft.com/office/drawing/2014/main" id="{BF760BA3-F830-BA0D-4894-05F51EBE69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90601" y="218543"/>
                <a:ext cx="2936007" cy="282867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36AB597-F7B2-20CF-B4CE-D97C11B92DBA}"/>
                  </a:ext>
                </a:extLst>
              </p:cNvPr>
              <p:cNvSpPr txBox="1"/>
              <p:nvPr/>
            </p:nvSpPr>
            <p:spPr>
              <a:xfrm>
                <a:off x="10107262" y="1309193"/>
                <a:ext cx="687748" cy="453464"/>
              </a:xfrm>
              <a:prstGeom prst="rect">
                <a:avLst/>
              </a:prstGeom>
              <a:solidFill>
                <a:srgbClr val="C35115"/>
              </a:solidFill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GPI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EF051C9-DDCC-7485-1E4C-E964BDF6AC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990601" y="218543"/>
                <a:ext cx="3001301" cy="2727081"/>
              </a:xfrm>
              <a:prstGeom prst="rect">
                <a:avLst/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555E4A-A866-1530-A9FD-F8FF4073B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088381" y="242303"/>
              <a:ext cx="1304144" cy="188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99A1598-3094-4269-64F8-0D5E916C2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96205" y="1556334"/>
              <a:ext cx="978962" cy="171999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 descr="Equation: pi squiggly right arrow epsilon minus greedy(Q)">
                  <a:extLst>
                    <a:ext uri="{FF2B5EF4-FFF2-40B4-BE49-F238E27FC236}">
                      <a16:creationId xmlns:a16="http://schemas.microsoft.com/office/drawing/2014/main" id="{267EF7DE-A275-31E2-A378-8EF79253A2DA}"/>
                    </a:ext>
                  </a:extLst>
                </p:cNvPr>
                <p:cNvSpPr txBox="1"/>
                <p:nvPr/>
              </p:nvSpPr>
              <p:spPr>
                <a:xfrm>
                  <a:off x="9777369" y="1338544"/>
                  <a:ext cx="173356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US" sz="12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⇝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m:rPr>
                            <m:nor/>
                          </m:rPr>
                          <a:rPr lang="en-US" sz="1200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−greedy</m:t>
                        </m:r>
                        <m:r>
                          <a:rPr lang="en-US" sz="12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2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 descr="Equation: pi squiggly right arrow epsilon minus greedy(Q)">
                  <a:extLst>
                    <a:ext uri="{FF2B5EF4-FFF2-40B4-BE49-F238E27FC236}">
                      <a16:creationId xmlns:a16="http://schemas.microsoft.com/office/drawing/2014/main" id="{267EF7DE-A275-31E2-A378-8EF79253A2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7369" y="1338544"/>
                  <a:ext cx="1733565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 descr="n -step TD prediction">
                  <a:extLst>
                    <a:ext uri="{FF2B5EF4-FFF2-40B4-BE49-F238E27FC236}">
                      <a16:creationId xmlns:a16="http://schemas.microsoft.com/office/drawing/2014/main" id="{B1529777-63A6-40DE-C0AC-7D83854B3AD2}"/>
                    </a:ext>
                  </a:extLst>
                </p:cNvPr>
                <p:cNvSpPr txBox="1"/>
                <p:nvPr/>
              </p:nvSpPr>
              <p:spPr>
                <a:xfrm>
                  <a:off x="9576769" y="176093"/>
                  <a:ext cx="24209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en-US" b="1" dirty="0">
                      <a:solidFill>
                        <a:schemeClr val="accent3"/>
                      </a:solidFill>
                    </a:rPr>
                    <a:t>-step TD prediction</a:t>
                  </a:r>
                </a:p>
              </p:txBody>
            </p:sp>
          </mc:Choice>
          <mc:Fallback xmlns="">
            <p:sp>
              <p:nvSpPr>
                <p:cNvPr id="10" name="TextBox 9" descr="n -step TD prediction">
                  <a:extLst>
                    <a:ext uri="{FF2B5EF4-FFF2-40B4-BE49-F238E27FC236}">
                      <a16:creationId xmlns:a16="http://schemas.microsoft.com/office/drawing/2014/main" id="{B1529777-63A6-40DE-C0AC-7D83854B3A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6769" y="176093"/>
                  <a:ext cx="2420910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8333" b="-2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 descr="Original Sarsa is called one-step Sarsa or Sarsa(0). n -step Sarsa. On policy: The policy needs to keep exploring (e.g., an epsilon -greedy policy). Should probably be called Sarrrrr...rsa with n rs. n -step return estimate used as the target (redefined using Q):. G sub t:t plus n, equals R sub t plus 1, plus gamma R sub t plus 2, plus dot dot dot plus gamma to the power n minus 1, R sub t plus n, plus gamma to the power n Q (S sub t plus n,A sub t plus n). Update rule:. Q (S sub t,A sub t) gets Q (S sub t,A sub t) plus alpha [G sub t:t plus n, minus Q (S sub t,A sub t)]">
                <a:extLst>
                  <a:ext uri="{FF2B5EF4-FFF2-40B4-BE49-F238E27FC236}">
                    <a16:creationId xmlns:a16="http://schemas.microsoft.com/office/drawing/2014/main" id="{9B66D976-5489-1CA0-FBD4-D8ED85B168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7331"/>
                <a:ext cx="10515600" cy="456126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Original Sarsa is called one-step Sarsa or Sarsa(0)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dirty="0"/>
                  <a:t>-step Sarsa</a:t>
                </a:r>
              </a:p>
              <a:p>
                <a:pPr lvl="1"/>
                <a:r>
                  <a:rPr lang="en-US" b="1" dirty="0"/>
                  <a:t>On policy</a:t>
                </a:r>
                <a:r>
                  <a:rPr lang="en-US" dirty="0"/>
                  <a:t>: The policy needs to keep exploring (e.g., 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-greedy policy)</a:t>
                </a:r>
              </a:p>
              <a:p>
                <a:pPr lvl="1"/>
                <a:r>
                  <a:rPr lang="en-US" dirty="0"/>
                  <a:t>Should probably be called </a:t>
                </a:r>
                <a:r>
                  <a:rPr lang="en-US" dirty="0" err="1"/>
                  <a:t>Sarrrrr</a:t>
                </a:r>
                <a:r>
                  <a:rPr lang="en-US" dirty="0"/>
                  <a:t>...</a:t>
                </a:r>
                <a:r>
                  <a:rPr lang="en-US" dirty="0" err="1"/>
                  <a:t>rsa</a:t>
                </a:r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rs</a:t>
                </a:r>
                <a:r>
                  <a:rPr lang="en-US" dirty="0"/>
                  <a:t>.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-step return estimate used as the target (redefined using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en-US" dirty="0"/>
                  <a:t>Update rule:</a:t>
                </a:r>
                <a:endParaRPr lang="en-US" baseline="-25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 descr="Original Sarsa is called one-step Sarsa or Sarsa(0). n -step Sarsa. On policy: The policy needs to keep exploring (e.g., an epsilon -greedy policy). Should probably be called Sarrrrr...rsa with n rs. n -step return estimate used as the target (redefined using Q):. G sub t:t plus n, equals R sub t plus 1, plus gamma R sub t plus 2, plus dot dot dot plus gamma to the power n minus 1, R sub t plus n, plus gamma to the power n Q (S sub t plus n,A sub t plus n). Update rule:. Q (S sub t,A sub t) gets Q (S sub t,A sub t) plus alpha [G sub t:t plus n, minus Q (S sub t,A sub t)]">
                <a:extLst>
                  <a:ext uri="{FF2B5EF4-FFF2-40B4-BE49-F238E27FC236}">
                    <a16:creationId xmlns:a16="http://schemas.microsoft.com/office/drawing/2014/main" id="{9B66D976-5489-1CA0-FBD4-D8ED85B168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7331"/>
                <a:ext cx="10515600" cy="4561260"/>
              </a:xfrm>
              <a:blipFill>
                <a:blip r:embed="rId8"/>
                <a:stretch>
                  <a:fillRect l="-1217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BF7655E7-BCC7-BD82-23F6-1FC9C85D7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44917" y="3367331"/>
            <a:ext cx="2260166" cy="621260"/>
          </a:xfrm>
          <a:prstGeom prst="wedgeRoundRectCallout">
            <a:avLst>
              <a:gd name="adj1" fmla="val -29738"/>
              <a:gd name="adj2" fmla="val 7580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This is the extra action Sarsa need.</a:t>
            </a:r>
          </a:p>
        </p:txBody>
      </p:sp>
    </p:spTree>
    <p:extLst>
      <p:ext uri="{BB962C8B-B14F-4D97-AF65-F5344CB8AC3E}">
        <p14:creationId xmlns:p14="http://schemas.microsoft.com/office/powerpoint/2010/main" val="2428545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 descr="Speedup of n -step Sarsa">
                <a:extLst>
                  <a:ext uri="{FF2B5EF4-FFF2-40B4-BE49-F238E27FC236}">
                    <a16:creationId xmlns:a16="http://schemas.microsoft.com/office/drawing/2014/main" id="{83C4D17A-69EF-11E4-BED6-7D19667C991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Speedup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-step Sarsa</a:t>
                </a:r>
              </a:p>
            </p:txBody>
          </p:sp>
        </mc:Choice>
        <mc:Fallback xmlns="">
          <p:sp>
            <p:nvSpPr>
              <p:cNvPr id="2" name="Title 1" descr="Speedup of n -step Sarsa">
                <a:extLst>
                  <a:ext uri="{FF2B5EF4-FFF2-40B4-BE49-F238E27FC236}">
                    <a16:creationId xmlns:a16="http://schemas.microsoft.com/office/drawing/2014/main" id="{83C4D17A-69EF-11E4-BED6-7D19667C99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20161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 descr="Q -values updated during one episode">
                <a:extLst>
                  <a:ext uri="{FF2B5EF4-FFF2-40B4-BE49-F238E27FC236}">
                    <a16:creationId xmlns:a16="http://schemas.microsoft.com/office/drawing/2014/main" id="{A7794699-37F3-BC74-A159-90CC2AB0350C}"/>
                  </a:ext>
                </a:extLst>
              </p:cNvPr>
              <p:cNvSpPr txBox="1"/>
              <p:nvPr/>
            </p:nvSpPr>
            <p:spPr>
              <a:xfrm>
                <a:off x="2153174" y="1343579"/>
                <a:ext cx="39428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-values updated during one episode</a:t>
                </a:r>
              </a:p>
            </p:txBody>
          </p:sp>
        </mc:Choice>
        <mc:Fallback xmlns="">
          <p:sp>
            <p:nvSpPr>
              <p:cNvPr id="6" name="TextBox 5" descr="Q -values updated during one episode">
                <a:extLst>
                  <a:ext uri="{FF2B5EF4-FFF2-40B4-BE49-F238E27FC236}">
                    <a16:creationId xmlns:a16="http://schemas.microsoft.com/office/drawing/2014/main" id="{A7794699-37F3-BC74-A159-90CC2AB03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174" y="1343579"/>
                <a:ext cx="3942825" cy="369332"/>
              </a:xfrm>
              <a:prstGeom prst="rect">
                <a:avLst/>
              </a:prstGeom>
              <a:blipFill>
                <a:blip r:embed="rId4"/>
                <a:stretch>
                  <a:fillRect l="-309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 descr="Sutton and Barto Figure 7.4, three gridworld panels. Path taken: a winding path through the grid that ends at the goal G. Action values increased by one-step Sarsa: only one arrow, the last action into G. Action values increased by 10-step Sarsa: arrows on the last 10 actions of the path leading to G. Caption: Gridworld example of the speedup of policy learning due to the use of n-step methods. The first panel shows the path taken by an agent in a single episode, ending at a location of high reward, marked by the G. In this example the values were all initially 0, and all rewards were zero except for a positive reward at G. The arrows in the other two panels show which action values were strengthened as a result of this path by one-step and n-step Sarsa methods. The one-step method strengthens only the last action of the sequence of actions that led to the high reward, whereas the n-step method strengthens the last n actions of the sequence, so that much more is learned from the one episode.">
            <a:extLst>
              <a:ext uri="{FF2B5EF4-FFF2-40B4-BE49-F238E27FC236}">
                <a16:creationId xmlns:a16="http://schemas.microsoft.com/office/drawing/2014/main" id="{4CEA1E66-A5A6-1448-FC06-21631B9284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719040" y="1712911"/>
            <a:ext cx="8753919" cy="477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34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 descr="Alg. From DT prediction to n -step Sarsa Control">
                <a:extLst>
                  <a:ext uri="{FF2B5EF4-FFF2-40B4-BE49-F238E27FC236}">
                    <a16:creationId xmlns:a16="http://schemas.microsoft.com/office/drawing/2014/main" id="{28821F91-F3CA-B3DB-B920-4A58F4CB123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Alg. From DT prediction to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-step Sarsa Control</a:t>
                </a:r>
              </a:p>
            </p:txBody>
          </p:sp>
        </mc:Choice>
        <mc:Fallback xmlns="">
          <p:sp>
            <p:nvSpPr>
              <p:cNvPr id="2" name="Title 1" descr="Alg. From DT prediction to n -step Sarsa Control">
                <a:extLst>
                  <a:ext uri="{FF2B5EF4-FFF2-40B4-BE49-F238E27FC236}">
                    <a16:creationId xmlns:a16="http://schemas.microsoft.com/office/drawing/2014/main" id="{28821F91-F3CA-B3DB-B920-4A58F4CB12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13710" b="-28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 descr="Algorithm box: n-step TD for estimating V ≈ v pi. Input: a policy pi. Algorithm parameters: step size alpha in (0, 1], a positive integer n. Initialize V(s) arbitrarily, for all s in S. All store and access operations (for S_t and R_t) can take their index mod n + 1. Loop for each episode: Initialize and store S_0 ≠ terminal; T ← infinity; Loop for t = 0, 1, 2, …: If t &lt; T, then: Take an action according to pi(· | S_t); Observe and store the next reward as R_t+1 and the next state as S_t+1; If S_t+1 is terminal, then T ← t + 1. tau ← t − n + 1 (tau is the time whose state's estimate is being updated). If tau ≥ 0: G ← sum from i = tau + 1 to min(tau + n, T) of gamma to the power i − tau − 1 times R_i; If tau + n &lt; T, then: G ← G + gamma to the n times V(S_tau+n), giving G_tau:tau+n; V(S_tau) ← V(S_tau) + alpha [G − V(S_tau)]. Until tau = T − 1. Labels: pi is given; Update V.">
            <a:extLst>
              <a:ext uri="{FF2B5EF4-FFF2-40B4-BE49-F238E27FC236}">
                <a16:creationId xmlns:a16="http://schemas.microsoft.com/office/drawing/2014/main" id="{FDAF4139-9F31-EF78-000D-A76A64FB1843}"/>
              </a:ext>
            </a:extLst>
          </p:cNvPr>
          <p:cNvGrpSpPr/>
          <p:nvPr/>
        </p:nvGrpSpPr>
        <p:grpSpPr>
          <a:xfrm>
            <a:off x="391291" y="1125097"/>
            <a:ext cx="5818255" cy="4814496"/>
            <a:chOff x="391291" y="1125097"/>
            <a:chExt cx="5818255" cy="4814496"/>
          </a:xfrm>
        </p:grpSpPr>
        <p:pic>
          <p:nvPicPr>
            <p:cNvPr id="3" name="Picture 2" descr="Algorithm box: n-step TD for estimating V ≈ v pi. Input: a policy pi. Algorithm parameters: step size alpha in (0, 1], a positive integer n. Initialize V(s) arbitrarily, for all s in S. All store and access operations (for S_t and R_t) can take their index mod n + 1. Loop for each episode: Initialize and store S_0 ≠ terminal; T ← infinity; Loop for t = 0, 1, 2, …: If t &lt; T, then: Take an action according to pi(· | S_t); Observe and store the next reward as R_t+1 and the next state as S_t+1; If S_t+1 is terminal, then T ← t + 1. tau ← t − n + 1 (tau is the time whose state's estimate is being updated). If tau ≥ 0: G ← sum from i = tau + 1 to min(tau + n, T) of gamma to the power i − tau − 1 times R_i; If tau + n &lt; T, then: G ← G + gamma to the n times V(S_tau+n), giving G_tau:tau+n; V(S_tau) ← V(S_tau) + alpha [G − V(S_tau)]. Until tau = T − 1.">
              <a:extLst>
                <a:ext uri="{FF2B5EF4-FFF2-40B4-BE49-F238E27FC236}">
                  <a16:creationId xmlns:a16="http://schemas.microsoft.com/office/drawing/2014/main" id="{6DF7BC5E-65EA-3D4D-F1F7-F5B1678B3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1291" y="1397000"/>
              <a:ext cx="5818255" cy="388229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Speech Bubble: Rectangle with Corners Rounded 5" descr="pi is given">
                  <a:extLst>
                    <a:ext uri="{FF2B5EF4-FFF2-40B4-BE49-F238E27FC236}">
                      <a16:creationId xmlns:a16="http://schemas.microsoft.com/office/drawing/2014/main" id="{1E655817-FD0E-0110-CF26-A64D12FE50D6}"/>
                    </a:ext>
                  </a:extLst>
                </p:cNvPr>
                <p:cNvSpPr/>
                <p:nvPr/>
              </p:nvSpPr>
              <p:spPr>
                <a:xfrm>
                  <a:off x="3635495" y="1125097"/>
                  <a:ext cx="1724099" cy="543806"/>
                </a:xfrm>
                <a:prstGeom prst="wedgeRoundRectCallout">
                  <a:avLst>
                    <a:gd name="adj1" fmla="val -149901"/>
                    <a:gd name="adj2" fmla="val 90110"/>
                    <a:gd name="adj3" fmla="val 16667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a14:m>
                  <a:r>
                    <a:rPr lang="en-US" sz="1600" dirty="0"/>
                    <a:t> is given</a:t>
                  </a:r>
                </a:p>
              </p:txBody>
            </p:sp>
          </mc:Choice>
          <mc:Fallback xmlns="">
            <p:sp>
              <p:nvSpPr>
                <p:cNvPr id="6" name="Speech Bubble: Rectangle with Corners Rounded 5" descr="pi is given">
                  <a:extLst>
                    <a:ext uri="{FF2B5EF4-FFF2-40B4-BE49-F238E27FC236}">
                      <a16:creationId xmlns:a16="http://schemas.microsoft.com/office/drawing/2014/main" id="{1E655817-FD0E-0110-CF26-A64D12FE50D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5495" y="1125097"/>
                  <a:ext cx="1724099" cy="543806"/>
                </a:xfrm>
                <a:prstGeom prst="wedgeRoundRectCallout">
                  <a:avLst>
                    <a:gd name="adj1" fmla="val -149901"/>
                    <a:gd name="adj2" fmla="val 90110"/>
                    <a:gd name="adj3" fmla="val 16667"/>
                  </a:avLst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Speech Bubble: Rectangle with Corners Rounded 6" descr="Update V">
                  <a:extLst>
                    <a:ext uri="{FF2B5EF4-FFF2-40B4-BE49-F238E27FC236}">
                      <a16:creationId xmlns:a16="http://schemas.microsoft.com/office/drawing/2014/main" id="{0AD7BF87-C864-0A9A-559D-B2EA2F900B48}"/>
                    </a:ext>
                  </a:extLst>
                </p:cNvPr>
                <p:cNvSpPr/>
                <p:nvPr/>
              </p:nvSpPr>
              <p:spPr>
                <a:xfrm>
                  <a:off x="3145721" y="5395787"/>
                  <a:ext cx="1724099" cy="543806"/>
                </a:xfrm>
                <a:prstGeom prst="wedgeRoundRectCallout">
                  <a:avLst>
                    <a:gd name="adj1" fmla="val -77431"/>
                    <a:gd name="adj2" fmla="val -133232"/>
                    <a:gd name="adj3" fmla="val 16667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Update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" name="Speech Bubble: Rectangle with Corners Rounded 6" descr="Update V">
                  <a:extLst>
                    <a:ext uri="{FF2B5EF4-FFF2-40B4-BE49-F238E27FC236}">
                      <a16:creationId xmlns:a16="http://schemas.microsoft.com/office/drawing/2014/main" id="{0AD7BF87-C864-0A9A-559D-B2EA2F900B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5721" y="5395787"/>
                  <a:ext cx="1724099" cy="543806"/>
                </a:xfrm>
                <a:prstGeom prst="wedgeRoundRectCallout">
                  <a:avLst>
                    <a:gd name="adj1" fmla="val -77431"/>
                    <a:gd name="adj2" fmla="val -133232"/>
                    <a:gd name="adj3" fmla="val 16667"/>
                  </a:avLst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" name="Content Placeholder 4" descr="Algorithm box: n-step Sarsa for estimating Q ≈ q star or q pi. Initialize Q(s, a) arbitrarily, for all s in S, a in A. Initialize pi to be epsilon-greedy with respect to Q, or to a fixed given policy. Algorithm parameters: step size alpha in (0, 1], small epsilon &gt; 0, a positive integer n. All store and access operations (for S_t, A_t, and R_t) can take their index mod n + 1. Loop for each episode: Initialize and store S_0 ≠ terminal; Select and store an action A_0 ~ pi(· | S_0); T ← infinity; Loop for t = 0, 1, 2, …: If t &lt; T, then: Take action A_t; Observe and store the next reward as R_t+1 and the next state as S_t+1; If S_t+1 is terminal, then: T ← t + 1; else: Select and store an action A_t+1 ~ pi(· | S_t+1). tau ← t − n + 1 (tau is the time whose estimate is being updated). If tau ≥ 0: G ← sum from i = tau + 1 to min(tau + n, T) of gamma to the power i − tau − 1 times R_i; If tau + n &lt; T, then G ← G + gamma to the n times Q(S_tau+n, A_tau+n), giving G_tau:tau+n; Q(S_tau, A_tau) ← Q(S_tau, A_tau) + alpha [G − Q(S_tau, A_tau)]; If pi is being learned, then ensure that pi(· | S_tau) is epsilon-greedy with respect to Q. Until tau = T − 1.">
            <a:extLst>
              <a:ext uri="{FF2B5EF4-FFF2-40B4-BE49-F238E27FC236}">
                <a16:creationId xmlns:a16="http://schemas.microsoft.com/office/drawing/2014/main" id="{20C5DA64-CB96-33B7-5A2F-82B17E4E3C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6209546" y="1397000"/>
            <a:ext cx="5681934" cy="477996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E2A2EAED-A095-EC43-F7C8-D9EE9FD07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6228" y="3287652"/>
            <a:ext cx="618335" cy="7678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 descr="Callout: Update Q and pi; On-policy: Select next action from the current pi.">
            <a:extLst>
              <a:ext uri="{FF2B5EF4-FFF2-40B4-BE49-F238E27FC236}">
                <a16:creationId xmlns:a16="http://schemas.microsoft.com/office/drawing/2014/main" id="{A2D7B70A-A257-1910-96CE-4CB963B34780}"/>
              </a:ext>
            </a:extLst>
          </p:cNvPr>
          <p:cNvGrpSpPr/>
          <p:nvPr/>
        </p:nvGrpSpPr>
        <p:grpSpPr>
          <a:xfrm>
            <a:off x="9856838" y="4018671"/>
            <a:ext cx="2264824" cy="2702997"/>
            <a:chOff x="9856838" y="4018671"/>
            <a:chExt cx="2264824" cy="27029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Speech Bubble: Rectangle with Corners Rounded 3" descr="Update Q and pi">
                  <a:extLst>
                    <a:ext uri="{FF2B5EF4-FFF2-40B4-BE49-F238E27FC236}">
                      <a16:creationId xmlns:a16="http://schemas.microsoft.com/office/drawing/2014/main" id="{DF12DD82-7DDC-9157-BB79-8D5B905F0BAA}"/>
                    </a:ext>
                  </a:extLst>
                </p:cNvPr>
                <p:cNvSpPr/>
                <p:nvPr/>
              </p:nvSpPr>
              <p:spPr>
                <a:xfrm>
                  <a:off x="10030478" y="6177862"/>
                  <a:ext cx="1724099" cy="543806"/>
                </a:xfrm>
                <a:prstGeom prst="wedgeRoundRectCallout">
                  <a:avLst>
                    <a:gd name="adj1" fmla="val -54354"/>
                    <a:gd name="adj2" fmla="val -121679"/>
                    <a:gd name="adj3" fmla="val 16667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Update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a14:m>
                  <a:r>
                    <a:rPr lang="en-US" sz="1600" dirty="0"/>
                    <a:t> and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" name="Speech Bubble: Rectangle with Corners Rounded 3" descr="Update Q and pi">
                  <a:extLst>
                    <a:ext uri="{FF2B5EF4-FFF2-40B4-BE49-F238E27FC236}">
                      <a16:creationId xmlns:a16="http://schemas.microsoft.com/office/drawing/2014/main" id="{DF12DD82-7DDC-9157-BB79-8D5B905F0B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0478" y="6177862"/>
                  <a:ext cx="1724099" cy="543806"/>
                </a:xfrm>
                <a:prstGeom prst="wedgeRoundRectCallout">
                  <a:avLst>
                    <a:gd name="adj1" fmla="val -54354"/>
                    <a:gd name="adj2" fmla="val -121679"/>
                    <a:gd name="adj3" fmla="val 16667"/>
                  </a:avLst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Speech Bubble: Rectangle with Corners Rounded 8" descr="On-policy: Select next action from the current pi">
                  <a:extLst>
                    <a:ext uri="{FF2B5EF4-FFF2-40B4-BE49-F238E27FC236}">
                      <a16:creationId xmlns:a16="http://schemas.microsoft.com/office/drawing/2014/main" id="{8FEBBC07-A809-4A77-8EB9-8F7555FB6C1C}"/>
                    </a:ext>
                  </a:extLst>
                </p:cNvPr>
                <p:cNvSpPr/>
                <p:nvPr/>
              </p:nvSpPr>
              <p:spPr>
                <a:xfrm>
                  <a:off x="9856838" y="4018671"/>
                  <a:ext cx="2264824" cy="449306"/>
                </a:xfrm>
                <a:prstGeom prst="wedgeRoundRectCallout">
                  <a:avLst>
                    <a:gd name="adj1" fmla="val -40849"/>
                    <a:gd name="adj2" fmla="val 74156"/>
                    <a:gd name="adj3" fmla="val 16667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On-policy: Select next action from the  current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" name="Speech Bubble: Rectangle with Corners Rounded 8" descr="On-policy: Select next action from the current pi">
                  <a:extLst>
                    <a:ext uri="{FF2B5EF4-FFF2-40B4-BE49-F238E27FC236}">
                      <a16:creationId xmlns:a16="http://schemas.microsoft.com/office/drawing/2014/main" id="{8FEBBC07-A809-4A77-8EB9-8F7555FB6C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6838" y="4018671"/>
                  <a:ext cx="2264824" cy="449306"/>
                </a:xfrm>
                <a:prstGeom prst="wedgeRoundRectCallout">
                  <a:avLst>
                    <a:gd name="adj1" fmla="val -40849"/>
                    <a:gd name="adj2" fmla="val 74156"/>
                    <a:gd name="adj3" fmla="val 16667"/>
                  </a:avLst>
                </a:prstGeom>
                <a:blipFill>
                  <a:blip r:embed="rId9"/>
                  <a:stretch>
                    <a:fillRect t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AB634D9E-4B5B-8B5B-7737-CE731552C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29133" y="1960277"/>
            <a:ext cx="2264769" cy="188064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ADE3BE-9FC4-3EC0-53D9-BC827C4B6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57803" y="4497050"/>
            <a:ext cx="2872675" cy="188064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35E902-CEE1-CAFD-7C9B-B4E443036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94038" y="5573658"/>
            <a:ext cx="2466140" cy="188064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0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 descr="n -step Off-Policy Control">
                <a:extLst>
                  <a:ext uri="{FF2B5EF4-FFF2-40B4-BE49-F238E27FC236}">
                    <a16:creationId xmlns:a16="http://schemas.microsoft.com/office/drawing/2014/main" id="{7DA8184C-9049-E158-3CA0-9F9DEC7C2B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-step Off-Policy Control</a:t>
                </a:r>
              </a:p>
            </p:txBody>
          </p:sp>
        </mc:Choice>
        <mc:Fallback xmlns="">
          <p:sp>
            <p:nvSpPr>
              <p:cNvPr id="4" name="Title 3" descr="n -step Off-Policy Control">
                <a:extLst>
                  <a:ext uri="{FF2B5EF4-FFF2-40B4-BE49-F238E27FC236}">
                    <a16:creationId xmlns:a16="http://schemas.microsoft.com/office/drawing/2014/main" id="{7DA8184C-9049-E158-3CA0-9F9DEC7C2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4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A03D2-90FD-7653-DAD2-E19EAC638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importance sampling ratios to prediction and control.</a:t>
            </a:r>
          </a:p>
        </p:txBody>
      </p:sp>
    </p:spTree>
    <p:extLst>
      <p:ext uri="{BB962C8B-B14F-4D97-AF65-F5344CB8AC3E}">
        <p14:creationId xmlns:p14="http://schemas.microsoft.com/office/powerpoint/2010/main" val="2625455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 descr="n -step Off-Policy Control">
                <a:extLst>
                  <a:ext uri="{FF2B5EF4-FFF2-40B4-BE49-F238E27FC236}">
                    <a16:creationId xmlns:a16="http://schemas.microsoft.com/office/drawing/2014/main" id="{C227CE56-EFBA-0625-24BB-9BB9832ABD7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-step Off-Policy Control </a:t>
                </a:r>
              </a:p>
            </p:txBody>
          </p:sp>
        </mc:Choice>
        <mc:Fallback xmlns="">
          <p:sp>
            <p:nvSpPr>
              <p:cNvPr id="2" name="Title 1" descr="n -step Off-Policy Control">
                <a:extLst>
                  <a:ext uri="{FF2B5EF4-FFF2-40B4-BE49-F238E27FC236}">
                    <a16:creationId xmlns:a16="http://schemas.microsoft.com/office/drawing/2014/main" id="{C227CE56-EFBA-0625-24BB-9BB9832AB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83" t="-19672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 descr="Goal: Learn a deterministic target policy pi using an exploring (soft) behavioral policy b . Method: Use importance sampling ratio as a weight for updates. V sub t plus 1, (S sub t) equals V (S sub t) plus alpha rho sub t:t plus n minus 1, [G sub t:t plus n, minus V (S sub t)]. where the weight is. rho sub t:h equals the product over k equals t to min(h,T minus t), of the fraction pi (A sub k given S sub k), over b(A sub k given S sub k), end fraction. Can be used in n -step TD for prediction or in n -step Sarsa for control. Sample efficiency issue: Can only learn (i.e., rho is greater than 0) from data where the sampled actions for the n -steps are compatible with pi . Updating the behavior policy b equals epsilon minus greedy(pi) with a small epsilon helps">
                <a:extLst>
                  <a:ext uri="{FF2B5EF4-FFF2-40B4-BE49-F238E27FC236}">
                    <a16:creationId xmlns:a16="http://schemas.microsoft.com/office/drawing/2014/main" id="{152EDB9D-8B4A-E823-8389-87C92CF331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b="1" dirty="0"/>
                  <a:t>Goal</a:t>
                </a:r>
                <a:r>
                  <a:rPr lang="en-US" dirty="0"/>
                  <a:t>: Learn a deterministic target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using an exploring (soft) behavioral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/>
                  <a:t>Method</a:t>
                </a:r>
                <a:r>
                  <a:rPr lang="en-US" dirty="0"/>
                  <a:t>: Use importance sampling ratio as a weight for updates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   where the weight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Can be used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-step TD for prediction or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-step Sarsa for control.</a:t>
                </a:r>
              </a:p>
              <a:p>
                <a:endParaRPr lang="en-US" dirty="0"/>
              </a:p>
              <a:p>
                <a:r>
                  <a:rPr lang="en-US" b="1" dirty="0"/>
                  <a:t>Sample efficiency issue</a:t>
                </a:r>
                <a:r>
                  <a:rPr lang="en-US" dirty="0"/>
                  <a:t>: Can only learn (i.e.,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) from data where the sampled actions for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-steps are compatible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. </a:t>
                </a:r>
                <a:br>
                  <a:rPr lang="en-US" dirty="0"/>
                </a:br>
                <a:r>
                  <a:rPr lang="en-US" dirty="0"/>
                  <a:t>Updating the behavior policy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−greedy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a small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helps.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 descr="Goal: Learn a deterministic target policy pi using an exploring (soft) behavioral policy b . Method: Use importance sampling ratio as a weight for updates. V sub t plus 1, (S sub t) equals V (S sub t) plus alpha rho sub t:t plus n minus 1, [G sub t:t plus n, minus V (S sub t)]. where the weight is. rho sub t:h equals the product over k equals t to min(h,T minus t), of the fraction pi (A sub k given S sub k), over b(A sub k given S sub k), end fraction. Can be used in n -step TD for prediction or in n -step Sarsa for control. Sample efficiency issue: Can only learn (i.e., rho is greater than 0) from data where the sampled actions for the n -steps are compatible with pi . Updating the behavior policy b equals epsilon minus greedy(pi) with a small epsilon helps">
                <a:extLst>
                  <a:ext uri="{FF2B5EF4-FFF2-40B4-BE49-F238E27FC236}">
                    <a16:creationId xmlns:a16="http://schemas.microsoft.com/office/drawing/2014/main" id="{152EDB9D-8B4A-E823-8389-87C92CF331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peech Bubble: Rectangle with Corners Rounded 3" descr="How likely is 𝜋 to choose an action compared to b ?">
                <a:extLst>
                  <a:ext uri="{FF2B5EF4-FFF2-40B4-BE49-F238E27FC236}">
                    <a16:creationId xmlns:a16="http://schemas.microsoft.com/office/drawing/2014/main" id="{B552D126-208B-494D-2625-5FF1C93AC51E}"/>
                  </a:ext>
                </a:extLst>
              </p:cNvPr>
              <p:cNvSpPr/>
              <p:nvPr/>
            </p:nvSpPr>
            <p:spPr>
              <a:xfrm>
                <a:off x="8669721" y="3130277"/>
                <a:ext cx="2118220" cy="1044429"/>
              </a:xfrm>
              <a:prstGeom prst="wedgeRoundRectCallout">
                <a:avLst>
                  <a:gd name="adj1" fmla="val -100549"/>
                  <a:gd name="adj2" fmla="val 7530"/>
                  <a:gd name="adj3" fmla="val 16667"/>
                </a:avLst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How likely is 𝜋 to choose an action compared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? </a:t>
                </a:r>
              </a:p>
            </p:txBody>
          </p:sp>
        </mc:Choice>
        <mc:Fallback xmlns="">
          <p:sp>
            <p:nvSpPr>
              <p:cNvPr id="4" name="Speech Bubble: Rectangle with Corners Rounded 3" descr="How likely is 𝜋 to choose an action compared to b ?">
                <a:extLst>
                  <a:ext uri="{FF2B5EF4-FFF2-40B4-BE49-F238E27FC236}">
                    <a16:creationId xmlns:a16="http://schemas.microsoft.com/office/drawing/2014/main" id="{B552D126-208B-494D-2625-5FF1C93AC5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721" y="3130277"/>
                <a:ext cx="2118220" cy="1044429"/>
              </a:xfrm>
              <a:prstGeom prst="wedgeRoundRectCallout">
                <a:avLst>
                  <a:gd name="adj1" fmla="val -100549"/>
                  <a:gd name="adj2" fmla="val 7530"/>
                  <a:gd name="adj3" fmla="val 16667"/>
                </a:avLst>
              </a:prstGeom>
              <a:blipFill>
                <a:blip r:embed="rId4"/>
                <a:stretch>
                  <a:fillRect b="-2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8077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45701-1839-841A-1942-F401EF862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Alg. Comparing On-Policy with Off-Policy</a:t>
            </a:r>
          </a:p>
        </p:txBody>
      </p:sp>
      <p:pic>
        <p:nvPicPr>
          <p:cNvPr id="6" name="Content Placeholder 4" descr="Algorithm box: n-step Sarsa for estimating Q ≈ q star or q pi. Initialize Q(s, a) arbitrarily, for all s in S, a in A. Initialize pi to be epsilon-greedy with respect to Q, or to a fixed given policy. Algorithm parameters: step size alpha in (0, 1], small epsilon &gt; 0, a positive integer n. All store and access operations (for S_t, A_t, and R_t) can take their index mod n + 1. Loop for each episode: Initialize and store S_0 ≠ terminal; Select and store an action A_0 ~ pi(· | S_0); T ← infinity; Loop for t = 0, 1, 2, …: If t &lt; T, then: Take action A_t; Observe and store the next reward as R_t+1 and the next state as S_t+1; If S_t+1 is terminal, then: T ← t + 1; else: Select and store an action A_t+1 ~ pi(· | S_t+1). tau ← t − n + 1 (tau is the time whose estimate is being updated). If tau ≥ 0: G ← sum from i = tau + 1 to min(tau + n, T) of gamma to the power i − tau − 1 times R_i; If tau + n &lt; T, then G ← G + gamma to the n times Q(S_tau+n, A_tau+n), giving G_tau:tau+n; Q(S_tau, A_tau) ← Q(S_tau, A_tau) + alpha [G − Q(S_tau, A_tau)]; If pi is being learned, then ensure that pi(· | S_tau) is epsilon-greedy with respect to Q. Until tau = T − 1.">
            <a:extLst>
              <a:ext uri="{FF2B5EF4-FFF2-40B4-BE49-F238E27FC236}">
                <a16:creationId xmlns:a16="http://schemas.microsoft.com/office/drawing/2014/main" id="{8A799686-6590-82E9-E530-6D9F900BE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622" y="1553598"/>
            <a:ext cx="5205999" cy="43795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5632627-3153-537A-8736-FC5EB073E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5070" y="2045566"/>
            <a:ext cx="581679" cy="203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4EAF0B-5EB2-C808-EDCD-CB3730899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0889" y="4369108"/>
            <a:ext cx="581679" cy="203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C5BEAA-9BB8-9D02-5309-611E50704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54247" y="5360251"/>
            <a:ext cx="581679" cy="203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 descr="Algorithm box: Off-policy n-step Sarsa for estimating Q ≈ q star or q pi. Input: an arbitrary behavior policy b such that b(a | s) &gt; 0, for all s in S, a in A. Initialize Q(s, a) arbitrarily, for all s in S, a in A. Initialize pi to be greedy with respect to Q, or as a fixed given policy. Algorithm parameters: step size alpha in (0, 1], a positive integer n. All store and access operations (for S_t, A_t, and R_t) can take their index mod n + 1. Loop for each episode: Initialize and store S_0 ≠ terminal; Select and store an action A_0 ~ b(· | S_0); T ← infinity; Loop for t = 0, 1, 2, …: If t &lt; T, then: Take action A_t; Observe and store the next reward as R_t+1 and the next state as S_t+1; If S_t+1 is terminal, then: T ← t + 1; else: Select and store an action A_t+1 ~ b(· | S_t+1). tau ← t − n + 1 (tau is the time whose estimate is being updated). If tau ≥ 0: rho ← product from i = tau + 1 to min(tau + n, T − 1) of pi(A_i | S_i) / b(A_i | S_i), giving rho_tau+1:tau+n; G ← sum from i = tau + 1 to min(tau + n, T) of gamma to the power i − tau − 1 times R_i; If tau + n &lt; T, then: G ← G + gamma to the n times Q(S_tau+n, A_tau+n), giving G_tau:tau+n; Q(S_tau, A_tau) ← Q(S_tau, A_tau) + alpha rho [G − Q(S_tau, A_tau)]; If pi is being learned, then ensure that pi(· | S_tau) is greedy with respect to Q. Until tau = T − 1. Labels: Add behavior policy; Use importance sampling ratio.">
            <a:extLst>
              <a:ext uri="{FF2B5EF4-FFF2-40B4-BE49-F238E27FC236}">
                <a16:creationId xmlns:a16="http://schemas.microsoft.com/office/drawing/2014/main" id="{9E409DA4-C9B0-9C34-A0E9-54BAD6DFE9B8}"/>
              </a:ext>
            </a:extLst>
          </p:cNvPr>
          <p:cNvGrpSpPr/>
          <p:nvPr/>
        </p:nvGrpSpPr>
        <p:grpSpPr>
          <a:xfrm>
            <a:off x="5659709" y="1062757"/>
            <a:ext cx="6430496" cy="5089359"/>
            <a:chOff x="5659709" y="1062757"/>
            <a:chExt cx="6430496" cy="5089359"/>
          </a:xfrm>
        </p:grpSpPr>
        <p:grpSp>
          <p:nvGrpSpPr>
            <p:cNvPr id="21" name="Group 20" descr="Algorithm box: Off-policy n-step Sarsa for estimating Q ≈ q star or q pi. Input: an arbitrary behavior policy b such that b(a | s) &gt; 0, for all s in S, a in A. Initialize Q(s, a) arbitrarily, for all s in S, a in A. Initialize pi to be greedy with respect to Q, or as a fixed given policy. Algorithm parameters: step size alpha in (0, 1], a positive integer n. All store and access operations (for S_t, A_t, and R_t) can take their index mod n + 1. Loop for each episode: Initialize and store S_0 ≠ terminal; Select and store an action A_0 ~ b(· | S_0); T ← infinity; Loop for t = 0, 1, 2, …: If t &lt; T, then: Take action A_t; Observe and store the next reward as R_t+1 and the next state as S_t+1; If S_t+1 is terminal, then: T ← t + 1; else: Select and store an action A_t+1 ~ b(· | S_t+1). tau ← t − n + 1 (tau is the time whose estimate is being updated). If tau ≥ 0: rho ← product from i = tau + 1 to min(tau + n, T − 1) of pi(A_i | S_i) / b(A_i | S_i), giving rho_tau+1:tau+n; G ← sum from i = tau + 1 to min(tau + n, T) of gamma to the power i − tau − 1 times R_i; If tau + n &lt; T, then: G ← G + gamma to the n times Q(S_tau+n, A_tau+n), giving G_tau:tau+n; Q(S_tau, A_tau) ← Q(S_tau, A_tau) + alpha rho [G − Q(S_tau, A_tau)]; If pi is being learned, then ensure that pi(· | S_tau) is greedy with respect to Q. Until tau = T − 1. Labels: Add behavior policy; Use importance sampling ratio.">
              <a:extLst>
                <a:ext uri="{FF2B5EF4-FFF2-40B4-BE49-F238E27FC236}">
                  <a16:creationId xmlns:a16="http://schemas.microsoft.com/office/drawing/2014/main" id="{5F49EE39-7243-4381-1C9D-C27904D7EFE1}"/>
                </a:ext>
              </a:extLst>
            </p:cNvPr>
            <p:cNvGrpSpPr/>
            <p:nvPr/>
          </p:nvGrpSpPr>
          <p:grpSpPr>
            <a:xfrm>
              <a:off x="5659709" y="1062757"/>
              <a:ext cx="6430496" cy="5089359"/>
              <a:chOff x="5659709" y="1062757"/>
              <a:chExt cx="6430496" cy="5089359"/>
            </a:xfrm>
          </p:grpSpPr>
          <p:pic>
            <p:nvPicPr>
              <p:cNvPr id="5" name="Picture 4" descr="Algorithm box: Off-policy n-step Sarsa for estimating Q ≈ q star or q pi. Input: an arbitrary behavior policy b such that b(a | s) &gt; 0, for all s in S, a in A. Initialize Q(s, a) arbitrarily, for all s in S, a in A. Initialize pi to be greedy with respect to Q, or as a fixed given policy. Algorithm parameters: step size alpha in (0, 1], a positive integer n. All store and access operations (for S_t, A_t, and R_t) can take their index mod n + 1. Loop for each episode: Initialize and store S_0 ≠ terminal; Select and store an action A_0 ~ b(· | S_0); T ← infinity; Loop for t = 0, 1, 2, …: If t &lt; T, then: Take action A_t; Observe and store the next reward as R_t+1 and the next state as S_t+1; If S_t+1 is terminal, then: T ← t + 1; else: Select and store an action A_t+1 ~ b(· | S_t+1). tau ← t − n + 1 (tau is the time whose estimate is being updated). If tau ≥ 0: rho ← product from i = tau + 1 to min(tau + n, T − 1) of pi(A_i | S_i) / b(A_i | S_i), giving rho_tau+1:tau+n; G ← sum from i = tau + 1 to min(tau + n, T) of gamma to the power i − tau − 1 times R_i; If tau + n &lt; T, then: G ← G + gamma to the n times Q(S_tau+n, A_tau+n), giving G_tau:tau+n; Q(S_tau, A_tau) ← Q(S_tau, A_tau) + alpha rho [G − Q(S_tau, A_tau)]; If pi is being learned, then ensure that pi(· | S_tau) is greedy with respect to Q. Until tau = T − 1.">
                <a:extLst>
                  <a:ext uri="{FF2B5EF4-FFF2-40B4-BE49-F238E27FC236}">
                    <a16:creationId xmlns:a16="http://schemas.microsoft.com/office/drawing/2014/main" id="{2111ED8E-9F47-A0A6-34AD-6DCCED9317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59709" y="1334660"/>
                <a:ext cx="5945915" cy="4817456"/>
              </a:xfrm>
              <a:prstGeom prst="rect">
                <a:avLst/>
              </a:prstGeom>
            </p:spPr>
          </p:pic>
          <p:sp>
            <p:nvSpPr>
              <p:cNvPr id="3" name="Speech Bubble: Rectangle with Corners Rounded 2">
                <a:extLst>
                  <a:ext uri="{FF2B5EF4-FFF2-40B4-BE49-F238E27FC236}">
                    <a16:creationId xmlns:a16="http://schemas.microsoft.com/office/drawing/2014/main" id="{7405347D-3A8C-817A-0198-FB46D428A08C}"/>
                  </a:ext>
                </a:extLst>
              </p:cNvPr>
              <p:cNvSpPr/>
              <p:nvPr/>
            </p:nvSpPr>
            <p:spPr>
              <a:xfrm>
                <a:off x="9881525" y="1062757"/>
                <a:ext cx="1724099" cy="543806"/>
              </a:xfrm>
              <a:prstGeom prst="wedgeRoundRectCallout">
                <a:avLst>
                  <a:gd name="adj1" fmla="val -75002"/>
                  <a:gd name="adj2" fmla="val 68289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Add behavior policy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7CC600E-3AFD-2FD3-7283-4D46C25C56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718211" y="4418437"/>
                <a:ext cx="586333" cy="21638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Speech Bubble: Rectangle with Corners Rounded 6">
                <a:extLst>
                  <a:ext uri="{FF2B5EF4-FFF2-40B4-BE49-F238E27FC236}">
                    <a16:creationId xmlns:a16="http://schemas.microsoft.com/office/drawing/2014/main" id="{D0AD5C9F-6D47-4621-45B9-9385077EF25E}"/>
                  </a:ext>
                </a:extLst>
              </p:cNvPr>
              <p:cNvSpPr/>
              <p:nvPr/>
            </p:nvSpPr>
            <p:spPr>
              <a:xfrm>
                <a:off x="10366106" y="4198999"/>
                <a:ext cx="1724099" cy="543806"/>
              </a:xfrm>
              <a:prstGeom prst="wedgeRoundRectCallout">
                <a:avLst>
                  <a:gd name="adj1" fmla="val -109575"/>
                  <a:gd name="adj2" fmla="val 199019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Use importance sampling ratio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F3B9A1D-1B3F-1708-DAD7-FA40CAA149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965029" y="2023082"/>
                <a:ext cx="447893" cy="2035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E169648-1DAF-B5A5-C80D-AEBC7295E4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433632" y="5673788"/>
                <a:ext cx="447893" cy="2035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EC83A1B-FFF7-CAE0-EFC3-59D9D3F79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54481" y="5490373"/>
              <a:ext cx="1150063" cy="2035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91ADFBD-CEF3-5E12-84F2-4276E8014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823744" y="1695798"/>
              <a:ext cx="675856" cy="2035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9A7ADEA-50AB-1D47-DCD7-7B2BDD2E10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6967" y="3245771"/>
            <a:ext cx="561924" cy="7678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3D719930-D8A7-468C-7B92-AAA575154DF9}"/>
              </a:ext>
            </a:extLst>
          </p:cNvPr>
          <p:cNvSpPr/>
          <p:nvPr/>
        </p:nvSpPr>
        <p:spPr>
          <a:xfrm>
            <a:off x="10711542" y="1852972"/>
            <a:ext cx="1378663" cy="543806"/>
          </a:xfrm>
          <a:prstGeom prst="wedgeRoundRectCallout">
            <a:avLst>
              <a:gd name="adj1" fmla="val -85843"/>
              <a:gd name="adj2" fmla="val -244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Greedy target policy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C12FB8-8201-418B-E7F3-1FC2FCBE894E}"/>
              </a:ext>
            </a:extLst>
          </p:cNvPr>
          <p:cNvSpPr txBox="1"/>
          <p:nvPr/>
        </p:nvSpPr>
        <p:spPr>
          <a:xfrm>
            <a:off x="2355455" y="3244334"/>
            <a:ext cx="1373945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On-Policy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Speech Bubble: Rectangle with Corners Rounded 21" descr="We could update b equals epsilon minus greedy(pi)">
                <a:extLst>
                  <a:ext uri="{FF2B5EF4-FFF2-40B4-BE49-F238E27FC236}">
                    <a16:creationId xmlns:a16="http://schemas.microsoft.com/office/drawing/2014/main" id="{324AC46D-52E7-570E-865E-DECAECC4DF6B}"/>
                  </a:ext>
                </a:extLst>
              </p:cNvPr>
              <p:cNvSpPr/>
              <p:nvPr/>
            </p:nvSpPr>
            <p:spPr>
              <a:xfrm>
                <a:off x="10193311" y="2655934"/>
                <a:ext cx="1896894" cy="670576"/>
              </a:xfrm>
              <a:prstGeom prst="wedgeRoundRectCallout">
                <a:avLst>
                  <a:gd name="adj1" fmla="val -193450"/>
                  <a:gd name="adj2" fmla="val -31317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We could update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−greedy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Speech Bubble: Rectangle with Corners Rounded 21" descr="We could update b equals epsilon minus greedy(pi)">
                <a:extLst>
                  <a:ext uri="{FF2B5EF4-FFF2-40B4-BE49-F238E27FC236}">
                    <a16:creationId xmlns:a16="http://schemas.microsoft.com/office/drawing/2014/main" id="{324AC46D-52E7-570E-865E-DECAECC4DF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3311" y="2655934"/>
                <a:ext cx="1896894" cy="670576"/>
              </a:xfrm>
              <a:prstGeom prst="wedgeRoundRectCallout">
                <a:avLst>
                  <a:gd name="adj1" fmla="val -193450"/>
                  <a:gd name="adj2" fmla="val -31317"/>
                  <a:gd name="adj3" fmla="val 16667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8332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80997" y="381001"/>
            <a:ext cx="6858001" cy="6095995"/>
          </a:xfrm>
          <a:prstGeom prst="rect">
            <a:avLst/>
          </a:prstGeom>
          <a:ln>
            <a:noFill/>
          </a:ln>
          <a:effectLst>
            <a:outerShdw blurRad="381000" dist="101600" sx="99000" sy="99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CC851C-DBC0-5ACA-7D15-A7CD3408E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413" y="4544704"/>
            <a:ext cx="4792635" cy="181164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What you Need to Know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44F555-26B8-BE90-E588-B24F3A239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0" b="-1"/>
          <a:stretch>
            <a:fillRect/>
          </a:stretch>
        </p:blipFill>
        <p:spPr bwMode="auto">
          <a:xfrm>
            <a:off x="-1" y="10"/>
            <a:ext cx="6096001" cy="4114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 descr="n -step methods let us choose the amount of bootstrapping from 1-step to no bootstrapping (MC). Advantage over one-step methods:. Learning: Looking more steps ahead speeds up learning, especially for sparse rewards. Error reduction: Significantly reduces the bootstrapping error (bias) at the cost of increased variance. An intermediate amount of bootstrapping typically performs better in terms of the variance/bias tradeoff than the one-step and MC extremes. n is application-dependent and can be tuned. Drawback:. Delay: Updates are delayed n -step since future events (rewards and states) are needed. Computation: More computation per time step and higher memory needs than one-step methods. Eligibility traces address the delay and computation drawbacks. We will cover these methods later">
                <a:extLst>
                  <a:ext uri="{FF2B5EF4-FFF2-40B4-BE49-F238E27FC236}">
                    <a16:creationId xmlns:a16="http://schemas.microsoft.com/office/drawing/2014/main" id="{070212C3-796F-8D06-DF1F-5A3CD87EF0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07456" y="482600"/>
                <a:ext cx="5628944" cy="5965092"/>
              </a:xfrm>
            </p:spPr>
            <p:txBody>
              <a:bodyPr anchor="ctr"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-step methods let us choose the amount of bootstrapping from 1-step to no bootstrapping (MC).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Advantage over one-step methods: </a:t>
                </a:r>
              </a:p>
              <a:p>
                <a:pPr lvl="1"/>
                <a:r>
                  <a:rPr lang="en-US" sz="1800" b="1" dirty="0"/>
                  <a:t>Learning</a:t>
                </a:r>
                <a:r>
                  <a:rPr lang="en-US" sz="1800" dirty="0"/>
                  <a:t>: Looking more steps ahead speeds up learning, especially for sparse rewards.</a:t>
                </a:r>
              </a:p>
              <a:p>
                <a:pPr lvl="1"/>
                <a:r>
                  <a:rPr lang="en-US" sz="1800" b="1" dirty="0"/>
                  <a:t>Error reduction</a:t>
                </a:r>
                <a:r>
                  <a:rPr lang="en-US" sz="1800" dirty="0"/>
                  <a:t>: Significantly reduces the bootstrapping error (</a:t>
                </a:r>
                <a:r>
                  <a:rPr lang="en-US" sz="1800" b="1" dirty="0"/>
                  <a:t>bias</a:t>
                </a:r>
                <a:r>
                  <a:rPr lang="en-US" sz="1800" dirty="0"/>
                  <a:t>) at the cost of increased </a:t>
                </a:r>
                <a:r>
                  <a:rPr lang="en-US" sz="1800" b="1" dirty="0"/>
                  <a:t>variance</a:t>
                </a:r>
                <a:r>
                  <a:rPr lang="en-US" sz="1800" dirty="0"/>
                  <a:t>. </a:t>
                </a:r>
              </a:p>
              <a:p>
                <a:pPr lvl="1"/>
                <a:r>
                  <a:rPr lang="en-US" sz="1800" dirty="0"/>
                  <a:t>An intermediate amount of bootstrapping typically </a:t>
                </a:r>
                <a:r>
                  <a:rPr lang="en-US" sz="1800" b="1" dirty="0"/>
                  <a:t>performs better</a:t>
                </a:r>
                <a:r>
                  <a:rPr lang="en-US" sz="1800" dirty="0"/>
                  <a:t> in terms of the variance/bias tradeoff than the one-step and MC extremes.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 is application-dependent and can be tuned.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Drawback:</a:t>
                </a:r>
              </a:p>
              <a:p>
                <a:pPr lvl="1"/>
                <a:r>
                  <a:rPr lang="en-US" sz="1800" b="1" dirty="0"/>
                  <a:t>Delay</a:t>
                </a:r>
                <a:r>
                  <a:rPr lang="en-US" sz="1800" dirty="0"/>
                  <a:t>: Updates are delayed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-step since future events (rewards and states) are needed.</a:t>
                </a:r>
              </a:p>
              <a:p>
                <a:pPr lvl="1"/>
                <a:r>
                  <a:rPr lang="en-US" sz="1800" b="1" dirty="0"/>
                  <a:t>Computation</a:t>
                </a:r>
                <a:r>
                  <a:rPr lang="en-US" sz="1800" dirty="0"/>
                  <a:t>: More computation per time step and higher memory needs than one-step methods.</a:t>
                </a:r>
              </a:p>
              <a:p>
                <a:pPr lvl="1"/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/>
                  <a:t>Eligibility traces </a:t>
                </a:r>
                <a:r>
                  <a:rPr lang="en-US" sz="1800" dirty="0"/>
                  <a:t>address the delay and computation drawbacks. We will cover these methods later.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3" name="Content Placeholder 2" descr="n -step methods let us choose the amount of bootstrapping from 1-step to no bootstrapping (MC). Advantage over one-step methods:. Learning: Looking more steps ahead speeds up learning, especially for sparse rewards. Error reduction: Significantly reduces the bootstrapping error (bias) at the cost of increased variance. An intermediate amount of bootstrapping typically performs better in terms of the variance/bias tradeoff than the one-step and MC extremes. n is application-dependent and can be tuned. Drawback:. Delay: Updates are delayed n -step since future events (rewards and states) are needed. Computation: More computation per time step and higher memory needs than one-step methods. Eligibility traces address the delay and computation drawbacks. We will cover these methods later">
                <a:extLst>
                  <a:ext uri="{FF2B5EF4-FFF2-40B4-BE49-F238E27FC236}">
                    <a16:creationId xmlns:a16="http://schemas.microsoft.com/office/drawing/2014/main" id="{070212C3-796F-8D06-DF1F-5A3CD87EF0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07456" y="482600"/>
                <a:ext cx="5628944" cy="5965092"/>
              </a:xfrm>
              <a:blipFill>
                <a:blip r:embed="rId3"/>
                <a:stretch>
                  <a:fillRect l="-649" t="-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401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12279</TotalTime>
  <Words>1843</Words>
  <Application>Microsoft Office PowerPoint</Application>
  <PresentationFormat>Widescreen</PresentationFormat>
  <Paragraphs>205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Cambria Math</vt:lpstr>
      <vt:lpstr>Office Theme</vt:lpstr>
      <vt:lpstr>Reinforcement Learning  n-step Bootstrapping Sutton/Barto* Chapter 7</vt:lpstr>
      <vt:lpstr>Topics of this Course</vt:lpstr>
      <vt:lpstr>Summary of Notation</vt:lpstr>
      <vt:lpstr>Policy Evaluation: 1-step TD vs. n-step TD vs. MC</vt:lpstr>
      <vt:lpstr>Why is a Longer Look-ahead Useful?</vt:lpstr>
      <vt:lpstr>n-step TD Prediction</vt:lpstr>
      <vt:lpstr>n-step TD Prediction </vt:lpstr>
      <vt:lpstr>Alg. n-step TD Prediction</vt:lpstr>
      <vt:lpstr>Error Reduction Property and Convergence</vt:lpstr>
      <vt:lpstr>Bias-Variance Tradeoff in RL</vt:lpstr>
      <vt:lpstr>n-step Control: Sarsa</vt:lpstr>
      <vt:lpstr>n-step Sarsa</vt:lpstr>
      <vt:lpstr>Speedup of n-step Sarsa</vt:lpstr>
      <vt:lpstr>Alg. From DT prediction to  n-step Sarsa Control</vt:lpstr>
      <vt:lpstr>n-step Off-Policy Control</vt:lpstr>
      <vt:lpstr>n-step Off-Policy Control </vt:lpstr>
      <vt:lpstr>Alg. Comparing On-Policy with Off-Policy</vt:lpstr>
      <vt:lpstr>What you Need to Know</vt:lpstr>
    </vt:vector>
  </TitlesOfParts>
  <Company>Southern Methodist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Hahsler, Michael</dc:creator>
  <cp:lastModifiedBy>Hahsler, Michael</cp:lastModifiedBy>
  <cp:revision>170</cp:revision>
  <dcterms:created xsi:type="dcterms:W3CDTF">2025-09-08T14:44:49Z</dcterms:created>
  <dcterms:modified xsi:type="dcterms:W3CDTF">2026-10-16T21:31:44Z</dcterms:modified>
</cp:coreProperties>
</file>