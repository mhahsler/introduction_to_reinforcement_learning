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84" r:id="rId3"/>
    <p:sldId id="385" r:id="rId4"/>
    <p:sldId id="398" r:id="rId5"/>
    <p:sldId id="396" r:id="rId6"/>
    <p:sldId id="386" r:id="rId7"/>
    <p:sldId id="387" r:id="rId8"/>
    <p:sldId id="388" r:id="rId9"/>
    <p:sldId id="392" r:id="rId10"/>
    <p:sldId id="391" r:id="rId11"/>
    <p:sldId id="394" r:id="rId12"/>
    <p:sldId id="393" r:id="rId13"/>
    <p:sldId id="389" r:id="rId14"/>
    <p:sldId id="390" r:id="rId15"/>
    <p:sldId id="395" r:id="rId16"/>
    <p:sldId id="397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84"/>
            <p14:sldId id="385"/>
            <p14:sldId id="398"/>
            <p14:sldId id="396"/>
            <p14:sldId id="386"/>
            <p14:sldId id="387"/>
            <p14:sldId id="388"/>
            <p14:sldId id="392"/>
            <p14:sldId id="391"/>
            <p14:sldId id="394"/>
            <p14:sldId id="393"/>
            <p14:sldId id="389"/>
            <p14:sldId id="390"/>
            <p14:sldId id="395"/>
            <p14:sldId id="3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91" d="100"/>
          <a:sy n="91" d="100"/>
        </p:scale>
        <p:origin x="340" y="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creativecommons.org/licenses/by-nc-sa/4.0/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7.png"/><Relationship Id="rId7" Type="http://schemas.openxmlformats.org/officeDocument/2006/relationships/image" Target="../media/image8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20.png"/><Relationship Id="rId7" Type="http://schemas.openxmlformats.org/officeDocument/2006/relationships/image" Target="../media/image150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19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7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2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5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</p:spPr>
            <p:txBody>
              <a:bodyPr anchor="b">
                <a:normAutofit fontScale="90000"/>
              </a:bodyPr>
              <a:lstStyle/>
              <a:p>
                <a:pPr algn="l"/>
                <a:r>
                  <a:rPr lang="en-US" sz="4800" dirty="0">
                    <a:solidFill>
                      <a:schemeClr val="bg1"/>
                    </a:solidFill>
                  </a:rPr>
                  <a:t>Reinforcement Learning</a:t>
                </a:r>
                <a:br>
                  <a:rPr lang="en-US" sz="4800" dirty="0">
                    <a:solidFill>
                      <a:schemeClr val="bg1"/>
                    </a:solidFill>
                  </a:rPr>
                </a:br>
                <a:br>
                  <a:rPr lang="en-US" sz="48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4800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4000" dirty="0">
                    <a:solidFill>
                      <a:schemeClr val="bg1"/>
                    </a:solidFill>
                  </a:rPr>
                  <a:t>-step Bootstrapping</a:t>
                </a:r>
                <a:br>
                  <a:rPr lang="en-US" sz="4000" dirty="0">
                    <a:solidFill>
                      <a:schemeClr val="bg1"/>
                    </a:solidFill>
                  </a:rPr>
                </a:br>
                <a:r>
                  <a:rPr lang="en-US" sz="2800" dirty="0">
                    <a:solidFill>
                      <a:schemeClr val="bg1"/>
                    </a:solidFill>
                  </a:rPr>
                  <a:t>Sutton/Barto*</a:t>
                </a:r>
                <a:r>
                  <a:rPr lang="en-US" sz="2700" dirty="0">
                    <a:solidFill>
                      <a:schemeClr val="bg1"/>
                    </a:solidFill>
                  </a:rPr>
                  <a:t> Chapter 7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51EE42B-57B4-EB74-A37C-6675858E7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ctrTitle"/>
              </p:nvPr>
            </p:nvSpPr>
            <p:spPr>
              <a:xfrm>
                <a:off x="477981" y="1122363"/>
                <a:ext cx="4463968" cy="3204134"/>
              </a:xfrm>
              <a:blipFill>
                <a:blip r:embed="rId3"/>
                <a:stretch>
                  <a:fillRect l="-5321" b="-4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4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57741" y="198362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1-step TD vs.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vs. MC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C43A04E-6361-AAD5-BA6A-E9D14BAE83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92292"/>
                <a:ext cx="10515600" cy="1778026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US" sz="1600" dirty="0"/>
                  <a:t>How far do we look in the sampled episode ahead to update the state value?</a:t>
                </a:r>
                <a:endParaRPr lang="en-US" sz="1600" b="1" dirty="0"/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1-step DT</a:t>
                </a:r>
              </a:p>
              <a:p>
                <a:pPr lvl="1"/>
                <a:r>
                  <a:rPr lang="en-US" sz="1600" dirty="0"/>
                  <a:t>We have already discussed 1-step TD: Q-Learning, Sarsa</a:t>
                </a:r>
              </a:p>
              <a:p>
                <a:pPr lvl="1"/>
                <a:r>
                  <a:rPr lang="en-US" sz="1600" dirty="0"/>
                  <a:t>We only observe the next step and its reward. The remaining return is bootstrapped using the estimate of the next state’s value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or action values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, ⋅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sz="1600" b="1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5DA0A5-DD6E-AE51-3C17-167B058ECA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92292"/>
                <a:ext cx="10515600" cy="1778026"/>
              </a:xfrm>
              <a:blipFill>
                <a:blip r:embed="rId3"/>
                <a:stretch>
                  <a:fillRect l="-348" t="-2405" b="-54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/>
              <p:nvPr/>
            </p:nvSpPr>
            <p:spPr>
              <a:xfrm>
                <a:off x="900218" y="4415277"/>
                <a:ext cx="6096698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600" b="1" dirty="0"/>
                  <a:t>-step DT</a:t>
                </a:r>
              </a:p>
              <a:p>
                <a:pPr lvl="1"/>
                <a:r>
                  <a:rPr lang="en-US" sz="1600" dirty="0"/>
                  <a:t>Looks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time steps ahead and bootstraps the rest.</a:t>
                </a:r>
              </a:p>
              <a:p>
                <a:pPr lvl="1"/>
                <a:r>
                  <a:rPr lang="en-US" sz="1600" dirty="0"/>
                  <a:t>TD unifies and generalizes MC and one-step TD</a:t>
                </a: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9C57C0C7-6461-D5DA-62EB-5D5138CE4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218" y="4415277"/>
                <a:ext cx="6096698" cy="861774"/>
              </a:xfrm>
              <a:prstGeom prst="rect">
                <a:avLst/>
              </a:prstGeom>
              <a:blipFill>
                <a:blip r:embed="rId4"/>
                <a:stretch>
                  <a:fillRect t="-2113" b="-42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3E329277-23EA-AB5C-2858-C3C4005FB05E}"/>
              </a:ext>
            </a:extLst>
          </p:cNvPr>
          <p:cNvGrpSpPr/>
          <p:nvPr/>
        </p:nvGrpSpPr>
        <p:grpSpPr>
          <a:xfrm>
            <a:off x="2637816" y="2832616"/>
            <a:ext cx="5965095" cy="1634099"/>
            <a:chOff x="2637816" y="2832616"/>
            <a:chExt cx="5965095" cy="1634099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1753D92-4CD1-A5C9-E205-1999C3D682A5}"/>
                </a:ext>
              </a:extLst>
            </p:cNvPr>
            <p:cNvGrpSpPr/>
            <p:nvPr/>
          </p:nvGrpSpPr>
          <p:grpSpPr>
            <a:xfrm>
              <a:off x="2637816" y="2832616"/>
              <a:ext cx="5965095" cy="1560336"/>
              <a:chOff x="2373562" y="2568409"/>
              <a:chExt cx="5965095" cy="1560336"/>
            </a:xfrm>
          </p:grpSpPr>
          <p:pic>
            <p:nvPicPr>
              <p:cNvPr id="22" name="Picture 21">
                <a:extLst>
                  <a:ext uri="{FF2B5EF4-FFF2-40B4-BE49-F238E27FC236}">
                    <a16:creationId xmlns:a16="http://schemas.microsoft.com/office/drawing/2014/main" id="{6F6E7CC0-68DD-A056-E3F1-DDE933683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373562" y="2955408"/>
                <a:ext cx="5965095" cy="606381"/>
              </a:xfrm>
              <a:prstGeom prst="rect">
                <a:avLst/>
              </a:prstGeom>
            </p:spPr>
          </p:pic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67D652EB-8C2E-F956-C6A7-9E7E090FE61B}"/>
                  </a:ext>
                </a:extLst>
              </p:cNvPr>
              <p:cNvSpPr/>
              <p:nvPr/>
            </p:nvSpPr>
            <p:spPr>
              <a:xfrm>
                <a:off x="3510268" y="3109621"/>
                <a:ext cx="1082180" cy="796292"/>
              </a:xfrm>
              <a:prstGeom prst="arc">
                <a:avLst>
                  <a:gd name="adj1" fmla="val 1428106"/>
                  <a:gd name="adj2" fmla="val 9287936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/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5" name="TextBox 24">
                    <a:extLst>
                      <a:ext uri="{FF2B5EF4-FFF2-40B4-BE49-F238E27FC236}">
                        <a16:creationId xmlns:a16="http://schemas.microsoft.com/office/drawing/2014/main" id="{280AECF7-65CC-8754-EB3F-824EB281EDE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981238" y="3429000"/>
                    <a:ext cx="1049672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/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120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BCB15AD7-1E19-57F6-65EB-1A4D65FF70E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30910" y="3429000"/>
                    <a:ext cx="1049672" cy="276999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88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7" name="Arc 26">
                <a:extLst>
                  <a:ext uri="{FF2B5EF4-FFF2-40B4-BE49-F238E27FC236}">
                    <a16:creationId xmlns:a16="http://schemas.microsoft.com/office/drawing/2014/main" id="{99AF2566-B92C-9D23-FEEB-DC0D4448E05B}"/>
                  </a:ext>
                </a:extLst>
              </p:cNvPr>
              <p:cNvSpPr/>
              <p:nvPr/>
            </p:nvSpPr>
            <p:spPr>
              <a:xfrm>
                <a:off x="3426902" y="2568409"/>
                <a:ext cx="725648" cy="1208900"/>
              </a:xfrm>
              <a:prstGeom prst="arc">
                <a:avLst>
                  <a:gd name="adj1" fmla="val 535615"/>
                  <a:gd name="adj2" fmla="val 6545153"/>
                </a:avLst>
              </a:prstGeom>
              <a:ln>
                <a:headEnd type="none" w="med" len="med"/>
                <a:tailEnd type="triangle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92AC8E0-FCC6-E71B-5BC4-5120FE23E4B9}"/>
                  </a:ext>
                </a:extLst>
              </p:cNvPr>
              <p:cNvSpPr txBox="1"/>
              <p:nvPr/>
            </p:nvSpPr>
            <p:spPr>
              <a:xfrm>
                <a:off x="3789726" y="3867135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update</a:t>
                </a:r>
              </a:p>
            </p:txBody>
          </p:sp>
          <p:sp>
            <p:nvSpPr>
              <p:cNvPr id="29" name="Right Brace 28">
                <a:extLst>
                  <a:ext uri="{FF2B5EF4-FFF2-40B4-BE49-F238E27FC236}">
                    <a16:creationId xmlns:a16="http://schemas.microsoft.com/office/drawing/2014/main" id="{5F51F495-2EAC-8264-CC4A-93D946C0958D}"/>
                  </a:ext>
                </a:extLst>
              </p:cNvPr>
              <p:cNvSpPr/>
              <p:nvPr/>
            </p:nvSpPr>
            <p:spPr>
              <a:xfrm rot="16200000">
                <a:off x="3901011" y="2344894"/>
                <a:ext cx="164691" cy="1218182"/>
              </a:xfrm>
              <a:prstGeom prst="rightBrac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FCAA45-F198-4B6F-1877-3432EB76686F}"/>
                  </a:ext>
                </a:extLst>
              </p:cNvPr>
              <p:cNvSpPr txBox="1"/>
              <p:nvPr/>
            </p:nvSpPr>
            <p:spPr>
              <a:xfrm>
                <a:off x="3636948" y="2643914"/>
                <a:ext cx="725648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100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1-step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/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200" dirty="0"/>
                    <a:t>Used to bootstrap the remaining return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a14:m>
                  <a:endParaRPr lang="en-US" sz="1200" dirty="0"/>
                </a:p>
              </p:txBody>
            </p:sp>
          </mc:Choice>
          <mc:Fallback xmlns="">
            <p:sp>
              <p:nvSpPr>
                <p:cNvPr id="34" name="Speech Bubble: Rectangle with Corners Rounded 33">
                  <a:extLst>
                    <a:ext uri="{FF2B5EF4-FFF2-40B4-BE49-F238E27FC236}">
                      <a16:creationId xmlns:a16="http://schemas.microsoft.com/office/drawing/2014/main" id="{B40E3416-D980-4AD9-2BA7-399F65D76A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2586" y="4041516"/>
                  <a:ext cx="1781788" cy="425199"/>
                </a:xfrm>
                <a:prstGeom prst="wedgeRoundRectCallout">
                  <a:avLst>
                    <a:gd name="adj1" fmla="val -75683"/>
                    <a:gd name="adj2" fmla="val -67167"/>
                    <a:gd name="adj3" fmla="val 16667"/>
                  </a:avLst>
                </a:prstGeom>
                <a:blipFill>
                  <a:blip r:embed="rId8"/>
                  <a:stretch>
                    <a:fillRect b="-89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B9E5956-B033-E66C-9244-F254E34930E3}"/>
              </a:ext>
            </a:extLst>
          </p:cNvPr>
          <p:cNvGrpSpPr/>
          <p:nvPr/>
        </p:nvGrpSpPr>
        <p:grpSpPr>
          <a:xfrm>
            <a:off x="3084949" y="5522208"/>
            <a:ext cx="5403210" cy="832369"/>
            <a:chOff x="3245492" y="5722123"/>
            <a:chExt cx="5403210" cy="832369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C25B38B9-8EEE-3230-C9A7-D1B5877AC90A}"/>
                </a:ext>
              </a:extLst>
            </p:cNvPr>
            <p:cNvGrpSpPr/>
            <p:nvPr/>
          </p:nvGrpSpPr>
          <p:grpSpPr>
            <a:xfrm>
              <a:off x="3245492" y="5722123"/>
              <a:ext cx="4870596" cy="666396"/>
              <a:chOff x="2879313" y="2782204"/>
              <a:chExt cx="5439985" cy="879847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E7470490-29F2-50C7-075E-7377CEFC4DB5}"/>
                  </a:ext>
                </a:extLst>
              </p:cNvPr>
              <p:cNvGrpSpPr/>
              <p:nvPr/>
            </p:nvGrpSpPr>
            <p:grpSpPr>
              <a:xfrm>
                <a:off x="2879313" y="2782204"/>
                <a:ext cx="5439985" cy="631088"/>
                <a:chOff x="2879313" y="2782204"/>
                <a:chExt cx="5439985" cy="631088"/>
              </a:xfrm>
            </p:grpSpPr>
            <p:sp>
              <p:nvSpPr>
                <p:cNvPr id="4" name="Oval 3">
                  <a:extLst>
                    <a:ext uri="{FF2B5EF4-FFF2-40B4-BE49-F238E27FC236}">
                      <a16:creationId xmlns:a16="http://schemas.microsoft.com/office/drawing/2014/main" id="{B94B77C9-C9AA-6F5D-D56B-315043DD70EF}"/>
                    </a:ext>
                  </a:extLst>
                </p:cNvPr>
                <p:cNvSpPr/>
                <p:nvPr/>
              </p:nvSpPr>
              <p:spPr>
                <a:xfrm>
                  <a:off x="3378394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sp>
              <p:nvSpPr>
                <p:cNvPr id="5" name="Oval 4">
                  <a:extLst>
                    <a:ext uri="{FF2B5EF4-FFF2-40B4-BE49-F238E27FC236}">
                      <a16:creationId xmlns:a16="http://schemas.microsoft.com/office/drawing/2014/main" id="{8EAB5D2C-C971-DEFC-52FE-D0987A0552AA}"/>
                    </a:ext>
                  </a:extLst>
                </p:cNvPr>
                <p:cNvSpPr/>
                <p:nvPr/>
              </p:nvSpPr>
              <p:spPr>
                <a:xfrm>
                  <a:off x="7907350" y="3224828"/>
                  <a:ext cx="174504" cy="188464"/>
                </a:xfrm>
                <a:prstGeom prst="ellipse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/>
                </a:p>
              </p:txBody>
            </p:sp>
            <p:cxnSp>
              <p:nvCxnSpPr>
                <p:cNvPr id="7" name="Straight Arrow Connector 6">
                  <a:extLst>
                    <a:ext uri="{FF2B5EF4-FFF2-40B4-BE49-F238E27FC236}">
                      <a16:creationId xmlns:a16="http://schemas.microsoft.com/office/drawing/2014/main" id="{0F54933B-23C4-19A8-0DB4-85CED3BAE1BB}"/>
                    </a:ext>
                  </a:extLst>
                </p:cNvPr>
                <p:cNvCxnSpPr/>
                <p:nvPr/>
              </p:nvCxnSpPr>
              <p:spPr>
                <a:xfrm>
                  <a:off x="3664580" y="3319060"/>
                  <a:ext cx="4132251" cy="0"/>
                </a:xfrm>
                <a:prstGeom prst="straightConnector1">
                  <a:avLst/>
                </a:prstGeom>
                <a:ln w="57150">
                  <a:headEnd type="triangle" w="med" len="med"/>
                  <a:tailEnd type="triangle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141C27E2-D7A4-5F48-644A-B5DB89090844}"/>
                    </a:ext>
                  </a:extLst>
                </p:cNvPr>
                <p:cNvSpPr txBox="1"/>
                <p:nvPr/>
              </p:nvSpPr>
              <p:spPr>
                <a:xfrm>
                  <a:off x="2879313" y="2782204"/>
                  <a:ext cx="1172665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400" dirty="0"/>
                    <a:t>1-step TD</a:t>
                  </a:r>
                </a:p>
              </p:txBody>
            </p:sp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83257FD-880A-AF81-88C4-FE4114583699}"/>
                    </a:ext>
                  </a:extLst>
                </p:cNvPr>
                <p:cNvSpPr txBox="1"/>
                <p:nvPr/>
              </p:nvSpPr>
              <p:spPr>
                <a:xfrm>
                  <a:off x="7669904" y="2798160"/>
                  <a:ext cx="649394" cy="4063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400" dirty="0"/>
                    <a:t>MC </a:t>
                  </a:r>
                </a:p>
              </p:txBody>
            </p:sp>
          </p:grp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22D92CF-821B-F68A-10A5-9F501334710E}"/>
                  </a:ext>
                </a:extLst>
              </p:cNvPr>
              <p:cNvSpPr txBox="1"/>
              <p:nvPr/>
            </p:nvSpPr>
            <p:spPr>
              <a:xfrm>
                <a:off x="5090858" y="3354274"/>
                <a:ext cx="117266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Spectrum</a:t>
                </a: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78BFD95-D1AF-D3B0-1498-24CDC947051F}"/>
                </a:ext>
              </a:extLst>
            </p:cNvPr>
            <p:cNvSpPr txBox="1"/>
            <p:nvPr/>
          </p:nvSpPr>
          <p:spPr>
            <a:xfrm>
              <a:off x="7079259" y="6246715"/>
              <a:ext cx="15694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(whole episode)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73797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81FB-75E1-939B-1734-9A3A5E7DA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a Longer Look-ahead Useful?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443D5A25-1072-1AD7-D8D1-460CD5D847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816099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Example</a:t>
            </a:r>
            <a:r>
              <a:rPr lang="en-US" dirty="0"/>
              <a:t>: Maze with only one final reward for reaching the goal. We learn from the first episode.</a:t>
            </a:r>
          </a:p>
        </p:txBody>
      </p: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54C7612-C89E-C0DD-842F-9EC0D68D64C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91" t="13698" r="5202" b="44797"/>
          <a:stretch>
            <a:fillRect/>
          </a:stretch>
        </p:blipFill>
        <p:spPr>
          <a:xfrm>
            <a:off x="747486" y="2663371"/>
            <a:ext cx="10530259" cy="268423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5C7086F-4FE3-4B76-D2E3-6ED4B79424DB}"/>
              </a:ext>
            </a:extLst>
          </p:cNvPr>
          <p:cNvSpPr txBox="1"/>
          <p:nvPr/>
        </p:nvSpPr>
        <p:spPr>
          <a:xfrm>
            <a:off x="4846864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1-step look ahead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BAAE08-C8A0-AF74-313E-B5C800716589}"/>
              </a:ext>
            </a:extLst>
          </p:cNvPr>
          <p:cNvSpPr txBox="1"/>
          <p:nvPr/>
        </p:nvSpPr>
        <p:spPr>
          <a:xfrm>
            <a:off x="8260541" y="2343189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10-step look ahead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A45E4-C211-7029-512E-B626F9027F51}"/>
              </a:ext>
            </a:extLst>
          </p:cNvPr>
          <p:cNvSpPr txBox="1"/>
          <p:nvPr/>
        </p:nvSpPr>
        <p:spPr>
          <a:xfrm>
            <a:off x="1283608" y="2318614"/>
            <a:ext cx="249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Episode (MC)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36E2F7-F8B8-2A59-9E25-A531E0CB5822}"/>
              </a:ext>
            </a:extLst>
          </p:cNvPr>
          <p:cNvSpPr txBox="1"/>
          <p:nvPr/>
        </p:nvSpPr>
        <p:spPr>
          <a:xfrm>
            <a:off x="8157028" y="5298457"/>
            <a:ext cx="30697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Updates 10 state values with the goal reward. </a:t>
            </a:r>
            <a:br>
              <a:rPr lang="en-US" dirty="0"/>
            </a:br>
            <a:r>
              <a:rPr lang="en-US" dirty="0"/>
              <a:t>Learns faster.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4153B3-450A-085C-3C96-299EB57D1465}"/>
              </a:ext>
            </a:extLst>
          </p:cNvPr>
          <p:cNvSpPr txBox="1"/>
          <p:nvPr/>
        </p:nvSpPr>
        <p:spPr>
          <a:xfrm>
            <a:off x="1185636" y="3888565"/>
            <a:ext cx="195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834641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6E0E6-B94F-9317-6D17-F2C05C4B9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DEAA54D5-A706-39E6-7AFF-36D79A0279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C56159-9323-5507-2CD1-C89D8951BC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Estimate the value function for a given policy. </a:t>
            </a:r>
          </a:p>
        </p:txBody>
      </p:sp>
    </p:spTree>
    <p:extLst>
      <p:ext uri="{BB962C8B-B14F-4D97-AF65-F5344CB8AC3E}">
        <p14:creationId xmlns:p14="http://schemas.microsoft.com/office/powerpoint/2010/main" val="2648172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:a16="http://schemas.microsoft.com/office/drawing/2014/main" id="{E481D1FB-CB76-10B4-AAF2-565B474050E1}"/>
              </a:ext>
            </a:extLst>
          </p:cNvPr>
          <p:cNvGrpSpPr/>
          <p:nvPr/>
        </p:nvGrpSpPr>
        <p:grpSpPr>
          <a:xfrm>
            <a:off x="3318150" y="1038934"/>
            <a:ext cx="5200795" cy="4414234"/>
            <a:chOff x="3318150" y="1038934"/>
            <a:chExt cx="5200795" cy="441423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9C05D1A-35B9-726A-B9FB-4539015C1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18150" y="1038934"/>
              <a:ext cx="5200795" cy="4414234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/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125A7302-8A22-B180-53C3-BC6CC6CD41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2638" y="1750393"/>
                  <a:ext cx="566687" cy="276999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/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23ACA19-7483-1ABC-2CD2-F35C437F89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3207" y="2286791"/>
                  <a:ext cx="566687" cy="276999"/>
                </a:xfrm>
                <a:prstGeom prst="rect">
                  <a:avLst/>
                </a:prstGeom>
                <a:blipFill>
                  <a:blip r:embed="rId4"/>
                  <a:stretch>
                    <a:fillRect r="-19565"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/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20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F9A7E01B-3795-04F8-3F68-4BF896CF1A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5437" y="1566995"/>
                  <a:ext cx="566687" cy="276999"/>
                </a:xfrm>
                <a:prstGeom prst="rect">
                  <a:avLst/>
                </a:prstGeom>
                <a:blipFill>
                  <a:blip r:embed="rId5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D3C032F-6175-705F-FE89-1EF9E650E7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6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/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400" dirty="0"/>
                  <a:t> + bootstrap the remaining return by the value of the next state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00" dirty="0"/>
                  <a:t>.</a:t>
                </a:r>
              </a:p>
            </p:txBody>
          </p:sp>
        </mc:Choice>
        <mc:Fallback xmlns="">
          <p:sp>
            <p:nvSpPr>
              <p:cNvPr id="14" name="Speech Bubble: Rectangle with Corners Rounded 13">
                <a:extLst>
                  <a:ext uri="{FF2B5EF4-FFF2-40B4-BE49-F238E27FC236}">
                    <a16:creationId xmlns:a16="http://schemas.microsoft.com/office/drawing/2014/main" id="{E5A035D4-82B1-F750-0FDC-9E3D1661FF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4287" y="1755096"/>
                <a:ext cx="2157589" cy="1130593"/>
              </a:xfrm>
              <a:prstGeom prst="wedgeRoundRectCallout">
                <a:avLst>
                  <a:gd name="adj1" fmla="val 84571"/>
                  <a:gd name="adj2" fmla="val -22481"/>
                  <a:gd name="adj3" fmla="val 16667"/>
                </a:avLst>
              </a:prstGeom>
              <a:blipFill>
                <a:blip r:embed="rId7"/>
                <a:stretch>
                  <a:fillRect t="-1596" b="-5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/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Update with the whole sequence of observed rewards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1400" dirty="0"/>
                  <a:t> no bootstrapping.</a:t>
                </a:r>
              </a:p>
            </p:txBody>
          </p:sp>
        </mc:Choice>
        <mc:Fallback xmlns="">
          <p:sp>
            <p:nvSpPr>
              <p:cNvPr id="15" name="Speech Bubble: Rectangle with Corners Rounded 14">
                <a:extLst>
                  <a:ext uri="{FF2B5EF4-FFF2-40B4-BE49-F238E27FC236}">
                    <a16:creationId xmlns:a16="http://schemas.microsoft.com/office/drawing/2014/main" id="{28550480-EEED-F900-3E4A-FF07C3F8AB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1949" y="2299895"/>
                <a:ext cx="2536077" cy="894587"/>
              </a:xfrm>
              <a:prstGeom prst="wedgeRoundRectCallout">
                <a:avLst>
                  <a:gd name="adj1" fmla="val -68504"/>
                  <a:gd name="adj2" fmla="val 79718"/>
                  <a:gd name="adj3" fmla="val 16667"/>
                </a:avLst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ight Brace 17">
            <a:extLst>
              <a:ext uri="{FF2B5EF4-FFF2-40B4-BE49-F238E27FC236}">
                <a16:creationId xmlns:a16="http://schemas.microsoft.com/office/drawing/2014/main" id="{E3545678-D718-8AC1-2DDE-65A2B43393C2}"/>
              </a:ext>
            </a:extLst>
          </p:cNvPr>
          <p:cNvSpPr/>
          <p:nvPr/>
        </p:nvSpPr>
        <p:spPr>
          <a:xfrm>
            <a:off x="7967513" y="1750393"/>
            <a:ext cx="199063" cy="346007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/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Return</a:t>
                </a:r>
              </a:p>
              <a:p>
                <a:r>
                  <a:rPr lang="en-US" sz="1600" b="0" dirty="0"/>
                  <a:t>1-step TD: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2-step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/>
              </a:p>
              <a:p>
                <a:r>
                  <a:rPr lang="en-US" sz="1600" dirty="0"/>
                  <a:t>…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-step TD: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+2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…+</m:t>
                        </m:r>
                        <m:sSup>
                          <m:sSup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endParaRPr lang="en-US" sz="1600" dirty="0"/>
              </a:p>
              <a:p>
                <a:r>
                  <a:rPr lang="en-US" sz="1600" dirty="0"/>
                  <a:t>MC: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      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US" sz="1600" i="1">
                        <a:latin typeface="Cambria Math" panose="02040503050406030204" pitchFamily="18" charset="0"/>
                      </a:rPr>
                      <m:t>+…+</m:t>
                    </m:r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b="1" dirty="0"/>
                  <a:t>Update</a:t>
                </a:r>
                <a:r>
                  <a:rPr lang="en-US" sz="1600" dirty="0"/>
                  <a:t>: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←</m:t>
                    </m:r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)]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90DE811-595E-8CBB-4AEB-304DB735AF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41" y="3868550"/>
                <a:ext cx="6376791" cy="2062103"/>
              </a:xfrm>
              <a:prstGeom prst="rect">
                <a:avLst/>
              </a:prstGeom>
              <a:blipFill>
                <a:blip r:embed="rId9"/>
                <a:stretch>
                  <a:fillRect l="-574" t="-888" b="-2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/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400" b="1" dirty="0"/>
                  <a:t>Notation</a:t>
                </a:r>
                <a:endParaRPr lang="en-US" sz="1400" b="1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1400" dirty="0"/>
                  <a:t>  … the return is calculated from the rewards up to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and the rest is bootstrapped using the value function estimate.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804826F-9AE8-BB0B-FA2E-3E36076ACC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92610" y="4517965"/>
                <a:ext cx="2362349" cy="1384995"/>
              </a:xfrm>
              <a:prstGeom prst="rect">
                <a:avLst/>
              </a:prstGeom>
              <a:blipFill>
                <a:blip r:embed="rId10"/>
                <a:stretch>
                  <a:fillRect l="-513" t="-435" r="-769" b="-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/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1400" dirty="0"/>
                  <a:t>The update needs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 and is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400" dirty="0"/>
                  <a:t> steps delayed!</a:t>
                </a:r>
              </a:p>
            </p:txBody>
          </p:sp>
        </mc:Choice>
        <mc:Fallback xmlns="">
          <p:sp>
            <p:nvSpPr>
              <p:cNvPr id="27" name="Speech Bubble: Rectangle with Corners Rounded 26">
                <a:extLst>
                  <a:ext uri="{FF2B5EF4-FFF2-40B4-BE49-F238E27FC236}">
                    <a16:creationId xmlns:a16="http://schemas.microsoft.com/office/drawing/2014/main" id="{3E3ADA8B-8A4F-3382-9E61-2CE86283C2F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0283" y="6126976"/>
                <a:ext cx="4009937" cy="319673"/>
              </a:xfrm>
              <a:prstGeom prst="wedgeRoundRectCallout">
                <a:avLst>
                  <a:gd name="adj1" fmla="val -31269"/>
                  <a:gd name="adj2" fmla="val -115663"/>
                  <a:gd name="adj3" fmla="val 16667"/>
                </a:avLst>
              </a:prstGeom>
              <a:blipFill>
                <a:blip r:embed="rId11"/>
                <a:stretch>
                  <a:fillRect b="-7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B30B7AFA-5070-0761-161B-A2191BB26B52}"/>
              </a:ext>
            </a:extLst>
          </p:cNvPr>
          <p:cNvSpPr txBox="1"/>
          <p:nvPr/>
        </p:nvSpPr>
        <p:spPr>
          <a:xfrm>
            <a:off x="6772386" y="5462862"/>
            <a:ext cx="2185332" cy="1200329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Question: The implementation drops the subscript for V!</a:t>
            </a:r>
          </a:p>
        </p:txBody>
      </p:sp>
    </p:spTree>
    <p:extLst>
      <p:ext uri="{BB962C8B-B14F-4D97-AF65-F5344CB8AC3E}">
        <p14:creationId xmlns:p14="http://schemas.microsoft.com/office/powerpoint/2010/main" val="12416829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Alg.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Prediction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4016E2A-017B-E3E1-20B3-74045202D0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034EDA-40C7-0E1C-E97A-1D86B8964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3110" y="1311069"/>
            <a:ext cx="7765780" cy="518180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843E6ED-89CE-1779-C4B7-7D54066D44FE}"/>
              </a:ext>
            </a:extLst>
          </p:cNvPr>
          <p:cNvSpPr txBox="1"/>
          <p:nvPr/>
        </p:nvSpPr>
        <p:spPr>
          <a:xfrm>
            <a:off x="4424253" y="4954746"/>
            <a:ext cx="36645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()</a:t>
            </a:r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BE955289-DCEB-4971-C670-C936C2BF5317}"/>
              </a:ext>
            </a:extLst>
          </p:cNvPr>
          <p:cNvSpPr/>
          <p:nvPr/>
        </p:nvSpPr>
        <p:spPr>
          <a:xfrm>
            <a:off x="383153" y="3166218"/>
            <a:ext cx="1829957" cy="588954"/>
          </a:xfrm>
          <a:prstGeom prst="wedgeRoundRectCallout">
            <a:avLst>
              <a:gd name="adj1" fmla="val 76684"/>
              <a:gd name="adj2" fmla="val 1389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end of episode is detected below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/>
              <p:nvPr/>
            </p:nvSpPr>
            <p:spPr>
              <a:xfrm>
                <a:off x="312056" y="4760687"/>
                <a:ext cx="1901053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start only when we can update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≥ 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4914E5E8-E349-09FD-90D9-4EB3CD1EA1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056" y="4760687"/>
                <a:ext cx="1901053" cy="786244"/>
              </a:xfrm>
              <a:prstGeom prst="wedgeRoundRectCallout">
                <a:avLst>
                  <a:gd name="adj1" fmla="val 91754"/>
                  <a:gd name="adj2" fmla="val 800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F26C6334-EC59-8CC4-D349-78BE5FEC6E3F}"/>
              </a:ext>
            </a:extLst>
          </p:cNvPr>
          <p:cNvSpPr/>
          <p:nvPr/>
        </p:nvSpPr>
        <p:spPr>
          <a:xfrm>
            <a:off x="7425988" y="5293300"/>
            <a:ext cx="2329544" cy="543806"/>
          </a:xfrm>
          <a:prstGeom prst="wedgeRoundRectCallout">
            <a:avLst>
              <a:gd name="adj1" fmla="val -70920"/>
              <a:gd name="adj2" fmla="val 1903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Use bootstrapping if the episode is not over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3B6702-D9F1-9CDF-DE51-C7708AD222CA}"/>
              </a:ext>
            </a:extLst>
          </p:cNvPr>
          <p:cNvSpPr/>
          <p:nvPr/>
        </p:nvSpPr>
        <p:spPr>
          <a:xfrm>
            <a:off x="754424" y="5702958"/>
            <a:ext cx="1458686" cy="338555"/>
          </a:xfrm>
          <a:prstGeom prst="wedgeRoundRectCallout">
            <a:avLst>
              <a:gd name="adj1" fmla="val 122871"/>
              <a:gd name="adj2" fmla="val 46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The update</a:t>
            </a:r>
          </a:p>
        </p:txBody>
      </p:sp>
    </p:spTree>
    <p:extLst>
      <p:ext uri="{BB962C8B-B14F-4D97-AF65-F5344CB8AC3E}">
        <p14:creationId xmlns:p14="http://schemas.microsoft.com/office/powerpoint/2010/main" val="38657128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34AF4-4767-BE73-5248-2A894D1A0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1" dirty="0"/>
                  <a:t>Error Reduction Property of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Returns </a:t>
                </a:r>
              </a:p>
              <a:p>
                <a:r>
                  <a:rPr lang="en-US" dirty="0"/>
                  <a:t>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US" dirty="0"/>
                  <a:t> to correct for the missing rewards after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dirty="0"/>
                  <a:t>The worst error of the expected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return is guaranteed to be less than or equal to the discounted the worst error under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𝔼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: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]−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𝑉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𝑣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the update is guaranteed to reduce the error meaning that all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(including 1-step and MC)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0AB8C-EE24-D6EE-CD41-08A2D933C6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714123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Control (Sarsa)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C0944D32-5F67-3759-0E01-9E6ED1636A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BFD2D0-399A-1A99-8CB8-AA18E396C9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 a policy. This is done by estimating Q-values instead of V-values. </a:t>
            </a:r>
          </a:p>
        </p:txBody>
      </p:sp>
    </p:spTree>
    <p:extLst>
      <p:ext uri="{BB962C8B-B14F-4D97-AF65-F5344CB8AC3E}">
        <p14:creationId xmlns:p14="http://schemas.microsoft.com/office/powerpoint/2010/main" val="18363510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FF0FE0E-E041-84BE-0F39-AE6BA8D28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Original Sarsa is called one-step Sarsa or Sarsa(0)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Sarsa</a:t>
                </a:r>
              </a:p>
              <a:p>
                <a:pPr lvl="1"/>
                <a:r>
                  <a:rPr lang="en-US" dirty="0"/>
                  <a:t>On policy</a:t>
                </a:r>
              </a:p>
              <a:p>
                <a:pPr lvl="1"/>
                <a:r>
                  <a:rPr lang="en-US" dirty="0"/>
                  <a:t>Remember: The policy needs to keep exploring so we learn an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lvl="1"/>
                <a:r>
                  <a:rPr lang="en-US" dirty="0"/>
                  <a:t>Use state-action pairs and learns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so we can find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Return (redefined using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Update rule:</a:t>
                </a:r>
                <a:endParaRPr lang="en-US" baseline="-25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66D976-5489-1CA0-FBD4-D8ED85B168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C23A07C-A168-39B7-4E5B-CB74A33475C0}"/>
              </a:ext>
            </a:extLst>
          </p:cNvPr>
          <p:cNvSpPr/>
          <p:nvPr/>
        </p:nvSpPr>
        <p:spPr>
          <a:xfrm>
            <a:off x="8519020" y="578972"/>
            <a:ext cx="1530991" cy="608202"/>
          </a:xfrm>
          <a:prstGeom prst="wedgeRoundRectCallout">
            <a:avLst>
              <a:gd name="adj1" fmla="val -42766"/>
              <a:gd name="adj2" fmla="val 863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Note (0) has nothing to do with the steps!</a:t>
            </a:r>
          </a:p>
        </p:txBody>
      </p:sp>
    </p:spTree>
    <p:extLst>
      <p:ext uri="{BB962C8B-B14F-4D97-AF65-F5344CB8AC3E}">
        <p14:creationId xmlns:p14="http://schemas.microsoft.com/office/powerpoint/2010/main" val="24285459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Speedup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3C4D17A-69EF-11E4-BED6-7D19667C99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EA1E66-A5A6-1448-FC06-21631B9284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719040" y="1712911"/>
            <a:ext cx="8753919" cy="477996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/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-values updated during one episode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7794699-37F3-BC74-A159-90CC2AB035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74" y="1343579"/>
                <a:ext cx="3942825" cy="369332"/>
              </a:xfrm>
              <a:prstGeom prst="rect">
                <a:avLst/>
              </a:prstGeom>
              <a:blipFill>
                <a:blip r:embed="rId4"/>
                <a:stretch>
                  <a:fillRect l="-309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04345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Alg. From DT prediction to 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 Control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28821F91-F3CA-B3DB-B920-4A58F4CB12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87" t="-13710" b="-282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C5DA64-CB96-33B7-5A2F-82B17E4E3C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209546" y="1397000"/>
            <a:ext cx="5681934" cy="4779963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FDAF4139-9F31-EF78-000D-A76A64FB1843}"/>
              </a:ext>
            </a:extLst>
          </p:cNvPr>
          <p:cNvGrpSpPr/>
          <p:nvPr/>
        </p:nvGrpSpPr>
        <p:grpSpPr>
          <a:xfrm>
            <a:off x="391291" y="1125097"/>
            <a:ext cx="5818255" cy="4814496"/>
            <a:chOff x="391291" y="1125097"/>
            <a:chExt cx="5818255" cy="481449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DF7BC5E-65EA-3D4D-F1F7-F5B1678B32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1291" y="1397000"/>
              <a:ext cx="5818255" cy="38822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/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600" dirty="0"/>
                    <a:t> is given</a:t>
                  </a:r>
                </a:p>
              </p:txBody>
            </p:sp>
          </mc:Choice>
          <mc:Fallback xmlns="">
            <p:sp>
              <p:nvSpPr>
                <p:cNvPr id="6" name="Speech Bubble: Rectangle with Corners Rounded 5">
                  <a:extLst>
                    <a:ext uri="{FF2B5EF4-FFF2-40B4-BE49-F238E27FC236}">
                      <a16:creationId xmlns:a16="http://schemas.microsoft.com/office/drawing/2014/main" id="{1E655817-FD0E-0110-CF26-A64D12FE50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5495" y="1125097"/>
                  <a:ext cx="1724099" cy="543806"/>
                </a:xfrm>
                <a:prstGeom prst="wedgeRoundRectCallout">
                  <a:avLst>
                    <a:gd name="adj1" fmla="val -149901"/>
                    <a:gd name="adj2" fmla="val 90110"/>
                    <a:gd name="adj3" fmla="val 16667"/>
                  </a:avLst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/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Speech Bubble: Rectangle with Corners Rounded 6">
                  <a:extLst>
                    <a:ext uri="{FF2B5EF4-FFF2-40B4-BE49-F238E27FC236}">
                      <a16:creationId xmlns:a16="http://schemas.microsoft.com/office/drawing/2014/main" id="{0AD7BF87-C864-0A9A-559D-B2EA2F900B4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45721" y="5395787"/>
                  <a:ext cx="1724099" cy="543806"/>
                </a:xfrm>
                <a:prstGeom prst="wedgeRoundRectCallout">
                  <a:avLst>
                    <a:gd name="adj1" fmla="val -77431"/>
                    <a:gd name="adj2" fmla="val -133232"/>
                    <a:gd name="adj3" fmla="val 16667"/>
                  </a:avLst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Arrow: Right 7">
            <a:extLst>
              <a:ext uri="{FF2B5EF4-FFF2-40B4-BE49-F238E27FC236}">
                <a16:creationId xmlns:a16="http://schemas.microsoft.com/office/drawing/2014/main" id="{E2A2EAED-A095-EC43-F7C8-D9EE9FD07E2F}"/>
              </a:ext>
            </a:extLst>
          </p:cNvPr>
          <p:cNvSpPr/>
          <p:nvPr/>
        </p:nvSpPr>
        <p:spPr>
          <a:xfrm>
            <a:off x="6026200" y="3287652"/>
            <a:ext cx="458363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D7B70A-A257-1910-96CE-4CB963B34780}"/>
              </a:ext>
            </a:extLst>
          </p:cNvPr>
          <p:cNvGrpSpPr/>
          <p:nvPr/>
        </p:nvGrpSpPr>
        <p:grpSpPr>
          <a:xfrm>
            <a:off x="7549272" y="1946300"/>
            <a:ext cx="4478529" cy="4775368"/>
            <a:chOff x="7549272" y="1946300"/>
            <a:chExt cx="4478529" cy="477536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/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Update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a14:m>
                  <a:r>
                    <a:rPr lang="en-US" sz="1600" dirty="0"/>
                    <a:t> and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" name="Speech Bubble: Rectangle with Corners Rounded 3">
                  <a:extLst>
                    <a:ext uri="{FF2B5EF4-FFF2-40B4-BE49-F238E27FC236}">
                      <a16:creationId xmlns:a16="http://schemas.microsoft.com/office/drawing/2014/main" id="{DF12DD82-7DDC-9157-BB79-8D5B905F0B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30478" y="6177862"/>
                  <a:ext cx="1724099" cy="543806"/>
                </a:xfrm>
                <a:prstGeom prst="wedgeRoundRectCallout">
                  <a:avLst>
                    <a:gd name="adj1" fmla="val -54354"/>
                    <a:gd name="adj2" fmla="val -121679"/>
                    <a:gd name="adj3" fmla="val 16667"/>
                  </a:avLst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/>
                <p:nvPr/>
              </p:nvSpPr>
              <p:spPr>
                <a:xfrm>
                  <a:off x="10135182" y="4055469"/>
                  <a:ext cx="1892619" cy="543806"/>
                </a:xfrm>
                <a:prstGeom prst="wedgeRoundRectCallout">
                  <a:avLst>
                    <a:gd name="adj1" fmla="val -56378"/>
                    <a:gd name="adj2" fmla="val 60588"/>
                    <a:gd name="adj3" fmla="val 16667"/>
                  </a:avLst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sz="1600" dirty="0"/>
                    <a:t>Select next action from the  current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9" name="Speech Bubble: Rectangle with Corners Rounded 8">
                  <a:extLst>
                    <a:ext uri="{FF2B5EF4-FFF2-40B4-BE49-F238E27FC236}">
                      <a16:creationId xmlns:a16="http://schemas.microsoft.com/office/drawing/2014/main" id="{8FEBBC07-A809-4A77-8EB9-8F7555FB6C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35182" y="4055469"/>
                  <a:ext cx="1892619" cy="543806"/>
                </a:xfrm>
                <a:prstGeom prst="wedgeRoundRectCallout">
                  <a:avLst>
                    <a:gd name="adj1" fmla="val -56378"/>
                    <a:gd name="adj2" fmla="val 60588"/>
                    <a:gd name="adj3" fmla="val 16667"/>
                  </a:avLst>
                </a:prstGeom>
                <a:blipFill>
                  <a:blip r:embed="rId8"/>
                  <a:stretch>
                    <a:fillRect t="-4854" b="-2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C5221A8-2300-AE4C-B12E-E7B10DAE2C2B}"/>
                </a:ext>
              </a:extLst>
            </p:cNvPr>
            <p:cNvSpPr/>
            <p:nvPr/>
          </p:nvSpPr>
          <p:spPr>
            <a:xfrm>
              <a:off x="7549272" y="1946300"/>
              <a:ext cx="589586" cy="19660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270804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4" name="Title 3">
                <a:extLst>
                  <a:ext uri="{FF2B5EF4-FFF2-40B4-BE49-F238E27FC236}">
                    <a16:creationId xmlns:a16="http://schemas.microsoft.com/office/drawing/2014/main" id="{7DA8184C-9049-E158-3CA0-9F9DEC7C2B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b="-14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BA03D2-90FD-7653-DAD2-E19EAC638E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558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Off-Policy Learning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227CE56-EFBA-0625-24BB-9BB9832AB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Learn target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using behavioral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Method</a:t>
                </a:r>
                <a:r>
                  <a:rPr lang="en-US" dirty="0"/>
                  <a:t>: Use importance sampling ratio as a weight for updates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: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:r>
                  <a:rPr lang="en-US" dirty="0"/>
                  <a:t>   where the weight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  <m:e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Can be used in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TD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Sarsa.</a:t>
                </a:r>
              </a:p>
              <a:p>
                <a:r>
                  <a:rPr lang="en-US" dirty="0"/>
                  <a:t>Note: Since the behavioral policy provides exploration, we can learn the best (greedy) policy.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2EDB9D-8B4A-E823-8389-87C92CF33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B552D126-208B-494D-2625-5FF1C93AC51E}"/>
              </a:ext>
            </a:extLst>
          </p:cNvPr>
          <p:cNvSpPr/>
          <p:nvPr/>
        </p:nvSpPr>
        <p:spPr>
          <a:xfrm>
            <a:off x="8892330" y="3665989"/>
            <a:ext cx="2118220" cy="1044429"/>
          </a:xfrm>
          <a:prstGeom prst="wedgeRoundRectCallout">
            <a:avLst>
              <a:gd name="adj1" fmla="val -100549"/>
              <a:gd name="adj2" fmla="val 753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Probability that 𝑏 chooses the same actions as 𝜋</a:t>
            </a:r>
          </a:p>
        </p:txBody>
      </p:sp>
    </p:spTree>
    <p:extLst>
      <p:ext uri="{BB962C8B-B14F-4D97-AF65-F5344CB8AC3E}">
        <p14:creationId xmlns:p14="http://schemas.microsoft.com/office/powerpoint/2010/main" val="1798077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45701-1839-841A-1942-F401EF862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Comparing On-Policy with Off-Policy</a:t>
            </a:r>
          </a:p>
        </p:txBody>
      </p:sp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8A799686-6590-82E9-E530-6D9F900BE8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9429" y="1497795"/>
            <a:ext cx="5205999" cy="437958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25632627-3153-537A-8736-FC5EB073E581}"/>
              </a:ext>
            </a:extLst>
          </p:cNvPr>
          <p:cNvSpPr/>
          <p:nvPr/>
        </p:nvSpPr>
        <p:spPr>
          <a:xfrm>
            <a:off x="1644990" y="202308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C5BEAA-9BB8-9D02-5309-611E50704614}"/>
              </a:ext>
            </a:extLst>
          </p:cNvPr>
          <p:cNvSpPr/>
          <p:nvPr/>
        </p:nvSpPr>
        <p:spPr>
          <a:xfrm>
            <a:off x="3989157" y="5300291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4EAF0B-5EB2-C808-EDCD-CB37308993D3}"/>
              </a:ext>
            </a:extLst>
          </p:cNvPr>
          <p:cNvSpPr/>
          <p:nvPr/>
        </p:nvSpPr>
        <p:spPr>
          <a:xfrm>
            <a:off x="3345819" y="4316643"/>
            <a:ext cx="581679" cy="20358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E409DA4-C9B0-9C34-A0E9-54BAD6DFE9B8}"/>
              </a:ext>
            </a:extLst>
          </p:cNvPr>
          <p:cNvGrpSpPr/>
          <p:nvPr/>
        </p:nvGrpSpPr>
        <p:grpSpPr>
          <a:xfrm>
            <a:off x="5659709" y="1062757"/>
            <a:ext cx="6430497" cy="5674134"/>
            <a:chOff x="5659709" y="1062757"/>
            <a:chExt cx="6430497" cy="5674134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F49EE39-7243-4381-1C9D-C27904D7EFE1}"/>
                </a:ext>
              </a:extLst>
            </p:cNvPr>
            <p:cNvGrpSpPr/>
            <p:nvPr/>
          </p:nvGrpSpPr>
          <p:grpSpPr>
            <a:xfrm>
              <a:off x="5659709" y="1062757"/>
              <a:ext cx="6430497" cy="5674134"/>
              <a:chOff x="5659709" y="1062757"/>
              <a:chExt cx="6430497" cy="5674134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2111ED8E-9F47-A0A6-34AD-6DCCED9317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659709" y="1334660"/>
                <a:ext cx="5945915" cy="4817456"/>
              </a:xfrm>
              <a:prstGeom prst="rect">
                <a:avLst/>
              </a:prstGeom>
            </p:spPr>
          </p:pic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7405347D-3A8C-817A-0198-FB46D428A08C}"/>
                  </a:ext>
                </a:extLst>
              </p:cNvPr>
              <p:cNvSpPr/>
              <p:nvPr/>
            </p:nvSpPr>
            <p:spPr>
              <a:xfrm>
                <a:off x="9881525" y="1062757"/>
                <a:ext cx="1724099" cy="543806"/>
              </a:xfrm>
              <a:prstGeom prst="wedgeRoundRectCallout">
                <a:avLst>
                  <a:gd name="adj1" fmla="val -75002"/>
                  <a:gd name="adj2" fmla="val 6828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Add behavior policy</a:t>
                </a: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7CC600E-3AFD-2FD3-7283-4D46C25C5673}"/>
                  </a:ext>
                </a:extLst>
              </p:cNvPr>
              <p:cNvSpPr/>
              <p:nvPr/>
            </p:nvSpPr>
            <p:spPr>
              <a:xfrm>
                <a:off x="8718211" y="4418437"/>
                <a:ext cx="586333" cy="216384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0AD5C9F-6D47-4621-45B9-9385077EF25E}"/>
                  </a:ext>
                </a:extLst>
              </p:cNvPr>
              <p:cNvSpPr/>
              <p:nvPr/>
            </p:nvSpPr>
            <p:spPr>
              <a:xfrm>
                <a:off x="10366107" y="4418437"/>
                <a:ext cx="1724099" cy="543806"/>
              </a:xfrm>
              <a:prstGeom prst="wedgeRoundRectCallout">
                <a:avLst>
                  <a:gd name="adj1" fmla="val -109818"/>
                  <a:gd name="adj2" fmla="val 158139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Importance sampling ratio</a:t>
                </a: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F3B9A1D-1B3F-1708-DAD7-FA40CAA1493A}"/>
                  </a:ext>
                </a:extLst>
              </p:cNvPr>
              <p:cNvSpPr/>
              <p:nvPr/>
            </p:nvSpPr>
            <p:spPr>
              <a:xfrm>
                <a:off x="6965029" y="2023082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8E169648-1DAF-B5A5-C80D-AEBC7295E489}"/>
                  </a:ext>
                </a:extLst>
              </p:cNvPr>
              <p:cNvSpPr/>
              <p:nvPr/>
            </p:nvSpPr>
            <p:spPr>
              <a:xfrm>
                <a:off x="9433632" y="5673788"/>
                <a:ext cx="447893" cy="203587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2AEA7A5-93F3-FE1D-2FF9-E7F3208BA93C}"/>
                  </a:ext>
                </a:extLst>
              </p:cNvPr>
              <p:cNvSpPr txBox="1"/>
              <p:nvPr/>
            </p:nvSpPr>
            <p:spPr>
              <a:xfrm>
                <a:off x="6685241" y="6152116"/>
                <a:ext cx="465227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The behavioral policy provides exploration do we can learn a greedy policy!</a:t>
                </a:r>
              </a:p>
            </p:txBody>
          </p: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BEC83A1B-FFF7-CAE0-EFC3-59D9D3F791C3}"/>
                </a:ext>
              </a:extLst>
            </p:cNvPr>
            <p:cNvSpPr/>
            <p:nvPr/>
          </p:nvSpPr>
          <p:spPr>
            <a:xfrm>
              <a:off x="8154481" y="5490373"/>
              <a:ext cx="1150063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91ADFBD-CEF3-5E12-84F2-4276E80144D6}"/>
                </a:ext>
              </a:extLst>
            </p:cNvPr>
            <p:cNvSpPr/>
            <p:nvPr/>
          </p:nvSpPr>
          <p:spPr>
            <a:xfrm>
              <a:off x="8823744" y="1695798"/>
              <a:ext cx="675856" cy="203587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9A7ADEA-50AB-1D47-DCD7-7B2BDD2E1057}"/>
              </a:ext>
            </a:extLst>
          </p:cNvPr>
          <p:cNvSpPr/>
          <p:nvPr/>
        </p:nvSpPr>
        <p:spPr>
          <a:xfrm>
            <a:off x="5430527" y="3245771"/>
            <a:ext cx="458363" cy="76781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peech Bubble: Rectangle with Corners Rounded 19">
            <a:extLst>
              <a:ext uri="{FF2B5EF4-FFF2-40B4-BE49-F238E27FC236}">
                <a16:creationId xmlns:a16="http://schemas.microsoft.com/office/drawing/2014/main" id="{3D719930-D8A7-468C-7B92-AAA575154DF9}"/>
              </a:ext>
            </a:extLst>
          </p:cNvPr>
          <p:cNvSpPr/>
          <p:nvPr/>
        </p:nvSpPr>
        <p:spPr>
          <a:xfrm>
            <a:off x="10711542" y="1852972"/>
            <a:ext cx="1378663" cy="543806"/>
          </a:xfrm>
          <a:prstGeom prst="wedgeRoundRectCallout">
            <a:avLst>
              <a:gd name="adj1" fmla="val -85843"/>
              <a:gd name="adj2" fmla="val -2440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Greedy target policy</a:t>
            </a:r>
          </a:p>
        </p:txBody>
      </p:sp>
    </p:spTree>
    <p:extLst>
      <p:ext uri="{BB962C8B-B14F-4D97-AF65-F5344CB8AC3E}">
        <p14:creationId xmlns:p14="http://schemas.microsoft.com/office/powerpoint/2010/main" val="15283323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851C-DBC0-5ACA-7D15-A7CD3408E7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Need to Know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 let us vary the learning behavior between on-step DT methods and Monte Carlo Methods (whole episode).</a:t>
                </a:r>
              </a:p>
              <a:p>
                <a:endParaRPr lang="en-US" dirty="0"/>
              </a:p>
              <a:p>
                <a:r>
                  <a:rPr lang="en-US" dirty="0"/>
                  <a:t>Advantage: </a:t>
                </a:r>
              </a:p>
              <a:p>
                <a:pPr lvl="1"/>
                <a:r>
                  <a:rPr lang="en-US" b="1" dirty="0"/>
                  <a:t>Learning</a:t>
                </a:r>
                <a:r>
                  <a:rPr lang="en-US" dirty="0"/>
                  <a:t>: Looking more steps ahead speeds up learning, especially for sparse rewards.</a:t>
                </a:r>
              </a:p>
              <a:p>
                <a:pPr lvl="1"/>
                <a:r>
                  <a:rPr lang="en-US" dirty="0"/>
                  <a:t>An intermediate amount of bootstrapping typically performs better than the one-step and MC extremes.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is application-dependent and can be tuned.</a:t>
                </a:r>
              </a:p>
              <a:p>
                <a:endParaRPr lang="en-US" dirty="0"/>
              </a:p>
              <a:p>
                <a:r>
                  <a:rPr lang="en-US" dirty="0"/>
                  <a:t>Drawback:</a:t>
                </a:r>
              </a:p>
              <a:p>
                <a:pPr lvl="1"/>
                <a:r>
                  <a:rPr lang="en-US" b="1" dirty="0"/>
                  <a:t>Delay</a:t>
                </a:r>
                <a:r>
                  <a:rPr lang="en-US" dirty="0"/>
                  <a:t>: Updates are delayed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since they need to know future events (actions and states).</a:t>
                </a:r>
              </a:p>
              <a:p>
                <a:pPr lvl="1"/>
                <a:r>
                  <a:rPr lang="en-US" b="1" dirty="0"/>
                  <a:t>Computation</a:t>
                </a:r>
                <a:r>
                  <a:rPr lang="en-US" dirty="0"/>
                  <a:t>: More computation per time step and higher memory needs than one-step methods.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Eligibility traces </a:t>
                </a:r>
                <a:r>
                  <a:rPr lang="en-US" dirty="0"/>
                  <a:t>address the delay and computation drawbacks. We will cover these methods later.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70212C3-796F-8D06-DF1F-5A3CD87EF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54" t="-2551" r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4015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9993</TotalTime>
  <Words>1332</Words>
  <Application>Microsoft Office PowerPoint</Application>
  <PresentationFormat>Widescreen</PresentationFormat>
  <Paragraphs>156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n-step Bootstrapping Sutton/Barto* Chapter 7</vt:lpstr>
      <vt:lpstr>Summary of Notation</vt:lpstr>
      <vt:lpstr>1-step TD vs. n-step TD vs. MC</vt:lpstr>
      <vt:lpstr>Why is a Longer Look-ahead Useful?</vt:lpstr>
      <vt:lpstr>n-step TD Prediction</vt:lpstr>
      <vt:lpstr>n-step TD Prediction</vt:lpstr>
      <vt:lpstr>Alg. n-step TD Prediction</vt:lpstr>
      <vt:lpstr>Convergence</vt:lpstr>
      <vt:lpstr>n-step Control (Sarsa)</vt:lpstr>
      <vt:lpstr>n-step Sarsa</vt:lpstr>
      <vt:lpstr>Speedup of n-step Sarsa</vt:lpstr>
      <vt:lpstr>Alg. From DT prediction to  n-step Sarsa Control</vt:lpstr>
      <vt:lpstr>n-step Off-Policy Learning</vt:lpstr>
      <vt:lpstr>n-step Off-Policy Learning</vt:lpstr>
      <vt:lpstr>Alg. Comparing On-Policy with Off-Policy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151</cp:revision>
  <dcterms:created xsi:type="dcterms:W3CDTF">2025-09-08T14:44:49Z</dcterms:created>
  <dcterms:modified xsi:type="dcterms:W3CDTF">2026-01-12T14:57:19Z</dcterms:modified>
</cp:coreProperties>
</file>