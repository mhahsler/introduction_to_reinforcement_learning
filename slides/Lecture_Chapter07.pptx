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9" r:id="rId4"/>
    <p:sldId id="385" r:id="rId5"/>
    <p:sldId id="398" r:id="rId6"/>
    <p:sldId id="396" r:id="rId7"/>
    <p:sldId id="386" r:id="rId8"/>
    <p:sldId id="387" r:id="rId9"/>
    <p:sldId id="388" r:id="rId10"/>
    <p:sldId id="480" r:id="rId11"/>
    <p:sldId id="392" r:id="rId12"/>
    <p:sldId id="391" r:id="rId13"/>
    <p:sldId id="394" r:id="rId14"/>
    <p:sldId id="393" r:id="rId15"/>
    <p:sldId id="389" r:id="rId16"/>
    <p:sldId id="390" r:id="rId17"/>
    <p:sldId id="395" r:id="rId18"/>
    <p:sldId id="39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9"/>
          </p14:sldIdLst>
        </p14:section>
        <p14:section name="Introduction" id="{226A1DFA-741C-4500-8EC5-5BCBA926DBFB}">
          <p14:sldIdLst>
            <p14:sldId id="385"/>
            <p14:sldId id="398"/>
          </p14:sldIdLst>
        </p14:section>
        <p14:section name="Prediction" id="{EF7F6E9E-DC9D-4F07-AF20-87249B8EBE01}">
          <p14:sldIdLst>
            <p14:sldId id="396"/>
            <p14:sldId id="386"/>
            <p14:sldId id="387"/>
            <p14:sldId id="388"/>
            <p14:sldId id="480"/>
          </p14:sldIdLst>
        </p14:section>
        <p14:section name="On-Policy Control" id="{6A91EB9B-FC66-4409-8B96-60AEBB5F5225}">
          <p14:sldIdLst>
            <p14:sldId id="392"/>
            <p14:sldId id="391"/>
            <p14:sldId id="394"/>
            <p14:sldId id="393"/>
          </p14:sldIdLst>
        </p14:section>
        <p14:section name="Off-Policy Learning" id="{17518668-3964-4791-B96A-2B49493E2477}">
          <p14:sldIdLst>
            <p14:sldId id="389"/>
            <p14:sldId id="390"/>
            <p14:sldId id="395"/>
            <p14:sldId id="3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creativecommons.org/licenses/by-nc-sa/4.0/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png"/><Relationship Id="rId7" Type="http://schemas.openxmlformats.org/officeDocument/2006/relationships/image" Target="../media/image8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0.png"/><Relationship Id="rId7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0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4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7.png"/><Relationship Id="rId4" Type="http://schemas.openxmlformats.org/officeDocument/2006/relationships/image" Target="../media/image22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9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7" Type="http://schemas.openxmlformats.org/officeDocument/2006/relationships/image" Target="../media/image36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1.png"/><Relationship Id="rId5" Type="http://schemas.openxmlformats.org/officeDocument/2006/relationships/image" Target="../media/image36.png"/><Relationship Id="rId4" Type="http://schemas.openxmlformats.org/officeDocument/2006/relationships/image" Target="../media/image3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7.png"/><Relationship Id="rId7" Type="http://schemas.openxmlformats.org/officeDocument/2006/relationships/image" Target="../media/image340.png"/><Relationship Id="rId2" Type="http://schemas.openxmlformats.org/officeDocument/2006/relationships/image" Target="../media/image2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1.png"/><Relationship Id="rId5" Type="http://schemas.openxmlformats.org/officeDocument/2006/relationships/image" Target="../media/image321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</p:spPr>
            <p:txBody>
              <a:bodyPr anchor="b">
                <a:normAutofit fontScale="90000"/>
              </a:bodyPr>
              <a:lstStyle/>
              <a:p>
                <a:pPr algn="l"/>
                <a:r>
                  <a:rPr lang="en-US" sz="4800" dirty="0">
                    <a:solidFill>
                      <a:schemeClr val="bg1"/>
                    </a:solidFill>
                  </a:rPr>
                  <a:t>Reinforcement Learning</a:t>
                </a:r>
                <a:br>
                  <a:rPr lang="en-US" sz="4800" dirty="0">
                    <a:solidFill>
                      <a:schemeClr val="bg1"/>
                    </a:solidFill>
                  </a:rPr>
                </a:br>
                <a:br>
                  <a:rPr lang="en-US" sz="48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4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4000" dirty="0">
                    <a:solidFill>
                      <a:schemeClr val="bg1"/>
                    </a:solidFill>
                  </a:rPr>
                  <a:t>-step Bootstrapping</a:t>
                </a:r>
                <a:br>
                  <a:rPr lang="en-US" sz="4000" dirty="0">
                    <a:solidFill>
                      <a:schemeClr val="bg1"/>
                    </a:solidFill>
                  </a:rPr>
                </a:br>
                <a:r>
                  <a:rPr lang="en-US" sz="2800" dirty="0">
                    <a:solidFill>
                      <a:schemeClr val="bg1"/>
                    </a:solidFill>
                  </a:rPr>
                  <a:t>Sutton/Barto*</a:t>
                </a:r>
                <a:r>
                  <a:rPr lang="en-US" sz="2700" dirty="0">
                    <a:solidFill>
                      <a:schemeClr val="bg1"/>
                    </a:solidFill>
                  </a:rPr>
                  <a:t> Chapter 7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  <a:blipFill>
                <a:blip r:embed="rId3"/>
                <a:stretch>
                  <a:fillRect l="-5321" b="-4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4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b="1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101566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	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-step return using rewards from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+1 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to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and 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:r>
                  <a:rPr lang="en-US" sz="1200" dirty="0">
                    <a:solidFill>
                      <a:schemeClr val="tx1"/>
                    </a:solidFill>
                  </a:rPr>
                  <a:t>	bootstrap the rest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1015663"/>
              </a:xfrm>
              <a:prstGeom prst="rect">
                <a:avLst/>
              </a:prstGeom>
              <a:blipFill>
                <a:blip r:embed="rId5"/>
                <a:stretch>
                  <a:fillRect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Policy Evaluation: 1-step TD vs.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vs. MC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92292"/>
                <a:ext cx="10515600" cy="183106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800" b="1" dirty="0"/>
                  <a:t>Question</a:t>
                </a:r>
                <a:r>
                  <a:rPr lang="en-US" sz="1800" dirty="0"/>
                  <a:t>: How far ahead in the sampled episode do we look to estimate the return?</a:t>
                </a:r>
                <a:endParaRPr lang="en-US" sz="1800" b="1" dirty="0"/>
              </a:p>
              <a:p>
                <a:pPr marL="0" indent="0">
                  <a:buNone/>
                </a:pPr>
                <a:endParaRPr lang="en-US" sz="1800" b="1" dirty="0"/>
              </a:p>
              <a:p>
                <a:r>
                  <a:rPr lang="en-US" sz="1800" b="1" dirty="0"/>
                  <a:t>MC: </a:t>
                </a:r>
                <a:r>
                  <a:rPr lang="en-US" sz="1800" dirty="0"/>
                  <a:t>We use the whole episode.</a:t>
                </a:r>
                <a:endParaRPr lang="en-US" sz="1800" b="1" dirty="0"/>
              </a:p>
              <a:p>
                <a:r>
                  <a:rPr lang="en-US" sz="1800" b="1" dirty="0"/>
                  <a:t>1-step TD: </a:t>
                </a:r>
                <a:r>
                  <a:rPr lang="en-US" sz="1800" dirty="0"/>
                  <a:t>We only observe the </a:t>
                </a:r>
                <a:r>
                  <a:rPr lang="en-US" sz="1800" b="1" dirty="0"/>
                  <a:t>next step </a:t>
                </a:r>
                <a:r>
                  <a:rPr lang="en-US" sz="1800" dirty="0"/>
                  <a:t>and its reward. The remaining return is </a:t>
                </a:r>
                <a:r>
                  <a:rPr lang="en-US" sz="1800" b="1" dirty="0"/>
                  <a:t>bootstrapped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1800" dirty="0"/>
                  <a:t> This </a:t>
                </a:r>
                <a:r>
                  <a:rPr lang="en-US" sz="1800" b="1" dirty="0"/>
                  <a:t>propagates state value errors</a:t>
                </a:r>
                <a:r>
                  <a:rPr lang="en-US" sz="1800" dirty="0"/>
                  <a:t>!</a:t>
                </a:r>
                <a:endParaRPr lang="en-US" sz="1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92292"/>
                <a:ext cx="10515600" cy="1831065"/>
              </a:xfrm>
              <a:blipFill>
                <a:blip r:embed="rId3"/>
                <a:stretch>
                  <a:fillRect l="-522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/>
              <p:nvPr/>
            </p:nvSpPr>
            <p:spPr>
              <a:xfrm>
                <a:off x="942099" y="4644434"/>
                <a:ext cx="10610054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TD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Looks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 steps ahead and bootstraps the rest. Using more observed rewards should help to </a:t>
                </a:r>
                <a:r>
                  <a:rPr lang="en-US" b="1" dirty="0"/>
                  <a:t>reduce the bootstrapping error.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TD unifies and generalizes MC and one-step TD.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099" y="4644434"/>
                <a:ext cx="10610054" cy="1200329"/>
              </a:xfrm>
              <a:prstGeom prst="rect">
                <a:avLst/>
              </a:prstGeom>
              <a:blipFill>
                <a:blip r:embed="rId4"/>
                <a:stretch>
                  <a:fillRect l="-402" t="-2538" b="-7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3E329277-23EA-AB5C-2858-C3C4005FB05E}"/>
              </a:ext>
            </a:extLst>
          </p:cNvPr>
          <p:cNvGrpSpPr/>
          <p:nvPr/>
        </p:nvGrpSpPr>
        <p:grpSpPr>
          <a:xfrm>
            <a:off x="2745815" y="3029566"/>
            <a:ext cx="5965095" cy="1634100"/>
            <a:chOff x="2637816" y="2832616"/>
            <a:chExt cx="5965095" cy="1634100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B1753D92-4CD1-A5C9-E205-1999C3D682A5}"/>
                </a:ext>
              </a:extLst>
            </p:cNvPr>
            <p:cNvGrpSpPr/>
            <p:nvPr/>
          </p:nvGrpSpPr>
          <p:grpSpPr>
            <a:xfrm>
              <a:off x="2637816" y="2832616"/>
              <a:ext cx="5965095" cy="1560336"/>
              <a:chOff x="2373562" y="2568409"/>
              <a:chExt cx="5965095" cy="1560336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6F6E7CC0-68DD-A056-E3F1-DDE933683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67D652EB-8C2E-F956-C6A7-9E7E090FE61B}"/>
                  </a:ext>
                </a:extLst>
              </p:cNvPr>
              <p:cNvSpPr/>
              <p:nvPr/>
            </p:nvSpPr>
            <p:spPr>
              <a:xfrm>
                <a:off x="3510268" y="3109621"/>
                <a:ext cx="1082180" cy="796292"/>
              </a:xfrm>
              <a:prstGeom prst="arc">
                <a:avLst>
                  <a:gd name="adj1" fmla="val 1428106"/>
                  <a:gd name="adj2" fmla="val 9287936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/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/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99AF2566-B92C-9D23-FEEB-DC0D4448E05B}"/>
                  </a:ext>
                </a:extLst>
              </p:cNvPr>
              <p:cNvSpPr/>
              <p:nvPr/>
            </p:nvSpPr>
            <p:spPr>
              <a:xfrm>
                <a:off x="3426902" y="2568409"/>
                <a:ext cx="725648" cy="1208900"/>
              </a:xfrm>
              <a:prstGeom prst="arc">
                <a:avLst>
                  <a:gd name="adj1" fmla="val 535615"/>
                  <a:gd name="adj2" fmla="val 654515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92AC8E0-FCC6-E71B-5BC4-5120FE23E4B9}"/>
                  </a:ext>
                </a:extLst>
              </p:cNvPr>
              <p:cNvSpPr txBox="1"/>
              <p:nvPr/>
            </p:nvSpPr>
            <p:spPr>
              <a:xfrm>
                <a:off x="3789726" y="3867135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</a:t>
                </a:r>
              </a:p>
            </p:txBody>
          </p:sp>
          <p:sp>
            <p:nvSpPr>
              <p:cNvPr id="29" name="Right Brace 28">
                <a:extLst>
                  <a:ext uri="{FF2B5EF4-FFF2-40B4-BE49-F238E27FC236}">
                    <a16:creationId xmlns:a16="http://schemas.microsoft.com/office/drawing/2014/main" id="{5F51F495-2EAC-8264-CC4A-93D946C0958D}"/>
                  </a:ext>
                </a:extLst>
              </p:cNvPr>
              <p:cNvSpPr/>
              <p:nvPr/>
            </p:nvSpPr>
            <p:spPr>
              <a:xfrm rot="16200000">
                <a:off x="3901011" y="2344894"/>
                <a:ext cx="164691" cy="121818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FCAA45-F198-4B6F-1877-3432EB76686F}"/>
                  </a:ext>
                </a:extLst>
              </p:cNvPr>
              <p:cNvSpPr txBox="1"/>
              <p:nvPr/>
            </p:nvSpPr>
            <p:spPr>
              <a:xfrm>
                <a:off x="3636948" y="2643914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/>
                <p:nvPr/>
              </p:nvSpPr>
              <p:spPr>
                <a:xfrm>
                  <a:off x="5452585" y="3967462"/>
                  <a:ext cx="2801639" cy="499254"/>
                </a:xfrm>
                <a:prstGeom prst="wedgeRoundRectCallout">
                  <a:avLst>
                    <a:gd name="adj1" fmla="val -69704"/>
                    <a:gd name="adj2" fmla="val -5039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Used to bootstrap estimate of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585" y="3967462"/>
                  <a:ext cx="2801639" cy="499254"/>
                </a:xfrm>
                <a:prstGeom prst="wedgeRoundRectCallout">
                  <a:avLst>
                    <a:gd name="adj1" fmla="val -69704"/>
                    <a:gd name="adj2" fmla="val -50390"/>
                    <a:gd name="adj3" fmla="val 16667"/>
                  </a:avLst>
                </a:prstGeom>
                <a:blipFill>
                  <a:blip r:embed="rId8"/>
                  <a:stretch>
                    <a:fillRect t="-5682" b="-2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1C9C314-988F-0A98-1955-8D7377802AD9}"/>
              </a:ext>
            </a:extLst>
          </p:cNvPr>
          <p:cNvGrpSpPr/>
          <p:nvPr/>
        </p:nvGrpSpPr>
        <p:grpSpPr>
          <a:xfrm>
            <a:off x="3541531" y="5788233"/>
            <a:ext cx="5623139" cy="893096"/>
            <a:chOff x="2888293" y="5522210"/>
            <a:chExt cx="5623139" cy="893096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B9E5956-B033-E66C-9244-F254E34930E3}"/>
                </a:ext>
              </a:extLst>
            </p:cNvPr>
            <p:cNvGrpSpPr/>
            <p:nvPr/>
          </p:nvGrpSpPr>
          <p:grpSpPr>
            <a:xfrm>
              <a:off x="2888293" y="5522210"/>
              <a:ext cx="5623139" cy="893096"/>
              <a:chOff x="3048836" y="5722125"/>
              <a:chExt cx="5623139" cy="893096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E7470490-29F2-50C7-075E-7377CEFC4DB5}"/>
                  </a:ext>
                </a:extLst>
              </p:cNvPr>
              <p:cNvGrpSpPr/>
              <p:nvPr/>
            </p:nvGrpSpPr>
            <p:grpSpPr>
              <a:xfrm>
                <a:off x="3048836" y="5722125"/>
                <a:ext cx="5067252" cy="477986"/>
                <a:chOff x="2659667" y="2782204"/>
                <a:chExt cx="5659631" cy="631088"/>
              </a:xfrm>
            </p:grpSpPr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B94B77C9-C9AA-6F5D-D56B-315043DD70EF}"/>
                    </a:ext>
                  </a:extLst>
                </p:cNvPr>
                <p:cNvSpPr/>
                <p:nvPr/>
              </p:nvSpPr>
              <p:spPr>
                <a:xfrm>
                  <a:off x="3378394" y="3224828"/>
                  <a:ext cx="174504" cy="188464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8EAB5D2C-C971-DEFC-52FE-D0987A0552AA}"/>
                    </a:ext>
                  </a:extLst>
                </p:cNvPr>
                <p:cNvSpPr/>
                <p:nvPr/>
              </p:nvSpPr>
              <p:spPr>
                <a:xfrm>
                  <a:off x="7907350" y="3224828"/>
                  <a:ext cx="174504" cy="188464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0F54933B-23C4-19A8-0DB4-85CED3BAE1BB}"/>
                    </a:ext>
                  </a:extLst>
                </p:cNvPr>
                <p:cNvCxnSpPr/>
                <p:nvPr/>
              </p:nvCxnSpPr>
              <p:spPr>
                <a:xfrm>
                  <a:off x="3664580" y="3319060"/>
                  <a:ext cx="4132251" cy="0"/>
                </a:xfrm>
                <a:prstGeom prst="straightConnector1">
                  <a:avLst/>
                </a:prstGeom>
                <a:ln w="57150">
                  <a:headEnd type="triangle" w="med" len="med"/>
                  <a:tailEnd type="triangl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41C27E2-D7A4-5F48-644A-B5DB89090844}"/>
                    </a:ext>
                  </a:extLst>
                </p:cNvPr>
                <p:cNvSpPr txBox="1"/>
                <p:nvPr/>
              </p:nvSpPr>
              <p:spPr>
                <a:xfrm>
                  <a:off x="2659667" y="2782204"/>
                  <a:ext cx="1392309" cy="4876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1-step TD</a:t>
                  </a: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83257FD-880A-AF81-88C4-FE4114583699}"/>
                    </a:ext>
                  </a:extLst>
                </p:cNvPr>
                <p:cNvSpPr txBox="1"/>
                <p:nvPr/>
              </p:nvSpPr>
              <p:spPr>
                <a:xfrm>
                  <a:off x="7669904" y="2798160"/>
                  <a:ext cx="649394" cy="4876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MC </a:t>
                  </a:r>
                </a:p>
              </p:txBody>
            </p:sp>
          </p:grp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78BFD95-D1AF-D3B0-1498-24CDC947051F}"/>
                  </a:ext>
                </a:extLst>
              </p:cNvPr>
              <p:cNvSpPr txBox="1"/>
              <p:nvPr/>
            </p:nvSpPr>
            <p:spPr>
              <a:xfrm>
                <a:off x="6822540" y="6245889"/>
                <a:ext cx="184943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/>
                  <a:t>(whole episode)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A8B58D0-D9D0-BAF2-8636-E6875C7D5815}"/>
                    </a:ext>
                  </a:extLst>
                </p:cNvPr>
                <p:cNvSpPr txBox="1"/>
                <p:nvPr/>
              </p:nvSpPr>
              <p:spPr>
                <a:xfrm>
                  <a:off x="5171964" y="5534292"/>
                  <a:ext cx="12465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-step TD </a:t>
                  </a: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A8B58D0-D9D0-BAF2-8636-E6875C7D5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1964" y="5534292"/>
                  <a:ext cx="1246582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557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73797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81FB-75E1-939B-1734-9A3A5E7DA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a Longer Look-ahead Useful?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43D5A25-1072-1AD7-D8D1-460CD5D84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699670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Example</a:t>
            </a:r>
            <a:r>
              <a:rPr lang="en-US" dirty="0"/>
              <a:t>: Maze with only one final reward for reaching the goal. </a:t>
            </a:r>
            <a:br>
              <a:rPr lang="en-US" dirty="0"/>
            </a:br>
            <a:r>
              <a:rPr lang="en-US" dirty="0"/>
              <a:t>We learn from the </a:t>
            </a:r>
            <a:r>
              <a:rPr lang="en-US" b="1" dirty="0"/>
              <a:t>first episode</a:t>
            </a:r>
            <a:r>
              <a:rPr lang="en-US" dirty="0"/>
              <a:t>.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54C7612-C89E-C0DD-842F-9EC0D68D64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91" t="13698" r="5202" b="44797"/>
          <a:stretch>
            <a:fillRect/>
          </a:stretch>
        </p:blipFill>
        <p:spPr>
          <a:xfrm>
            <a:off x="747486" y="2663371"/>
            <a:ext cx="10530259" cy="26842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C7086F-4FE3-4B76-D2E3-6ED4B79424DB}"/>
              </a:ext>
            </a:extLst>
          </p:cNvPr>
          <p:cNvSpPr txBox="1"/>
          <p:nvPr/>
        </p:nvSpPr>
        <p:spPr>
          <a:xfrm>
            <a:off x="4846864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1-step look ahead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BAAE08-C8A0-AF74-313E-B5C800716589}"/>
              </a:ext>
            </a:extLst>
          </p:cNvPr>
          <p:cNvSpPr txBox="1"/>
          <p:nvPr/>
        </p:nvSpPr>
        <p:spPr>
          <a:xfrm>
            <a:off x="8260541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10-step look ahead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CA45E4-C211-7029-512E-B626F9027F51}"/>
              </a:ext>
            </a:extLst>
          </p:cNvPr>
          <p:cNvSpPr txBox="1"/>
          <p:nvPr/>
        </p:nvSpPr>
        <p:spPr>
          <a:xfrm>
            <a:off x="1283608" y="2318614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Episode (MC)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36E2F7-F8B8-2A59-9E25-A531E0CB5822}"/>
              </a:ext>
            </a:extLst>
          </p:cNvPr>
          <p:cNvSpPr txBox="1"/>
          <p:nvPr/>
        </p:nvSpPr>
        <p:spPr>
          <a:xfrm>
            <a:off x="7824751" y="5206124"/>
            <a:ext cx="34529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State value can be updated with the goal reward even if it is up to 10 steps away.</a:t>
            </a:r>
            <a:br>
              <a:rPr lang="en-US" dirty="0"/>
            </a:br>
            <a:r>
              <a:rPr lang="en-US" dirty="0"/>
              <a:t>Learns faster than 1-step TD.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4153B3-450A-085C-3C96-299EB57D1465}"/>
              </a:ext>
            </a:extLst>
          </p:cNvPr>
          <p:cNvSpPr txBox="1"/>
          <p:nvPr/>
        </p:nvSpPr>
        <p:spPr>
          <a:xfrm>
            <a:off x="1185636" y="3888565"/>
            <a:ext cx="195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9468A7-5AC3-5A40-8933-972333C8F0BD}"/>
              </a:ext>
            </a:extLst>
          </p:cNvPr>
          <p:cNvSpPr txBox="1"/>
          <p:nvPr/>
        </p:nvSpPr>
        <p:spPr>
          <a:xfrm>
            <a:off x="965200" y="5230699"/>
            <a:ext cx="30697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Updates in reverse order all state values on the path using the goal reward.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13F307-3E7B-8CE6-F229-F5A1E0C8CC21}"/>
              </a:ext>
            </a:extLst>
          </p:cNvPr>
          <p:cNvSpPr txBox="1"/>
          <p:nvPr/>
        </p:nvSpPr>
        <p:spPr>
          <a:xfrm>
            <a:off x="4370352" y="5230698"/>
            <a:ext cx="3069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Can only update one state value with the goal reward.</a:t>
            </a:r>
          </a:p>
        </p:txBody>
      </p:sp>
    </p:spTree>
    <p:extLst>
      <p:ext uri="{BB962C8B-B14F-4D97-AF65-F5344CB8AC3E}">
        <p14:creationId xmlns:p14="http://schemas.microsoft.com/office/powerpoint/2010/main" val="83464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3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6E0E6-B94F-9317-6D17-F2C05C4B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C56159-9323-5507-2CD1-C89D8951B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given policy. </a:t>
            </a:r>
          </a:p>
        </p:txBody>
      </p:sp>
    </p:spTree>
    <p:extLst>
      <p:ext uri="{BB962C8B-B14F-4D97-AF65-F5344CB8AC3E}">
        <p14:creationId xmlns:p14="http://schemas.microsoft.com/office/powerpoint/2010/main" val="2648172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E481D1FB-CB76-10B4-AAF2-565B474050E1}"/>
              </a:ext>
            </a:extLst>
          </p:cNvPr>
          <p:cNvGrpSpPr/>
          <p:nvPr/>
        </p:nvGrpSpPr>
        <p:grpSpPr>
          <a:xfrm>
            <a:off x="3318150" y="1038934"/>
            <a:ext cx="5200795" cy="4414234"/>
            <a:chOff x="3318150" y="1038934"/>
            <a:chExt cx="5200795" cy="441423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9C05D1A-35B9-726A-B9FB-4539015C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8150" y="1038934"/>
              <a:ext cx="5200795" cy="44142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/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/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19565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/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/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+ bootstrap the remaining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by the value of the next state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  <a:blipFill>
                <a:blip r:embed="rId7"/>
                <a:stretch>
                  <a:fillRect t="-1596" b="-5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A19657BF-07EC-5E16-0F8F-213FF5972E5E}"/>
              </a:ext>
            </a:extLst>
          </p:cNvPr>
          <p:cNvGrpSpPr/>
          <p:nvPr/>
        </p:nvGrpSpPr>
        <p:grpSpPr>
          <a:xfrm>
            <a:off x="7967513" y="1750393"/>
            <a:ext cx="3290513" cy="3460070"/>
            <a:chOff x="7967513" y="1750393"/>
            <a:chExt cx="3290513" cy="346007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Speech Bubble: Rectangle with Corners Rounded 14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/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1400" dirty="0"/>
                    <a:t>Update with the whole sequence of observed rewards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1400" dirty="0"/>
                    <a:t> no bootstrapping.</a:t>
                  </a:r>
                </a:p>
              </p:txBody>
            </p:sp>
          </mc:Choice>
          <mc:Fallback xmlns="">
            <p:sp>
              <p:nvSpPr>
                <p:cNvPr id="15" name="Speech Bubble: Rectangle with Corners Rounded 14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E3545678-D718-8AC1-2DDE-65A2B43393C2}"/>
                </a:ext>
              </a:extLst>
            </p:cNvPr>
            <p:cNvSpPr/>
            <p:nvPr/>
          </p:nvSpPr>
          <p:spPr>
            <a:xfrm>
              <a:off x="7967513" y="1750393"/>
              <a:ext cx="199063" cy="346007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/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Return Estimate</a:t>
                </a:r>
              </a:p>
              <a:p>
                <a:r>
                  <a:rPr lang="en-US" sz="1600" b="0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2-step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…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MC: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b="1" dirty="0"/>
                  <a:t>Update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blipFill>
                <a:blip r:embed="rId9"/>
                <a:stretch>
                  <a:fillRect l="-574" t="-888"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/>
              <p:nvPr/>
            </p:nvSpPr>
            <p:spPr>
              <a:xfrm>
                <a:off x="8837705" y="4141820"/>
                <a:ext cx="2362349" cy="138499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Notation</a:t>
                </a: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 … the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-step return is calculated from the rewards up 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and the rest is bootstrapped using the value function.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7705" y="4141820"/>
                <a:ext cx="2362349" cy="1384995"/>
              </a:xfrm>
              <a:prstGeom prst="rect">
                <a:avLst/>
              </a:prstGeom>
              <a:blipFill>
                <a:blip r:embed="rId10"/>
                <a:stretch>
                  <a:fillRect l="-513" r="-1026" b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/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The update needs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and is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steps delayed!</a:t>
                </a:r>
              </a:p>
            </p:txBody>
          </p:sp>
        </mc:Choice>
        <mc:Fallback xmlns="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  <a:blipFill>
                <a:blip r:embed="rId11"/>
                <a:stretch>
                  <a:fillRect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1682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Alg.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C034EDA-40C7-0E1C-E97A-1D86B8964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3110" y="1311069"/>
            <a:ext cx="7765780" cy="51818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43E6ED-89CE-1779-C4B7-7D54066D44FE}"/>
              </a:ext>
            </a:extLst>
          </p:cNvPr>
          <p:cNvSpPr txBox="1"/>
          <p:nvPr/>
        </p:nvSpPr>
        <p:spPr>
          <a:xfrm>
            <a:off x="4424253" y="4954746"/>
            <a:ext cx="366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()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BE955289-DCEB-4971-C670-C936C2BF5317}"/>
              </a:ext>
            </a:extLst>
          </p:cNvPr>
          <p:cNvSpPr/>
          <p:nvPr/>
        </p:nvSpPr>
        <p:spPr>
          <a:xfrm>
            <a:off x="383152" y="3720372"/>
            <a:ext cx="1829957" cy="588954"/>
          </a:xfrm>
          <a:prstGeom prst="wedgeRoundRectCallout">
            <a:avLst>
              <a:gd name="adj1" fmla="val 107580"/>
              <a:gd name="adj2" fmla="val 1127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Detect the end of the episode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/>
              <p:nvPr/>
            </p:nvSpPr>
            <p:spPr>
              <a:xfrm>
                <a:off x="209406" y="4760687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Start only when we can update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≥ 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406" y="4760687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</a:extLst>
              </p:cNvPr>
              <p:cNvSpPr/>
              <p:nvPr/>
            </p:nvSpPr>
            <p:spPr>
              <a:xfrm>
                <a:off x="7425988" y="5293300"/>
                <a:ext cx="2329544" cy="1258502"/>
              </a:xfrm>
              <a:prstGeom prst="wedgeRoundRectCallout">
                <a:avLst>
                  <a:gd name="adj1" fmla="val -73081"/>
                  <a:gd name="adj2" fmla="val -209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bootstrapping if the episode is not over. </a:t>
                </a:r>
                <a:r>
                  <a:rPr lang="en-US" sz="1600" b="1" dirty="0"/>
                  <a:t>Note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 is called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 dirty="0"/>
                  <a:t> in the equations! </a:t>
                </a:r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5988" y="5293300"/>
                <a:ext cx="2329544" cy="1258502"/>
              </a:xfrm>
              <a:prstGeom prst="wedgeRoundRectCallout">
                <a:avLst>
                  <a:gd name="adj1" fmla="val -73081"/>
                  <a:gd name="adj2" fmla="val -20962"/>
                  <a:gd name="adj3" fmla="val 16667"/>
                </a:avLst>
              </a:prstGeom>
              <a:blipFill>
                <a:blip r:embed="rId5"/>
                <a:stretch>
                  <a:fillRect t="-2857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03B6702-D9F1-9CDF-DE51-C7708AD222CA}"/>
                  </a:ext>
                </a:extLst>
              </p:cNvPr>
              <p:cNvSpPr/>
              <p:nvPr/>
            </p:nvSpPr>
            <p:spPr>
              <a:xfrm>
                <a:off x="292308" y="5702958"/>
                <a:ext cx="1920802" cy="645376"/>
              </a:xfrm>
              <a:prstGeom prst="wedgeRoundRectCallout">
                <a:avLst>
                  <a:gd name="adj1" fmla="val 104922"/>
                  <a:gd name="adj2" fmla="val -2672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The update is delayed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steps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03B6702-D9F1-9CDF-DE51-C7708AD222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308" y="5702958"/>
                <a:ext cx="1920802" cy="645376"/>
              </a:xfrm>
              <a:prstGeom prst="wedgeRoundRectCallout">
                <a:avLst>
                  <a:gd name="adj1" fmla="val 104922"/>
                  <a:gd name="adj2" fmla="val -26729"/>
                  <a:gd name="adj3" fmla="val 16667"/>
                </a:avLst>
              </a:prstGeom>
              <a:blipFill>
                <a:blip r:embed="rId6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DE859F95-A5C2-CE37-B3D7-5DC8E7DDC4E6}"/>
              </a:ext>
            </a:extLst>
          </p:cNvPr>
          <p:cNvGrpSpPr/>
          <p:nvPr/>
        </p:nvGrpSpPr>
        <p:grpSpPr>
          <a:xfrm>
            <a:off x="9986271" y="4309326"/>
            <a:ext cx="2365690" cy="1216727"/>
            <a:chOff x="9986271" y="4309326"/>
            <a:chExt cx="2365690" cy="1216727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BD81C03-2FFC-3430-6A96-CC215F8CB002}"/>
                </a:ext>
              </a:extLst>
            </p:cNvPr>
            <p:cNvGrpSpPr/>
            <p:nvPr/>
          </p:nvGrpSpPr>
          <p:grpSpPr>
            <a:xfrm>
              <a:off x="9986271" y="4309326"/>
              <a:ext cx="1996323" cy="913879"/>
              <a:chOff x="10044440" y="1032968"/>
              <a:chExt cx="1996323" cy="913879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8B9856B-B3C4-5BCC-42AC-811D84A88D5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44440" y="1577515"/>
                <a:ext cx="1996323" cy="0"/>
              </a:xfrm>
              <a:prstGeom prst="line">
                <a:avLst/>
              </a:prstGeom>
              <a:ln>
                <a:headEnd type="triangl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44A9B8B8-C293-91A1-01EB-1F759EBE74C9}"/>
                      </a:ext>
                    </a:extLst>
                  </p:cNvPr>
                  <p:cNvSpPr txBox="1"/>
                  <p:nvPr/>
                </p:nvSpPr>
                <p:spPr>
                  <a:xfrm>
                    <a:off x="11437576" y="1577515"/>
                    <a:ext cx="37692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44A9B8B8-C293-91A1-01EB-1F759EBE74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7576" y="1577515"/>
                    <a:ext cx="376929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60D0466-EF57-5F71-0C88-02AB91FDD90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44440" y="1577515"/>
                    <a:ext cx="37692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60D0466-EF57-5F71-0C88-02AB91FDD9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44440" y="1577515"/>
                    <a:ext cx="376929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CA6A7031-056F-EB6D-642F-809EE4320E9D}"/>
                      </a:ext>
                    </a:extLst>
                  </p:cNvPr>
                  <p:cNvSpPr txBox="1"/>
                  <p:nvPr/>
                </p:nvSpPr>
                <p:spPr>
                  <a:xfrm>
                    <a:off x="10416206" y="1032968"/>
                    <a:ext cx="111129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  <a:r>
                      <a:rPr lang="en-US" dirty="0"/>
                      <a:t> steps</a:t>
                    </a:r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CA6A7031-056F-EB6D-642F-809EE4320E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16206" y="1032968"/>
                    <a:ext cx="1111291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8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Right Brace 15">
                <a:extLst>
                  <a:ext uri="{FF2B5EF4-FFF2-40B4-BE49-F238E27FC236}">
                    <a16:creationId xmlns:a16="http://schemas.microsoft.com/office/drawing/2014/main" id="{DF1F0B09-177D-1C23-8922-13B60D4726FE}"/>
                  </a:ext>
                </a:extLst>
              </p:cNvPr>
              <p:cNvSpPr/>
              <p:nvPr/>
            </p:nvSpPr>
            <p:spPr>
              <a:xfrm rot="16200000">
                <a:off x="10847163" y="722444"/>
                <a:ext cx="146575" cy="1416969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BD183B9-C0A7-1967-D463-484C00285B8B}"/>
                    </a:ext>
                  </a:extLst>
                </p:cNvPr>
                <p:cNvSpPr txBox="1"/>
                <p:nvPr/>
              </p:nvSpPr>
              <p:spPr>
                <a:xfrm>
                  <a:off x="10355638" y="5218276"/>
                  <a:ext cx="199632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dirty="0"/>
                    <a:t>Observed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BD183B9-C0A7-1967-D463-484C00285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5638" y="5218276"/>
                  <a:ext cx="1996323" cy="307777"/>
                </a:xfrm>
                <a:prstGeom prst="rect">
                  <a:avLst/>
                </a:prstGeom>
                <a:blipFill>
                  <a:blip r:embed="rId10"/>
                  <a:stretch>
                    <a:fillRect l="-917" t="-3922" b="-196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65712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34AF4-4767-BE73-5248-2A894D1A0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Guarantee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0466" y="3606799"/>
                <a:ext cx="10515600" cy="284480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000" b="1" dirty="0"/>
                  <a:t>Explanation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: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2000" dirty="0"/>
              </a:p>
              <a:p>
                <a:pPr lvl="1"/>
                <a:r>
                  <a:rPr lang="en-US" sz="1600" dirty="0"/>
                  <a:t>Observed rewards have in expectation no error.</a:t>
                </a:r>
              </a:p>
              <a:p>
                <a:pPr lvl="1"/>
                <a:r>
                  <a:rPr lang="en-US" sz="1600" dirty="0"/>
                  <a:t>The error-prone bootstrap estimate is smaller because it is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time steps away and thus discounted.</a:t>
                </a:r>
              </a:p>
              <a:p>
                <a:pPr lvl="1"/>
                <a:r>
                  <a:rPr lang="en-US" sz="1600" dirty="0"/>
                  <a:t>Increasing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adds more observed rewards decreases the impact of the bootstrapping error. </a:t>
                </a:r>
              </a:p>
              <a:p>
                <a:pPr marL="0" indent="0" algn="ctr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b="1" dirty="0"/>
                  <a:t>Note</a:t>
                </a:r>
                <a:r>
                  <a:rPr lang="en-US" sz="2000" dirty="0"/>
                  <a:t>: This also means that every update is guaranteed to reduce the expected error and moves the estimate closer to the true value function. </a:t>
                </a:r>
                <a:br>
                  <a:rPr lang="en-US" sz="2000" dirty="0"/>
                </a:br>
                <a:br>
                  <a:rPr lang="en-US" sz="2000" dirty="0"/>
                </a:br>
                <a:r>
                  <a:rPr lang="en-US" sz="2000" dirty="0"/>
                  <a:t>		</a:t>
                </a:r>
                <a:r>
                  <a:rPr lang="en-US" sz="2000" b="1" dirty="0"/>
                  <a:t>All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b="1" dirty="0"/>
                  <a:t>-step methods (including 1-step and MC) converge</a:t>
                </a:r>
                <a:r>
                  <a:rPr lang="en-US" sz="2000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0466" y="3606799"/>
                <a:ext cx="10515600" cy="2844801"/>
              </a:xfrm>
              <a:blipFill>
                <a:blip r:embed="rId2"/>
                <a:stretch>
                  <a:fillRect l="-580" t="-2146" r="-986" b="-4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/>
              <p:nvPr/>
            </p:nvSpPr>
            <p:spPr>
              <a:xfrm>
                <a:off x="2142066" y="1252872"/>
                <a:ext cx="7467483" cy="2033827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en-US" sz="2000" b="1" dirty="0"/>
                  <a:t>Error Reduction Property of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b="1" dirty="0"/>
                  <a:t>-step Returns 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The worst error of the expected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-step return is guaranteed to be less than or equal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000" dirty="0"/>
                  <a:t> times the worst error of using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]−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𝑉</m:t>
                                  </m:r>
                                  <m:d>
                                    <m:d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066" y="1252872"/>
                <a:ext cx="7467483" cy="2033827"/>
              </a:xfrm>
              <a:prstGeom prst="rect">
                <a:avLst/>
              </a:prstGeom>
              <a:blipFill>
                <a:blip r:embed="rId3"/>
                <a:stretch>
                  <a:fillRect l="-733" t="-1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1412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BE528-C1DE-F2F1-563E-D757ECA4F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Bias-Variance Tradeoff in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0E30F0-5B7A-2004-2D0B-63D151A5BE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02818"/>
                <a:ext cx="10515600" cy="3755299"/>
              </a:xfrm>
            </p:spPr>
            <p:txBody>
              <a:bodyPr>
                <a:normAutofit fontScale="625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dirty="0"/>
                  <a:t>We use a set of return estimates/samples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starting at a state 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as the training set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…,(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)}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learn a value function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using the tabular updating rule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i="1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Bias</a:t>
                </a:r>
                <a:r>
                  <a:rPr lang="en-US" dirty="0"/>
                  <a:t>: How far is the average prediction from the truth?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Bias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e>
                        </m:d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Variance</a:t>
                </a:r>
                <a:r>
                  <a:rPr lang="en-US" dirty="0"/>
                  <a:t>: How much do predictions fluctuate?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Var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𝔼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𝐷</m:t>
                                    </m:r>
                                  </m:sub>
                                </m:sSub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𝑣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</m:d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Total error (means-squared error)</a:t>
                </a:r>
                <a:r>
                  <a:rPr lang="en-US" dirty="0"/>
                  <a:t>:    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Total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rror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B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ia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m:rPr>
                            <m:nor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 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ar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+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I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rreducible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oise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0E30F0-5B7A-2004-2D0B-63D151A5BE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02818"/>
                <a:ext cx="10515600" cy="3755299"/>
              </a:xfrm>
              <a:blipFill>
                <a:blip r:embed="rId2"/>
                <a:stretch>
                  <a:fillRect l="-406" t="-812" b="-21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312CB263-077E-07CB-B5DD-A047F28225D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43007359"/>
                  </p:ext>
                </p:extLst>
              </p:nvPr>
            </p:nvGraphicFramePr>
            <p:xfrm>
              <a:off x="938001" y="4962210"/>
              <a:ext cx="9450597" cy="1620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45274">
                      <a:extLst>
                        <a:ext uri="{9D8B030D-6E8A-4147-A177-3AD203B41FA5}">
                          <a16:colId xmlns:a16="http://schemas.microsoft.com/office/drawing/2014/main" val="585080336"/>
                        </a:ext>
                      </a:extLst>
                    </a:gridCol>
                    <a:gridCol w="4385884">
                      <a:extLst>
                        <a:ext uri="{9D8B030D-6E8A-4147-A177-3AD203B41FA5}">
                          <a16:colId xmlns:a16="http://schemas.microsoft.com/office/drawing/2014/main" val="1752107938"/>
                        </a:ext>
                      </a:extLst>
                    </a:gridCol>
                    <a:gridCol w="3819439">
                      <a:extLst>
                        <a:ext uri="{9D8B030D-6E8A-4147-A177-3AD203B41FA5}">
                          <a16:colId xmlns:a16="http://schemas.microsoft.com/office/drawing/2014/main" val="353885775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Bias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Variance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20161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MC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No bias 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600" dirty="0"/>
                            <a:t> is</a:t>
                          </a:r>
                          <a:r>
                            <a:rPr lang="en-US" sz="1600" baseline="0" dirty="0"/>
                            <a:t> an unbiased sample</a:t>
                          </a:r>
                          <a:r>
                            <a:rPr lang="en-US" sz="16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High (between sample returns), falls with sample size.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082072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oMath>
                          </a14:m>
                          <a:r>
                            <a:rPr lang="en-US" sz="1600" dirty="0"/>
                            <a:t>-step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Increased bias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Reduced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2530039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TD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High bias 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600" dirty="0"/>
                            <a:t> is bootstrapped)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Low (only one reward is sampled)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20628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312CB263-077E-07CB-B5DD-A047F28225D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43007359"/>
                  </p:ext>
                </p:extLst>
              </p:nvPr>
            </p:nvGraphicFramePr>
            <p:xfrm>
              <a:off x="938001" y="4962210"/>
              <a:ext cx="9450597" cy="1620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45274">
                      <a:extLst>
                        <a:ext uri="{9D8B030D-6E8A-4147-A177-3AD203B41FA5}">
                          <a16:colId xmlns:a16="http://schemas.microsoft.com/office/drawing/2014/main" val="585080336"/>
                        </a:ext>
                      </a:extLst>
                    </a:gridCol>
                    <a:gridCol w="4385884">
                      <a:extLst>
                        <a:ext uri="{9D8B030D-6E8A-4147-A177-3AD203B41FA5}">
                          <a16:colId xmlns:a16="http://schemas.microsoft.com/office/drawing/2014/main" val="1752107938"/>
                        </a:ext>
                      </a:extLst>
                    </a:gridCol>
                    <a:gridCol w="3819439">
                      <a:extLst>
                        <a:ext uri="{9D8B030D-6E8A-4147-A177-3AD203B41FA5}">
                          <a16:colId xmlns:a16="http://schemas.microsoft.com/office/drawing/2014/main" val="3538857757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Bias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Variance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2016133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MC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8611" t="-61053" r="-87639" b="-1357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High (between sample returns), falls with sample size.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082072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88" t="-250820" r="-659024" b="-1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Increased bias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Reduced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25300392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TD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8611" t="-389091" r="-87639" b="-236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Low (only one reward is sampled)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206286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D520CA9-6577-C63A-6358-12DBF667D9B0}"/>
                  </a:ext>
                </a:extLst>
              </p:cNvPr>
              <p:cNvSpPr/>
              <p:nvPr/>
            </p:nvSpPr>
            <p:spPr>
              <a:xfrm>
                <a:off x="7979419" y="1957972"/>
                <a:ext cx="3730429" cy="400854"/>
              </a:xfrm>
              <a:prstGeom prst="wedgeRoundRectCallout">
                <a:avLst>
                  <a:gd name="adj1" fmla="val -53980"/>
                  <a:gd name="adj2" fmla="val 123524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600" dirty="0"/>
                  <a:t> is biased if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600" dirty="0"/>
                  <a:t> samples are biased!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D520CA9-6577-C63A-6358-12DBF667D9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9419" y="1957972"/>
                <a:ext cx="3730429" cy="400854"/>
              </a:xfrm>
              <a:prstGeom prst="wedgeRoundRectCallout">
                <a:avLst>
                  <a:gd name="adj1" fmla="val -53980"/>
                  <a:gd name="adj2" fmla="val 123524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9DCE014B-FB5A-7A33-3523-AF031A6C3493}"/>
                  </a:ext>
                </a:extLst>
              </p:cNvPr>
              <p:cNvSpPr/>
              <p:nvPr/>
            </p:nvSpPr>
            <p:spPr>
              <a:xfrm>
                <a:off x="7979419" y="2985961"/>
                <a:ext cx="3730429" cy="636309"/>
              </a:xfrm>
              <a:prstGeom prst="wedgeRoundRectCallout">
                <a:avLst>
                  <a:gd name="adj1" fmla="val -82831"/>
                  <a:gd name="adj2" fmla="val 57494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600" dirty="0"/>
                  <a:t> has high variance if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600" dirty="0"/>
                  <a:t> samples have a high variance due to sampling.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9DCE014B-FB5A-7A33-3523-AF031A6C34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9419" y="2985961"/>
                <a:ext cx="3730429" cy="636309"/>
              </a:xfrm>
              <a:prstGeom prst="wedgeRoundRectCallout">
                <a:avLst>
                  <a:gd name="adj1" fmla="val -82831"/>
                  <a:gd name="adj2" fmla="val 57494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57A52B42-B55C-ECD3-E799-EB8EB07C314A}"/>
                  </a:ext>
                </a:extLst>
              </p:cNvPr>
              <p:cNvSpPr/>
              <p:nvPr/>
            </p:nvSpPr>
            <p:spPr>
              <a:xfrm>
                <a:off x="10537515" y="5267915"/>
                <a:ext cx="1325409" cy="1215074"/>
              </a:xfrm>
              <a:prstGeom prst="wedgeRoundRectCallout">
                <a:avLst>
                  <a:gd name="adj1" fmla="val -92431"/>
                  <a:gd name="adj2" fmla="val 18181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Total error becomes min. for some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57A52B42-B55C-ECD3-E799-EB8EB07C31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7515" y="5267915"/>
                <a:ext cx="1325409" cy="1215074"/>
              </a:xfrm>
              <a:prstGeom prst="wedgeRoundRectCallout">
                <a:avLst>
                  <a:gd name="adj1" fmla="val -92431"/>
                  <a:gd name="adj2" fmla="val 18181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0111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Control: Sarsa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On-Policy learning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estimates.</a:t>
                </a: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6351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561260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Original Sarsa is called one-step Sarsa or Sarsa(0)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Sarsa</a:t>
                </a:r>
              </a:p>
              <a:p>
                <a:pPr lvl="1"/>
                <a:r>
                  <a:rPr lang="en-US" b="1" dirty="0"/>
                  <a:t>On policy</a:t>
                </a:r>
                <a:r>
                  <a:rPr lang="en-US" dirty="0"/>
                  <a:t>: The policy needs to keep exploring (e.g.,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policy)</a:t>
                </a:r>
              </a:p>
              <a:p>
                <a:pPr lvl="1"/>
                <a:r>
                  <a:rPr lang="en-US" dirty="0"/>
                  <a:t>Should probably be called </a:t>
                </a:r>
                <a:r>
                  <a:rPr lang="en-US" dirty="0" err="1"/>
                  <a:t>Sarrrrr</a:t>
                </a:r>
                <a:r>
                  <a:rPr lang="en-US" dirty="0"/>
                  <a:t>...</a:t>
                </a:r>
                <a:r>
                  <a:rPr lang="en-US" dirty="0" err="1"/>
                  <a:t>rsa</a:t>
                </a:r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rs</a:t>
                </a:r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 used as the target (redefined using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+…+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r>
                  <a:rPr lang="en-US" dirty="0"/>
                  <a:t>Update rule:</a:t>
                </a:r>
                <a:endParaRPr lang="en-US" baseline="-25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561260"/>
              </a:xfrm>
              <a:blipFill>
                <a:blip r:embed="rId3"/>
                <a:stretch>
                  <a:fillRect l="-1217" t="-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</a:extLst>
              </p:cNvPr>
              <p:cNvSpPr/>
              <p:nvPr/>
            </p:nvSpPr>
            <p:spPr>
              <a:xfrm>
                <a:off x="5554656" y="321312"/>
                <a:ext cx="2327171" cy="818358"/>
              </a:xfrm>
              <a:prstGeom prst="wedgeRoundRectCallout">
                <a:avLst>
                  <a:gd name="adj1" fmla="val 44338"/>
                  <a:gd name="adj2" fmla="val 8129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Note</a:t>
                </a:r>
                <a:r>
                  <a:rPr lang="en-US" sz="1200" dirty="0"/>
                  <a:t>: (0) is not the number of steps but means that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200" dirty="0"/>
                  <a:t>. We will learn about eligibility traces later.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4656" y="321312"/>
                <a:ext cx="2327171" cy="818358"/>
              </a:xfrm>
              <a:prstGeom prst="wedgeRoundRectCallout">
                <a:avLst>
                  <a:gd name="adj1" fmla="val 44338"/>
                  <a:gd name="adj2" fmla="val 81297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720993E9-4E86-02DE-66E1-B419B2709FF9}"/>
              </a:ext>
            </a:extLst>
          </p:cNvPr>
          <p:cNvGrpSpPr/>
          <p:nvPr/>
        </p:nvGrpSpPr>
        <p:grpSpPr>
          <a:xfrm>
            <a:off x="9576769" y="176093"/>
            <a:ext cx="2420910" cy="2140608"/>
            <a:chOff x="9576769" y="176093"/>
            <a:chExt cx="2420910" cy="214060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B1A94A5-7EE7-37CC-E728-AF66A80A33AA}"/>
                </a:ext>
              </a:extLst>
            </p:cNvPr>
            <p:cNvGrpSpPr/>
            <p:nvPr/>
          </p:nvGrpSpPr>
          <p:grpSpPr>
            <a:xfrm>
              <a:off x="9576769" y="204828"/>
              <a:ext cx="2310430" cy="2111873"/>
              <a:chOff x="8990601" y="218543"/>
              <a:chExt cx="3001301" cy="2828670"/>
            </a:xfrm>
          </p:grpSpPr>
          <p:pic>
            <p:nvPicPr>
              <p:cNvPr id="11" name="Content Placeholder 4">
                <a:extLst>
                  <a:ext uri="{FF2B5EF4-FFF2-40B4-BE49-F238E27FC236}">
                    <a16:creationId xmlns:a16="http://schemas.microsoft.com/office/drawing/2014/main" id="{BF760BA3-F830-BA0D-4894-05F51EBE69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990601" y="218543"/>
                <a:ext cx="2936007" cy="2828670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36AB597-F7B2-20CF-B4CE-D97C11B92DBA}"/>
                  </a:ext>
                </a:extLst>
              </p:cNvPr>
              <p:cNvSpPr txBox="1"/>
              <p:nvPr/>
            </p:nvSpPr>
            <p:spPr>
              <a:xfrm>
                <a:off x="10107262" y="1309193"/>
                <a:ext cx="687748" cy="453464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GPI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EF051C9-DDCC-7485-1E4C-E964BDF6ACEF}"/>
                  </a:ext>
                </a:extLst>
              </p:cNvPr>
              <p:cNvSpPr/>
              <p:nvPr/>
            </p:nvSpPr>
            <p:spPr>
              <a:xfrm>
                <a:off x="8990601" y="218543"/>
                <a:ext cx="3001301" cy="2727081"/>
              </a:xfrm>
              <a:prstGeom prst="rect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1555E4A-A866-1530-A9FD-F8FF4073B977}"/>
                </a:ext>
              </a:extLst>
            </p:cNvPr>
            <p:cNvSpPr/>
            <p:nvPr/>
          </p:nvSpPr>
          <p:spPr>
            <a:xfrm>
              <a:off x="10088381" y="242303"/>
              <a:ext cx="1304144" cy="188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99A1598-3094-4269-64F8-0D5E916C21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96205" y="1556334"/>
              <a:ext cx="978962" cy="171999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67EF7DE-A275-31E2-A378-8EF79253A2DA}"/>
                    </a:ext>
                  </a:extLst>
                </p:cNvPr>
                <p:cNvSpPr txBox="1"/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⇝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greedy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67EF7DE-A275-31E2-A378-8EF79253A2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1529777-63A6-40DE-C0AC-7D83854B3AD2}"/>
                    </a:ext>
                  </a:extLst>
                </p:cNvPr>
                <p:cNvSpPr txBox="1"/>
                <p:nvPr/>
              </p:nvSpPr>
              <p:spPr>
                <a:xfrm>
                  <a:off x="9576769" y="176093"/>
                  <a:ext cx="24209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a14:m>
                  <a:r>
                    <a:rPr lang="en-US" b="1" dirty="0">
                      <a:solidFill>
                        <a:schemeClr val="accent3"/>
                      </a:solidFill>
                    </a:rPr>
                    <a:t>-step TD prediction</a:t>
                  </a: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1529777-63A6-40DE-C0AC-7D83854B3A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76769" y="176093"/>
                  <a:ext cx="242091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BF7655E7-BCC7-BD82-23F6-1FC9C85D7D3D}"/>
              </a:ext>
            </a:extLst>
          </p:cNvPr>
          <p:cNvSpPr/>
          <p:nvPr/>
        </p:nvSpPr>
        <p:spPr>
          <a:xfrm>
            <a:off x="9644917" y="3367331"/>
            <a:ext cx="2260166" cy="621260"/>
          </a:xfrm>
          <a:prstGeom prst="wedgeRoundRectCallout">
            <a:avLst>
              <a:gd name="adj1" fmla="val -29738"/>
              <a:gd name="adj2" fmla="val 7580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is the extra action Sarsa need.</a:t>
            </a:r>
          </a:p>
        </p:txBody>
      </p:sp>
    </p:spTree>
    <p:extLst>
      <p:ext uri="{BB962C8B-B14F-4D97-AF65-F5344CB8AC3E}">
        <p14:creationId xmlns:p14="http://schemas.microsoft.com/office/powerpoint/2010/main" val="2428545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Speedup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CEA1E66-A5A6-1448-FC06-21631B9284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19040" y="1712911"/>
            <a:ext cx="8753919" cy="47799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/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 updated during one episode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blipFill>
                <a:blip r:embed="rId4"/>
                <a:stretch>
                  <a:fillRect l="-309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0434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Alg. From DT prediction to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C5DA64-CB96-33B7-5A2F-82B17E4E3C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09546" y="1397000"/>
            <a:ext cx="5681934" cy="4779963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FDAF4139-9F31-EF78-000D-A76A64FB1843}"/>
              </a:ext>
            </a:extLst>
          </p:cNvPr>
          <p:cNvGrpSpPr/>
          <p:nvPr/>
        </p:nvGrpSpPr>
        <p:grpSpPr>
          <a:xfrm>
            <a:off x="391291" y="1125097"/>
            <a:ext cx="5818255" cy="4814496"/>
            <a:chOff x="391291" y="1125097"/>
            <a:chExt cx="5818255" cy="481449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DF7BC5E-65EA-3D4D-F1F7-F5B1678B32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1291" y="1397000"/>
              <a:ext cx="5818255" cy="38822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/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1600" dirty="0"/>
                    <a:t> is given</a:t>
                  </a:r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/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Arrow: Right 7">
            <a:extLst>
              <a:ext uri="{FF2B5EF4-FFF2-40B4-BE49-F238E27FC236}">
                <a16:creationId xmlns:a16="http://schemas.microsoft.com/office/drawing/2014/main" id="{E2A2EAED-A095-EC43-F7C8-D9EE9FD07E2F}"/>
              </a:ext>
            </a:extLst>
          </p:cNvPr>
          <p:cNvSpPr/>
          <p:nvPr/>
        </p:nvSpPr>
        <p:spPr>
          <a:xfrm>
            <a:off x="5866228" y="3287652"/>
            <a:ext cx="618335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2D7B70A-A257-1910-96CE-4CB963B34780}"/>
              </a:ext>
            </a:extLst>
          </p:cNvPr>
          <p:cNvGrpSpPr/>
          <p:nvPr/>
        </p:nvGrpSpPr>
        <p:grpSpPr>
          <a:xfrm>
            <a:off x="9856838" y="4018671"/>
            <a:ext cx="2264824" cy="2702997"/>
            <a:chOff x="9856838" y="4018671"/>
            <a:chExt cx="2264824" cy="27029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/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a14:m>
                  <a:r>
                    <a:rPr lang="en-US" sz="1600" dirty="0"/>
                    <a:t> and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/>
                <p:nvPr/>
              </p:nvSpPr>
              <p:spPr>
                <a:xfrm>
                  <a:off x="9856838" y="4018671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On-policy: Select next action from the  current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6838" y="4018671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  <a:blipFill>
                  <a:blip r:embed="rId8"/>
                  <a:stretch>
                    <a:fillRect t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DBADE3BE-9FC4-3EC0-53D9-BC827C4B6355}"/>
              </a:ext>
            </a:extLst>
          </p:cNvPr>
          <p:cNvSpPr/>
          <p:nvPr/>
        </p:nvSpPr>
        <p:spPr>
          <a:xfrm>
            <a:off x="7157803" y="4497050"/>
            <a:ext cx="2872675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35E902-CEE1-CAFD-7C9B-B4E443036866}"/>
              </a:ext>
            </a:extLst>
          </p:cNvPr>
          <p:cNvSpPr/>
          <p:nvPr/>
        </p:nvSpPr>
        <p:spPr>
          <a:xfrm>
            <a:off x="8694038" y="5573658"/>
            <a:ext cx="2466140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634D9E-4B5B-8B5B-7737-CE731552CD3F}"/>
              </a:ext>
            </a:extLst>
          </p:cNvPr>
          <p:cNvSpPr/>
          <p:nvPr/>
        </p:nvSpPr>
        <p:spPr>
          <a:xfrm>
            <a:off x="7029133" y="1960277"/>
            <a:ext cx="2264769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0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Control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A03D2-90FD-7653-DAD2-E19EAC63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importance sampling ratios to prediction and control.</a:t>
            </a:r>
          </a:p>
        </p:txBody>
      </p:sp>
    </p:spTree>
    <p:extLst>
      <p:ext uri="{BB962C8B-B14F-4D97-AF65-F5344CB8AC3E}">
        <p14:creationId xmlns:p14="http://schemas.microsoft.com/office/powerpoint/2010/main" val="2625455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Learn a deterministic 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using an exploring (soft) behavioral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Method</a:t>
                </a:r>
                <a:r>
                  <a:rPr lang="en-US" dirty="0"/>
                  <a:t>: Use importance sampling ratio as a weight for updates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   where the weight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Can be used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for prediction or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for control.</a:t>
                </a:r>
              </a:p>
              <a:p>
                <a:endParaRPr lang="en-US" dirty="0"/>
              </a:p>
              <a:p>
                <a:r>
                  <a:rPr lang="en-US" b="1" dirty="0"/>
                  <a:t>Sample efficiency issue</a:t>
                </a:r>
                <a:r>
                  <a:rPr lang="en-US" dirty="0"/>
                  <a:t>: Can only learn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) from data where the sampled actions for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-steps are compatible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Updating the behavior policy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helps.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/>
              <p:nvPr/>
            </p:nvSpPr>
            <p:spPr>
              <a:xfrm>
                <a:off x="8669721" y="3130277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How likely is 𝜋 to choose an action compared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? 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9721" y="3130277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  <a:blipFill>
                <a:blip r:embed="rId4"/>
                <a:stretch>
                  <a:fillRect b="-2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8077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45701-1839-841A-1942-F401EF862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Comparing On-Policy with Off-Policy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8A799686-6590-82E9-E530-6D9F900BE8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4622" y="1553598"/>
            <a:ext cx="5205999" cy="43795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632627-3153-537A-8736-FC5EB073E581}"/>
              </a:ext>
            </a:extLst>
          </p:cNvPr>
          <p:cNvSpPr/>
          <p:nvPr/>
        </p:nvSpPr>
        <p:spPr>
          <a:xfrm>
            <a:off x="1525070" y="2045566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C5BEAA-9BB8-9D02-5309-611E50704614}"/>
              </a:ext>
            </a:extLst>
          </p:cNvPr>
          <p:cNvSpPr/>
          <p:nvPr/>
        </p:nvSpPr>
        <p:spPr>
          <a:xfrm>
            <a:off x="3854247" y="5360251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4EAF0B-5EB2-C808-EDCD-CB37308993D3}"/>
              </a:ext>
            </a:extLst>
          </p:cNvPr>
          <p:cNvSpPr/>
          <p:nvPr/>
        </p:nvSpPr>
        <p:spPr>
          <a:xfrm>
            <a:off x="3240889" y="4369108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E409DA4-C9B0-9C34-A0E9-54BAD6DFE9B8}"/>
              </a:ext>
            </a:extLst>
          </p:cNvPr>
          <p:cNvGrpSpPr/>
          <p:nvPr/>
        </p:nvGrpSpPr>
        <p:grpSpPr>
          <a:xfrm>
            <a:off x="5659709" y="1062757"/>
            <a:ext cx="6430496" cy="5089359"/>
            <a:chOff x="5659709" y="1062757"/>
            <a:chExt cx="6430496" cy="5089359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F49EE39-7243-4381-1C9D-C27904D7EFE1}"/>
                </a:ext>
              </a:extLst>
            </p:cNvPr>
            <p:cNvGrpSpPr/>
            <p:nvPr/>
          </p:nvGrpSpPr>
          <p:grpSpPr>
            <a:xfrm>
              <a:off x="5659709" y="1062757"/>
              <a:ext cx="6430496" cy="5089359"/>
              <a:chOff x="5659709" y="1062757"/>
              <a:chExt cx="6430496" cy="5089359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2111ED8E-9F47-A0A6-34AD-6DCCED931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659709" y="1334660"/>
                <a:ext cx="5945915" cy="4817456"/>
              </a:xfrm>
              <a:prstGeom prst="rect">
                <a:avLst/>
              </a:prstGeom>
            </p:spPr>
          </p:pic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405347D-3A8C-817A-0198-FB46D428A08C}"/>
                  </a:ext>
                </a:extLst>
              </p:cNvPr>
              <p:cNvSpPr/>
              <p:nvPr/>
            </p:nvSpPr>
            <p:spPr>
              <a:xfrm>
                <a:off x="9881525" y="1062757"/>
                <a:ext cx="1724099" cy="543806"/>
              </a:xfrm>
              <a:prstGeom prst="wedgeRoundRectCallout">
                <a:avLst>
                  <a:gd name="adj1" fmla="val -75002"/>
                  <a:gd name="adj2" fmla="val 682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Add behavior policy</a:t>
                </a:r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7CC600E-3AFD-2FD3-7283-4D46C25C5673}"/>
                  </a:ext>
                </a:extLst>
              </p:cNvPr>
              <p:cNvSpPr/>
              <p:nvPr/>
            </p:nvSpPr>
            <p:spPr>
              <a:xfrm>
                <a:off x="8718211" y="4418437"/>
                <a:ext cx="586333" cy="216384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0AD5C9F-6D47-4621-45B9-9385077EF25E}"/>
                  </a:ext>
                </a:extLst>
              </p:cNvPr>
              <p:cNvSpPr/>
              <p:nvPr/>
            </p:nvSpPr>
            <p:spPr>
              <a:xfrm>
                <a:off x="10366106" y="4198999"/>
                <a:ext cx="1724099" cy="543806"/>
              </a:xfrm>
              <a:prstGeom prst="wedgeRoundRectCallout">
                <a:avLst>
                  <a:gd name="adj1" fmla="val -109575"/>
                  <a:gd name="adj2" fmla="val 19901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importance sampling ratio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F3B9A1D-1B3F-1708-DAD7-FA40CAA1493A}"/>
                  </a:ext>
                </a:extLst>
              </p:cNvPr>
              <p:cNvSpPr/>
              <p:nvPr/>
            </p:nvSpPr>
            <p:spPr>
              <a:xfrm>
                <a:off x="6965029" y="2023082"/>
                <a:ext cx="447893" cy="2035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169648-1DAF-B5A5-C80D-AEBC7295E489}"/>
                  </a:ext>
                </a:extLst>
              </p:cNvPr>
              <p:cNvSpPr/>
              <p:nvPr/>
            </p:nvSpPr>
            <p:spPr>
              <a:xfrm>
                <a:off x="9433632" y="5673788"/>
                <a:ext cx="447893" cy="2035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EC83A1B-FFF7-CAE0-EFC3-59D9D3F791C3}"/>
                </a:ext>
              </a:extLst>
            </p:cNvPr>
            <p:cNvSpPr/>
            <p:nvPr/>
          </p:nvSpPr>
          <p:spPr>
            <a:xfrm>
              <a:off x="8154481" y="5490373"/>
              <a:ext cx="1150063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91ADFBD-CEF3-5E12-84F2-4276E80144D6}"/>
                </a:ext>
              </a:extLst>
            </p:cNvPr>
            <p:cNvSpPr/>
            <p:nvPr/>
          </p:nvSpPr>
          <p:spPr>
            <a:xfrm>
              <a:off x="8823744" y="1695798"/>
              <a:ext cx="675856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9A7ADEA-50AB-1D47-DCD7-7B2BDD2E1057}"/>
              </a:ext>
            </a:extLst>
          </p:cNvPr>
          <p:cNvSpPr/>
          <p:nvPr/>
        </p:nvSpPr>
        <p:spPr>
          <a:xfrm>
            <a:off x="5326967" y="3245771"/>
            <a:ext cx="561924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3D719930-D8A7-468C-7B92-AAA575154DF9}"/>
              </a:ext>
            </a:extLst>
          </p:cNvPr>
          <p:cNvSpPr/>
          <p:nvPr/>
        </p:nvSpPr>
        <p:spPr>
          <a:xfrm>
            <a:off x="10711542" y="1852972"/>
            <a:ext cx="1378663" cy="543806"/>
          </a:xfrm>
          <a:prstGeom prst="wedgeRoundRectCallout">
            <a:avLst>
              <a:gd name="adj1" fmla="val -85843"/>
              <a:gd name="adj2" fmla="val -24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target policy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2FB8-8201-418B-E7F3-1FC2FCBE894E}"/>
              </a:ext>
            </a:extLst>
          </p:cNvPr>
          <p:cNvSpPr txBox="1"/>
          <p:nvPr/>
        </p:nvSpPr>
        <p:spPr>
          <a:xfrm>
            <a:off x="2355455" y="3244334"/>
            <a:ext cx="1373945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On-Policy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Speech Bubble: Rectangle with Corners Rounded 21">
                <a:extLst>
                  <a:ext uri="{FF2B5EF4-FFF2-40B4-BE49-F238E27FC236}">
                    <a16:creationId xmlns:a16="http://schemas.microsoft.com/office/drawing/2014/main" id="{324AC46D-52E7-570E-865E-DECAECC4DF6B}"/>
                  </a:ext>
                </a:extLst>
              </p:cNvPr>
              <p:cNvSpPr/>
              <p:nvPr/>
            </p:nvSpPr>
            <p:spPr>
              <a:xfrm>
                <a:off x="10193311" y="2655934"/>
                <a:ext cx="1896894" cy="670576"/>
              </a:xfrm>
              <a:prstGeom prst="wedgeRoundRectCallout">
                <a:avLst>
                  <a:gd name="adj1" fmla="val -193450"/>
                  <a:gd name="adj2" fmla="val -3131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We could update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2" name="Speech Bubble: Rectangle with Corners Rounded 21">
                <a:extLst>
                  <a:ext uri="{FF2B5EF4-FFF2-40B4-BE49-F238E27FC236}">
                    <a16:creationId xmlns:a16="http://schemas.microsoft.com/office/drawing/2014/main" id="{324AC46D-52E7-570E-865E-DECAECC4DF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3311" y="2655934"/>
                <a:ext cx="1896894" cy="670576"/>
              </a:xfrm>
              <a:prstGeom prst="wedgeRoundRectCallout">
                <a:avLst>
                  <a:gd name="adj1" fmla="val -193450"/>
                  <a:gd name="adj2" fmla="val -31317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83323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380997" y="381001"/>
            <a:ext cx="6858001" cy="6095995"/>
          </a:xfrm>
          <a:prstGeom prst="rect">
            <a:avLst/>
          </a:prstGeom>
          <a:ln>
            <a:noFill/>
          </a:ln>
          <a:effectLst>
            <a:outerShdw blurRad="381000" dist="101600" sx="99000" sy="99000" algn="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CC851C-DBC0-5ACA-7D15-A7CD3408E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413" y="4544704"/>
            <a:ext cx="4792635" cy="1811645"/>
          </a:xfrm>
        </p:spPr>
        <p:txBody>
          <a:bodyPr anchor="ctr">
            <a:normAutofit/>
          </a:bodyPr>
          <a:lstStyle/>
          <a:p>
            <a:r>
              <a:rPr lang="en-US" sz="36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44F555-26B8-BE90-E588-B24F3A239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-1" y="10"/>
            <a:ext cx="6096001" cy="411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07456" y="482600"/>
                <a:ext cx="5628944" cy="5965092"/>
              </a:xfrm>
            </p:spPr>
            <p:txBody>
              <a:bodyPr anchor="ctr"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methods let us choose the amount of bootstrapping from 1-step to no bootstrapping (MC).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Advantage over one-step methods: </a:t>
                </a:r>
              </a:p>
              <a:p>
                <a:pPr lvl="1"/>
                <a:r>
                  <a:rPr lang="en-US" sz="1800" b="1" dirty="0"/>
                  <a:t>Learning</a:t>
                </a:r>
                <a:r>
                  <a:rPr lang="en-US" sz="1800" dirty="0"/>
                  <a:t>: Looking more steps ahead speeds up learning, especially for sparse rewards.</a:t>
                </a:r>
              </a:p>
              <a:p>
                <a:pPr lvl="1"/>
                <a:r>
                  <a:rPr lang="en-US" sz="1800" b="1" dirty="0"/>
                  <a:t>Error reduction</a:t>
                </a:r>
                <a:r>
                  <a:rPr lang="en-US" sz="1800" dirty="0"/>
                  <a:t>: Significantly reduces the bootstrapping error (</a:t>
                </a:r>
                <a:r>
                  <a:rPr lang="en-US" sz="1800" b="1" dirty="0"/>
                  <a:t>bias</a:t>
                </a:r>
                <a:r>
                  <a:rPr lang="en-US" sz="1800" dirty="0"/>
                  <a:t>) at the cost of increased </a:t>
                </a:r>
                <a:r>
                  <a:rPr lang="en-US" sz="1800" b="1" dirty="0"/>
                  <a:t>variance</a:t>
                </a:r>
                <a:r>
                  <a:rPr lang="en-US" sz="1800" dirty="0"/>
                  <a:t>. </a:t>
                </a:r>
              </a:p>
              <a:p>
                <a:pPr lvl="1"/>
                <a:r>
                  <a:rPr lang="en-US" sz="1800" dirty="0"/>
                  <a:t>An intermediate amount of bootstrapping typically </a:t>
                </a:r>
                <a:r>
                  <a:rPr lang="en-US" sz="1800" b="1" dirty="0"/>
                  <a:t>performs better </a:t>
                </a:r>
                <a:r>
                  <a:rPr lang="en-US" sz="1800" dirty="0"/>
                  <a:t>than the one-step and MC extremes. </a:t>
                </a:r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 is application-dependent and can be tuned.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Drawback:</a:t>
                </a:r>
              </a:p>
              <a:p>
                <a:pPr lvl="1"/>
                <a:r>
                  <a:rPr lang="en-US" sz="1800" b="1" dirty="0"/>
                  <a:t>Delay</a:t>
                </a:r>
                <a:r>
                  <a:rPr lang="en-US" sz="1800" dirty="0"/>
                  <a:t>: Updates are delayed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since future events (rewards and states) are needed.</a:t>
                </a:r>
              </a:p>
              <a:p>
                <a:pPr lvl="1"/>
                <a:r>
                  <a:rPr lang="en-US" sz="1800" b="1" dirty="0"/>
                  <a:t>Computation</a:t>
                </a:r>
                <a:r>
                  <a:rPr lang="en-US" sz="1800" dirty="0"/>
                  <a:t>: More computation per time step and higher memory needs than one-step methods.</a:t>
                </a:r>
              </a:p>
              <a:p>
                <a:pPr lvl="1"/>
                <a:endParaRPr lang="en-US" sz="1800" dirty="0"/>
              </a:p>
              <a:p>
                <a:pPr marL="0" indent="0">
                  <a:buNone/>
                </a:pPr>
                <a:r>
                  <a:rPr lang="en-US" sz="1800" b="1" dirty="0"/>
                  <a:t>Eligibility traces </a:t>
                </a:r>
                <a:r>
                  <a:rPr lang="en-US" sz="1800" dirty="0"/>
                  <a:t>address the delay and computation drawbacks. We will cover these methods later.</a:t>
                </a:r>
              </a:p>
              <a:p>
                <a:endParaRPr lang="en-US" sz="1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07456" y="482600"/>
                <a:ext cx="5628944" cy="5965092"/>
              </a:xfrm>
              <a:blipFill>
                <a:blip r:embed="rId3"/>
                <a:stretch>
                  <a:fillRect l="-649" t="-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015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12240</TotalTime>
  <Words>1927</Words>
  <Application>Microsoft Office PowerPoint</Application>
  <PresentationFormat>Widescreen</PresentationFormat>
  <Paragraphs>217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n-step Bootstrapping Sutton/Barto* Chapter 7</vt:lpstr>
      <vt:lpstr>Topics of this Course</vt:lpstr>
      <vt:lpstr>Summary of Notation</vt:lpstr>
      <vt:lpstr>Policy Evaluation: 1-step TD vs. n-step TD vs. MC</vt:lpstr>
      <vt:lpstr>Why is a Longer Look-ahead Useful?</vt:lpstr>
      <vt:lpstr>n-step TD Prediction</vt:lpstr>
      <vt:lpstr>n-step TD Prediction</vt:lpstr>
      <vt:lpstr>Alg. n-step TD Prediction</vt:lpstr>
      <vt:lpstr>Convergence Guarantee</vt:lpstr>
      <vt:lpstr>Bias-Variance Tradeoff in RL</vt:lpstr>
      <vt:lpstr>n-step Control: Sarsa</vt:lpstr>
      <vt:lpstr>n-step Sarsa</vt:lpstr>
      <vt:lpstr>Speedup of n-step Sarsa</vt:lpstr>
      <vt:lpstr>Alg. From DT prediction to  n-step Sarsa Control</vt:lpstr>
      <vt:lpstr>n-step Off-Policy Control</vt:lpstr>
      <vt:lpstr>n-step Off-Policy Control</vt:lpstr>
      <vt:lpstr>Alg. Comparing On-Policy with Off-Policy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163</cp:revision>
  <dcterms:created xsi:type="dcterms:W3CDTF">2025-09-08T14:44:49Z</dcterms:created>
  <dcterms:modified xsi:type="dcterms:W3CDTF">2026-03-03T17:00:31Z</dcterms:modified>
</cp:coreProperties>
</file>