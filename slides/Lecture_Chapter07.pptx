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3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116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6.png"/><Relationship Id="rId4" Type="http://schemas.openxmlformats.org/officeDocument/2006/relationships/image" Target="../media/image3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Explanation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1600" dirty="0"/>
                  <a:t>Observed rewards have in expectation no error.</a:t>
                </a:r>
              </a:p>
              <a:p>
                <a:pPr lvl="1"/>
                <a:r>
                  <a:rPr lang="en-US" sz="1600" dirty="0"/>
                  <a:t>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away and thus discounted.</a:t>
                </a:r>
              </a:p>
              <a:p>
                <a:pPr lvl="1"/>
                <a:r>
                  <a:rPr lang="en-US" sz="1600" dirty="0"/>
                  <a:t>Increasing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adds more observed rewards decreases the impact of the bootstrapping error. </a:t>
                </a:r>
              </a:p>
              <a:p>
                <a:pPr marL="0" indent="0" algn="ctr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Note</a:t>
                </a:r>
                <a:r>
                  <a:rPr lang="en-US" sz="2000" dirty="0"/>
                  <a:t>: This also means that every update is guaranteed to reduce the expected error and moves the estimate closer to the true value function. </a:t>
                </a:r>
                <a:br>
                  <a:rPr lang="en-US" sz="2000" dirty="0"/>
                </a:br>
                <a:br>
                  <a:rPr lang="en-US" sz="2000" dirty="0"/>
                </a:br>
                <a:r>
                  <a:rPr lang="en-US" sz="2000" dirty="0"/>
                  <a:t>		</a:t>
                </a:r>
                <a:r>
                  <a:rPr lang="en-US" sz="2000" b="1" dirty="0"/>
                  <a:t>All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methods (including 1-step and MC) converge</a:t>
                </a:r>
                <a:r>
                  <a:rPr lang="en-US" sz="20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  <a:blipFill>
                <a:blip r:embed="rId2"/>
                <a:stretch>
                  <a:fillRect l="-580" t="-2146" r="-986" b="-4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times the worst error of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  <a:blipFill>
                <a:blip r:embed="rId3"/>
                <a:stretch>
                  <a:fillRect l="-733" t="-1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We use a set of return estimates/samples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starting at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as the training set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)}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learn a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using the tabular updating rule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Bias</a:t>
                </a:r>
                <a:r>
                  <a:rPr lang="en-US" dirty="0"/>
                  <a:t>: How far is the average prediction from the truth?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Bias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e>
                        </m:d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Variance</a:t>
                </a:r>
                <a:r>
                  <a:rPr lang="en-US" dirty="0"/>
                  <a:t>: How much do predictions fluctuate?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Var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𝑣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Total error (means-squared error)</a:t>
                </a:r>
                <a:r>
                  <a:rPr lang="en-US" dirty="0"/>
                  <a:t>: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Total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rror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ia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rreducible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oise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  <a:blipFill>
                <a:blip r:embed="rId2"/>
                <a:stretch>
                  <a:fillRect l="-406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No bias:</a:t>
                          </a:r>
                          <a:r>
                            <a:rPr lang="en-US" sz="1600" b="1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</a:t>
                          </a:r>
                          <a:r>
                            <a:rPr lang="en-US" sz="1600" baseline="0" dirty="0"/>
                            <a:t> an unbiased sample</a:t>
                          </a:r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1600" dirty="0"/>
                            <a:t>-step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 bias</a:t>
                          </a:r>
                          <a:r>
                            <a:rPr lang="en-US" sz="1600" dirty="0"/>
                            <a:t>:</a:t>
                          </a:r>
                          <a:r>
                            <a:rPr lang="en-US" sz="1600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 bootstrapped; falls when getting close to the optimal value function.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59375" r="-87778" b="-17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90" t="-250820" r="-662745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225263" r="-87778" b="-1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/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is biased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are biased!</a:t>
                </a:r>
              </a:p>
            </p:txBody>
          </p:sp>
        </mc:Choice>
        <mc:Fallback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/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has initially high variance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have a high variance due to sampling.</a:t>
                </a:r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/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With limited data: </a:t>
                </a:r>
              </a:p>
              <a:p>
                <a:pPr algn="ctr"/>
                <a:r>
                  <a:rPr lang="en-US" sz="1600" dirty="0"/>
                  <a:t>Total error becomes min. for some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Updating the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6" cy="5089359"/>
            <a:chOff x="5659709" y="1062757"/>
            <a:chExt cx="6430496" cy="508935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6" cy="5089359"/>
              <a:chOff x="5659709" y="1062757"/>
              <a:chExt cx="6430496" cy="508935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  <a:blipFill>
                <a:blip r:embed="rId3"/>
                <a:stretch>
                  <a:fillRect l="-649" t="-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12253</TotalTime>
  <Words>1950</Words>
  <Application>Microsoft Office PowerPoint</Application>
  <PresentationFormat>Widescreen</PresentationFormat>
  <Paragraphs>218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166</cp:revision>
  <dcterms:created xsi:type="dcterms:W3CDTF">2025-09-08T14:44:49Z</dcterms:created>
  <dcterms:modified xsi:type="dcterms:W3CDTF">2026-03-23T00:16:11Z</dcterms:modified>
</cp:coreProperties>
</file>