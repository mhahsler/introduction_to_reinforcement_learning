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9" r:id="rId4"/>
    <p:sldId id="385" r:id="rId5"/>
    <p:sldId id="398" r:id="rId6"/>
    <p:sldId id="396" r:id="rId7"/>
    <p:sldId id="386" r:id="rId8"/>
    <p:sldId id="387" r:id="rId9"/>
    <p:sldId id="388" r:id="rId10"/>
    <p:sldId id="480" r:id="rId11"/>
    <p:sldId id="392" r:id="rId12"/>
    <p:sldId id="391" r:id="rId13"/>
    <p:sldId id="394" r:id="rId14"/>
    <p:sldId id="393" r:id="rId15"/>
    <p:sldId id="389" r:id="rId16"/>
    <p:sldId id="390" r:id="rId17"/>
    <p:sldId id="395" r:id="rId18"/>
    <p:sldId id="39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9"/>
          </p14:sldIdLst>
        </p14:section>
        <p14:section name="Introduction" id="{226A1DFA-741C-4500-8EC5-5BCBA926DBFB}">
          <p14:sldIdLst>
            <p14:sldId id="385"/>
            <p14:sldId id="398"/>
          </p14:sldIdLst>
        </p14:section>
        <p14:section name="Prediction" id="{EF7F6E9E-DC9D-4F07-AF20-87249B8EBE01}">
          <p14:sldIdLst>
            <p14:sldId id="396"/>
            <p14:sldId id="386"/>
            <p14:sldId id="387"/>
            <p14:sldId id="388"/>
            <p14:sldId id="480"/>
          </p14:sldIdLst>
        </p14:section>
        <p14:section name="On-Policy Control" id="{6A91EB9B-FC66-4409-8B96-60AEBB5F5225}">
          <p14:sldIdLst>
            <p14:sldId id="392"/>
            <p14:sldId id="391"/>
            <p14:sldId id="394"/>
            <p14:sldId id="393"/>
          </p14:sldIdLst>
        </p14:section>
        <p14:section name="Off-Policy Learning" id="{17518668-3964-4791-B96A-2B49493E2477}">
          <p14:sldIdLst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7.png"/><Relationship Id="rId4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9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7" Type="http://schemas.openxmlformats.org/officeDocument/2006/relationships/image" Target="../media/image36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1.png"/><Relationship Id="rId5" Type="http://schemas.openxmlformats.org/officeDocument/2006/relationships/image" Target="../media/image36.png"/><Relationship Id="rId4" Type="http://schemas.openxmlformats.org/officeDocument/2006/relationships/image" Target="../media/image3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7.png"/><Relationship Id="rId7" Type="http://schemas.openxmlformats.org/officeDocument/2006/relationships/image" Target="../media/image340.png"/><Relationship Id="rId2" Type="http://schemas.openxmlformats.org/officeDocument/2006/relationships/image" Target="../media/image2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1.png"/><Relationship Id="rId5" Type="http://schemas.openxmlformats.org/officeDocument/2006/relationships/image" Target="../media/image321.png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798687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b="1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	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-step return using rewards from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to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and 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:r>
                  <a:rPr lang="en-US" sz="1200" dirty="0">
                    <a:solidFill>
                      <a:schemeClr val="tx1"/>
                    </a:solidFill>
                  </a:rPr>
                  <a:t>	bootstrap the rest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1015663"/>
              </a:xfrm>
              <a:prstGeom prst="rect">
                <a:avLst/>
              </a:prstGeom>
              <a:blipFill>
                <a:blip r:embed="rId5"/>
                <a:stretch>
                  <a:fillRect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Policy Evaluation: 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48821"/>
                <a:ext cx="10515600" cy="203466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b="1" dirty="0"/>
                  <a:t>Question</a:t>
                </a:r>
                <a:r>
                  <a:rPr lang="en-US" sz="1800" dirty="0"/>
                  <a:t>: How far ahead in the sampled episode do we look to estimate the return? </a:t>
                </a:r>
                <a:br>
                  <a:rPr lang="en-US" sz="1800" dirty="0"/>
                </a:br>
                <a:r>
                  <a:rPr lang="en-US" sz="1800" dirty="0"/>
                  <a:t>This is a question of bias and variance of the estimate.</a:t>
                </a:r>
                <a:endParaRPr lang="en-US" sz="1800" b="1" dirty="0"/>
              </a:p>
              <a:p>
                <a:pPr marL="0" indent="0">
                  <a:buNone/>
                </a:pPr>
                <a:endParaRPr lang="en-US" sz="1800" b="1" dirty="0"/>
              </a:p>
              <a:p>
                <a:r>
                  <a:rPr lang="en-US" sz="1800" b="1" dirty="0"/>
                  <a:t>MC: </a:t>
                </a:r>
                <a:r>
                  <a:rPr lang="en-US" sz="1800" dirty="0"/>
                  <a:t>We use the whole episode. No bias, but high variance.</a:t>
                </a:r>
                <a:endParaRPr lang="en-US" sz="1800" b="1" dirty="0"/>
              </a:p>
              <a:p>
                <a:r>
                  <a:rPr lang="en-US" sz="1800" b="1" dirty="0"/>
                  <a:t>1-step TD: </a:t>
                </a:r>
                <a:r>
                  <a:rPr lang="en-US" sz="1800" dirty="0"/>
                  <a:t>We only observe the </a:t>
                </a:r>
                <a:r>
                  <a:rPr lang="en-US" sz="1800" b="1" dirty="0"/>
                  <a:t>next step </a:t>
                </a:r>
                <a:r>
                  <a:rPr lang="en-US" sz="1800" dirty="0"/>
                  <a:t>and its reward (reduces variance). The remaining return is </a:t>
                </a:r>
                <a:r>
                  <a:rPr lang="en-US" sz="1800" b="1" dirty="0"/>
                  <a:t>bootstrapped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1800" dirty="0"/>
                  <a:t> This </a:t>
                </a:r>
                <a:r>
                  <a:rPr lang="en-US" sz="1800" b="1" dirty="0"/>
                  <a:t>propagates state value errors (= bias)</a:t>
                </a:r>
                <a:r>
                  <a:rPr lang="en-US" sz="1800" dirty="0"/>
                  <a:t>!</a:t>
                </a:r>
                <a:endParaRPr lang="en-US" sz="18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48821"/>
                <a:ext cx="10515600" cy="2034665"/>
              </a:xfrm>
              <a:blipFill>
                <a:blip r:embed="rId3"/>
                <a:stretch>
                  <a:fillRect l="-522" t="-2695" b="-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838200" y="4194044"/>
                <a:ext cx="10610054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TD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Looks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time steps ahead and bootstraps the rest. Using more observed rewards should help to </a:t>
                </a:r>
                <a:r>
                  <a:rPr lang="en-US" b="1" dirty="0"/>
                  <a:t>reduce the bootstrapping error (bias), </a:t>
                </a:r>
                <a:r>
                  <a:rPr lang="en-US" dirty="0"/>
                  <a:t>but increases variance.</a:t>
                </a:r>
                <a:endParaRPr lang="en-US" b="1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TD unifies and generalizes MC and one-step TD.</a:t>
                </a: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4044"/>
                <a:ext cx="10610054" cy="1200329"/>
              </a:xfrm>
              <a:prstGeom prst="rect">
                <a:avLst/>
              </a:prstGeom>
              <a:blipFill>
                <a:blip r:embed="rId4"/>
                <a:stretch>
                  <a:fillRect l="-402" t="-2030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745815" y="2845053"/>
            <a:ext cx="5965095" cy="1634100"/>
            <a:chOff x="2637816" y="2832616"/>
            <a:chExt cx="5965095" cy="1634100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Used to 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5" y="3967462"/>
                  <a:ext cx="2801639" cy="499254"/>
                </a:xfrm>
                <a:prstGeom prst="wedgeRoundRectCallout">
                  <a:avLst>
                    <a:gd name="adj1" fmla="val -69704"/>
                    <a:gd name="adj2" fmla="val -50390"/>
                    <a:gd name="adj3" fmla="val 16667"/>
                  </a:avLst>
                </a:prstGeom>
                <a:blipFill>
                  <a:blip r:embed="rId8"/>
                  <a:stretch>
                    <a:fillRect t="-5682" b="-204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B9C8751-262A-9AFB-0431-0FA4A253A1C0}"/>
              </a:ext>
            </a:extLst>
          </p:cNvPr>
          <p:cNvGrpSpPr/>
          <p:nvPr/>
        </p:nvGrpSpPr>
        <p:grpSpPr>
          <a:xfrm>
            <a:off x="3461835" y="5469206"/>
            <a:ext cx="5815969" cy="1035725"/>
            <a:chOff x="3541531" y="5788233"/>
            <a:chExt cx="5815969" cy="103572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1C9C314-988F-0A98-1955-8D7377802AD9}"/>
                </a:ext>
              </a:extLst>
            </p:cNvPr>
            <p:cNvGrpSpPr/>
            <p:nvPr/>
          </p:nvGrpSpPr>
          <p:grpSpPr>
            <a:xfrm>
              <a:off x="3541531" y="5788233"/>
              <a:ext cx="5067252" cy="477986"/>
              <a:chOff x="2888293" y="5522210"/>
              <a:chExt cx="5067252" cy="477986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2888293" y="5522210"/>
                <a:ext cx="5067252" cy="477986"/>
                <a:chOff x="2659667" y="2782204"/>
                <a:chExt cx="5659631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659667" y="2782204"/>
                  <a:ext cx="1392309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876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MC 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A8B58D0-D9D0-BAF2-8636-E6875C7D5815}"/>
                      </a:ext>
                    </a:extLst>
                  </p:cNvPr>
                  <p:cNvSpPr txBox="1"/>
                  <p:nvPr/>
                </p:nvSpPr>
                <p:spPr>
                  <a:xfrm>
                    <a:off x="5171964" y="5534292"/>
                    <a:ext cx="124658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-step TD </a:t>
                    </a:r>
                  </a:p>
                </p:txBody>
              </p:sp>
            </mc:Choice>
            <mc:Fallback xmlns=""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5A8B58D0-D9D0-BAF2-8636-E6875C7D58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71964" y="5534292"/>
                    <a:ext cx="1246582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655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2AF54B1-52B7-51E1-9344-4E55FBE98E14}"/>
                </a:ext>
              </a:extLst>
            </p:cNvPr>
            <p:cNvSpPr txBox="1"/>
            <p:nvPr/>
          </p:nvSpPr>
          <p:spPr>
            <a:xfrm>
              <a:off x="3746518" y="6239183"/>
              <a:ext cx="14974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High bias, </a:t>
              </a:r>
              <a:br>
                <a:rPr lang="en-US" sz="1600" dirty="0"/>
              </a:br>
              <a:r>
                <a:rPr lang="en-US" sz="1600" dirty="0"/>
                <a:t>low variance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F3A082-7E28-E820-2EC2-EAE87E843084}"/>
                </a:ext>
              </a:extLst>
            </p:cNvPr>
            <p:cNvSpPr txBox="1"/>
            <p:nvPr/>
          </p:nvSpPr>
          <p:spPr>
            <a:xfrm>
              <a:off x="7860065" y="6230068"/>
              <a:ext cx="149743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no bias, </a:t>
              </a:r>
              <a:br>
                <a:rPr lang="en-US" sz="1600" dirty="0"/>
              </a:br>
              <a:r>
                <a:rPr lang="en-US" sz="1600" dirty="0"/>
                <a:t>high variance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69967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</a:t>
            </a:r>
            <a:br>
              <a:rPr lang="en-US" dirty="0"/>
            </a:br>
            <a:r>
              <a:rPr lang="en-US" dirty="0"/>
              <a:t>We learn from the </a:t>
            </a:r>
            <a:r>
              <a:rPr lang="en-US" b="1" dirty="0"/>
              <a:t>first episode</a:t>
            </a:r>
            <a:r>
              <a:rPr lang="en-US" dirty="0"/>
              <a:t>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7824751" y="5206124"/>
            <a:ext cx="34529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State value can be updated with the goal reward even if it is up to 10 steps away.</a:t>
            </a:r>
            <a:br>
              <a:rPr lang="en-US" dirty="0"/>
            </a:br>
            <a:r>
              <a:rPr lang="en-US" dirty="0"/>
              <a:t>Learns faster than 1-step TD.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468A7-5AC3-5A40-8933-972333C8F0BD}"/>
              </a:ext>
            </a:extLst>
          </p:cNvPr>
          <p:cNvSpPr txBox="1"/>
          <p:nvPr/>
        </p:nvSpPr>
        <p:spPr>
          <a:xfrm>
            <a:off x="965200" y="5230699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in reverse order all state values on the path using the goal reward.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3F307-3E7B-8CE6-F229-F5A1E0C8CC21}"/>
              </a:ext>
            </a:extLst>
          </p:cNvPr>
          <p:cNvSpPr txBox="1"/>
          <p:nvPr/>
        </p:nvSpPr>
        <p:spPr>
          <a:xfrm>
            <a:off x="4370352" y="5230698"/>
            <a:ext cx="30697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Can only update one state value with the goal reward.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3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19657BF-07EC-5E16-0F8F-213FF5972E5E}"/>
              </a:ext>
            </a:extLst>
          </p:cNvPr>
          <p:cNvGrpSpPr/>
          <p:nvPr/>
        </p:nvGrpSpPr>
        <p:grpSpPr>
          <a:xfrm>
            <a:off x="7967513" y="1750393"/>
            <a:ext cx="3290513" cy="3460070"/>
            <a:chOff x="7967513" y="1750393"/>
            <a:chExt cx="3290513" cy="34600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/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1400" dirty="0"/>
                    <a:t>Update with the whole sequence of observed rewards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en-US" sz="1400" dirty="0"/>
                    <a:t> no bootstrapping.</a:t>
                  </a:r>
                </a:p>
              </p:txBody>
            </p:sp>
          </mc:Choice>
          <mc:Fallback xmlns="">
            <p:sp>
              <p:nvSpPr>
                <p:cNvPr id="15" name="Speech Bubble: Rectangle with Corners Rounded 14">
                  <a:extLst>
                    <a:ext uri="{FF2B5EF4-FFF2-40B4-BE49-F238E27FC236}">
                      <a16:creationId xmlns:a16="http://schemas.microsoft.com/office/drawing/2014/main" id="{28550480-EEED-F900-3E4A-FF07C3F8AB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1949" y="2299895"/>
                  <a:ext cx="2536077" cy="894587"/>
                </a:xfrm>
                <a:prstGeom prst="wedgeRoundRectCallout">
                  <a:avLst>
                    <a:gd name="adj1" fmla="val -68504"/>
                    <a:gd name="adj2" fmla="val 79718"/>
                    <a:gd name="adj3" fmla="val 16667"/>
                  </a:avLst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E3545678-D718-8AC1-2DDE-65A2B43393C2}"/>
                </a:ext>
              </a:extLst>
            </p:cNvPr>
            <p:cNvSpPr/>
            <p:nvPr/>
          </p:nvSpPr>
          <p:spPr>
            <a:xfrm>
              <a:off x="7967513" y="1750393"/>
              <a:ext cx="199063" cy="346007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 Estimate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8755198" y="4068173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-step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function.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198" y="4068173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2" r="-767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0AA742C-5A0A-0CE4-1F94-BD3DCEAF2274}"/>
              </a:ext>
            </a:extLst>
          </p:cNvPr>
          <p:cNvSpPr txBox="1"/>
          <p:nvPr/>
        </p:nvSpPr>
        <p:spPr>
          <a:xfrm>
            <a:off x="8277187" y="5661877"/>
            <a:ext cx="3277772" cy="83099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b="1" dirty="0"/>
              <a:t>Error sources</a:t>
            </a:r>
          </a:p>
          <a:p>
            <a:r>
              <a:rPr lang="en-US" sz="1600" dirty="0"/>
              <a:t>Variance: Observed rewards</a:t>
            </a:r>
            <a:br>
              <a:rPr lang="en-US" sz="1600" dirty="0"/>
            </a:br>
            <a:r>
              <a:rPr lang="en-US" sz="1600" dirty="0"/>
              <a:t>Bias: Value function estimates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27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2" y="3720372"/>
            <a:ext cx="1829957" cy="588954"/>
          </a:xfrm>
          <a:prstGeom prst="wedgeRoundRectCallout">
            <a:avLst>
              <a:gd name="adj1" fmla="val 107580"/>
              <a:gd name="adj2" fmla="val 1127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Detect the end of the episode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406" y="4760687"/>
                <a:ext cx="2003704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/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bootstrapping if the episode is not over. </a:t>
                </a:r>
                <a:r>
                  <a:rPr lang="en-US" sz="1600" b="1" dirty="0"/>
                  <a:t>Note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 is called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/>
                  <a:t> in the equations! </a:t>
                </a:r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F26C6334-EC59-8CC4-D349-78BE5FEC6E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988" y="5293300"/>
                <a:ext cx="2329544" cy="1258502"/>
              </a:xfrm>
              <a:prstGeom prst="wedgeRoundRectCallout">
                <a:avLst>
                  <a:gd name="adj1" fmla="val -73081"/>
                  <a:gd name="adj2" fmla="val -20962"/>
                  <a:gd name="adj3" fmla="val 16667"/>
                </a:avLst>
              </a:prstGeom>
              <a:blipFill>
                <a:blip r:embed="rId5"/>
                <a:stretch>
                  <a:fillRect t="-2857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/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The update is delayed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steps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203B6702-D9F1-9CDF-DE51-C7708AD22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308" y="5702958"/>
                <a:ext cx="1920802" cy="645376"/>
              </a:xfrm>
              <a:prstGeom prst="wedgeRoundRectCallout">
                <a:avLst>
                  <a:gd name="adj1" fmla="val 104922"/>
                  <a:gd name="adj2" fmla="val -26729"/>
                  <a:gd name="adj3" fmla="val 16667"/>
                </a:avLst>
              </a:prstGeom>
              <a:blipFill>
                <a:blip r:embed="rId6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E859F95-A5C2-CE37-B3D7-5DC8E7DDC4E6}"/>
              </a:ext>
            </a:extLst>
          </p:cNvPr>
          <p:cNvGrpSpPr/>
          <p:nvPr/>
        </p:nvGrpSpPr>
        <p:grpSpPr>
          <a:xfrm>
            <a:off x="9986271" y="4309326"/>
            <a:ext cx="2365690" cy="1216727"/>
            <a:chOff x="9986271" y="4309326"/>
            <a:chExt cx="2365690" cy="121672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BD81C03-2FFC-3430-6A96-CC215F8CB002}"/>
                </a:ext>
              </a:extLst>
            </p:cNvPr>
            <p:cNvGrpSpPr/>
            <p:nvPr/>
          </p:nvGrpSpPr>
          <p:grpSpPr>
            <a:xfrm>
              <a:off x="9986271" y="4309326"/>
              <a:ext cx="1996323" cy="913879"/>
              <a:chOff x="10044440" y="1032968"/>
              <a:chExt cx="1996323" cy="913879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8B9856B-B3C4-5BCC-42AC-811D84A88D5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44440" y="1577515"/>
                <a:ext cx="1996323" cy="0"/>
              </a:xfrm>
              <a:prstGeom prst="line">
                <a:avLst/>
              </a:prstGeom>
              <a:ln>
                <a:headEnd type="triangle" w="med" len="med"/>
                <a:tailEnd type="non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44A9B8B8-C293-91A1-01EB-1F759EBE74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37576" y="1577515"/>
                    <a:ext cx="376929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60D0466-EF57-5F71-0C88-02AB91FDD9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44440" y="1577515"/>
                    <a:ext cx="376929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/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dirty="0"/>
                      <a:t> steps</a:t>
                    </a:r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CA6A7031-056F-EB6D-642F-809EE4320E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16206" y="1032968"/>
                    <a:ext cx="1111291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8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Right Brace 15">
                <a:extLst>
                  <a:ext uri="{FF2B5EF4-FFF2-40B4-BE49-F238E27FC236}">
                    <a16:creationId xmlns:a16="http://schemas.microsoft.com/office/drawing/2014/main" id="{DF1F0B09-177D-1C23-8922-13B60D4726FE}"/>
                  </a:ext>
                </a:extLst>
              </p:cNvPr>
              <p:cNvSpPr/>
              <p:nvPr/>
            </p:nvSpPr>
            <p:spPr>
              <a:xfrm rot="16200000">
                <a:off x="10847163" y="722444"/>
                <a:ext cx="146575" cy="1416969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/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Observed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ABD183B9-C0A7-1967-D463-484C00285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5638" y="5218276"/>
                  <a:ext cx="1996323" cy="307777"/>
                </a:xfrm>
                <a:prstGeom prst="rect">
                  <a:avLst/>
                </a:prstGeom>
                <a:blipFill>
                  <a:blip r:embed="rId10"/>
                  <a:stretch>
                    <a:fillRect l="-917" t="-3922" b="-1960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Guarantee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Explanation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: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1600" dirty="0"/>
                  <a:t>Observed rewards have in expectation no error.</a:t>
                </a:r>
              </a:p>
              <a:p>
                <a:pPr lvl="1"/>
                <a:r>
                  <a:rPr lang="en-US" sz="1600" dirty="0"/>
                  <a:t>The error-prone bootstrap estimate is smaller because it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away and thus discounted.</a:t>
                </a:r>
              </a:p>
              <a:p>
                <a:pPr lvl="1"/>
                <a:r>
                  <a:rPr lang="en-US" sz="1600" dirty="0"/>
                  <a:t>Increasing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adds more observed rewards decreases the impact of the bootstrapping error. </a:t>
                </a:r>
              </a:p>
              <a:p>
                <a:pPr marL="0" indent="0" algn="ctr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Note</a:t>
                </a:r>
                <a:r>
                  <a:rPr lang="en-US" sz="2000" dirty="0"/>
                  <a:t>: This also means that every update is guaranteed to reduce the expected error and moves the estimate closer to the true value function. </a:t>
                </a:r>
                <a:br>
                  <a:rPr lang="en-US" sz="2000" dirty="0"/>
                </a:br>
                <a:br>
                  <a:rPr lang="en-US" sz="2000" dirty="0"/>
                </a:br>
                <a:r>
                  <a:rPr lang="en-US" sz="2000" dirty="0"/>
                  <a:t>		</a:t>
                </a:r>
                <a:r>
                  <a:rPr lang="en-US" sz="2000" b="1" dirty="0"/>
                  <a:t>All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methods (including 1-step and MC) converge</a:t>
                </a:r>
                <a:r>
                  <a:rPr lang="en-US" sz="2000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0466" y="3606799"/>
                <a:ext cx="10515600" cy="2844801"/>
              </a:xfrm>
              <a:blipFill>
                <a:blip r:embed="rId2"/>
                <a:stretch>
                  <a:fillRect l="-580" t="-2146" r="-986" b="-4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/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:r>
                  <a:rPr lang="en-US" sz="2000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2000" b="1" dirty="0"/>
                  <a:t>-step Returns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-step return is guaranteed to be less than or equal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000" dirty="0"/>
                  <a:t> times the worst error of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𝑉</m:t>
                                  </m:r>
                                  <m:d>
                                    <m:d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D9954E-8BC2-1D59-59D7-361BEEF7AC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2066" y="1252872"/>
                <a:ext cx="7467483" cy="2033827"/>
              </a:xfrm>
              <a:prstGeom prst="rect">
                <a:avLst/>
              </a:prstGeom>
              <a:blipFill>
                <a:blip r:embed="rId3"/>
                <a:stretch>
                  <a:fillRect l="-733" t="-1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E528-C1DE-F2F1-563E-D757ECA4F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Bias-Variance Tradeoff in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/>
                  <a:t>We use a set of return estimates/samples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starting at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as the training set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)}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learn a 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using the tabular updating rule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i="1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Bias</a:t>
                </a:r>
                <a:r>
                  <a:rPr lang="en-US" dirty="0"/>
                  <a:t>: How far is the average prediction from the truth?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Bias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e>
                        </m:d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Variance</a:t>
                </a:r>
                <a:r>
                  <a:rPr lang="en-US" dirty="0"/>
                  <a:t>: How much do predictions fluctuate?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Var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</m:acc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𝔼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sub>
                                </m:sSub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̂"/>
                                            <m:ctrlP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𝑣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sub>
                                    </m:sSub>
                                    <m:d>
                                      <m:d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Total error (means-squared error)</a:t>
                </a:r>
                <a:r>
                  <a:rPr lang="en-US" dirty="0"/>
                  <a:t>: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Total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E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rror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B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ia</m:t>
                    </m:r>
                    <m:sSup>
                      <m:sSupPr>
                        <m:ctrlPr>
                          <a:rPr lang="en-US" i="0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p>
                        <m:r>
                          <m:rPr>
                            <m:nor/>
                          </m:rPr>
                          <a:rPr lang="en-US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ar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I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rreducible </m:t>
                    </m:r>
                    <m:r>
                      <m:rPr>
                        <m:nor/>
                      </m:rPr>
                      <a:rPr lang="en-US" b="0" i="0" dirty="0" smtClean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oise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0E30F0-5B7A-2004-2D0B-63D151A5BE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002818"/>
                <a:ext cx="10515600" cy="3846966"/>
              </a:xfrm>
              <a:blipFill>
                <a:blip r:embed="rId2"/>
                <a:stretch>
                  <a:fillRect l="-406" t="-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No bias:</a:t>
                          </a:r>
                          <a:r>
                            <a:rPr lang="en-US" sz="1600" b="1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</a:t>
                          </a:r>
                          <a:r>
                            <a:rPr lang="en-US" sz="1600" baseline="0" dirty="0"/>
                            <a:t> an unbiased sample</a:t>
                          </a:r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1600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oMath>
                          </a14:m>
                          <a:r>
                            <a:rPr lang="en-US" sz="1600" dirty="0"/>
                            <a:t>-step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 bias</a:t>
                          </a:r>
                          <a:r>
                            <a:rPr lang="en-US" sz="1600" dirty="0"/>
                            <a:t>:</a:t>
                          </a:r>
                          <a:r>
                            <a:rPr lang="en-US" sz="1600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600" dirty="0"/>
                            <a:t> is bootstrapped; falls when getting close to the optimal value function.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312CB263-077E-07CB-B5DD-A047F28225D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92151477"/>
                  </p:ext>
                </p:extLst>
              </p:nvPr>
            </p:nvGraphicFramePr>
            <p:xfrm>
              <a:off x="1290270" y="4849784"/>
              <a:ext cx="9450597" cy="1864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245274">
                      <a:extLst>
                        <a:ext uri="{9D8B030D-6E8A-4147-A177-3AD203B41FA5}">
                          <a16:colId xmlns:a16="http://schemas.microsoft.com/office/drawing/2014/main" val="585080336"/>
                        </a:ext>
                      </a:extLst>
                    </a:gridCol>
                    <a:gridCol w="4385884">
                      <a:extLst>
                        <a:ext uri="{9D8B030D-6E8A-4147-A177-3AD203B41FA5}">
                          <a16:colId xmlns:a16="http://schemas.microsoft.com/office/drawing/2014/main" val="1752107938"/>
                        </a:ext>
                      </a:extLst>
                    </a:gridCol>
                    <a:gridCol w="3819439">
                      <a:extLst>
                        <a:ext uri="{9D8B030D-6E8A-4147-A177-3AD203B41FA5}">
                          <a16:colId xmlns:a16="http://schemas.microsoft.com/office/drawing/2014/main" val="3538857757"/>
                        </a:ext>
                      </a:extLst>
                    </a:gridCol>
                  </a:tblGrid>
                  <a:tr h="33528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Bias of 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Variance of Estimate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2016133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MC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59375" r="-87778" b="-17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High</a:t>
                          </a:r>
                          <a:r>
                            <a:rPr lang="en-US" sz="1600" dirty="0"/>
                            <a:t>: difference between sample returns; falls with sample size.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082072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90" t="-250820" r="-662745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Increased bias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Reduced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25300392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TD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8472" t="-225263" r="-87778" b="-1263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600" b="1" dirty="0"/>
                            <a:t>Low: </a:t>
                          </a:r>
                          <a:r>
                            <a:rPr lang="en-US" sz="1600" dirty="0"/>
                            <a:t>only one reward is sampled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5206286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/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is biased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are biased!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D520CA9-6577-C63A-6358-12DBF667D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1957972"/>
                <a:ext cx="3023048" cy="400854"/>
              </a:xfrm>
              <a:prstGeom prst="wedgeRoundRectCallout">
                <a:avLst>
                  <a:gd name="adj1" fmla="val -74492"/>
                  <a:gd name="adj2" fmla="val 11230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/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dirty="0"/>
                  <a:t> has initially high variance if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1600" dirty="0"/>
                  <a:t>s have a high variance due to sampling.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DCE014B-FB5A-7A33-3523-AF031A6C34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7411" y="2985961"/>
                <a:ext cx="4159770" cy="636309"/>
              </a:xfrm>
              <a:prstGeom prst="wedgeRoundRectCallout">
                <a:avLst>
                  <a:gd name="adj1" fmla="val -79588"/>
                  <a:gd name="adj2" fmla="val 610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/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With limited data: </a:t>
                </a:r>
              </a:p>
              <a:p>
                <a:pPr algn="ctr"/>
                <a:r>
                  <a:rPr lang="en-US" sz="1600" dirty="0"/>
                  <a:t>Total error becomes min. for some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57A52B42-B55C-ECD3-E799-EB8EB07C31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4588" y="4699416"/>
                <a:ext cx="1325409" cy="2012131"/>
              </a:xfrm>
              <a:prstGeom prst="wedgeRoundRectCallout">
                <a:avLst>
                  <a:gd name="adj1" fmla="val -83383"/>
                  <a:gd name="adj2" fmla="val 8869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0111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Control: Sarsa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/>
                  <a:t>On-Policy learning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estimates.</a:t>
                </a:r>
              </a:p>
            </p:txBody>
          </p:sp>
        </mc:Choice>
        <mc:Fallback xmlns="">
          <p:sp>
            <p:nvSpPr>
              <p:cNvPr id="5" name="Text Placeholder 4">
                <a:extLst>
                  <a:ext uri="{FF2B5EF4-FFF2-40B4-BE49-F238E27FC236}">
                    <a16:creationId xmlns:a16="http://schemas.microsoft.com/office/drawing/2014/main" id="{D8BFD2D0-399A-1A99-8CB8-AA18E396C9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 l="-870" t="-52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b="1" dirty="0"/>
                  <a:t>On policy</a:t>
                </a:r>
                <a:r>
                  <a:rPr lang="en-US" dirty="0"/>
                  <a:t>: The policy needs to keep exploring (e.g.,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pPr lvl="1"/>
                <a:r>
                  <a:rPr lang="en-US" dirty="0"/>
                  <a:t>Should probably be called </a:t>
                </a:r>
                <a:r>
                  <a:rPr lang="en-US" dirty="0" err="1"/>
                  <a:t>Sarrrrr</a:t>
                </a:r>
                <a:r>
                  <a:rPr lang="en-US" dirty="0"/>
                  <a:t>...</a:t>
                </a:r>
                <a:r>
                  <a:rPr lang="en-US" dirty="0" err="1"/>
                  <a:t>rsa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rs</a:t>
                </a:r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estimate used as the target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561260"/>
              </a:xfrm>
              <a:blipFill>
                <a:blip r:embed="rId3"/>
                <a:stretch>
                  <a:fillRect l="-1217" t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/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b="1" dirty="0"/>
                  <a:t>Note</a:t>
                </a:r>
                <a:r>
                  <a:rPr lang="en-US" sz="1200" dirty="0"/>
                  <a:t>: (0) is not the number of steps but means that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00" dirty="0"/>
                  <a:t>. We will learn about eligibility traces later.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C23A07C-A168-39B7-4E5B-CB74A33475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4656" y="321312"/>
                <a:ext cx="2327171" cy="818358"/>
              </a:xfrm>
              <a:prstGeom prst="wedgeRoundRectCallout">
                <a:avLst>
                  <a:gd name="adj1" fmla="val 44338"/>
                  <a:gd name="adj2" fmla="val 8129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720993E9-4E86-02DE-66E1-B419B2709FF9}"/>
              </a:ext>
            </a:extLst>
          </p:cNvPr>
          <p:cNvGrpSpPr/>
          <p:nvPr/>
        </p:nvGrpSpPr>
        <p:grpSpPr>
          <a:xfrm>
            <a:off x="9576769" y="176093"/>
            <a:ext cx="2420910" cy="2140608"/>
            <a:chOff x="9576769" y="176093"/>
            <a:chExt cx="2420910" cy="214060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B1A94A5-7EE7-37CC-E728-AF66A80A33AA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11" name="Content Placeholder 4">
                <a:extLst>
                  <a:ext uri="{FF2B5EF4-FFF2-40B4-BE49-F238E27FC236}">
                    <a16:creationId xmlns:a16="http://schemas.microsoft.com/office/drawing/2014/main" id="{BF760BA3-F830-BA0D-4894-05F51EBE69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36AB597-F7B2-20CF-B4CE-D97C11B92DBA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EF051C9-DDCC-7485-1E4C-E964BDF6ACEF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1555E4A-A866-1530-A9FD-F8FF4073B977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9A1598-3094-4269-64F8-0D5E916C21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−greedy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267EF7DE-A275-31E2-A378-8EF79253A2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/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b="1" i="1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</m:oMath>
                  </a14:m>
                  <a:r>
                    <a:rPr lang="en-US" b="1" dirty="0">
                      <a:solidFill>
                        <a:schemeClr val="accent3"/>
                      </a:solidFill>
                    </a:rPr>
                    <a:t>-step TD prediction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1529777-63A6-40DE-C0AC-7D83854B3A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6769" y="176093"/>
                  <a:ext cx="2420910" cy="369332"/>
                </a:xfrm>
                <a:prstGeom prst="rect">
                  <a:avLst/>
                </a:prstGeom>
                <a:blipFill>
                  <a:blip r:embed="rId7"/>
                  <a:stretch>
                    <a:fillRect t="-8333" b="-2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BF7655E7-BCC7-BD82-23F6-1FC9C85D7D3D}"/>
              </a:ext>
            </a:extLst>
          </p:cNvPr>
          <p:cNvSpPr/>
          <p:nvPr/>
        </p:nvSpPr>
        <p:spPr>
          <a:xfrm>
            <a:off x="9644917" y="3367331"/>
            <a:ext cx="2260166" cy="621260"/>
          </a:xfrm>
          <a:prstGeom prst="wedgeRoundRectCallout">
            <a:avLst>
              <a:gd name="adj1" fmla="val -29738"/>
              <a:gd name="adj2" fmla="val 7580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extra action Sarsa need.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5866228" y="3287652"/>
            <a:ext cx="618335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9856838" y="4018671"/>
            <a:ext cx="2264824" cy="2702997"/>
            <a:chOff x="9856838" y="4018671"/>
            <a:chExt cx="2264824" cy="27029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On-policy: Select next action from the  current </a:t>
                  </a:r>
                  <a14:m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6838" y="4018671"/>
                  <a:ext cx="2264824" cy="449306"/>
                </a:xfrm>
                <a:prstGeom prst="wedgeRoundRectCallout">
                  <a:avLst>
                    <a:gd name="adj1" fmla="val -40849"/>
                    <a:gd name="adj2" fmla="val 74156"/>
                    <a:gd name="adj3" fmla="val 16667"/>
                  </a:avLst>
                </a:prstGeom>
                <a:blipFill>
                  <a:blip r:embed="rId8"/>
                  <a:stretch>
                    <a:fillRect t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DBADE3BE-9FC4-3EC0-53D9-BC827C4B6355}"/>
              </a:ext>
            </a:extLst>
          </p:cNvPr>
          <p:cNvSpPr/>
          <p:nvPr/>
        </p:nvSpPr>
        <p:spPr>
          <a:xfrm>
            <a:off x="7157803" y="4497050"/>
            <a:ext cx="2872675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35E902-CEE1-CAFD-7C9B-B4E443036866}"/>
              </a:ext>
            </a:extLst>
          </p:cNvPr>
          <p:cNvSpPr/>
          <p:nvPr/>
        </p:nvSpPr>
        <p:spPr>
          <a:xfrm>
            <a:off x="8694038" y="5573658"/>
            <a:ext cx="2466140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634D9E-4B5B-8B5B-7737-CE731552CD3F}"/>
              </a:ext>
            </a:extLst>
          </p:cNvPr>
          <p:cNvSpPr/>
          <p:nvPr/>
        </p:nvSpPr>
        <p:spPr>
          <a:xfrm>
            <a:off x="7029133" y="1960277"/>
            <a:ext cx="2264769" cy="188064"/>
          </a:xfrm>
          <a:prstGeom prst="rect">
            <a:avLst/>
          </a:prstGeom>
          <a:noFill/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importance sampling ratios to prediction and control.</a:t>
            </a:r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a deterministic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an exploring (soft)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for prediction or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for control.</a:t>
                </a:r>
              </a:p>
              <a:p>
                <a:endParaRPr lang="en-US" dirty="0"/>
              </a:p>
              <a:p>
                <a:r>
                  <a:rPr lang="en-US" b="1" dirty="0"/>
                  <a:t>Sample efficiency issue</a:t>
                </a:r>
                <a:r>
                  <a:rPr lang="en-US" dirty="0"/>
                  <a:t>: Can only learn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 from data where the sampled actions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-steps are compatible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Updating the behavior policy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helps.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/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How likely is 𝜋 to choose an action compared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? 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552D126-208B-494D-2625-5FF1C93AC5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721" y="3130277"/>
                <a:ext cx="2118220" cy="1044429"/>
              </a:xfrm>
              <a:prstGeom prst="wedgeRoundRectCallout">
                <a:avLst>
                  <a:gd name="adj1" fmla="val -100549"/>
                  <a:gd name="adj2" fmla="val 7530"/>
                  <a:gd name="adj3" fmla="val 16667"/>
                </a:avLst>
              </a:prstGeom>
              <a:blipFill>
                <a:blip r:embed="rId4"/>
                <a:stretch>
                  <a:fillRect b="-2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622" y="1553598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525070" y="2045566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854247" y="536025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240889" y="4369108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6" cy="5089359"/>
            <a:chOff x="5659709" y="1062757"/>
            <a:chExt cx="6430496" cy="5089359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6" cy="5089359"/>
              <a:chOff x="5659709" y="1062757"/>
              <a:chExt cx="6430496" cy="5089359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6" y="4198999"/>
                <a:ext cx="1724099" cy="543806"/>
              </a:xfrm>
              <a:prstGeom prst="wedgeRoundRectCallout">
                <a:avLst>
                  <a:gd name="adj1" fmla="val -109575"/>
                  <a:gd name="adj2" fmla="val 19901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326967" y="3245771"/>
            <a:ext cx="561924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2FB8-8201-418B-E7F3-1FC2FCBE894E}"/>
              </a:ext>
            </a:extLst>
          </p:cNvPr>
          <p:cNvSpPr txBox="1"/>
          <p:nvPr/>
        </p:nvSpPr>
        <p:spPr>
          <a:xfrm>
            <a:off x="2355455" y="3244334"/>
            <a:ext cx="1373945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On-Policy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/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We could update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m:rPr>
                        <m:nor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−greedy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2" name="Speech Bubble: Rectangle with Corners Rounded 21">
                <a:extLst>
                  <a:ext uri="{FF2B5EF4-FFF2-40B4-BE49-F238E27FC236}">
                    <a16:creationId xmlns:a16="http://schemas.microsoft.com/office/drawing/2014/main" id="{324AC46D-52E7-570E-865E-DECAECC4DF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3311" y="2655934"/>
                <a:ext cx="1896894" cy="670576"/>
              </a:xfrm>
              <a:prstGeom prst="wedgeRoundRectCallout">
                <a:avLst>
                  <a:gd name="adj1" fmla="val -193450"/>
                  <a:gd name="adj2" fmla="val -3131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413" y="4544704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36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44F555-26B8-BE90-E588-B24F3A239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-1" y="10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</p:spPr>
            <p:txBody>
              <a:bodyPr anchor="ctr">
                <a:normAutofit fontScale="92500"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methods let us choose the amount of bootstrapping from 1-step to no bootstrapping (MC).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Advantage over one-step methods: </a:t>
                </a:r>
              </a:p>
              <a:p>
                <a:pPr lvl="1"/>
                <a:r>
                  <a:rPr lang="en-US" sz="1800" b="1" dirty="0"/>
                  <a:t>Learning</a:t>
                </a:r>
                <a:r>
                  <a:rPr lang="en-US" sz="1800" dirty="0"/>
                  <a:t>: Looking more steps ahead speeds up learning, especially for sparse rewards.</a:t>
                </a:r>
              </a:p>
              <a:p>
                <a:pPr lvl="1"/>
                <a:r>
                  <a:rPr lang="en-US" sz="1800" b="1" dirty="0"/>
                  <a:t>Error reduction</a:t>
                </a:r>
                <a:r>
                  <a:rPr lang="en-US" sz="1800" dirty="0"/>
                  <a:t>: Significantly reduces the bootstrapping error (</a:t>
                </a:r>
                <a:r>
                  <a:rPr lang="en-US" sz="1800" b="1" dirty="0"/>
                  <a:t>bias</a:t>
                </a:r>
                <a:r>
                  <a:rPr lang="en-US" sz="1800" dirty="0"/>
                  <a:t>) at the cost of increased </a:t>
                </a:r>
                <a:r>
                  <a:rPr lang="en-US" sz="1800" b="1" dirty="0"/>
                  <a:t>variance</a:t>
                </a:r>
                <a:r>
                  <a:rPr lang="en-US" sz="1800" dirty="0"/>
                  <a:t>. </a:t>
                </a:r>
              </a:p>
              <a:p>
                <a:pPr lvl="1"/>
                <a:r>
                  <a:rPr lang="en-US" sz="1800" dirty="0"/>
                  <a:t>An intermediate amount of bootstrapping typically </a:t>
                </a:r>
                <a:r>
                  <a:rPr lang="en-US" sz="1800" b="1" dirty="0"/>
                  <a:t>performs better</a:t>
                </a:r>
                <a:r>
                  <a:rPr lang="en-US" sz="1800" dirty="0"/>
                  <a:t> in terms of the variance/bias tradeoff than the one-step and MC extremes. </a:t>
                </a:r>
                <a14:m>
                  <m:oMath xmlns:m="http://schemas.openxmlformats.org/officeDocument/2006/math">
                    <m:r>
                      <a:rPr lang="en-US" sz="1800" b="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 is application-dependent and can be tuned.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Drawback:</a:t>
                </a:r>
              </a:p>
              <a:p>
                <a:pPr lvl="1"/>
                <a:r>
                  <a:rPr lang="en-US" sz="1800" b="1" dirty="0"/>
                  <a:t>Delay</a:t>
                </a:r>
                <a:r>
                  <a:rPr lang="en-US" sz="1800" dirty="0"/>
                  <a:t>: Updates are delayed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800" dirty="0"/>
                  <a:t>-step since future events (rewards and states) are needed.</a:t>
                </a:r>
              </a:p>
              <a:p>
                <a:pPr lvl="1"/>
                <a:r>
                  <a:rPr lang="en-US" sz="1800" b="1" dirty="0"/>
                  <a:t>Computation</a:t>
                </a:r>
                <a:r>
                  <a:rPr lang="en-US" sz="1800" dirty="0"/>
                  <a:t>: More computation per time step and higher memory needs than one-step methods.</a:t>
                </a:r>
              </a:p>
              <a:p>
                <a:pPr lvl="1"/>
                <a:endParaRPr lang="en-US" sz="1800" dirty="0"/>
              </a:p>
              <a:p>
                <a:pPr marL="0" indent="0">
                  <a:buNone/>
                </a:pPr>
                <a:r>
                  <a:rPr lang="en-US" sz="1800" b="1" dirty="0"/>
                  <a:t>Eligibility traces </a:t>
                </a:r>
                <a:r>
                  <a:rPr lang="en-US" sz="1800" dirty="0"/>
                  <a:t>address the delay and computation drawbacks. We will cover these methods later.</a:t>
                </a:r>
              </a:p>
              <a:p>
                <a:endParaRPr lang="en-US" sz="1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07456" y="482600"/>
                <a:ext cx="5628944" cy="5965092"/>
              </a:xfrm>
              <a:blipFill>
                <a:blip r:embed="rId3"/>
                <a:stretch>
                  <a:fillRect l="-649" t="-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12263</TotalTime>
  <Words>2001</Words>
  <Application>Microsoft Office PowerPoint</Application>
  <PresentationFormat>Widescreen</PresentationFormat>
  <Paragraphs>219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Topics of this Course</vt:lpstr>
      <vt:lpstr>Summary of Notation</vt:lpstr>
      <vt:lpstr>Policy Evaluation: 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 Guarantee</vt:lpstr>
      <vt:lpstr>Bias-Variance Tradeoff in RL</vt:lpstr>
      <vt:lpstr>n-step Control: Sarsa</vt:lpstr>
      <vt:lpstr>n-step Sarsa</vt:lpstr>
      <vt:lpstr>Speedup of n-step Sarsa</vt:lpstr>
      <vt:lpstr>Alg. From DT prediction to  n-step Sarsa Control</vt:lpstr>
      <vt:lpstr>n-step Off-Policy Control</vt:lpstr>
      <vt:lpstr>n-step Off-Policy Control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169</cp:revision>
  <dcterms:created xsi:type="dcterms:W3CDTF">2025-09-08T14:44:49Z</dcterms:created>
  <dcterms:modified xsi:type="dcterms:W3CDTF">2026-10-05T13:59:16Z</dcterms:modified>
</cp:coreProperties>
</file>