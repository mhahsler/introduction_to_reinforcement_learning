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481" r:id="rId10"/>
    <p:sldId id="480" r:id="rId11"/>
    <p:sldId id="392" r:id="rId12"/>
    <p:sldId id="391" r:id="rId13"/>
    <p:sldId id="394" r:id="rId14"/>
    <p:sldId id="393" r:id="rId15"/>
    <p:sldId id="389" r:id="rId16"/>
    <p:sldId id="390" r:id="rId17"/>
    <p:sldId id="395" r:id="rId18"/>
    <p:sldId id="482" r:id="rId19"/>
    <p:sldId id="39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-step Bootstrapping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481"/>
            <p14:sldId id="480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482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59" autoAdjust="0"/>
    <p:restoredTop sz="94653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36.png"/><Relationship Id="rId7" Type="http://schemas.openxmlformats.org/officeDocument/2006/relationships/image" Target="../media/image36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8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21.png"/><Relationship Id="rId7" Type="http://schemas.openxmlformats.org/officeDocument/2006/relationships/image" Target="../media/image37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Reinforcement Learning n -step Bootstrapping Sutton/Barto* Chapter 7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 descr="Reinforcement Learning n -step Bootstrapping Sutton/Barto* Chapter 7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961015" y="4798687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 descr="QR code linking to the online course material.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  <p:pic>
        <p:nvPicPr>
          <p:cNvPr id="4" name="object 23">
            <a:hlinkClick r:id="rId7"/>
            <a:extLst>
              <a:ext uri="{FF2B5EF4-FFF2-40B4-BE49-F238E27FC236}">
                <a16:creationId xmlns:a16="http://schemas.microsoft.com/office/drawing/2014/main" id="{3CBD6548-3D4E-9A40-CA35-355261D4E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 descr="General. X capital letters: random variables x, p lower-case letters: realizations of random variables or scalar functions. w Bold lower-case letters: real-valued vectors (even if random variables). W bold capitals: matrices. alpha Greek letters: parameters (vectors if in bolt). Pr{X equals x} probability that a random variable X takes on the value x. X~p random variable X selected from distribution p (x) equals Pr{X equals x}. E[X] expectation of a random variable X, i.e., E [X] equals the sum over x, of p (x) x. argmax sub a f(a) a value of action a at which f(a) takes its maximal value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 descr="General. X capital letters: random variables x, p lower-case letters: realizations of random variables or scalar functions. w Bold lower-case letters: real-valued vectors (even if random variables). W bold capitals: matrices. alpha Greek letters: parameters (vectors if in bolt). Pr{X equals x} probability that a random variable X takes on the value x. X~p random variable X selected from distribution p (x) equals Pr{X equals x}. E[X] expectation of a random variable X, i.e., E [X] equals the sum over x, of p (x) x. argmax sub a f(a) a value of action a at which f(a) takes its maximal value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Value Function. G sub t return (cumulative reward) following time t. G sub t:h return from t to h (discounted and corrected). v sub pi (s) value of state s under policy pi (expected return). v sub star (s) value of state s under the optimal policy. q sub pi (s,a) value of taking action a in state s under policy pi. q sub star (s,a) value of taking action a in state s under the optimal policy. V, V sub t array estimates of state-value function v sub pi or v sub star. Q,Q sub t array estimates of action-value function q sub pi or v sub star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 descr="Value Function. G sub t return (cumulative reward) following time t. G sub t:h return from t to h (discounted and corrected). v sub pi (s) value of state s under policy pi (expected return). v sub star (s) value of state s under the optimal policy. q sub pi (s,a) value of taking action a in state s under policy pi. q sub star (s,a) value of taking action a in state s under the optimal policy. V, V sub t array estimates of state-value function v sub pi or v sub star. Q,Q sub t array estimates of action-value function q sub pi or v sub star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 descr="MDP. s, s prime states. a an action. r a reward. S set of all (nonterminal) states, S to the power plus are all states. A(s) set of all actions available in state s. gamma discount-rate parameter. t discrete time step. T final time step of an episode (a.k.a. horizon). A sub t random variable for the action at time t. S sub t random variable for the state at time t. R sub t random variable for the reward at time t. p (s prime,r | s, a) probability of transition to state s prime and receiving reward r, from state s taking action a . p (s prime | s, a) probability of transition to state s prime fom state s taking action a . r(s,a) expected immediate reward from state s after action a. r(s,a,s prime) expected immediate reward from state s to s prime with action a. pi (a given s) probability of taking action a in state s under stochastic policy pi. pi (s) action taken in state s under deterministic policy pi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 descr="MDP. s, s prime states. a an action. r a reward. S set of all (nonterminal) states, S to the power plus are all states. A(s) set of all actions available in state s. gamma discount-rate parameter. t discrete time step. T final time step of an episode (a.k.a. horizon). A sub t random variable for the action at time t. S sub t random variable for the state at time t. R sub t random variable for the reward at time t. p (s prime,r | s, a) probability of transition to state s prime and receiving reward r, from state s taking action a . p (s prime | s, a) probability of transition to state s prime fom state s taking action a . r(s,a) expected immediate reward from state s after action a. r(s,a,s prime) expected immediate reward from state s to s prime with action a. pi (a given s) probability of taking action a in state s under stochastic policy pi. pi (s) action taken in state s under deterministic policy pi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 descr="Temporal Difference Learning. U sub t target for estimate at time t. delta sub t TD error. G sub t:t plus n n -step return using rewards from t plus 1 to t plus n and bootstrap the rest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 xmlns="">
          <p:sp>
            <p:nvSpPr>
              <p:cNvPr id="4" name="Content Placeholder 2" descr="Temporal Difference Learning. U sub t target for estimate at time t. delta sub t TD error. G sub t:t plus n n -step return using rewards from t plus 1 to t plus n and bootstrap the rest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Policy Evaluation: 1-step TD vs. n -step TD vs. MC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 descr="Policy Evaluation: 1-step TD vs. n -step TD vs. MC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Question: How far ahead in the sampled episode do we look to estimate the return?. MC: We use the whole episode. 1-step TD: We only observe the next step and its reward. The remaining return is bootstrapped . This propagates state value errors!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How far ahead in the sampled episode do we look to estimate the return?</a:t>
                </a:r>
                <a:endParaRPr lang="en-US" sz="1800" b="1" dirty="0"/>
              </a:p>
              <a:p>
                <a:pPr marL="0" indent="0">
                  <a:buNone/>
                </a:pPr>
                <a:endParaRPr lang="en-US" sz="1800" b="1" dirty="0"/>
              </a:p>
              <a:p>
                <a:r>
                  <a:rPr lang="en-US" sz="1800" b="1" dirty="0"/>
                  <a:t>MC: </a:t>
                </a:r>
                <a:r>
                  <a:rPr lang="en-US" sz="1800" dirty="0"/>
                  <a:t>We use the whole episode.</a:t>
                </a:r>
                <a:endParaRPr lang="en-US" sz="1800" b="1" dirty="0"/>
              </a:p>
              <a:p>
                <a:r>
                  <a:rPr lang="en-US" sz="1800" b="1" dirty="0"/>
                  <a:t>1-step TD: </a:t>
                </a:r>
                <a:r>
                  <a:rPr lang="en-US" sz="1800" dirty="0"/>
                  <a:t>We only observe the </a:t>
                </a:r>
                <a:r>
                  <a:rPr lang="en-US" sz="1800" b="1" dirty="0"/>
                  <a:t>next step </a:t>
                </a:r>
                <a:r>
                  <a:rPr lang="en-US" sz="1800" dirty="0"/>
                  <a:t>and its reward. The remaining return is </a:t>
                </a:r>
                <a:r>
                  <a:rPr lang="en-US" sz="1800" b="1" dirty="0"/>
                  <a:t>bootstrapped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This </a:t>
                </a:r>
                <a:r>
                  <a:rPr lang="en-US" sz="1800" b="1" dirty="0"/>
                  <a:t>propagates state value errors</a:t>
                </a:r>
                <a:r>
                  <a:rPr lang="en-US" sz="1800" dirty="0"/>
                  <a:t>!</a:t>
                </a:r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 descr="Question: How far ahead in the sampled episode do we look to estimate the return?. MC: We use the whole episode. 1-step TD: We only observe the next step and its reward. The remaining return is bootstrapped . This propagates state value errors!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831065"/>
              </a:xfrm>
              <a:blipFill>
                <a:blip r:embed="rId3"/>
                <a:stretch>
                  <a:fillRect l="-522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 descr="n -step TD. Looks n time steps ahead and bootstraps the rest. Using more observed rewards should help to reduce the bootstrapping error. TD unifies and generalizes MC and one-step TD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TD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Looks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ahead and bootstraps the rest. Using more observed rewards should help to </a:t>
                </a:r>
                <a:r>
                  <a:rPr lang="en-US" b="1" dirty="0"/>
                  <a:t>reduce the bootstrapping error.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TD unifies and generalizes MC and one-step TD.</a:t>
                </a:r>
              </a:p>
            </p:txBody>
          </p:sp>
        </mc:Choice>
        <mc:Fallback xmlns="">
          <p:sp>
            <p:nvSpPr>
              <p:cNvPr id="32" name="TextBox 31" descr="n -step TD. Looks n time steps ahead and bootstraps the rest. Using more observed rewards should help to reduce the bootstrapping error. TD unifies and generalizes MC and one-step TD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99" y="4644434"/>
                <a:ext cx="10610054" cy="1200329"/>
              </a:xfrm>
              <a:prstGeom prst="rect">
                <a:avLst/>
              </a:prstGeom>
              <a:blipFill>
                <a:blip r:embed="rId4"/>
                <a:stretch>
                  <a:fillRect l="-402" t="-2538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An episode as a sequence: state S_t, action A_t, reward R_t+1, state S_t+1, action A_t+1, reward R_t+2, state S_t+2, action A_t+2, reward R_t+3, state S_t+3, action A_t+3, and so on. Labels: V(S sub t); V(S sub t plus 1); update; 1-step; Used to bootstrap estimate of the remaining return G sub t plus 1.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745815" y="3029566"/>
            <a:ext cx="5965095" cy="1634100"/>
            <a:chOff x="2637816" y="2832616"/>
            <a:chExt cx="5965095" cy="1634100"/>
          </a:xfrm>
        </p:grpSpPr>
        <p:grpSp>
          <p:nvGrpSpPr>
            <p:cNvPr id="33" name="Group 32" descr="An episode as a sequence: state S_t, action A_t, reward R_t+1, state S_t+1, action A_t+1, reward R_t+2, state S_t+2, action A_t+2, reward R_t+3, state S_t+3, action A_t+3, and so on. Labels: V(S sub t); V(S sub t plus 1); update; 1-step.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 descr="An episode as a sequence: state S_t, action A_t, reward R_t+1, state S_t+1, action A_t+1, reward R_t+2, state S_t+2, action A_t+2, reward R_t+3, state S_t+3, action A_t+3, and so on.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 descr="Equation: V(S sub t)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 descr="Equation: V(S sub t)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 descr="Equation: V(S sub t plus 1)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 descr="Equation: V(S sub t plus 1)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 descr="Used to bootstrap estimate of the remaining return G sub t plus 1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Speech Bubble: Rectangle with Corners Rounded 33" descr="Used to bootstrap estimate of the remaining return G sub t plus 1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  <a:blipFill>
                  <a:blip r:embed="rId8"/>
                  <a:stretch>
                    <a:fillRect t="-5682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 descr="Scale from 1-step TD on the left to MC (whole episode) on the right, with n-step TD as the range of methods in between.">
            <a:extLst>
              <a:ext uri="{FF2B5EF4-FFF2-40B4-BE49-F238E27FC236}">
                <a16:creationId xmlns:a16="http://schemas.microsoft.com/office/drawing/2014/main" id="{11C9C314-988F-0A98-1955-8D7377802AD9}"/>
              </a:ext>
            </a:extLst>
          </p:cNvPr>
          <p:cNvGrpSpPr/>
          <p:nvPr/>
        </p:nvGrpSpPr>
        <p:grpSpPr>
          <a:xfrm>
            <a:off x="3541531" y="5788233"/>
            <a:ext cx="5623139" cy="893096"/>
            <a:chOff x="2888293" y="5522210"/>
            <a:chExt cx="5623139" cy="893096"/>
          </a:xfrm>
        </p:grpSpPr>
        <p:grpSp>
          <p:nvGrpSpPr>
            <p:cNvPr id="15" name="Group 14" descr="Scale from 1-step TD on the left to MC (whole episode) on the right.">
              <a:extLst>
                <a:ext uri="{FF2B5EF4-FFF2-40B4-BE49-F238E27FC236}">
                  <a16:creationId xmlns:a16="http://schemas.microsoft.com/office/drawing/2014/main" id="{EB9E5956-B033-E66C-9244-F254E34930E3}"/>
                </a:ext>
              </a:extLst>
            </p:cNvPr>
            <p:cNvGrpSpPr/>
            <p:nvPr/>
          </p:nvGrpSpPr>
          <p:grpSpPr>
            <a:xfrm>
              <a:off x="2888293" y="5522210"/>
              <a:ext cx="5623139" cy="893096"/>
              <a:chOff x="3048836" y="5722125"/>
              <a:chExt cx="5623139" cy="893096"/>
            </a:xfrm>
          </p:grpSpPr>
          <p:grpSp>
            <p:nvGrpSpPr>
              <p:cNvPr id="10" name="Group 9" descr="Scale from 1-step TD on the left to MC on the right.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3048836" y="5722125"/>
                <a:ext cx="5067252" cy="477986"/>
                <a:chOff x="2659667" y="2782204"/>
                <a:chExt cx="5659631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659667" y="2782204"/>
                  <a:ext cx="1392309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MC </a:t>
                  </a:r>
                </a:p>
              </p:txBody>
            </p:sp>
          </p:grp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8BFD95-D1AF-D3B0-1498-24CDC947051F}"/>
                  </a:ext>
                </a:extLst>
              </p:cNvPr>
              <p:cNvSpPr txBox="1"/>
              <p:nvPr/>
            </p:nvSpPr>
            <p:spPr>
              <a:xfrm>
                <a:off x="6822540" y="6245889"/>
                <a:ext cx="184943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/>
                  <a:t>(whole episode)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 descr="n -step TD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/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TD </a:t>
                  </a:r>
                </a:p>
              </p:txBody>
            </p:sp>
          </mc:Choice>
          <mc:Fallback xmlns="">
            <p:sp>
              <p:nvSpPr>
                <p:cNvPr id="16" name="TextBox 15" descr="n -step TD">
                  <a:extLst>
                    <a:ext uri="{FF2B5EF4-FFF2-40B4-BE49-F238E27FC236}">
                      <a16:creationId xmlns:a16="http://schemas.microsoft.com/office/drawing/2014/main" id="{5A8B58D0-D9D0-BAF2-8636-E6875C7D5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1964" y="5534292"/>
                  <a:ext cx="1246582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pic>
        <p:nvPicPr>
          <p:cNvPr id="4" name="Content Placeholder 4" descr="Sutton and Barto Figure 7.4, three gridworld panels. Path taken: a winding path through the grid that ends at the goal G. Action values increased by one-step Sarsa: only one arrow, the last action into G. Action values increased by 10-step Sarsa: arrows on the last 10 actions of the path leading to G. Caption: Gridworld example of the speedup of policy learning due to the use of n-step methods. The first panel shows the path taken by an agent in a single episode, ending at a location of high reward, marked by the G. In this example the values were all initially 0, and all rewards were zero except for a positive reward at G. The arrows in the other two panels show which action values were strengthened as a result of this path by one-step and n-step Sarsa methods. The one-step method strengthens only the last action of the sequence of actions that led to the high reward, whereas the n-step method strengthens the last n actions of the sequence, so that much more is learned from the one episode.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 descr="n -step TD Prediction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 descr="n -step TD Prediction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 descr="Backup diagrams of n-step methods (Sutton and Barto Figure 7.1): a row of chains of alternating states (open circles) and actions (dots). 1-step TD and TD(0) goes one step; 2-step TD two steps; 3-step TD three steps; then n-step TD; and infinity-step TD and Monte Carlo runs all the way to the terminal state (a gray square). Labels: R sub t plus 1; V(S sub t plus 1); V(S sub t).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 descr="Backup diagrams of n-step methods (Sutton and Barto Figure 7.1): a row of chains of alternating states (open circles) and actions (dots). 1-step TD and TD(0) goes one step; 2-step TD two steps; 3-step TD three steps; then n-step TD; and infinity-step TD and Monte Carlo runs all the way to the terminal state (a gray square).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 descr="Equation: R sub t plus 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 descr="Equation: R sub t plus 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 descr="Equation: V(S sub t plus 1)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 descr="Equation: V(S sub t plus 1)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 descr="Equation: V(S sub t)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 descr="Equation: V(S sub t)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n -step TD Prediction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 </a:t>
                </a:r>
              </a:p>
            </p:txBody>
          </p:sp>
        </mc:Choice>
        <mc:Fallback xmlns="">
          <p:sp>
            <p:nvSpPr>
              <p:cNvPr id="2" name="Title 1" descr="n -step TD Prediction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483" t="-19672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 descr="Update with reward R sub t plus 1 + bootstrap the remaining return G sub t plus 1 by the value of the next state V(S sub t plus 1)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 descr="Update with reward R sub t plus 1 + bootstrap the remaining return G sub t plus 1 by the value of the next state V(S sub t plus 1)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Brace annotation: Update with the whole sequence of observed rewards to no bootstrapping.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 descr="Update with the whole sequence of observed rewards to no bootstrapping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 descr="Update with the whole sequence of observed rewards to no bootstrapping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 descr="Return Estimate. 1-step TD: G sub t:t plus 1, equals R sub t plus 1, plus gamma V(S sub t plus 1). 2-step TD: G sub t:t plus 2, equals R sub t plus 1, plus gamma R sub t plus 2, plus gamma squared V(S sub t plus 2). …. n -step TD: G sub t:t plus n, equals R sub t plus 1, plus gamma R sub t plus 2, plus dot dot dot plus gamma to the power n minus 1, R sub t plus n, plus gamma to the power n V (S sub t plus n). MC: G sub t equals R sub t plus 1, plus gamma R sub t plus 2, plus dot dot dot plus gamma to the power T minus t minus 1, R sub T. Update: V (S sub t) gets V (S sub t) plus alpha [G sub t:t plus n, minus V(S sub t)]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 descr="Return Estimate. 1-step TD: G sub t:t plus 1, equals R sub t plus 1, plus gamma V(S sub t plus 1). 2-step TD: G sub t:t plus 2, equals R sub t plus 1, plus gamma R sub t plus 2, plus gamma squared V(S sub t plus 2). …. n -step TD: G sub t:t plus n, equals R sub t plus 1, plus gamma R sub t plus 2, plus dot dot dot plus gamma to the power n minus 1, R sub t plus n, plus gamma to the power n V (S sub t plus n). MC: G sub t equals R sub t plus 1, plus gamma R sub t plus 2, plus dot dot dot plus gamma to the power T minus t minus 1, R sub T. Update: V (S sub t) gets V (S sub t) plus alpha [G sub t:t plus n, minus V(S sub t)]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 descr="Notation. G sub t:t plus n … the n -step return is calculated from the rewards up to t plus n and the rest is bootstrapped using the value function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 xmlns="">
          <p:sp>
            <p:nvSpPr>
              <p:cNvPr id="26" name="TextBox 25" descr="Notation. G sub t:t plus n … the n -step return is calculated from the rewards up to t plus n and the rest is bootstrapped using the value function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7705" y="4141820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r="-1026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 descr="The update needs G sub t:t plus n and is n steps delayed!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 descr="The update needs G sub t:t plus n and is n steps delayed!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Alg. n -step TD Prediction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 descr="Alg. n -step TD Prediction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lgorithm box: n-step TD for estimating V ≈ v pi. Input: a policy pi. Algorithm parameters: step size alpha in (0, 1], a positive integer n. Initialize V(s) arbitrarily, for all s in S. All store and access operations (for S_t and R_t) can take their index mod n + 1. Loop for each episode: Initialize and store S_0 ≠ terminal; T ← infinity; Loop for t = 0, 1, 2, …: If t &lt; T, then: Take an action according to pi(· | S_t); Observe and store the next reward as R_t+1 and the next state as S_t+1; If S_t+1 is terminal, then T ← t + 1. tau ← t − n + 1 (tau is the time whose state's estimate is being updated). If tau ≥ 0: G ← sum from i = tau + 1 to min(tau + n, T) of gamma to the power i − tau − 1 times R_i; If tau + n &lt; T, then: G ← G + gamma to the n times V(S_tau+n), giving G_tau:tau+n; V(S_tau) ← V(S_tau) + alpha [G − V(S_tau)]. Until tau = T − 1.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0643" y="1128393"/>
            <a:ext cx="8045837" cy="53686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982115" y="4958940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1014" y="3724566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67268" y="4764881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268" y="4764881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510446" y="5498908"/>
                <a:ext cx="2329544" cy="1258502"/>
              </a:xfrm>
              <a:prstGeom prst="wedgeRoundRectCallout">
                <a:avLst>
                  <a:gd name="adj1" fmla="val -86945"/>
                  <a:gd name="adj2" fmla="val -4129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0446" y="5498908"/>
                <a:ext cx="2329544" cy="1258502"/>
              </a:xfrm>
              <a:prstGeom prst="wedgeRoundRectCallout">
                <a:avLst>
                  <a:gd name="adj1" fmla="val -86945"/>
                  <a:gd name="adj2" fmla="val -41293"/>
                  <a:gd name="adj3" fmla="val 16667"/>
                </a:avLst>
              </a:prstGeom>
              <a:blipFill>
                <a:blip r:embed="rId5"/>
                <a:stretch>
                  <a:fillRect t="-2871" b="-76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50170" y="5707152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70" y="5707152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 descr="t is the current time step. tau is the timestep that gets updated.">
            <a:extLst>
              <a:ext uri="{FF2B5EF4-FFF2-40B4-BE49-F238E27FC236}">
                <a16:creationId xmlns:a16="http://schemas.microsoft.com/office/drawing/2014/main" id="{AF682137-4399-D068-602B-53B27612B383}"/>
              </a:ext>
            </a:extLst>
          </p:cNvPr>
          <p:cNvGrpSpPr/>
          <p:nvPr/>
        </p:nvGrpSpPr>
        <p:grpSpPr>
          <a:xfrm>
            <a:off x="7688504" y="2753168"/>
            <a:ext cx="2587176" cy="1328076"/>
            <a:chOff x="7130642" y="2748974"/>
            <a:chExt cx="2587176" cy="132807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E859F95-A5C2-CE37-B3D7-5DC8E7DDC4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352128" y="2748974"/>
              <a:ext cx="2365690" cy="1216727"/>
              <a:chOff x="9986271" y="4309326"/>
              <a:chExt cx="2365690" cy="1216727"/>
            </a:xfrm>
          </p:grpSpPr>
          <p:grpSp>
            <p:nvGrpSpPr>
              <p:cNvPr id="18" name="Group 17" descr="Time line: an arrow with tau on the left and t on the right, with a brace over the n steps between them.">
                <a:extLst>
                  <a:ext uri="{FF2B5EF4-FFF2-40B4-BE49-F238E27FC236}">
                    <a16:creationId xmlns:a16="http://schemas.microsoft.com/office/drawing/2014/main" id="{6BD81C03-2FFC-3430-6A96-CC215F8CB002}"/>
                  </a:ext>
                </a:extLst>
              </p:cNvPr>
              <p:cNvGrpSpPr/>
              <p:nvPr/>
            </p:nvGrpSpPr>
            <p:grpSpPr>
              <a:xfrm>
                <a:off x="9986271" y="4309326"/>
                <a:ext cx="1996323" cy="913879"/>
                <a:chOff x="10044440" y="1032968"/>
                <a:chExt cx="1996323" cy="913879"/>
              </a:xfrm>
            </p:grpSpPr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D8B9856B-B3C4-5BCC-42AC-811D84A88D5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044440" y="1577515"/>
                  <a:ext cx="1996323" cy="0"/>
                </a:xfrm>
                <a:prstGeom prst="line">
                  <a:avLst/>
                </a:prstGeom>
                <a:ln>
                  <a:headEnd type="triangle" w="med" len="med"/>
                  <a:tailEnd type="non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Box 7" descr="Equation: t">
                      <a:extLst>
                        <a:ext uri="{FF2B5EF4-FFF2-40B4-BE49-F238E27FC236}">
                          <a16:creationId xmlns:a16="http://schemas.microsoft.com/office/drawing/2014/main" id="{44A9B8B8-C293-91A1-01EB-1F759EBE74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37576" y="1577515"/>
                      <a:ext cx="376929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8" name="TextBox 7" descr="Equation: t">
                      <a:extLst>
                        <a:ext uri="{FF2B5EF4-FFF2-40B4-BE49-F238E27FC236}">
                          <a16:creationId xmlns:a16="http://schemas.microsoft.com/office/drawing/2014/main" id="{44A9B8B8-C293-91A1-01EB-1F759EBE74C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37576" y="1577515"/>
                      <a:ext cx="376929" cy="3693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 descr="Equation: tau">
                      <a:extLst>
                        <a:ext uri="{FF2B5EF4-FFF2-40B4-BE49-F238E27FC236}">
                          <a16:creationId xmlns:a16="http://schemas.microsoft.com/office/drawing/2014/main" id="{D60D0466-EF57-5F71-0C88-02AB91FDD90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044440" y="1577515"/>
                      <a:ext cx="376929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1" name="TextBox 10" descr="Equation: tau">
                      <a:extLst>
                        <a:ext uri="{FF2B5EF4-FFF2-40B4-BE49-F238E27FC236}">
                          <a16:creationId xmlns:a16="http://schemas.microsoft.com/office/drawing/2014/main" id="{D60D0466-EF57-5F71-0C88-02AB91FDD90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044440" y="1577515"/>
                      <a:ext cx="376929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TextBox 14" descr="n steps">
                      <a:extLst>
                        <a:ext uri="{FF2B5EF4-FFF2-40B4-BE49-F238E27FC236}">
                          <a16:creationId xmlns:a16="http://schemas.microsoft.com/office/drawing/2014/main" id="{CA6A7031-056F-EB6D-642F-809EE4320E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416206" y="1032968"/>
                      <a:ext cx="111129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a14:m>
                      <a:r>
                        <a:rPr lang="en-US" dirty="0"/>
                        <a:t> steps</a:t>
                      </a:r>
                    </a:p>
                  </p:txBody>
                </p:sp>
              </mc:Choice>
              <mc:Fallback xmlns="">
                <p:sp>
                  <p:nvSpPr>
                    <p:cNvPr id="15" name="TextBox 14" descr="n steps">
                      <a:extLst>
                        <a:ext uri="{FF2B5EF4-FFF2-40B4-BE49-F238E27FC236}">
                          <a16:creationId xmlns:a16="http://schemas.microsoft.com/office/drawing/2014/main" id="{CA6A7031-056F-EB6D-642F-809EE4320E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416206" y="1032968"/>
                      <a:ext cx="1111291" cy="369332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8333" b="-28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6" name="Right Brace 15">
                  <a:extLst>
                    <a:ext uri="{FF2B5EF4-FFF2-40B4-BE49-F238E27FC236}">
                      <a16:creationId xmlns:a16="http://schemas.microsoft.com/office/drawing/2014/main" id="{DF1F0B09-177D-1C23-8922-13B60D4726F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 rot="16200000">
                  <a:off x="10847163" y="722444"/>
                  <a:ext cx="146575" cy="1416969"/>
                </a:xfrm>
                <a:prstGeom prst="righ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 descr="Observed Rs plus V(S sub t)">
                    <a:extLst>
                      <a:ext uri="{FF2B5EF4-FFF2-40B4-BE49-F238E27FC236}">
                        <a16:creationId xmlns:a16="http://schemas.microsoft.com/office/drawing/2014/main" id="{ABD183B9-C0A7-1967-D463-484C00285B8B}"/>
                      </a:ext>
                    </a:extLst>
                  </p:cNvPr>
                  <p:cNvSpPr txBox="1"/>
                  <p:nvPr/>
                </p:nvSpPr>
                <p:spPr>
                  <a:xfrm>
                    <a:off x="10355638" y="5218276"/>
                    <a:ext cx="1996323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400" dirty="0"/>
                      <a:t>Observed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9" name="TextBox 18" descr="Observed Rs plus V(S sub t)">
                    <a:extLst>
                      <a:ext uri="{FF2B5EF4-FFF2-40B4-BE49-F238E27FC236}">
                        <a16:creationId xmlns:a16="http://schemas.microsoft.com/office/drawing/2014/main" id="{ABD183B9-C0A7-1967-D463-484C00285B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55638" y="5218276"/>
                    <a:ext cx="1996323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917" t="-3922" b="-1960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0A3EC7-0C60-EBDF-04C7-F6EB9211F932}"/>
                </a:ext>
              </a:extLst>
            </p:cNvPr>
            <p:cNvSpPr/>
            <p:nvPr/>
          </p:nvSpPr>
          <p:spPr>
            <a:xfrm>
              <a:off x="7130642" y="2748974"/>
              <a:ext cx="2546059" cy="1328076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Error Reduction Property and Convergence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466" y="3606799"/>
                <a:ext cx="10515600" cy="1888979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Explanation</a:t>
                </a:r>
                <a:r>
                  <a:rPr lang="en-US" sz="18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8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800" dirty="0"/>
              </a:p>
              <a:p>
                <a:r>
                  <a:rPr lang="en-US" sz="1800" dirty="0"/>
                  <a:t>The averages of observed rewards have in expectation no error (are unbiased).</a:t>
                </a:r>
              </a:p>
              <a:p>
                <a:r>
                  <a:rPr lang="en-US" sz="1800" dirty="0"/>
                  <a:t>The impact of the error-prone bootstrap estimate is smaller because it is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time steps away and thus discounted by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800" dirty="0"/>
                  <a:t> (related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800" dirty="0"/>
                  <a:t>-contracting property of Bellman updates).</a:t>
                </a:r>
              </a:p>
              <a:p>
                <a:r>
                  <a:rPr lang="en-US" sz="1800" dirty="0"/>
                  <a:t>Expectation just means we need many estimates (= use many episodes)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466" y="3606799"/>
                <a:ext cx="10515600" cy="1888979"/>
              </a:xfrm>
              <a:blipFill>
                <a:blip r:embed="rId2"/>
                <a:stretch>
                  <a:fillRect l="-464" t="-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072082" y="1252872"/>
                <a:ext cx="7743038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expected value of n-step returns is always better than the current approximation (for the worst state).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082" y="1252872"/>
                <a:ext cx="7743038" cy="2033827"/>
              </a:xfrm>
              <a:prstGeom prst="rect">
                <a:avLst/>
              </a:prstGeom>
              <a:blipFill>
                <a:blip r:embed="rId3"/>
                <a:stretch>
                  <a:fillRect l="-786" t="-1190" r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5E86A9-F4CE-EE45-120B-538532B55D95}"/>
                  </a:ext>
                </a:extLst>
              </p:cNvPr>
              <p:cNvSpPr txBox="1"/>
              <p:nvPr/>
            </p:nvSpPr>
            <p:spPr>
              <a:xfrm>
                <a:off x="2072082" y="5689862"/>
                <a:ext cx="7743038" cy="40011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Implication: All </a:t>
                </a:r>
                <a14:m>
                  <m:oMath xmlns:m="http://schemas.openxmlformats.org/officeDocument/2006/math">
                    <m:r>
                      <a:rPr lang="en-US" sz="2000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methods (including 1-step and MC) converge!</a:t>
                </a:r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5E86A9-F4CE-EE45-120B-538532B55D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2082" y="5689862"/>
                <a:ext cx="7743038" cy="400110"/>
              </a:xfrm>
              <a:prstGeom prst="rect">
                <a:avLst/>
              </a:prstGeom>
              <a:blipFill>
                <a:blip r:embed="rId4"/>
                <a:stretch>
                  <a:fillRect t="-4348" b="-23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093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E528-C1DE-F2F1-563E-D757ECA4F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Bias-Variance Tradeoff in RL</a:t>
            </a:r>
          </a:p>
        </p:txBody>
      </p:sp>
      <p:graphicFrame>
        <p:nvGraphicFramePr>
          <p:cNvPr id="4" name="Table 3" descr="Table with 4 rows and 3 columns. Column headers: Method, Bias of Estimate, Variance of Estimate. Row 1: MC, No bias: G sub t is an unbiased sample, High: difference between sample returns; falls with sample size. Row 2: n -step, Increased bias, Reduced. Row 3: TD, High bias: G sub t is bootstrapped; falls when getting close to the optimal value function, Low: only one reward is sampled.">
            <a:extLst>
              <a:ext uri="{FF2B5EF4-FFF2-40B4-BE49-F238E27FC236}">
                <a16:creationId xmlns:a16="http://schemas.microsoft.com/office/drawing/2014/main" id="{312CB263-077E-07CB-B5DD-A047F28225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467832"/>
              </p:ext>
            </p:extLst>
          </p:nvPr>
        </p:nvGraphicFramePr>
        <p:xfrm>
          <a:off x="1070490" y="3753134"/>
          <a:ext cx="10051019" cy="247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4390">
                  <a:extLst>
                    <a:ext uri="{9D8B030D-6E8A-4147-A177-3AD203B41FA5}">
                      <a16:colId xmlns:a16="http://schemas.microsoft.com/office/drawing/2014/main" val="585080336"/>
                    </a:ext>
                  </a:extLst>
                </a:gridCol>
                <a:gridCol w="4664531">
                  <a:extLst>
                    <a:ext uri="{9D8B030D-6E8A-4147-A177-3AD203B41FA5}">
                      <a16:colId xmlns:a16="http://schemas.microsoft.com/office/drawing/2014/main" val="1752107938"/>
                    </a:ext>
                  </a:extLst>
                </a:gridCol>
                <a:gridCol w="4062098">
                  <a:extLst>
                    <a:ext uri="{9D8B030D-6E8A-4147-A177-3AD203B41FA5}">
                      <a16:colId xmlns:a16="http://schemas.microsoft.com/office/drawing/2014/main" val="3538857757"/>
                    </a:ext>
                  </a:extLst>
                </a:gridCol>
              </a:tblGrid>
              <a:tr h="418041">
                <a:tc>
                  <a:txBody>
                    <a:bodyPr/>
                    <a:lstStyle/>
                    <a:p>
                      <a:r>
                        <a:rPr lang="en-US" sz="2000" dirty="0"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Variance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2016133"/>
                  </a:ext>
                </a:extLst>
              </a:tr>
              <a:tr h="133013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MC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/>
                        <a:t>Unbiased – </a:t>
                      </a:r>
                      <a:r>
                        <a:rPr lang="en-US" sz="2000" dirty="0"/>
                        <a:t>only uses actual observed rewards.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/>
                        <a:t>High - </a:t>
                      </a:r>
                      <a:r>
                        <a:rPr lang="en-US" sz="2000" dirty="0"/>
                        <a:t>accumulating rewards across long, stochastic trajectories creates massive fluctuations.</a:t>
                      </a:r>
                      <a:endParaRPr lang="en-US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207269"/>
                  </a:ext>
                </a:extLst>
              </a:tr>
              <a:tr h="7220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/>
                        <a:t>High - </a:t>
                      </a:r>
                      <a:r>
                        <a:rPr lang="en-US" sz="2000" b="0" dirty="0"/>
                        <a:t> bootstrapping uses </a:t>
                      </a:r>
                      <a:r>
                        <a:rPr lang="en-US" sz="2000" dirty="0"/>
                        <a:t>outdated value estimates for the next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/>
                        <a:t>Lower - </a:t>
                      </a:r>
                      <a:r>
                        <a:rPr lang="en-US" sz="2000" dirty="0"/>
                        <a:t>looking only one step ahead shrinks the variance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2062867"/>
                  </a:ext>
                </a:extLst>
              </a:tr>
            </a:tbl>
          </a:graphicData>
        </a:graphic>
      </p:graphicFrame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18BCD2A-BFE6-F180-0184-EE2B45D90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2355803"/>
          </a:xfrm>
        </p:spPr>
        <p:txBody>
          <a:bodyPr>
            <a:normAutofit fontScale="92500" lnSpcReduction="20000"/>
          </a:bodyPr>
          <a:lstStyle/>
          <a:p>
            <a:pPr lvl="0"/>
            <a:r>
              <a:rPr lang="en-US" b="1" dirty="0"/>
              <a:t>Bias:</a:t>
            </a:r>
            <a:r>
              <a:rPr lang="en-US" dirty="0"/>
              <a:t> The error that occurs when an estimator systematically deviates from the true expected value. High bias means the target relies on a guess or bootstrapped estimate rather than actual ground truth. </a:t>
            </a:r>
          </a:p>
          <a:p>
            <a:pPr lvl="0"/>
            <a:r>
              <a:rPr lang="en-US" b="1" dirty="0"/>
              <a:t>Variance:</a:t>
            </a:r>
            <a:r>
              <a:rPr lang="en-US" dirty="0"/>
              <a:t> How much the value or return estimate fluctuates due to the randomness (stochasticity) of trajectories, actions, and environments. High variance means a small change in sample episodes leads to wildly different updates.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11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 descr="n -step Control: Sarsa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 descr="n -step Control: Sarsa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 descr="On-Policy learning using n -step return estimates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 descr="On-Policy learning using n -step return estimates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n -step Sarsa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 descr="n -step Sarsa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 descr="Generalized policy iteration with action values: an evaluation arrow from pi to Q, labelled Q goes to q pi, and an improvement arrow from Q back to pi, labelled pi goes to greedy(Q). Labels: GPI; pi squiggly right arrow epsilon minus greedy(Q); n -step TD prediction.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 descr="Generalized policy iteration with action values: an evaluation arrow from pi to Q, labelled Q goes to q pi, and an improvement arrow from Q back to pi, labelled pi goes to greedy(Q). Labels: GPI.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 descr="Generalized policy iteration with action values: an evaluation arrow from pi to Q, labelled Q goes to q pi, and an improvement arrow from Q back to pi, labelled pi goes to greedy(Q).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  <a:solidFill>
                <a:srgbClr val="C35115"/>
              </a:solidFill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 descr="Equation: pi squiggly right arrow epsilon minus greedy(Q)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 descr="Equation: pi squiggly right arrow epsilon minus greedy(Q)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 descr="n -step TD prediction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 xmlns="">
            <p:sp>
              <p:nvSpPr>
                <p:cNvPr id="10" name="TextBox 9" descr="n -step TD prediction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Original Sarsa is called one-step Sarsa or Sarsa(0). n -step Sarsa. On policy: The policy needs to keep exploring (e.g., an epsilon -greedy policy). Should probably be called Sarrrrr...rsa with n rs. n -step return estimate used as the target (redefined using Q):. G sub t:t plus n, equals R sub t plus 1, plus gamma R sub t plus 2, plus dot dot dot plus gamma to the power n minus 1, R sub t plus n, plus gamma to the power n Q (S sub t plus n,A sub t plus n). Update rule:. Q (S sub t,A sub t) gets Q (S sub t,A sub t) plus alpha [G sub t:t plus n, minus Q (S sub t,A sub t)]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 descr="Original Sarsa is called one-step Sarsa or Sarsa(0). n -step Sarsa. On policy: The policy needs to keep exploring (e.g., an epsilon -greedy policy). Should probably be called Sarrrrr...rsa with n rs. n -step return estimate used as the target (redefined using Q):. G sub t:t plus n, equals R sub t plus 1, plus gamma R sub t plus 2, plus dot dot dot plus gamma to the power n minus 1, R sub t plus n, plus gamma to the power n Q (S sub t plus n,A sub t plus n). Update rule:. Q (S sub t,A sub t) gets Q (S sub t,A sub t) plus alpha [G sub t:t plus n, minus Q (S sub t,A sub t)]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8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Speedup of n -step Sarsa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 descr="Speedup of n -step Sarsa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 descr="Q -values updated during one episode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 descr="Q -values updated during one episode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 descr="Sutton and Barto Figure 7.4, three gridworld panels. Path taken: a winding path through the grid that ends at the goal G. Action values increased by one-step Sarsa: only one arrow, the last action into G. Action values increased by 10-step Sarsa: arrows on the last 10 actions of the path leading to G. Caption: Gridworld example of the speedup of policy learning due to the use of n-step methods. The first panel shows the path taken by an agent in a single episode, ending at a location of high reward, marked by the G. In this example the values were all initially 0, and all rewards were zero except for a positive reward at G. The arrows in the other two panels show which action values were strengthened as a result of this path by one-step and n-step Sarsa methods. The one-step method strengthens only the last action of the sequence of actions that led to the high reward, whereas the n-step method strengthens the last n actions of the sequence, so that much more is learned from the one episode.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Alg. From DT prediction to n -step Sarsa Control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 descr="Alg. From DT prediction to n -step Sarsa Control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 descr="Algorithm box: n-step TD for estimating V ≈ v pi. Input: a policy pi. Algorithm parameters: step size alpha in (0, 1], a positive integer n. Initialize V(s) arbitrarily, for all s in S. All store and access operations (for S_t and R_t) can take their index mod n + 1. Loop for each episode: Initialize and store S_0 ≠ terminal; T ← infinity; Loop for t = 0, 1, 2, …: If t &lt; T, then: Take an action according to pi(· | S_t); Observe and store the next reward as R_t+1 and the next state as S_t+1; If S_t+1 is terminal, then T ← t + 1. tau ← t − n + 1 (tau is the time whose state's estimate is being updated). If tau ≥ 0: G ← sum from i = tau + 1 to min(tau + n, T) of gamma to the power i − tau − 1 times R_i; If tau + n &lt; T, then: G ← G + gamma to the n times V(S_tau+n), giving G_tau:tau+n; V(S_tau) ← V(S_tau) + alpha [G − V(S_tau)]. Until tau = T − 1. Labels: pi is given; Update V.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57140" y="1070568"/>
            <a:ext cx="5818255" cy="4810301"/>
            <a:chOff x="391291" y="1125097"/>
            <a:chExt cx="5818255" cy="4810301"/>
          </a:xfrm>
        </p:grpSpPr>
        <p:pic>
          <p:nvPicPr>
            <p:cNvPr id="3" name="Picture 2" descr="Algorithm box: n-step TD for estimating V ≈ v pi. Input: a policy pi. Algorithm parameters: step size alpha in (0, 1], a positive integer n. Initialize V(s) arbitrarily, for all s in S. All store and access operations (for S_t and R_t) can take their index mod n + 1. Loop for each episode: Initialize and store S_0 ≠ terminal; T ← infinity; Loop for t = 0, 1, 2, …: If t &lt; T, then: Take an action according to pi(· | S_t); Observe and store the next reward as R_t+1 and the next state as S_t+1; If S_t+1 is terminal, then T ← t + 1. tau ← t − n + 1 (tau is the time whose state's estimate is being updated). If tau ≥ 0: G ← sum from i = tau + 1 to min(tau + n, T) of gamma to the power i − tau − 1 times R_i; If tau + n &lt; T, then: G ← G + gamma to the n times V(S_tau+n), giving G_tau:tau+n; V(S_tau) ← V(S_tau) + alpha [G − V(S_tau)]. Until tau = T − 1.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 descr="pi is given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488688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 descr="pi is given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8688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 descr="Update V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2715506" y="5391592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 descr="Update V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5506" y="5391592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" name="Content Placeholder 4" descr="Algorithm box: n-step Sarsa for estimating Q ≈ q star or q pi. Initialize Q(s, a) arbitrarily, for all s in S, a in A. Initialize pi to be epsilon-greedy with respect to Q, or to a fixed given policy. Algorithm parameters: step size alpha in (0, 1], small epsilon &gt; 0, a positive integer n. All store and access operations (for S_t, A_t, and R_t) can take their index mod n + 1. Loop for each episode: Initialize and store S_0 ≠ terminal; Select and store an action A_0 ~ pi(· | S_0); T ← infinity; Loop for t = 0, 1, 2, …: If t &lt; T, then: Take action A_t; Observe and store the next reward as R_t+1 and the next state as S_t+1; If S_t+1 is terminal, then: T ← t + 1; else: Select and store an action A_t+1 ~ pi(· | S_t+1). tau ← t − n + 1 (tau is the time whose estimate is being updated). If tau ≥ 0: G ← sum from i = tau + 1 to min(tau + n, T) of gamma to the power i − tau − 1 times R_i; If tau + n &lt; T, then G ← G + gamma to the n times Q(S_tau+n, A_tau+n), giving G_tau:tau+n; Q(S_tau, A_tau) ← Q(S_tau, A_tau) + alpha [G − Q(S_tau, A_tau)]; If pi is being learned, then ensure that pi(· | S_tau) is epsilon-greedy with respect to Q. Until tau = T − 1.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 l="1142" t="1505" b="-1"/>
          <a:stretch>
            <a:fillRect/>
          </a:stretch>
        </p:blipFill>
        <p:spPr>
          <a:xfrm>
            <a:off x="5356370" y="1195437"/>
            <a:ext cx="6535109" cy="5477561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49022" y="2486510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 descr="Callout: Update Q and pi; On-policy: Select next action from the current pi.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3761602" y="4158915"/>
            <a:ext cx="7944649" cy="2316214"/>
            <a:chOff x="4162379" y="5264674"/>
            <a:chExt cx="7944649" cy="23162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 descr="Update Q and pi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4162379" y="7037082"/>
                  <a:ext cx="1724099" cy="543806"/>
                </a:xfrm>
                <a:prstGeom prst="wedgeRoundRectCallout">
                  <a:avLst>
                    <a:gd name="adj1" fmla="val 88698"/>
                    <a:gd name="adj2" fmla="val -5226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 descr="Update Q and pi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2379" y="7037082"/>
                  <a:ext cx="1724099" cy="543806"/>
                </a:xfrm>
                <a:prstGeom prst="wedgeRoundRectCallout">
                  <a:avLst>
                    <a:gd name="adj1" fmla="val 88698"/>
                    <a:gd name="adj2" fmla="val -52260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 descr="On-policy: Select next action from the current pi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42204" y="5264674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 descr="On-policy: Select next action from the current pi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2204" y="5264674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23790" y="1787509"/>
            <a:ext cx="2647568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93007" y="4716389"/>
            <a:ext cx="3283694" cy="22315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5394" y="5766610"/>
            <a:ext cx="3354499" cy="22315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 descr="n -step Off-Policy Control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4" name="Title 3" descr="n -step Off-Policy Control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 descr="n -step Off-Policy Control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 </a:t>
                </a:r>
              </a:p>
            </p:txBody>
          </p:sp>
        </mc:Choice>
        <mc:Fallback xmlns="">
          <p:sp>
            <p:nvSpPr>
              <p:cNvPr id="2" name="Title 1" descr="n -step Off-Policy Control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483" t="-19672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Goal: Learn a deterministic target policy pi using an exploring (soft) behavioral policy b . Method: Use importance sampling ratio as a weight for updates. V sub t plus 1, (S sub t) equals V (S sub t) plus alpha rho sub t:t plus n minus 1, [G sub t:t plus n, minus V (S sub t)]. where the weight is. rho sub t:h equals the product over k equals t to min(h,T minus t), of the fraction pi (A sub k given S sub k), over b(A sub k given S sub k), end fraction. Can be used in n -step TD for prediction or in n -step Sarsa for control. Sample efficiency issue: Can only learn (i.e., rho is greater than 0) from data where the sampled actions for the n -steps are compatible with pi . Updating the behavior policy b equals epsilon minus greedy(pi) with a small epsilon helps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0347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 (like in off-policy MC)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Sample efficiency issue</a:t>
                </a:r>
                <a:r>
                  <a:rPr lang="en-US" dirty="0"/>
                  <a:t>: Can only learn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Using a behavior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−greedy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 to produce useful observations.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 descr="Goal: Learn a deterministic target policy pi using an exploring (soft) behavioral policy b . Method: Use importance sampling ratio as a weight for updates. V sub t plus 1, (S sub t) equals V (S sub t) plus alpha rho sub t:t plus n minus 1, [G sub t:t plus n, minus V (S sub t)]. where the weight is. rho sub t:h equals the product over k equals t to min(h,T minus t), of the fraction pi (A sub k given S sub k), over b(A sub k given S sub k), end fraction. Can be used in n -step TD for prediction or in n -step Sarsa for control. Sample efficiency issue: Can only learn (i.e., rho is greater than 0) from data where the sampled actions for the n -steps are compatible with pi . Updating the behavior policy b equals epsilon minus greedy(pi) with a small epsilon helps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03470"/>
              </a:xfrm>
              <a:blipFill>
                <a:blip r:embed="rId3"/>
                <a:stretch>
                  <a:fillRect l="-522" t="-2071" b="-1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 descr="How likely is 𝜋 to choose an action compared to b ?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 descr="How likely is 𝜋 to choose an action compared to b ?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Alg. Comparing On-Policy with Off-Policy Sarsa</a:t>
            </a:r>
          </a:p>
        </p:txBody>
      </p:sp>
      <p:pic>
        <p:nvPicPr>
          <p:cNvPr id="6" name="Content Placeholder 4" descr="Algorithm box: n-step Sarsa for estimating Q ≈ q star or q pi. Initialize Q(s, a) arbitrarily, for all s in S, a in A. Initialize pi to be epsilon-greedy with respect to Q, or to a fixed given policy. Algorithm parameters: step size alpha in (0, 1], small epsilon &gt; 0, a positive integer n. All store and access operations (for S_t, A_t, and R_t) can take their index mod n + 1. Loop for each episode: Initialize and store S_0 ≠ terminal; Select and store an action A_0 ~ pi(· | S_0); T ← infinity; Loop for t = 0, 1, 2, …: If t &lt; T, then: Take action A_t; Observe and store the next reward as R_t+1 and the next state as S_t+1; If S_t+1 is terminal, then: T ← t + 1; else: Select and store an action A_t+1 ~ pi(· | S_t+1). tau ← t − n + 1 (tau is the time whose estimate is being updated). If tau ≥ 0: G ← sum from i = tau + 1 to min(tau + n, T) of gamma to the power i − tau − 1 times R_i; If tau + n &lt; T, then G ← G + gamma to the n times Q(S_tau+n, A_tau+n), giving G_tau:tau+n; Q(S_tau, A_tau) ← Q(S_tau, A_tau) + alpha [G − Q(S_tau, A_tau)]; If pi is being learned, then ensure that pi(· | S_tau) is epsilon-greedy with respect to Q. Until tau = T − 1.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 descr="Algorithm box: Off-policy n-step Sarsa for estimating Q ≈ q star or q pi. Input: an arbitrary behavior policy b such that b(a | s) &gt; 0, for all s in S, a in A. Initialize Q(s, a) arbitrarily, for all s in S, a in A. Initialize pi to be greedy with respect to Q, or as a fixed given policy. Algorithm parameters: step size alpha in (0, 1], a positive integer n. All store and access operations (for S_t, A_t, and R_t) can take their index mod n + 1. Loop for each episode: Initialize and store S_0 ≠ terminal; Select and store an action A_0 ~ b(· | S_0); T ← infinity; Loop for t = 0, 1, 2, …: If t &lt; T, then: Take action A_t; Observe and store the next reward as R_t+1 and the next state as S_t+1; If S_t+1 is terminal, then: T ← t + 1; else: Select and store an action A_t+1 ~ b(· | S_t+1). tau ← t − n + 1 (tau is the time whose estimate is being updated). If tau ≥ 0: rho ← product from i = tau + 1 to min(tau + n, T − 1) of pi(A_i | S_i) / b(A_i | S_i), giving rho_tau+1:tau+n; G ← sum from i = tau + 1 to min(tau + n, T) of gamma to the power i − tau − 1 times R_i; If tau + n &lt; T, then: G ← G + gamma to the n times Q(S_tau+n, A_tau+n), giving G_tau:tau+n; Q(S_tau, A_tau) ← Q(S_tau, A_tau) + alpha rho [G − Q(S_tau, A_tau)]; If pi is being learned, then ensure that pi(· | S_tau) is greedy with respect to Q. Until tau = T − 1. Labels: Add behavior policy; Use importance sampling ratio.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4723002" y="1086409"/>
            <a:ext cx="7429581" cy="5625404"/>
            <a:chOff x="5721298" y="1204864"/>
            <a:chExt cx="6368907" cy="4947252"/>
          </a:xfrm>
        </p:grpSpPr>
        <p:grpSp>
          <p:nvGrpSpPr>
            <p:cNvPr id="21" name="Group 20" descr="Algorithm box: Off-policy n-step Sarsa for estimating Q ≈ q star or q pi. Input: an arbitrary behavior policy b such that b(a | s) &gt; 0, for all s in S, a in A. Initialize Q(s, a) arbitrarily, for all s in S, a in A. Initialize pi to be greedy with respect to Q, or as a fixed given policy. Algorithm parameters: step size alpha in (0, 1], a positive integer n. All store and access operations (for S_t, A_t, and R_t) can take their index mod n + 1. Loop for each episode: Initialize and store S_0 ≠ terminal; Select and store an action A_0 ~ b(· | S_0); T ← infinity; Loop for t = 0, 1, 2, …: If t &lt; T, then: Take action A_t; Observe and store the next reward as R_t+1 and the next state as S_t+1; If S_t+1 is terminal, then: T ← t + 1; else: Select and store an action A_t+1 ~ b(· | S_t+1). tau ← t − n + 1 (tau is the time whose estimate is being updated). If tau ≥ 0: rho ← product from i = tau + 1 to min(tau + n, T − 1) of pi(A_i | S_i) / b(A_i | S_i), giving rho_tau+1:tau+n; G ← sum from i = tau + 1 to min(tau + n, T) of gamma to the power i − tau − 1 times R_i; If tau + n &lt; T, then: G ← G + gamma to the n times Q(S_tau+n, A_tau+n), giving G_tau:tau+n; Q(S_tau, A_tau) ← Q(S_tau, A_tau) + alpha rho [G − Q(S_tau, A_tau)]; If pi is being learned, then ensure that pi(· | S_tau) is greedy with respect to Q. Until tau = T − 1. Labels: Add behavior policy; Use importance sampling ratio.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721298" y="1204864"/>
              <a:ext cx="6368907" cy="4947252"/>
              <a:chOff x="5721298" y="1204864"/>
              <a:chExt cx="6368907" cy="4947252"/>
            </a:xfrm>
          </p:grpSpPr>
          <p:pic>
            <p:nvPicPr>
              <p:cNvPr id="5" name="Picture 4" descr="Algorithm box: Off-policy n-step Sarsa for estimating Q ≈ q star or q pi. Input: an arbitrary behavior policy b such that b(a | s) &gt; 0, for all s in S, a in A. Initialize Q(s, a) arbitrarily, for all s in S, a in A. Initialize pi to be greedy with respect to Q, or as a fixed given policy. Algorithm parameters: step size alpha in (0, 1], a positive integer n. All store and access operations (for S_t, A_t, and R_t) can take their index mod n + 1. Loop for each episode: Initialize and store S_0 ≠ terminal; Select and store an action A_0 ~ b(· | S_0); T ← infinity; Loop for t = 0, 1, 2, …: If t &lt; T, then: Take action A_t; Observe and store the next reward as R_t+1 and the next state as S_t+1; If S_t+1 is terminal, then: T ← t + 1; else: Select and store an action A_t+1 ~ b(· | S_t+1). tau ← t − n + 1 (tau is the time whose estimate is being updated). If tau ≥ 0: rho ← product from i = tau + 1 to min(tau + n, T − 1) of pi(A_i | S_i) / b(A_i | S_i), giving rho_tau+1:tau+n; G ← sum from i = tau + 1 to min(tau + n, T) of gamma to the power i − tau − 1 times R_i; If tau + n &lt; T, then: G ← G + gamma to the n times Q(S_tau+n, A_tau+n), giving G_tau:tau+n; Q(S_tau, A_tau) ← Q(S_tau, A_tau) + alpha rho [G − Q(S_tau, A_tau)]; If pi is being learned, then ensure that pi(· | S_tau) is greedy with respect to Q. Until tau = T − 1.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036"/>
              <a:stretch>
                <a:fillRect/>
              </a:stretch>
            </p:blipFill>
            <p:spPr>
              <a:xfrm>
                <a:off x="5721298" y="1334660"/>
                <a:ext cx="5884326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204864"/>
                <a:ext cx="1724099" cy="327952"/>
              </a:xfrm>
              <a:prstGeom prst="wedgeRoundRectCallout">
                <a:avLst>
                  <a:gd name="adj1" fmla="val -70622"/>
                  <a:gd name="adj2" fmla="val 9528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6" y="4198999"/>
                <a:ext cx="1724099" cy="543806"/>
              </a:xfrm>
              <a:prstGeom prst="wedgeRoundRectCallout">
                <a:avLst>
                  <a:gd name="adj1" fmla="val -109575"/>
                  <a:gd name="adj2" fmla="val 19901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35926" y="29755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452426" y="1827649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peech Bubble: Rectangle with Corners Rounded 21" descr="We could update b equals epsilon minus greedy(pi)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025531" y="2688903"/>
                <a:ext cx="1896894" cy="670576"/>
              </a:xfrm>
              <a:prstGeom prst="wedgeRoundRectCallout">
                <a:avLst>
                  <a:gd name="adj1" fmla="val -159618"/>
                  <a:gd name="adj2" fmla="val 2435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P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opular</m:t>
                    </m:r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choice</m:t>
                    </m:r>
                  </m:oMath>
                </a14:m>
                <a:r>
                  <a:rPr lang="en-US" sz="1600" b="0" i="0" dirty="0">
                    <a:latin typeface="Cambria Math" panose="02040503050406030204" pitchFamily="18" charset="0"/>
                  </a:rPr>
                  <a:t>:</a:t>
                </a:r>
                <a:br>
                  <a:rPr lang="en-US" sz="16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−greedy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Speech Bubble: Rectangle with Corners Rounded 21" descr="We could update b equals epsilon minus greedy(pi)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5531" y="2688903"/>
                <a:ext cx="1896894" cy="670576"/>
              </a:xfrm>
              <a:prstGeom prst="wedgeRoundRectCallout">
                <a:avLst>
                  <a:gd name="adj1" fmla="val -159618"/>
                  <a:gd name="adj2" fmla="val 24353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46B2ECD-522B-977E-1964-6E48D26B84D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Q-Learning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46B2ECD-522B-977E-1964-6E48D26B84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8737CF-E4BA-0983-733D-3F8104162B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Off-policy Q-learning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bootstrapping needs correction.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first action/reward are fine since we will use it to update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need to be corrected!</a:t>
                </a:r>
              </a:p>
              <a:p>
                <a:endParaRPr lang="en-US" dirty="0"/>
              </a:p>
              <a:p>
                <a:r>
                  <a:rPr lang="en-US" dirty="0"/>
                  <a:t>Options: </a:t>
                </a:r>
              </a:p>
              <a:p>
                <a:pPr lvl="1"/>
                <a:r>
                  <a:rPr lang="en-US" dirty="0"/>
                  <a:t>Only use updates when the all actions chosen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match the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 </a:t>
                </a:r>
                <a:br>
                  <a:rPr lang="en-US" dirty="0"/>
                </a:br>
                <a:r>
                  <a:rPr lang="en-US" dirty="0"/>
                  <a:t>This is very sample inefficient.</a:t>
                </a:r>
              </a:p>
              <a:p>
                <a:pPr lvl="1"/>
                <a:r>
                  <a:rPr lang="en-US" dirty="0"/>
                  <a:t>Use importance sampling to correct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This </a:t>
                </a:r>
                <a:r>
                  <a:rPr lang="en-US"/>
                  <a:t>introduces large </a:t>
                </a:r>
                <a:r>
                  <a:rPr lang="en-US" dirty="0"/>
                  <a:t>variance.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8737CF-E4BA-0983-733D-3F8104162B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189" b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 descr="The rewards are from following the behavioral policy and the bootstrapped value is from the target policy.">
            <a:extLst>
              <a:ext uri="{FF2B5EF4-FFF2-40B4-BE49-F238E27FC236}">
                <a16:creationId xmlns:a16="http://schemas.microsoft.com/office/drawing/2014/main" id="{9EBB9F56-6A6C-3946-87F2-7839654E90ED}"/>
              </a:ext>
            </a:extLst>
          </p:cNvPr>
          <p:cNvGrpSpPr/>
          <p:nvPr/>
        </p:nvGrpSpPr>
        <p:grpSpPr>
          <a:xfrm>
            <a:off x="3016526" y="2733946"/>
            <a:ext cx="7404653" cy="516138"/>
            <a:chOff x="2537261" y="3099729"/>
            <a:chExt cx="8313899" cy="516138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9A86C093-1578-A534-E667-9866B054AC89}"/>
                </a:ext>
              </a:extLst>
            </p:cNvPr>
            <p:cNvSpPr/>
            <p:nvPr/>
          </p:nvSpPr>
          <p:spPr>
            <a:xfrm rot="5400000">
              <a:off x="4928627" y="708363"/>
              <a:ext cx="188156" cy="497088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4668E29-8F0F-BE9B-C3A1-C915B55B3E2D}"/>
                </a:ext>
              </a:extLst>
            </p:cNvPr>
            <p:cNvSpPr txBox="1"/>
            <p:nvPr/>
          </p:nvSpPr>
          <p:spPr>
            <a:xfrm>
              <a:off x="3586263" y="3246535"/>
              <a:ext cx="29131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from the behavior policy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8FA630-45A6-3552-9B71-6FCEB096CEE9}"/>
                </a:ext>
              </a:extLst>
            </p:cNvPr>
            <p:cNvSpPr txBox="1"/>
            <p:nvPr/>
          </p:nvSpPr>
          <p:spPr>
            <a:xfrm>
              <a:off x="8204433" y="3187813"/>
              <a:ext cx="26467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/>
                  </a:solidFill>
                </a:rPr>
                <a:t>from the target policy</a:t>
              </a:r>
            </a:p>
          </p:txBody>
        </p:sp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8DA81D98-AF06-115F-2613-48C35602845A}"/>
                </a:ext>
              </a:extLst>
            </p:cNvPr>
            <p:cNvSpPr/>
            <p:nvPr/>
          </p:nvSpPr>
          <p:spPr>
            <a:xfrm rot="5400000">
              <a:off x="9132167" y="1778515"/>
              <a:ext cx="112544" cy="282349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83472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 descr="n -step methods let us choose the amount of bootstrapping from 1-step to no bootstrapping (MC). Advantage over one-step methods:. Learning: Looking more steps ahead speeds up learning, especially for sparse rewards. Error reduction: Significantly reduces the bootstrapping error (bias) at the cost of increased variance. An intermediate amount of bootstrapping typically performs better in terms of the variance/bias tradeoff than the one-step and MC extremes. n is application-dependent and can be tuned. Drawback:. Delay: Updates are delayed n -step since future events (rewards and states) are needed. Computation: More computation per time step and higher memory needs than one-step methods. Eligibility traces address the delay and computation drawbacks. We will cover these methods later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7456" y="482600"/>
                <a:ext cx="5628944" cy="6134100"/>
              </a:xfrm>
            </p:spPr>
            <p:txBody>
              <a:bodyPr anchor="ctr"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choose the amount of bootstrapping from 1-step to no bootstrapping (MC).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 over one-step methods: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 (</a:t>
                </a:r>
                <a:r>
                  <a:rPr lang="en-US" sz="1800" b="1" dirty="0"/>
                  <a:t>bias</a:t>
                </a:r>
                <a:r>
                  <a:rPr lang="en-US" sz="1800" dirty="0"/>
                  <a:t>) at the cost of increased </a:t>
                </a:r>
                <a:r>
                  <a:rPr lang="en-US" sz="1800" b="1" dirty="0"/>
                  <a:t>variance</a:t>
                </a:r>
                <a:r>
                  <a:rPr lang="en-US" sz="1800" dirty="0"/>
                  <a:t>. 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</a:t>
                </a:r>
                <a:r>
                  <a:rPr lang="en-US" sz="1800" dirty="0"/>
                  <a:t> in terms of the variance/bias tradeoff 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pPr lvl="1"/>
                <a:r>
                  <a:rPr lang="en-US" sz="1800" b="1" dirty="0"/>
                  <a:t>DRL</a:t>
                </a:r>
                <a:r>
                  <a:rPr lang="en-US" sz="1800" dirty="0"/>
                  <a:t>: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are popular for deep RL!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Delayed Updates</a:t>
                </a:r>
                <a:r>
                  <a:rPr lang="en-US" sz="1800" dirty="0"/>
                  <a:t>: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-steps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  <a:br>
                  <a:rPr lang="en-US" sz="1800" dirty="0"/>
                </a:br>
                <a:br>
                  <a:rPr lang="en-US" sz="1800" dirty="0"/>
                </a:br>
                <a:r>
                  <a:rPr lang="en-US" sz="1700" b="1" dirty="0"/>
                  <a:t>Eligibility traces </a:t>
                </a:r>
                <a:r>
                  <a:rPr lang="en-US" sz="1700" dirty="0"/>
                  <a:t>address the delay and computation drawbacks, but they don’t work well with DRL. We will cover these methods later.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 descr="n -step methods let us choose the amount of bootstrapping from 1-step to no bootstrapping (MC). Advantage over one-step methods:. Learning: Looking more steps ahead speeds up learning, especially for sparse rewards. Error reduction: Significantly reduces the bootstrapping error (bias) at the cost of increased variance. An intermediate amount of bootstrapping typically performs better in terms of the variance/bias tradeoff than the one-step and MC extremes. n is application-dependent and can be tuned. Drawback:. Delay: Updates are delayed n -step since future events (rewards and states) are needed. Computation: More computation per time step and higher memory needs than one-step methods. Eligibility traces address the delay and computation drawbacks. We will cover these methods later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7456" y="482600"/>
                <a:ext cx="5628944" cy="6134100"/>
              </a:xfrm>
              <a:blipFill>
                <a:blip r:embed="rId3"/>
                <a:stretch>
                  <a:fillRect l="-649" t="-1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12485</TotalTime>
  <Words>1986</Words>
  <Application>Microsoft Office PowerPoint</Application>
  <PresentationFormat>Widescreen</PresentationFormat>
  <Paragraphs>215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 </vt:lpstr>
      <vt:lpstr>Alg. n-step TD Prediction</vt:lpstr>
      <vt:lpstr>Error Reduction Property and Convergence</vt:lpstr>
      <vt:lpstr>Bias-Variance Tradeoff in RL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 </vt:lpstr>
      <vt:lpstr>Alg. Comparing On-Policy with Off-Policy Sarsa</vt:lpstr>
      <vt:lpstr>n-step Q-Learning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179</cp:revision>
  <dcterms:created xsi:type="dcterms:W3CDTF">2025-09-08T14:44:49Z</dcterms:created>
  <dcterms:modified xsi:type="dcterms:W3CDTF">2026-10-19T19:11:09Z</dcterms:modified>
</cp:coreProperties>
</file>