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313" r:id="rId3"/>
    <p:sldId id="478" r:id="rId4"/>
    <p:sldId id="385" r:id="rId5"/>
    <p:sldId id="398" r:id="rId6"/>
    <p:sldId id="396" r:id="rId7"/>
    <p:sldId id="386" r:id="rId8"/>
    <p:sldId id="387" r:id="rId9"/>
    <p:sldId id="388" r:id="rId10"/>
    <p:sldId id="392" r:id="rId11"/>
    <p:sldId id="391" r:id="rId12"/>
    <p:sldId id="394" r:id="rId13"/>
    <p:sldId id="393" r:id="rId14"/>
    <p:sldId id="389" r:id="rId15"/>
    <p:sldId id="390" r:id="rId16"/>
    <p:sldId id="395" r:id="rId17"/>
    <p:sldId id="397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83286E67-F0F0-421C-8F74-7B93ABA17FBF}">
          <p14:sldIdLst>
            <p14:sldId id="256"/>
            <p14:sldId id="313"/>
            <p14:sldId id="478"/>
          </p14:sldIdLst>
        </p14:section>
        <p14:section name="Introduction" id="{226A1DFA-741C-4500-8EC5-5BCBA926DBFB}">
          <p14:sldIdLst>
            <p14:sldId id="385"/>
            <p14:sldId id="398"/>
          </p14:sldIdLst>
        </p14:section>
        <p14:section name="Prediction" id="{EF7F6E9E-DC9D-4F07-AF20-87249B8EBE01}">
          <p14:sldIdLst>
            <p14:sldId id="396"/>
            <p14:sldId id="386"/>
            <p14:sldId id="387"/>
            <p14:sldId id="388"/>
          </p14:sldIdLst>
        </p14:section>
        <p14:section name="On-Policy Control" id="{6A91EB9B-FC66-4409-8B96-60AEBB5F5225}">
          <p14:sldIdLst>
            <p14:sldId id="392"/>
            <p14:sldId id="391"/>
            <p14:sldId id="394"/>
            <p14:sldId id="393"/>
          </p14:sldIdLst>
        </p14:section>
        <p14:section name="Off-Policy Learning" id="{17518668-3964-4791-B96A-2B49493E2477}">
          <p14:sldIdLst>
            <p14:sldId id="389"/>
            <p14:sldId id="390"/>
            <p14:sldId id="395"/>
            <p14:sldId id="39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4599F94E-CEE6-441E-89CC-EB005ECD8F06}">
      <a14:m xmlns:a14="http://schemas.microsoft.com/office/drawing/2010/main">
        <m:mathPr xmlns:m="http://schemas.openxmlformats.org/officeDocument/2006/math">
          <m:brkBin m:val="before"/>
          <m:brkBinSub m:val="--"/>
        </m:mathPr>
      </a14:m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3923" autoAdjust="0"/>
    <p:restoredTop sz="94660"/>
  </p:normalViewPr>
  <p:slideViewPr>
    <p:cSldViewPr snapToGrid="0">
      <p:cViewPr varScale="1">
        <p:scale>
          <a:sx n="152" d="100"/>
          <a:sy n="152" d="100"/>
        </p:scale>
        <p:origin x="144" y="104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8D5558-2701-D852-1A01-0BF39B58DE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0E150F4-19D6-3927-AF4C-79938CACB9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1C3DC3-6BE4-4AD5-BF83-83DBE6741D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2/6/2026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CD0FF9-FEE5-7DEA-F2A0-04CD3C8E9F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BCCB2C-BF64-0CEB-C138-EC1E0FF179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73802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3EA809-C199-A2CA-4B62-C11FD83604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5907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ABD398-BC57-413F-4426-6AE62DCF0F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7330"/>
            <a:ext cx="10515600" cy="477963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009A95-DE70-5583-0BB6-25CA049AFA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2/6/2026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2F8C87-113F-3949-D291-E8101A072B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68CBE1-6776-590E-6A36-B274F6F616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71652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37B990-0C44-FE72-89C1-7BAFB2C892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BF51AA-25F1-19ED-49F4-909710D8F4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6F3394-E947-7BBC-4B4E-FC222CF9E3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2/6/2026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090F51-989A-F265-1B59-526B06EC07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96400B-F255-95CF-8BD8-3D8AE595A2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83376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0DC8DE-D8D3-04F9-7952-B3C9B444DE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5C6199-C068-6A1D-B9C6-37C04A922F6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CB26636-1E6C-5A66-DCE9-40F0239C9A0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485DEA3-FC5C-77B6-8AEC-BF4A26C760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2/6/2026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A2BAE8-516B-EE07-0EF8-4E37D353BE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F1D7F8D-0B8A-CA54-C5D1-DAFB9A2172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95358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37762D-C67C-6FB4-D8AF-A2AEADD0B2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6F3E59-5CAF-AE52-066A-662EAF232F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8294A81-151A-F8B5-9A7D-43577F3F693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CBDED1E-7743-9D82-5A8F-215AF2DB838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3E3FED4-7E43-512F-BDC2-AB5A6F6A961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CE71D6A-F625-133A-E751-2B967B94A6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2/6/2026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3256629-E601-1BA5-526C-36960EEBE0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665DDDF-B6D4-29FB-6B7F-C7017B4EAB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57170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42B25A-3F20-51F4-D136-F73B176833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EFF8609-CAA0-6678-FCA9-C0252974D7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2/6/2026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911A081-E4EB-7E96-A0AA-2E4D490998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DD0AC27-1467-337C-D636-190385E397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73179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EC8C3DB-E47E-C122-D7BD-AAAC105B29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2/6/2026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2194795-A7C6-B915-9849-6DDF9E5561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BBD6E5-D6AC-7828-B9FA-162561BDB7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75874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CDDA5E-FB2F-65E3-9AC6-77E9E333A2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F88CA7-EDCF-7BC9-0D50-5F550487A7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7F96387-78E1-111C-2860-3620802599F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8A170FC-BF4D-52B4-3D96-975E35B67E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2/6/2026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3EB24C2-CDEC-1D6D-42DB-F885EAF6C2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9ACA044-7F46-1F0F-A966-A66706F2D1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31924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692354-EE3F-C81F-2C98-42CA24F042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B37B54A-0E38-1C0F-EA90-8D9A628CC2C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2DF9108-1890-E2BF-7EA2-A2F28DEA6C3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D668F02-6193-91DC-69E0-6CC09A2476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2/6/2026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534B642-5606-ACB8-4ADF-6DDE8BE4B5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F89560E-8858-1CED-6B2E-1EF0F58F2F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47570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5BA8BF-0F66-F00E-4527-03CBDE1E6F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548F7C1-32BC-0F71-0130-0DFB9C183A5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59C7E0-3252-37DB-73A7-7F070748FF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2/6/2026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76C5EE-EAD9-8D18-3741-930600D3BD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5647D8-342D-AED5-3763-DD02F7C2A4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8442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DD0B639-7A1F-68FA-45DD-3196E2CB572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CF4F1BB-B40D-E6E4-111B-122348C261F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52DAFD-560D-9508-6F31-281EC97436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2/6/2026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0C6320-E161-CE4A-CBDD-27072D2A15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4C3E81-2AD2-5FBE-B6F5-1512F3AF97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05800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C946CF1-7E31-D1FD-63E0-29688510ED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499997-F7F8-3FB5-F294-092654769C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FEC26E-B485-AE94-5C91-D0E504CEB56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E22BF2E-04DA-469E-97C5-BB68A0368813}" type="datetimeFigureOut">
              <a:rPr lang="en-US" smtClean="0"/>
              <a:t>2/6/2026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3ECD47-D4F5-A47B-6CA1-E8E47C1C43B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C8C2B9-7B85-792D-492E-EE9D50875A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87391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hyperlink" Target="https://creativecommons.org/licenses/by-nc-sa/4.0/" TargetMode="Externa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0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0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50.png"/><Relationship Id="rId7" Type="http://schemas.openxmlformats.org/officeDocument/2006/relationships/image" Target="../media/image80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0.png"/><Relationship Id="rId5" Type="http://schemas.openxmlformats.org/officeDocument/2006/relationships/image" Target="../media/image8.png"/><Relationship Id="rId4" Type="http://schemas.openxmlformats.org/officeDocument/2006/relationships/image" Target="../media/image7.png"/><Relationship Id="rId9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20.png"/><Relationship Id="rId7" Type="http://schemas.openxmlformats.org/officeDocument/2006/relationships/image" Target="../media/image16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11" Type="http://schemas.openxmlformats.org/officeDocument/2006/relationships/image" Target="../media/image190.png"/><Relationship Id="rId5" Type="http://schemas.openxmlformats.org/officeDocument/2006/relationships/image" Target="../media/image14.png"/><Relationship Id="rId10" Type="http://schemas.openxmlformats.org/officeDocument/2006/relationships/image" Target="../media/image19.png"/><Relationship Id="rId4" Type="http://schemas.openxmlformats.org/officeDocument/2006/relationships/image" Target="../media/image13.png"/><Relationship Id="rId9" Type="http://schemas.openxmlformats.org/officeDocument/2006/relationships/image" Target="../media/image18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21.png"/><Relationship Id="rId7" Type="http://schemas.openxmlformats.org/officeDocument/2006/relationships/image" Target="../media/image25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Relationship Id="rId9" Type="http://schemas.openxmlformats.org/officeDocument/2006/relationships/image" Target="../media/image2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292.pn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24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6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0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3" Type="http://schemas.openxmlformats.org/officeDocument/2006/relationships/image" Target="../media/image34.png"/><Relationship Id="rId7" Type="http://schemas.openxmlformats.org/officeDocument/2006/relationships/image" Target="../media/image340.png"/><Relationship Id="rId2" Type="http://schemas.openxmlformats.org/officeDocument/2006/relationships/image" Target="../media/image29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31.png"/><Relationship Id="rId5" Type="http://schemas.openxmlformats.org/officeDocument/2006/relationships/image" Target="../media/image321.png"/><Relationship Id="rId4" Type="http://schemas.openxmlformats.org/officeDocument/2006/relationships/image" Target="../media/image21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0.pn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3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7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671A8AE-40A1-4631-A6B8-581AFF0654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2B02EEF-8413-288E-566D-063A066A6C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377" r="23298" b="3714"/>
          <a:stretch>
            <a:fillRect/>
          </a:stretch>
        </p:blipFill>
        <p:spPr bwMode="auto">
          <a:xfrm>
            <a:off x="3523485" y="0"/>
            <a:ext cx="8668512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AB58EF07-17C2-48CF-ABB0-EEF1F17CB8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" y="0"/>
            <a:ext cx="9339206" cy="6858000"/>
          </a:xfrm>
          <a:prstGeom prst="rect">
            <a:avLst/>
          </a:prstGeom>
          <a:gradFill>
            <a:gsLst>
              <a:gs pos="58000">
                <a:schemeClr val="tx1"/>
              </a:gs>
              <a:gs pos="33000">
                <a:schemeClr val="tx1">
                  <a:alpha val="64000"/>
                </a:schemeClr>
              </a:gs>
              <a:gs pos="0">
                <a:schemeClr val="tx1">
                  <a:alpha val="0"/>
                </a:schemeClr>
              </a:gs>
              <a:gs pos="100000">
                <a:schemeClr val="tx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A51EE42B-57B4-EB74-A37C-6675858E7D29}"/>
                  </a:ext>
                </a:extLst>
              </p:cNvPr>
              <p:cNvSpPr>
                <a:spLocks noGrp="1"/>
              </p:cNvSpPr>
              <p:nvPr>
                <p:ph type="ctrTitle"/>
              </p:nvPr>
            </p:nvSpPr>
            <p:spPr>
              <a:xfrm>
                <a:off x="477981" y="1122363"/>
                <a:ext cx="4463968" cy="3204134"/>
              </a:xfrm>
            </p:spPr>
            <p:txBody>
              <a:bodyPr anchor="b">
                <a:normAutofit fontScale="90000"/>
              </a:bodyPr>
              <a:lstStyle/>
              <a:p>
                <a:pPr algn="l"/>
                <a:r>
                  <a:rPr lang="en-US" sz="4800" dirty="0">
                    <a:solidFill>
                      <a:schemeClr val="bg1"/>
                    </a:solidFill>
                  </a:rPr>
                  <a:t>Reinforcement Learning</a:t>
                </a:r>
                <a:br>
                  <a:rPr lang="en-US" sz="4800" dirty="0">
                    <a:solidFill>
                      <a:schemeClr val="bg1"/>
                    </a:solidFill>
                  </a:rPr>
                </a:br>
                <a:br>
                  <a:rPr lang="en-US" sz="4800" dirty="0">
                    <a:solidFill>
                      <a:schemeClr val="bg1"/>
                    </a:solidFill>
                  </a:rPr>
                </a:br>
                <a14:m>
                  <m:oMath xmlns:m="http://schemas.openxmlformats.org/officeDocument/2006/math">
                    <m:r>
                      <a:rPr lang="en-US" sz="4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4000" dirty="0">
                    <a:solidFill>
                      <a:schemeClr val="bg1"/>
                    </a:solidFill>
                  </a:rPr>
                  <a:t>-step Bootstrapping</a:t>
                </a:r>
                <a:br>
                  <a:rPr lang="en-US" sz="4000" dirty="0">
                    <a:solidFill>
                      <a:schemeClr val="bg1"/>
                    </a:solidFill>
                  </a:rPr>
                </a:br>
                <a:r>
                  <a:rPr lang="en-US" sz="2800" dirty="0">
                    <a:solidFill>
                      <a:schemeClr val="bg1"/>
                    </a:solidFill>
                  </a:rPr>
                  <a:t>Sutton/Barto*</a:t>
                </a:r>
                <a:r>
                  <a:rPr lang="en-US" sz="2700" dirty="0">
                    <a:solidFill>
                      <a:schemeClr val="bg1"/>
                    </a:solidFill>
                  </a:rPr>
                  <a:t> Chapter 7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A51EE42B-57B4-EB74-A37C-6675858E7D2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ctrTitle"/>
              </p:nvPr>
            </p:nvSpPr>
            <p:spPr>
              <a:xfrm>
                <a:off x="477981" y="1122363"/>
                <a:ext cx="4463968" cy="3204134"/>
              </a:xfrm>
              <a:blipFill>
                <a:blip r:embed="rId3"/>
                <a:stretch>
                  <a:fillRect l="-5321" b="-45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Subtitle 2">
            <a:extLst>
              <a:ext uri="{FF2B5EF4-FFF2-40B4-BE49-F238E27FC236}">
                <a16:creationId xmlns:a16="http://schemas.microsoft.com/office/drawing/2014/main" id="{7FFF10C2-8C10-0E89-D285-D614C36EEE6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77982" y="4868822"/>
            <a:ext cx="4169519" cy="1443894"/>
          </a:xfrm>
        </p:spPr>
        <p:txBody>
          <a:bodyPr>
            <a:normAutofit fontScale="92500"/>
          </a:bodyPr>
          <a:lstStyle/>
          <a:p>
            <a:pPr algn="l"/>
            <a:r>
              <a:rPr lang="en-US" sz="1700" dirty="0">
                <a:solidFill>
                  <a:schemeClr val="bg1"/>
                </a:solidFill>
              </a:rPr>
              <a:t>Michael Hahsler, SMU</a:t>
            </a:r>
          </a:p>
          <a:p>
            <a:pPr algn="l"/>
            <a:r>
              <a:rPr lang="en-US" sz="1300" dirty="0">
                <a:solidFill>
                  <a:schemeClr val="bg1"/>
                </a:solidFill>
              </a:rPr>
              <a:t>With figures from Sutton/Barto*</a:t>
            </a:r>
          </a:p>
          <a:p>
            <a:pPr algn="l"/>
            <a:endParaRPr lang="en-US" sz="1300" dirty="0">
              <a:solidFill>
                <a:schemeClr val="bg1"/>
              </a:solidFill>
            </a:endParaRPr>
          </a:p>
          <a:p>
            <a:pPr algn="l"/>
            <a:r>
              <a:rPr lang="en-US" sz="1300" dirty="0">
                <a:solidFill>
                  <a:schemeClr val="bg1"/>
                </a:solidFill>
              </a:rPr>
              <a:t>*Sutton and Barto, Reinforcement Learning: An Introduction, 2</a:t>
            </a:r>
            <a:r>
              <a:rPr lang="en-US" sz="1300" baseline="30000" dirty="0">
                <a:solidFill>
                  <a:schemeClr val="bg1"/>
                </a:solidFill>
              </a:rPr>
              <a:t>nd</a:t>
            </a:r>
            <a:r>
              <a:rPr lang="en-US" sz="1300" dirty="0">
                <a:solidFill>
                  <a:schemeClr val="bg1"/>
                </a:solidFill>
              </a:rPr>
              <a:t> edition, MIT Press, Cambridge, MA, 2018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chemeClr val="tx1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4" name="object 23">
            <a:hlinkClick r:id="rId4"/>
            <a:extLst>
              <a:ext uri="{FF2B5EF4-FFF2-40B4-BE49-F238E27FC236}">
                <a16:creationId xmlns:a16="http://schemas.microsoft.com/office/drawing/2014/main" id="{3CBD6548-3D4E-9A40-CA35-355261D4E92C}"/>
              </a:ext>
            </a:extLst>
          </p:cNvPr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10961016" y="6265038"/>
            <a:ext cx="1037459" cy="38357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AD28C7D-14A3-CFEB-3DEC-2E01272844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7741" y="198362"/>
            <a:ext cx="4182403" cy="10009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527529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7A3493-2ED6-DF09-F569-7F3DCA81AB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Topics of this Course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95E019-92A5-79AC-D777-59B4926F61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Introduction to reinforcement learning</a:t>
            </a:r>
          </a:p>
          <a:p>
            <a:r>
              <a:rPr lang="en-US" dirty="0"/>
              <a:t>Markov decision processes</a:t>
            </a:r>
          </a:p>
          <a:p>
            <a:r>
              <a:rPr lang="en-US" b="1" dirty="0"/>
              <a:t>Part I: Tabular Methods</a:t>
            </a:r>
          </a:p>
          <a:p>
            <a:pPr lvl="1"/>
            <a:r>
              <a:rPr lang="en-US" dirty="0"/>
              <a:t>Dynamic programming</a:t>
            </a:r>
          </a:p>
          <a:p>
            <a:pPr lvl="1"/>
            <a:r>
              <a:rPr lang="en-US" dirty="0"/>
              <a:t>Monte Carlo methods</a:t>
            </a:r>
          </a:p>
          <a:p>
            <a:pPr lvl="1"/>
            <a:r>
              <a:rPr lang="en-US" dirty="0"/>
              <a:t>Temporal-difference learning</a:t>
            </a:r>
          </a:p>
          <a:p>
            <a:pPr lvl="1"/>
            <a:r>
              <a:rPr lang="en-US" b="1" dirty="0"/>
              <a:t>Multi-step bootstrapping</a:t>
            </a:r>
          </a:p>
          <a:p>
            <a:pPr lvl="1"/>
            <a:r>
              <a:rPr lang="en-US" dirty="0"/>
              <a:t>Planning and learning with tabular methods</a:t>
            </a:r>
          </a:p>
          <a:p>
            <a:r>
              <a:rPr lang="en-US" dirty="0"/>
              <a:t>Part II: Approximate Solution Methods</a:t>
            </a:r>
          </a:p>
          <a:p>
            <a:pPr lvl="1"/>
            <a:r>
              <a:rPr lang="en-US" dirty="0"/>
              <a:t>Prediction and Control using Approximation</a:t>
            </a:r>
          </a:p>
          <a:p>
            <a:pPr lvl="1"/>
            <a:r>
              <a:rPr lang="en-US" dirty="0"/>
              <a:t>Eligibility Traces</a:t>
            </a:r>
          </a:p>
          <a:p>
            <a:pPr lvl="1"/>
            <a:r>
              <a:rPr lang="en-US" dirty="0"/>
              <a:t>Policy Gradient Methods</a:t>
            </a:r>
          </a:p>
          <a:p>
            <a:r>
              <a:rPr lang="en-US" dirty="0"/>
              <a:t>Part III: Modern RL Methods</a:t>
            </a:r>
          </a:p>
          <a:p>
            <a:pPr lvl="1"/>
            <a:r>
              <a:rPr lang="en-US" dirty="0"/>
              <a:t>Deep Reinforcement Learning</a:t>
            </a:r>
          </a:p>
          <a:p>
            <a:pPr lvl="1"/>
            <a:r>
              <a:rPr lang="en-US" dirty="0"/>
              <a:t>Current Applications</a:t>
            </a:r>
          </a:p>
        </p:txBody>
      </p:sp>
    </p:spTree>
    <p:extLst>
      <p:ext uri="{BB962C8B-B14F-4D97-AF65-F5344CB8AC3E}">
        <p14:creationId xmlns:p14="http://schemas.microsoft.com/office/powerpoint/2010/main" val="36533675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A4E1A2-75E3-3C9C-6C10-EE078C5AD5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 of Notation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E69C9C-42B6-9B0F-9AE0-20D17703E4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22819" y="3658891"/>
                <a:ext cx="5273179" cy="1902124"/>
              </a:xfr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>
                <a:sp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en-US" sz="1200" b="1" dirty="0"/>
                  <a:t>Value Function</a:t>
                </a: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return (cumulative reward) following time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-step return from 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 to 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h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 (discounted and corrected)</a:t>
                </a:r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sz="1200" dirty="0"/>
                  <a:t> (expected return)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state s under the optimal policy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the optimal policy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array estimates of state-value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array estimates of action-value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E69C9C-42B6-9B0F-9AE0-20D17703E4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22819" y="3658891"/>
                <a:ext cx="5273179" cy="1902124"/>
              </a:xfrm>
              <a:blipFill>
                <a:blip r:embed="rId2"/>
                <a:stretch>
                  <a:fillRect b="-9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CD475E5-BE3B-5594-57DC-46A17411F2F9}"/>
                  </a:ext>
                </a:extLst>
              </p:cNvPr>
              <p:cNvSpPr txBox="1"/>
              <p:nvPr/>
            </p:nvSpPr>
            <p:spPr>
              <a:xfrm>
                <a:off x="822820" y="1124198"/>
                <a:ext cx="5273179" cy="2308324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r>
                  <a:rPr lang="en-US" sz="1200" b="1" dirty="0"/>
                  <a:t>General</a:t>
                </a:r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	capital letters: random variables</a:t>
                </a:r>
                <a:br>
                  <a:rPr lang="en-US" sz="1200" dirty="0"/>
                </a:b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b="0" i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1200" dirty="0"/>
                  <a:t>	lower-case letters: realizations of random variables </a:t>
                </a:r>
                <a:br>
                  <a:rPr lang="en-US" sz="1200" dirty="0"/>
                </a:br>
                <a:r>
                  <a:rPr lang="en-US" sz="1200" dirty="0"/>
                  <a:t>	or scalar functions</a:t>
                </a:r>
              </a:p>
              <a:p>
                <a14:m>
                  <m:oMath xmlns:m="http://schemas.openxmlformats.org/officeDocument/2006/math">
                    <m:r>
                      <a:rPr lang="en-US" sz="1200" b="1" i="1" smtClean="0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sz="1200" dirty="0"/>
                  <a:t> 	Bold lower-case letters: real-valued vectors </a:t>
                </a:r>
                <a:br>
                  <a:rPr lang="en-US" sz="1200" dirty="0"/>
                </a:br>
                <a:r>
                  <a:rPr lang="en-US" sz="1200" dirty="0"/>
                  <a:t>	(even if random variables)</a:t>
                </a:r>
              </a:p>
              <a:p>
                <a14:m>
                  <m:oMath xmlns:m="http://schemas.openxmlformats.org/officeDocument/2006/math">
                    <m:r>
                      <a:rPr lang="en-US" sz="1200" b="1" i="1" smtClean="0">
                        <a:latin typeface="Cambria Math" panose="02040503050406030204" pitchFamily="18" charset="0"/>
                      </a:rPr>
                      <m:t>𝑾</m:t>
                    </m:r>
                  </m:oMath>
                </a14:m>
                <a:r>
                  <a:rPr lang="en-US" sz="1200" dirty="0"/>
                  <a:t>	bold capitals: matrices</a:t>
                </a:r>
              </a:p>
              <a:p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sz="1200" dirty="0"/>
                  <a:t>	Greek letters: parameters (vectors if in bolt)</a:t>
                </a:r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200" i="1" dirty="0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⁡{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sz="1200" dirty="0"/>
                  <a:t>	probability that a 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 takes on the value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~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1200" dirty="0"/>
                  <a:t>	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 selected from distribution 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sz="1200" i="1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1200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⁡{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𝔼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[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𝑋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sz="1200" dirty="0"/>
                  <a:t>	expectation of a 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, i.e., 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𝔼</m:t>
                    </m:r>
                    <m:d>
                      <m:dPr>
                        <m:begChr m:val="["/>
                        <m:endChr m:val="]"/>
                        <m:ctrlP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𝑋</m:t>
                        </m:r>
                      </m:e>
                    </m:d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sub>
                      <m:sup/>
                      <m:e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  <m:d>
                          <m:dPr>
                            <m:ctrlP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</m:nary>
                  </m:oMath>
                </a14:m>
                <a:endParaRPr lang="en-US" sz="1200" dirty="0">
                  <a:ea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200" dirty="0">
                            <a:latin typeface="Cambria Math" panose="02040503050406030204" pitchFamily="18" charset="0"/>
                          </a:rPr>
                          <m:t>argmax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200" dirty="0">
                            <a:latin typeface="Cambria Math" panose="02040503050406030204" pitchFamily="18" charset="0"/>
                          </a:rPr>
                          <m:t>a</m:t>
                        </m:r>
                      </m:sub>
                    </m:sSub>
                    <m:r>
                      <a:rPr lang="en-US" sz="1200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a value of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at which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takes its maximal value</a:t>
                </a: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CD475E5-BE3B-5594-57DC-46A17411F2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2820" y="1124198"/>
                <a:ext cx="5273179" cy="2308324"/>
              </a:xfrm>
              <a:prstGeom prst="rect">
                <a:avLst/>
              </a:prstGeom>
              <a:blipFill>
                <a:blip r:embed="rId3"/>
                <a:stretch>
                  <a:fillRect b="-94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6F45EA4F-65F9-5141-0B09-C395CF9CA7A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267338" y="1124198"/>
                <a:ext cx="5273179" cy="3693383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vert="horz" wrap="square" lIns="91440" tIns="45720" rIns="91440" bIns="45720" rtlCol="0">
                <a:sp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spcBef>
                    <a:spcPts val="0"/>
                  </a:spcBef>
                  <a:buNone/>
                </a:pPr>
                <a:r>
                  <a:rPr lang="en-US" sz="1200" b="1" dirty="0"/>
                  <a:t>MDP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	states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	an action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sz="1200" dirty="0"/>
                  <a:t> 	a reward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𝒮</m:t>
                    </m:r>
                  </m:oMath>
                </a14:m>
                <a:r>
                  <a:rPr lang="en-US" sz="1200" dirty="0"/>
                  <a:t> 	set of all (nonterminal) states,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2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</m:e>
                      <m:sup>
                        <m:r>
                          <a:rPr lang="en-US" sz="12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</m:sup>
                    </m:sSup>
                  </m:oMath>
                </a14:m>
                <a:r>
                  <a:rPr lang="en-US" sz="1200" dirty="0"/>
                  <a:t> are all states 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set of all actions available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r>
                  <a:rPr lang="en-US" sz="1200" dirty="0"/>
                  <a:t> 	discount-rate parameter</a:t>
                </a: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200" dirty="0"/>
                  <a:t> 	discrete time step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sz="1200" dirty="0"/>
                  <a:t> 	final time step of an episode (a.k.a. horizon)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random variable for the action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	random variable for the state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random variable for the reward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endChr m:val="|"/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2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probability of transition to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and receiving reward 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sz="1200" dirty="0"/>
                  <a:t>, </a:t>
                </a:r>
                <a:br>
                  <a:rPr lang="en-US" sz="1200" dirty="0"/>
                </a:br>
                <a:r>
                  <a:rPr lang="en-US" sz="1200" dirty="0"/>
                  <a:t>	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endChr m:val="|"/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2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d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	probability of transition to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fom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expected immediate reward 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after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1200" b="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′)</m:t>
                    </m:r>
                  </m:oMath>
                </a14:m>
                <a:r>
                  <a:rPr lang="en-US" sz="1200" dirty="0"/>
                  <a:t>	expected immediate reward 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to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en-US" sz="1200" dirty="0"/>
                  <a:t> with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probability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stochastic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>
                  <a:ea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action taken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deterministic policy </a:t>
                </a:r>
                <a14:m>
                  <m:oMath xmlns:m="http://schemas.openxmlformats.org/officeDocument/2006/math"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/>
              </a:p>
            </p:txBody>
          </p:sp>
        </mc:Choice>
        <mc:Fallback xmlns="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6F45EA4F-65F9-5141-0B09-C395CF9CA7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67338" y="1124198"/>
                <a:ext cx="5273179" cy="3693383"/>
              </a:xfrm>
              <a:prstGeom prst="rect">
                <a:avLst/>
              </a:prstGeom>
              <a:blipFill>
                <a:blip r:embed="rId4"/>
                <a:stretch>
                  <a:fillRect t="-3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9402825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C43A04E-6361-AAD5-BA6A-E9D14BAE83F2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/>
                  <a:t>1-step TD vs.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 TD vs. MC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C43A04E-6361-AAD5-BA6A-E9D14BAE83F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 t="-20161" b="-354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85DA0A5-DD6E-AE51-3C17-167B058ECA9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192292"/>
                <a:ext cx="10515600" cy="1778026"/>
              </a:xfrm>
            </p:spPr>
            <p:txBody>
              <a:bodyPr>
                <a:noAutofit/>
              </a:bodyPr>
              <a:lstStyle/>
              <a:p>
                <a:pPr marL="0" indent="0">
                  <a:buNone/>
                </a:pPr>
                <a:r>
                  <a:rPr lang="en-US" sz="1600" b="1" dirty="0"/>
                  <a:t>Remember</a:t>
                </a:r>
                <a:r>
                  <a:rPr lang="en-US" sz="1600" dirty="0"/>
                  <a:t>: The state value is the expected return. So we need a return estimate.</a:t>
                </a:r>
              </a:p>
              <a:p>
                <a:pPr marL="0" indent="0">
                  <a:buNone/>
                </a:pPr>
                <a:r>
                  <a:rPr lang="en-US" sz="1600" b="1" dirty="0"/>
                  <a:t>Issue</a:t>
                </a:r>
                <a:r>
                  <a:rPr lang="en-US" sz="1600" dirty="0"/>
                  <a:t>: How far do we look ahead in the sampled episode to estimate the return?</a:t>
                </a:r>
                <a:endParaRPr lang="en-US" sz="1600" b="1" dirty="0"/>
              </a:p>
              <a:p>
                <a:pPr marL="0" indent="0">
                  <a:buNone/>
                </a:pPr>
                <a:endParaRPr lang="en-US" sz="1600" b="1" dirty="0"/>
              </a:p>
              <a:p>
                <a:pPr marL="0" indent="0">
                  <a:buNone/>
                </a:pPr>
                <a:r>
                  <a:rPr lang="en-US" sz="1600" b="1" dirty="0"/>
                  <a:t>1-step DT</a:t>
                </a:r>
              </a:p>
              <a:p>
                <a:pPr lvl="1"/>
                <a:r>
                  <a:rPr lang="en-US" sz="1600" dirty="0"/>
                  <a:t>We have already discussed 1-step TD: Q-Learning, Sarsa</a:t>
                </a:r>
              </a:p>
              <a:p>
                <a:pPr lvl="1"/>
                <a:r>
                  <a:rPr lang="en-US" sz="1600" dirty="0"/>
                  <a:t>We only observe the next step and its reward. The remaining return is </a:t>
                </a:r>
                <a:r>
                  <a:rPr lang="en-US" sz="1600" b="1" dirty="0"/>
                  <a:t>bootstrapped</a:t>
                </a:r>
                <a:r>
                  <a:rPr lang="en-US" sz="1600" dirty="0"/>
                  <a:t> using the estimate of the next state’s value </a:t>
                </a:r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16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600" dirty="0"/>
                  <a:t> or action values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, ⋅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600" dirty="0"/>
                  <a:t>. This </a:t>
                </a:r>
                <a:r>
                  <a:rPr lang="en-US" sz="1600" b="1" dirty="0"/>
                  <a:t>propagates errors</a:t>
                </a:r>
                <a:r>
                  <a:rPr lang="en-US" sz="1600" dirty="0"/>
                  <a:t>!</a:t>
                </a:r>
                <a:endParaRPr lang="en-US" sz="16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US" sz="1600" b="1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US" sz="1600" b="1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US" sz="1600" b="1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US" sz="1600" b="1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85DA0A5-DD6E-AE51-3C17-167B058ECA9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192292"/>
                <a:ext cx="10515600" cy="1778026"/>
              </a:xfrm>
              <a:blipFill>
                <a:blip r:embed="rId3"/>
                <a:stretch>
                  <a:fillRect l="-348" t="-2405" b="-2474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9C57C0C7-6461-D5DA-62EB-5D5138CE4FB4}"/>
                  </a:ext>
                </a:extLst>
              </p:cNvPr>
              <p:cNvSpPr txBox="1"/>
              <p:nvPr/>
            </p:nvSpPr>
            <p:spPr>
              <a:xfrm>
                <a:off x="900218" y="4710701"/>
                <a:ext cx="10610054" cy="83099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sz="1600" b="1" i="1" smtClean="0">
                        <a:latin typeface="Cambria Math" panose="02040503050406030204" pitchFamily="18" charset="0"/>
                      </a:rPr>
                      <m:t>𝒏</m:t>
                    </m:r>
                  </m:oMath>
                </a14:m>
                <a:r>
                  <a:rPr lang="en-US" sz="1600" b="1" dirty="0"/>
                  <a:t>-step DT</a:t>
                </a:r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:r>
                  <a:rPr lang="en-US" sz="1600" dirty="0"/>
                  <a:t>Looks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1600" dirty="0"/>
                  <a:t> time steps ahead and bootstraps the rest. Observed rewards should </a:t>
                </a:r>
                <a:r>
                  <a:rPr lang="en-US" sz="1600" b="1" dirty="0"/>
                  <a:t>reduce the bootstrapping error.</a:t>
                </a:r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:r>
                  <a:rPr lang="en-US" sz="1600" dirty="0"/>
                  <a:t>TD unifies and generalizes MC and one-step TD.</a:t>
                </a:r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9C57C0C7-6461-D5DA-62EB-5D5138CE4F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0218" y="4710701"/>
                <a:ext cx="10610054" cy="830997"/>
              </a:xfrm>
              <a:prstGeom prst="rect">
                <a:avLst/>
              </a:prstGeom>
              <a:blipFill>
                <a:blip r:embed="rId4"/>
                <a:stretch>
                  <a:fillRect t="-2206" b="-88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" name="Group 5">
            <a:extLst>
              <a:ext uri="{FF2B5EF4-FFF2-40B4-BE49-F238E27FC236}">
                <a16:creationId xmlns:a16="http://schemas.microsoft.com/office/drawing/2014/main" id="{3E329277-23EA-AB5C-2858-C3C4005FB05E}"/>
              </a:ext>
            </a:extLst>
          </p:cNvPr>
          <p:cNvGrpSpPr/>
          <p:nvPr/>
        </p:nvGrpSpPr>
        <p:grpSpPr>
          <a:xfrm>
            <a:off x="3008265" y="3179108"/>
            <a:ext cx="5965095" cy="1634099"/>
            <a:chOff x="2637816" y="2832616"/>
            <a:chExt cx="5965095" cy="1634099"/>
          </a:xfrm>
        </p:grpSpPr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B1753D92-4CD1-A5C9-E205-1999C3D682A5}"/>
                </a:ext>
              </a:extLst>
            </p:cNvPr>
            <p:cNvGrpSpPr/>
            <p:nvPr/>
          </p:nvGrpSpPr>
          <p:grpSpPr>
            <a:xfrm>
              <a:off x="2637816" y="2832616"/>
              <a:ext cx="5965095" cy="1560336"/>
              <a:chOff x="2373562" y="2568409"/>
              <a:chExt cx="5965095" cy="1560336"/>
            </a:xfrm>
          </p:grpSpPr>
          <p:pic>
            <p:nvPicPr>
              <p:cNvPr id="22" name="Picture 21">
                <a:extLst>
                  <a:ext uri="{FF2B5EF4-FFF2-40B4-BE49-F238E27FC236}">
                    <a16:creationId xmlns:a16="http://schemas.microsoft.com/office/drawing/2014/main" id="{6F6E7CC0-68DD-A056-E3F1-DDE933683FA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2373562" y="2955408"/>
                <a:ext cx="5965095" cy="606381"/>
              </a:xfrm>
              <a:prstGeom prst="rect">
                <a:avLst/>
              </a:prstGeom>
            </p:spPr>
          </p:pic>
          <p:sp>
            <p:nvSpPr>
              <p:cNvPr id="23" name="Arc 22">
                <a:extLst>
                  <a:ext uri="{FF2B5EF4-FFF2-40B4-BE49-F238E27FC236}">
                    <a16:creationId xmlns:a16="http://schemas.microsoft.com/office/drawing/2014/main" id="{67D652EB-8C2E-F956-C6A7-9E7E090FE61B}"/>
                  </a:ext>
                </a:extLst>
              </p:cNvPr>
              <p:cNvSpPr/>
              <p:nvPr/>
            </p:nvSpPr>
            <p:spPr>
              <a:xfrm>
                <a:off x="3510268" y="3109621"/>
                <a:ext cx="1082180" cy="796292"/>
              </a:xfrm>
              <a:prstGeom prst="arc">
                <a:avLst>
                  <a:gd name="adj1" fmla="val 1428106"/>
                  <a:gd name="adj2" fmla="val 9287936"/>
                </a:avLst>
              </a:prstGeom>
              <a:ln>
                <a:headEnd type="none" w="med" len="med"/>
                <a:tailEnd type="triangle" w="med" len="me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5" name="TextBox 24">
                    <a:extLst>
                      <a:ext uri="{FF2B5EF4-FFF2-40B4-BE49-F238E27FC236}">
                        <a16:creationId xmlns:a16="http://schemas.microsoft.com/office/drawing/2014/main" id="{280AECF7-65CC-8754-EB3F-824EB281EDE8}"/>
                      </a:ext>
                    </a:extLst>
                  </p:cNvPr>
                  <p:cNvSpPr txBox="1"/>
                  <p:nvPr/>
                </p:nvSpPr>
                <p:spPr>
                  <a:xfrm>
                    <a:off x="2981238" y="3429000"/>
                    <a:ext cx="1049672" cy="276999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20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  <m:r>
                            <a:rPr lang="en-US" sz="120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en-US" sz="1200" dirty="0"/>
                  </a:p>
                </p:txBody>
              </p:sp>
            </mc:Choice>
            <mc:Fallback xmlns="">
              <p:sp>
                <p:nvSpPr>
                  <p:cNvPr id="25" name="TextBox 24">
                    <a:extLst>
                      <a:ext uri="{FF2B5EF4-FFF2-40B4-BE49-F238E27FC236}">
                        <a16:creationId xmlns:a16="http://schemas.microsoft.com/office/drawing/2014/main" id="{280AECF7-65CC-8754-EB3F-824EB281EDE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981238" y="3429000"/>
                    <a:ext cx="1049672" cy="276999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b="-8889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6" name="TextBox 25">
                    <a:extLst>
                      <a:ext uri="{FF2B5EF4-FFF2-40B4-BE49-F238E27FC236}">
                        <a16:creationId xmlns:a16="http://schemas.microsoft.com/office/drawing/2014/main" id="{BCB15AD7-1E19-57F6-65EB-1A4D65FF70E0}"/>
                      </a:ext>
                    </a:extLst>
                  </p:cNvPr>
                  <p:cNvSpPr txBox="1"/>
                  <p:nvPr/>
                </p:nvSpPr>
                <p:spPr>
                  <a:xfrm>
                    <a:off x="4030910" y="3429000"/>
                    <a:ext cx="1049672" cy="276999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20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  <m:r>
                            <a:rPr lang="en-US" sz="120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en-US" sz="1200" dirty="0"/>
                  </a:p>
                </p:txBody>
              </p:sp>
            </mc:Choice>
            <mc:Fallback xmlns="">
              <p:sp>
                <p:nvSpPr>
                  <p:cNvPr id="26" name="TextBox 25">
                    <a:extLst>
                      <a:ext uri="{FF2B5EF4-FFF2-40B4-BE49-F238E27FC236}">
                        <a16:creationId xmlns:a16="http://schemas.microsoft.com/office/drawing/2014/main" id="{BCB15AD7-1E19-57F6-65EB-1A4D65FF70E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030910" y="3429000"/>
                    <a:ext cx="1049672" cy="276999"/>
                  </a:xfrm>
                  <a:prstGeom prst="rect">
                    <a:avLst/>
                  </a:prstGeom>
                  <a:blipFill>
                    <a:blip r:embed="rId7"/>
                    <a:stretch>
                      <a:fillRect b="-8889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27" name="Arc 26">
                <a:extLst>
                  <a:ext uri="{FF2B5EF4-FFF2-40B4-BE49-F238E27FC236}">
                    <a16:creationId xmlns:a16="http://schemas.microsoft.com/office/drawing/2014/main" id="{99AF2566-B92C-9D23-FEEB-DC0D4448E05B}"/>
                  </a:ext>
                </a:extLst>
              </p:cNvPr>
              <p:cNvSpPr/>
              <p:nvPr/>
            </p:nvSpPr>
            <p:spPr>
              <a:xfrm>
                <a:off x="3426902" y="2568409"/>
                <a:ext cx="725648" cy="1208900"/>
              </a:xfrm>
              <a:prstGeom prst="arc">
                <a:avLst>
                  <a:gd name="adj1" fmla="val 535615"/>
                  <a:gd name="adj2" fmla="val 6545153"/>
                </a:avLst>
              </a:prstGeom>
              <a:ln>
                <a:headEnd type="none" w="med" len="med"/>
                <a:tailEnd type="triangle" w="med" len="me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692AC8E0-FCC6-E71B-5BC4-5120FE23E4B9}"/>
                  </a:ext>
                </a:extLst>
              </p:cNvPr>
              <p:cNvSpPr txBox="1"/>
              <p:nvPr/>
            </p:nvSpPr>
            <p:spPr>
              <a:xfrm>
                <a:off x="3789726" y="3867135"/>
                <a:ext cx="725648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100" dirty="0">
                    <a:solidFill>
                      <a:schemeClr val="tx2">
                        <a:lumMod val="90000"/>
                        <a:lumOff val="10000"/>
                      </a:schemeClr>
                    </a:solidFill>
                  </a:rPr>
                  <a:t>update</a:t>
                </a:r>
              </a:p>
            </p:txBody>
          </p:sp>
          <p:sp>
            <p:nvSpPr>
              <p:cNvPr id="29" name="Right Brace 28">
                <a:extLst>
                  <a:ext uri="{FF2B5EF4-FFF2-40B4-BE49-F238E27FC236}">
                    <a16:creationId xmlns:a16="http://schemas.microsoft.com/office/drawing/2014/main" id="{5F51F495-2EAC-8264-CC4A-93D946C0958D}"/>
                  </a:ext>
                </a:extLst>
              </p:cNvPr>
              <p:cNvSpPr/>
              <p:nvPr/>
            </p:nvSpPr>
            <p:spPr>
              <a:xfrm rot="16200000">
                <a:off x="3901011" y="2344894"/>
                <a:ext cx="164691" cy="1218182"/>
              </a:xfrm>
              <a:prstGeom prst="rightBrac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FAFCAA45-F198-4B6F-1877-3432EB76686F}"/>
                  </a:ext>
                </a:extLst>
              </p:cNvPr>
              <p:cNvSpPr txBox="1"/>
              <p:nvPr/>
            </p:nvSpPr>
            <p:spPr>
              <a:xfrm>
                <a:off x="3636948" y="2643914"/>
                <a:ext cx="725648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100" dirty="0">
                    <a:solidFill>
                      <a:schemeClr val="tx2">
                        <a:lumMod val="90000"/>
                        <a:lumOff val="10000"/>
                      </a:schemeClr>
                    </a:solidFill>
                  </a:rPr>
                  <a:t>1-step</a:t>
                </a: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4" name="Speech Bubble: Rectangle with Corners Rounded 33">
                  <a:extLst>
                    <a:ext uri="{FF2B5EF4-FFF2-40B4-BE49-F238E27FC236}">
                      <a16:creationId xmlns:a16="http://schemas.microsoft.com/office/drawing/2014/main" id="{B40E3416-D980-4AD9-2BA7-399F65D76A9C}"/>
                    </a:ext>
                  </a:extLst>
                </p:cNvPr>
                <p:cNvSpPr/>
                <p:nvPr/>
              </p:nvSpPr>
              <p:spPr>
                <a:xfrm>
                  <a:off x="5452585" y="4041516"/>
                  <a:ext cx="2651371" cy="425199"/>
                </a:xfrm>
                <a:prstGeom prst="wedgeRoundRectCallout">
                  <a:avLst>
                    <a:gd name="adj1" fmla="val -75683"/>
                    <a:gd name="adj2" fmla="val -67167"/>
                    <a:gd name="adj3" fmla="val 16667"/>
                  </a:avLst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200" dirty="0"/>
                    <a:t>Used to bootstrap estimate of the remaining return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</m:oMath>
                  </a14:m>
                  <a:endParaRPr lang="en-US" sz="1200" dirty="0"/>
                </a:p>
              </p:txBody>
            </p:sp>
          </mc:Choice>
          <mc:Fallback xmlns="">
            <p:sp>
              <p:nvSpPr>
                <p:cNvPr id="34" name="Speech Bubble: Rectangle with Corners Rounded 33">
                  <a:extLst>
                    <a:ext uri="{FF2B5EF4-FFF2-40B4-BE49-F238E27FC236}">
                      <a16:creationId xmlns:a16="http://schemas.microsoft.com/office/drawing/2014/main" id="{B40E3416-D980-4AD9-2BA7-399F65D76A9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52585" y="4041516"/>
                  <a:ext cx="2651371" cy="425199"/>
                </a:xfrm>
                <a:prstGeom prst="wedgeRoundRectCallout">
                  <a:avLst>
                    <a:gd name="adj1" fmla="val -75683"/>
                    <a:gd name="adj2" fmla="val -67167"/>
                    <a:gd name="adj3" fmla="val 16667"/>
                  </a:avLst>
                </a:prstGeom>
                <a:blipFill>
                  <a:blip r:embed="rId8"/>
                  <a:stretch>
                    <a:fillRect b="-909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11C9C314-988F-0A98-1955-8D7377802AD9}"/>
              </a:ext>
            </a:extLst>
          </p:cNvPr>
          <p:cNvGrpSpPr/>
          <p:nvPr/>
        </p:nvGrpSpPr>
        <p:grpSpPr>
          <a:xfrm>
            <a:off x="3084949" y="5522208"/>
            <a:ext cx="5403210" cy="832369"/>
            <a:chOff x="3084949" y="5522208"/>
            <a:chExt cx="5403210" cy="832369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EB9E5956-B033-E66C-9244-F254E34930E3}"/>
                </a:ext>
              </a:extLst>
            </p:cNvPr>
            <p:cNvGrpSpPr/>
            <p:nvPr/>
          </p:nvGrpSpPr>
          <p:grpSpPr>
            <a:xfrm>
              <a:off x="3084949" y="5522208"/>
              <a:ext cx="5403210" cy="832369"/>
              <a:chOff x="3245492" y="5722123"/>
              <a:chExt cx="5403210" cy="832369"/>
            </a:xfrm>
          </p:grpSpPr>
          <p:grpSp>
            <p:nvGrpSpPr>
              <p:cNvPr id="12" name="Group 11">
                <a:extLst>
                  <a:ext uri="{FF2B5EF4-FFF2-40B4-BE49-F238E27FC236}">
                    <a16:creationId xmlns:a16="http://schemas.microsoft.com/office/drawing/2014/main" id="{C25B38B9-8EEE-3230-C9A7-D1B5877AC90A}"/>
                  </a:ext>
                </a:extLst>
              </p:cNvPr>
              <p:cNvGrpSpPr/>
              <p:nvPr/>
            </p:nvGrpSpPr>
            <p:grpSpPr>
              <a:xfrm>
                <a:off x="3245492" y="5722123"/>
                <a:ext cx="4870596" cy="666396"/>
                <a:chOff x="2879313" y="2782204"/>
                <a:chExt cx="5439985" cy="879847"/>
              </a:xfrm>
            </p:grpSpPr>
            <p:grpSp>
              <p:nvGrpSpPr>
                <p:cNvPr id="10" name="Group 9">
                  <a:extLst>
                    <a:ext uri="{FF2B5EF4-FFF2-40B4-BE49-F238E27FC236}">
                      <a16:creationId xmlns:a16="http://schemas.microsoft.com/office/drawing/2014/main" id="{E7470490-29F2-50C7-075E-7377CEFC4DB5}"/>
                    </a:ext>
                  </a:extLst>
                </p:cNvPr>
                <p:cNvGrpSpPr/>
                <p:nvPr/>
              </p:nvGrpSpPr>
              <p:grpSpPr>
                <a:xfrm>
                  <a:off x="2879313" y="2782204"/>
                  <a:ext cx="5439985" cy="631088"/>
                  <a:chOff x="2879313" y="2782204"/>
                  <a:chExt cx="5439985" cy="631088"/>
                </a:xfrm>
              </p:grpSpPr>
              <p:sp>
                <p:nvSpPr>
                  <p:cNvPr id="4" name="Oval 3">
                    <a:extLst>
                      <a:ext uri="{FF2B5EF4-FFF2-40B4-BE49-F238E27FC236}">
                        <a16:creationId xmlns:a16="http://schemas.microsoft.com/office/drawing/2014/main" id="{B94B77C9-C9AA-6F5D-D56B-315043DD70EF}"/>
                      </a:ext>
                    </a:extLst>
                  </p:cNvPr>
                  <p:cNvSpPr/>
                  <p:nvPr/>
                </p:nvSpPr>
                <p:spPr>
                  <a:xfrm>
                    <a:off x="3378394" y="3224828"/>
                    <a:ext cx="174504" cy="188464"/>
                  </a:xfrm>
                  <a:prstGeom prst="ellipse">
                    <a:avLst/>
                  </a:prstGeom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400"/>
                  </a:p>
                </p:txBody>
              </p:sp>
              <p:sp>
                <p:nvSpPr>
                  <p:cNvPr id="5" name="Oval 4">
                    <a:extLst>
                      <a:ext uri="{FF2B5EF4-FFF2-40B4-BE49-F238E27FC236}">
                        <a16:creationId xmlns:a16="http://schemas.microsoft.com/office/drawing/2014/main" id="{8EAB5D2C-C971-DEFC-52FE-D0987A0552AA}"/>
                      </a:ext>
                    </a:extLst>
                  </p:cNvPr>
                  <p:cNvSpPr/>
                  <p:nvPr/>
                </p:nvSpPr>
                <p:spPr>
                  <a:xfrm>
                    <a:off x="7907350" y="3224828"/>
                    <a:ext cx="174504" cy="188464"/>
                  </a:xfrm>
                  <a:prstGeom prst="ellipse">
                    <a:avLst/>
                  </a:prstGeom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400"/>
                  </a:p>
                </p:txBody>
              </p:sp>
              <p:cxnSp>
                <p:nvCxnSpPr>
                  <p:cNvPr id="7" name="Straight Arrow Connector 6">
                    <a:extLst>
                      <a:ext uri="{FF2B5EF4-FFF2-40B4-BE49-F238E27FC236}">
                        <a16:creationId xmlns:a16="http://schemas.microsoft.com/office/drawing/2014/main" id="{0F54933B-23C4-19A8-0DB4-85CED3BAE1BB}"/>
                      </a:ext>
                    </a:extLst>
                  </p:cNvPr>
                  <p:cNvCxnSpPr/>
                  <p:nvPr/>
                </p:nvCxnSpPr>
                <p:spPr>
                  <a:xfrm>
                    <a:off x="3664580" y="3319060"/>
                    <a:ext cx="4132251" cy="0"/>
                  </a:xfrm>
                  <a:prstGeom prst="straightConnector1">
                    <a:avLst/>
                  </a:prstGeom>
                  <a:ln w="57150">
                    <a:headEnd type="triangle" w="med" len="med"/>
                    <a:tailEnd type="triangle" w="med" len="med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8" name="TextBox 7">
                    <a:extLst>
                      <a:ext uri="{FF2B5EF4-FFF2-40B4-BE49-F238E27FC236}">
                        <a16:creationId xmlns:a16="http://schemas.microsoft.com/office/drawing/2014/main" id="{141C27E2-D7A4-5F48-644A-B5DB89090844}"/>
                      </a:ext>
                    </a:extLst>
                  </p:cNvPr>
                  <p:cNvSpPr txBox="1"/>
                  <p:nvPr/>
                </p:nvSpPr>
                <p:spPr>
                  <a:xfrm>
                    <a:off x="2879313" y="2782204"/>
                    <a:ext cx="1172665" cy="30777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sz="1400" dirty="0"/>
                      <a:t>1-step TD</a:t>
                    </a:r>
                  </a:p>
                </p:txBody>
              </p:sp>
              <p:sp>
                <p:nvSpPr>
                  <p:cNvPr id="9" name="TextBox 8">
                    <a:extLst>
                      <a:ext uri="{FF2B5EF4-FFF2-40B4-BE49-F238E27FC236}">
                        <a16:creationId xmlns:a16="http://schemas.microsoft.com/office/drawing/2014/main" id="{183257FD-880A-AF81-88C4-FE4114583699}"/>
                      </a:ext>
                    </a:extLst>
                  </p:cNvPr>
                  <p:cNvSpPr txBox="1"/>
                  <p:nvPr/>
                </p:nvSpPr>
                <p:spPr>
                  <a:xfrm>
                    <a:off x="7669904" y="2798160"/>
                    <a:ext cx="649394" cy="40636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sz="1400" dirty="0"/>
                      <a:t>MC </a:t>
                    </a:r>
                  </a:p>
                </p:txBody>
              </p:sp>
            </p:grpSp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222D92CF-821B-F68A-10A5-9F501334710E}"/>
                    </a:ext>
                  </a:extLst>
                </p:cNvPr>
                <p:cNvSpPr txBox="1"/>
                <p:nvPr/>
              </p:nvSpPr>
              <p:spPr>
                <a:xfrm>
                  <a:off x="5090858" y="3354274"/>
                  <a:ext cx="1172665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1400" dirty="0"/>
                    <a:t>Spectrum</a:t>
                  </a:r>
                </a:p>
              </p:txBody>
            </p:sp>
          </p:grp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578BFD95-D1AF-D3B0-1498-24CDC947051F}"/>
                  </a:ext>
                </a:extLst>
              </p:cNvPr>
              <p:cNvSpPr txBox="1"/>
              <p:nvPr/>
            </p:nvSpPr>
            <p:spPr>
              <a:xfrm>
                <a:off x="7079259" y="6246715"/>
                <a:ext cx="1569443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/>
                  <a:t>(whole episode)</a:t>
                </a: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5A8B58D0-D9D0-BAF2-8636-E6875C7D5815}"/>
                    </a:ext>
                  </a:extLst>
                </p:cNvPr>
                <p:cNvSpPr txBox="1"/>
                <p:nvPr/>
              </p:nvSpPr>
              <p:spPr>
                <a:xfrm>
                  <a:off x="5171964" y="5534292"/>
                  <a:ext cx="1246582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a:rPr lang="en-US" sz="1400" i="1" dirty="0" smtClean="0">
                          <a:latin typeface="Cambria Math" panose="02040503050406030204" pitchFamily="18" charset="0"/>
                        </a:rPr>
                        <m:t>𝑛</m:t>
                      </m:r>
                    </m:oMath>
                  </a14:m>
                  <a:r>
                    <a:rPr lang="en-US" sz="1400" dirty="0"/>
                    <a:t>-step TD </a:t>
                  </a:r>
                </a:p>
              </p:txBody>
            </p:sp>
          </mc:Choice>
          <mc:Fallback xmlns="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5A8B58D0-D9D0-BAF2-8636-E6875C7D581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71964" y="5534292"/>
                  <a:ext cx="1246582" cy="307777"/>
                </a:xfrm>
                <a:prstGeom prst="rect">
                  <a:avLst/>
                </a:prstGeom>
                <a:blipFill>
                  <a:blip r:embed="rId9"/>
                  <a:stretch>
                    <a:fillRect t="-4000" b="-2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2737975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D581FB-75E1-939B-1734-9A3A5E7DA4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is a Longer Look-ahead Useful?</a:t>
            </a:r>
          </a:p>
        </p:txBody>
      </p:sp>
      <p:sp>
        <p:nvSpPr>
          <p:cNvPr id="16" name="Content Placeholder 15">
            <a:extLst>
              <a:ext uri="{FF2B5EF4-FFF2-40B4-BE49-F238E27FC236}">
                <a16:creationId xmlns:a16="http://schemas.microsoft.com/office/drawing/2014/main" id="{443D5A25-1072-1AD7-D8D1-460CD5D847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7330"/>
            <a:ext cx="10515600" cy="816099"/>
          </a:xfrm>
        </p:spPr>
        <p:txBody>
          <a:bodyPr>
            <a:normAutofit lnSpcReduction="10000"/>
          </a:bodyPr>
          <a:lstStyle/>
          <a:p>
            <a:r>
              <a:rPr lang="en-US" b="1" dirty="0"/>
              <a:t>Example</a:t>
            </a:r>
            <a:r>
              <a:rPr lang="en-US" dirty="0"/>
              <a:t>: Maze with only one final reward for reaching the goal. We learn from the </a:t>
            </a:r>
            <a:r>
              <a:rPr lang="en-US" b="1" dirty="0"/>
              <a:t>first episode</a:t>
            </a:r>
            <a:r>
              <a:rPr lang="en-US" dirty="0"/>
              <a:t>.</a:t>
            </a:r>
          </a:p>
        </p:txBody>
      </p:sp>
      <p:pic>
        <p:nvPicPr>
          <p:cNvPr id="4" name="Content Placeholder 4">
            <a:extLst>
              <a:ext uri="{FF2B5EF4-FFF2-40B4-BE49-F238E27FC236}">
                <a16:creationId xmlns:a16="http://schemas.microsoft.com/office/drawing/2014/main" id="{F54C7612-C89E-C0DD-842F-9EC0D68D64C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891" t="13698" r="5202" b="44797"/>
          <a:stretch>
            <a:fillRect/>
          </a:stretch>
        </p:blipFill>
        <p:spPr>
          <a:xfrm>
            <a:off x="747486" y="2663371"/>
            <a:ext cx="10530259" cy="268423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A5C7086F-4FE3-4B76-D2E3-6ED4B79424DB}"/>
              </a:ext>
            </a:extLst>
          </p:cNvPr>
          <p:cNvSpPr txBox="1"/>
          <p:nvPr/>
        </p:nvSpPr>
        <p:spPr>
          <a:xfrm>
            <a:off x="4846864" y="2343189"/>
            <a:ext cx="24982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1-step look ahead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1BAAE08-C8A0-AF74-313E-B5C800716589}"/>
              </a:ext>
            </a:extLst>
          </p:cNvPr>
          <p:cNvSpPr txBox="1"/>
          <p:nvPr/>
        </p:nvSpPr>
        <p:spPr>
          <a:xfrm>
            <a:off x="8260541" y="2343189"/>
            <a:ext cx="24982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10-step look ahead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6CA45E4-C211-7029-512E-B626F9027F51}"/>
              </a:ext>
            </a:extLst>
          </p:cNvPr>
          <p:cNvSpPr txBox="1"/>
          <p:nvPr/>
        </p:nvSpPr>
        <p:spPr>
          <a:xfrm>
            <a:off x="1283608" y="2318614"/>
            <a:ext cx="24982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Episode (MC)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A36E2F7-F8B8-2A59-9E25-A531E0CB5822}"/>
              </a:ext>
            </a:extLst>
          </p:cNvPr>
          <p:cNvSpPr txBox="1"/>
          <p:nvPr/>
        </p:nvSpPr>
        <p:spPr>
          <a:xfrm>
            <a:off x="7824751" y="5206124"/>
            <a:ext cx="345299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State value can be updated with the goal reward even if it is 10 states away.</a:t>
            </a:r>
            <a:br>
              <a:rPr lang="en-US" dirty="0"/>
            </a:br>
            <a:r>
              <a:rPr lang="en-US" dirty="0"/>
              <a:t>Learns faster than 1-step TD.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94153B3-450A-085C-3C96-299EB57D1465}"/>
              </a:ext>
            </a:extLst>
          </p:cNvPr>
          <p:cNvSpPr txBox="1"/>
          <p:nvPr/>
        </p:nvSpPr>
        <p:spPr>
          <a:xfrm>
            <a:off x="1185636" y="3888565"/>
            <a:ext cx="1959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19468A7-5AC3-5A40-8933-972333C8F0BD}"/>
              </a:ext>
            </a:extLst>
          </p:cNvPr>
          <p:cNvSpPr txBox="1"/>
          <p:nvPr/>
        </p:nvSpPr>
        <p:spPr>
          <a:xfrm>
            <a:off x="965200" y="5230699"/>
            <a:ext cx="30697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Updates in reverse order all state values on the path.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513F307-3E7B-8CE6-F229-F5A1E0C8CC21}"/>
              </a:ext>
            </a:extLst>
          </p:cNvPr>
          <p:cNvSpPr txBox="1"/>
          <p:nvPr/>
        </p:nvSpPr>
        <p:spPr>
          <a:xfrm>
            <a:off x="4370352" y="5230698"/>
            <a:ext cx="30697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Can only updates one state value.</a:t>
            </a:r>
          </a:p>
        </p:txBody>
      </p:sp>
    </p:spTree>
    <p:extLst>
      <p:ext uri="{BB962C8B-B14F-4D97-AF65-F5344CB8AC3E}">
        <p14:creationId xmlns:p14="http://schemas.microsoft.com/office/powerpoint/2010/main" val="8346419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3" grpId="0"/>
      <p:bldP spid="8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56E0E6-B94F-9317-6D17-F2C05C4B99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Title 3">
                <a:extLst>
                  <a:ext uri="{FF2B5EF4-FFF2-40B4-BE49-F238E27FC236}">
                    <a16:creationId xmlns:a16="http://schemas.microsoft.com/office/drawing/2014/main" id="{DEAA54D5-A706-39E6-7AFF-36D79A0279C4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 TD Prediction</a:t>
                </a:r>
              </a:p>
            </p:txBody>
          </p:sp>
        </mc:Choice>
        <mc:Fallback xmlns="">
          <p:sp>
            <p:nvSpPr>
              <p:cNvPr id="4" name="Title 3">
                <a:extLst>
                  <a:ext uri="{FF2B5EF4-FFF2-40B4-BE49-F238E27FC236}">
                    <a16:creationId xmlns:a16="http://schemas.microsoft.com/office/drawing/2014/main" id="{DEAA54D5-A706-39E6-7AFF-36D79A0279C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b="-147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CC56159-9323-5507-2CD1-C89D8951BC3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Estimate the value function for a given policy. </a:t>
            </a:r>
          </a:p>
        </p:txBody>
      </p:sp>
    </p:spTree>
    <p:extLst>
      <p:ext uri="{BB962C8B-B14F-4D97-AF65-F5344CB8AC3E}">
        <p14:creationId xmlns:p14="http://schemas.microsoft.com/office/powerpoint/2010/main" val="264817208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Group 31">
            <a:extLst>
              <a:ext uri="{FF2B5EF4-FFF2-40B4-BE49-F238E27FC236}">
                <a16:creationId xmlns:a16="http://schemas.microsoft.com/office/drawing/2014/main" id="{E481D1FB-CB76-10B4-AAF2-565B474050E1}"/>
              </a:ext>
            </a:extLst>
          </p:cNvPr>
          <p:cNvGrpSpPr/>
          <p:nvPr/>
        </p:nvGrpSpPr>
        <p:grpSpPr>
          <a:xfrm>
            <a:off x="3318150" y="1038934"/>
            <a:ext cx="5200795" cy="4414234"/>
            <a:chOff x="3318150" y="1038934"/>
            <a:chExt cx="5200795" cy="4414234"/>
          </a:xfrm>
        </p:grpSpPr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59C05D1A-35B9-726A-B9FB-4539015C1B5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318150" y="1038934"/>
              <a:ext cx="5200795" cy="4414234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125A7302-8A22-B180-53C3-BC6CC6CD4173}"/>
                    </a:ext>
                  </a:extLst>
                </p:cNvPr>
                <p:cNvSpPr txBox="1"/>
                <p:nvPr/>
              </p:nvSpPr>
              <p:spPr>
                <a:xfrm>
                  <a:off x="3702638" y="1750393"/>
                  <a:ext cx="566687" cy="276999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125A7302-8A22-B180-53C3-BC6CC6CD417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02638" y="1750393"/>
                  <a:ext cx="566687" cy="276999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823ACA19-7483-1ABC-2CD2-F35C437F894F}"/>
                    </a:ext>
                  </a:extLst>
                </p:cNvPr>
                <p:cNvSpPr txBox="1"/>
                <p:nvPr/>
              </p:nvSpPr>
              <p:spPr>
                <a:xfrm>
                  <a:off x="3813207" y="2286791"/>
                  <a:ext cx="566687" cy="276999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𝑉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823ACA19-7483-1ABC-2CD2-F35C437F894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13207" y="2286791"/>
                  <a:ext cx="566687" cy="276999"/>
                </a:xfrm>
                <a:prstGeom prst="rect">
                  <a:avLst/>
                </a:prstGeom>
                <a:blipFill>
                  <a:blip r:embed="rId4"/>
                  <a:stretch>
                    <a:fillRect r="-19565" b="-65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F9A7E01B-3795-04F8-3F68-4BF896CF1A1B}"/>
                    </a:ext>
                  </a:extLst>
                </p:cNvPr>
                <p:cNvSpPr txBox="1"/>
                <p:nvPr/>
              </p:nvSpPr>
              <p:spPr>
                <a:xfrm>
                  <a:off x="3825437" y="1566995"/>
                  <a:ext cx="566687" cy="276999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200" i="1" smtClean="0">
                            <a:latin typeface="Cambria Math" panose="02040503050406030204" pitchFamily="18" charset="0"/>
                          </a:rPr>
                          <m:t>𝑉</m:t>
                        </m:r>
                        <m:r>
                          <a:rPr lang="en-US" sz="1200" i="1" smtClean="0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F9A7E01B-3795-04F8-3F68-4BF896CF1A1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25437" y="1566995"/>
                  <a:ext cx="566687" cy="276999"/>
                </a:xfrm>
                <a:prstGeom prst="rect">
                  <a:avLst/>
                </a:prstGeom>
                <a:blipFill>
                  <a:blip r:embed="rId5"/>
                  <a:stretch>
                    <a:fillRect b="-888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AD3C032F-6175-705F-FE89-1EF9E650E71F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 TD Prediction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AD3C032F-6175-705F-FE89-1EF9E650E71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6"/>
                <a:stretch>
                  <a:fillRect t="-20161" b="-354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Speech Bubble: Rectangle with Corners Rounded 13">
                <a:extLst>
                  <a:ext uri="{FF2B5EF4-FFF2-40B4-BE49-F238E27FC236}">
                    <a16:creationId xmlns:a16="http://schemas.microsoft.com/office/drawing/2014/main" id="{E5A035D4-82B1-F750-0FDC-9E3D1661FF92}"/>
                  </a:ext>
                </a:extLst>
              </p:cNvPr>
              <p:cNvSpPr/>
              <p:nvPr/>
            </p:nvSpPr>
            <p:spPr>
              <a:xfrm>
                <a:off x="754287" y="1755096"/>
                <a:ext cx="2157589" cy="1130593"/>
              </a:xfrm>
              <a:prstGeom prst="wedgeRoundRectCallout">
                <a:avLst>
                  <a:gd name="adj1" fmla="val 84571"/>
                  <a:gd name="adj2" fmla="val -22481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sz="1400" dirty="0"/>
                  <a:t>Update with reward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lang="en-US" sz="1400" dirty="0"/>
                  <a:t> + bootstrap the remaining return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lang="en-US" sz="1400" dirty="0"/>
                  <a:t> by the value of the next state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sz="1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400" dirty="0"/>
                  <a:t>.</a:t>
                </a:r>
              </a:p>
            </p:txBody>
          </p:sp>
        </mc:Choice>
        <mc:Fallback xmlns="">
          <p:sp>
            <p:nvSpPr>
              <p:cNvPr id="14" name="Speech Bubble: Rectangle with Corners Rounded 13">
                <a:extLst>
                  <a:ext uri="{FF2B5EF4-FFF2-40B4-BE49-F238E27FC236}">
                    <a16:creationId xmlns:a16="http://schemas.microsoft.com/office/drawing/2014/main" id="{E5A035D4-82B1-F750-0FDC-9E3D1661FF9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4287" y="1755096"/>
                <a:ext cx="2157589" cy="1130593"/>
              </a:xfrm>
              <a:prstGeom prst="wedgeRoundRectCallout">
                <a:avLst>
                  <a:gd name="adj1" fmla="val 84571"/>
                  <a:gd name="adj2" fmla="val -22481"/>
                  <a:gd name="adj3" fmla="val 16667"/>
                </a:avLst>
              </a:prstGeom>
              <a:blipFill>
                <a:blip r:embed="rId7"/>
                <a:stretch>
                  <a:fillRect t="-1596" b="-58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A19657BF-07EC-5E16-0F8F-213FF5972E5E}"/>
              </a:ext>
            </a:extLst>
          </p:cNvPr>
          <p:cNvGrpSpPr/>
          <p:nvPr/>
        </p:nvGrpSpPr>
        <p:grpSpPr>
          <a:xfrm>
            <a:off x="7967513" y="1750393"/>
            <a:ext cx="3290513" cy="3460070"/>
            <a:chOff x="7967513" y="1750393"/>
            <a:chExt cx="3290513" cy="3460070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Speech Bubble: Rectangle with Corners Rounded 14">
                  <a:extLst>
                    <a:ext uri="{FF2B5EF4-FFF2-40B4-BE49-F238E27FC236}">
                      <a16:creationId xmlns:a16="http://schemas.microsoft.com/office/drawing/2014/main" id="{28550480-EEED-F900-3E4A-FF07C3F8AB94}"/>
                    </a:ext>
                  </a:extLst>
                </p:cNvPr>
                <p:cNvSpPr/>
                <p:nvPr/>
              </p:nvSpPr>
              <p:spPr>
                <a:xfrm>
                  <a:off x="8721949" y="2299895"/>
                  <a:ext cx="2536077" cy="894587"/>
                </a:xfrm>
                <a:prstGeom prst="wedgeRoundRectCallout">
                  <a:avLst>
                    <a:gd name="adj1" fmla="val -68504"/>
                    <a:gd name="adj2" fmla="val 79718"/>
                    <a:gd name="adj3" fmla="val 16667"/>
                  </a:avLst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r>
                    <a:rPr lang="en-US" sz="1400" dirty="0"/>
                    <a:t>Update with the whole sequence of observed rewards </a:t>
                  </a:r>
                  <a14:m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→</m:t>
                      </m:r>
                    </m:oMath>
                  </a14:m>
                  <a:r>
                    <a:rPr lang="en-US" sz="1400" dirty="0"/>
                    <a:t> no bootstrapping.</a:t>
                  </a:r>
                </a:p>
              </p:txBody>
            </p:sp>
          </mc:Choice>
          <mc:Fallback xmlns="">
            <p:sp>
              <p:nvSpPr>
                <p:cNvPr id="15" name="Speech Bubble: Rectangle with Corners Rounded 14">
                  <a:extLst>
                    <a:ext uri="{FF2B5EF4-FFF2-40B4-BE49-F238E27FC236}">
                      <a16:creationId xmlns:a16="http://schemas.microsoft.com/office/drawing/2014/main" id="{28550480-EEED-F900-3E4A-FF07C3F8AB9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721949" y="2299895"/>
                  <a:ext cx="2536077" cy="894587"/>
                </a:xfrm>
                <a:prstGeom prst="wedgeRoundRectCallout">
                  <a:avLst>
                    <a:gd name="adj1" fmla="val -68504"/>
                    <a:gd name="adj2" fmla="val 79718"/>
                    <a:gd name="adj3" fmla="val 16667"/>
                  </a:avLst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8" name="Right Brace 17">
              <a:extLst>
                <a:ext uri="{FF2B5EF4-FFF2-40B4-BE49-F238E27FC236}">
                  <a16:creationId xmlns:a16="http://schemas.microsoft.com/office/drawing/2014/main" id="{E3545678-D718-8AC1-2DDE-65A2B43393C2}"/>
                </a:ext>
              </a:extLst>
            </p:cNvPr>
            <p:cNvSpPr/>
            <p:nvPr/>
          </p:nvSpPr>
          <p:spPr>
            <a:xfrm>
              <a:off x="7967513" y="1750393"/>
              <a:ext cx="199063" cy="3460070"/>
            </a:xfrm>
            <a:prstGeom prst="rightBrac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E90DE811-595E-8CBB-4AEB-304DB735AFA9}"/>
                  </a:ext>
                </a:extLst>
              </p:cNvPr>
              <p:cNvSpPr txBox="1"/>
              <p:nvPr/>
            </p:nvSpPr>
            <p:spPr>
              <a:xfrm>
                <a:off x="637041" y="3868550"/>
                <a:ext cx="6376791" cy="206210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600" b="1" dirty="0"/>
                  <a:t>Return Estimate</a:t>
                </a:r>
              </a:p>
              <a:p>
                <a:r>
                  <a:rPr lang="en-US" sz="1600" b="0" dirty="0"/>
                  <a:t>1-step TD: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1600" dirty="0"/>
              </a:p>
              <a:p>
                <a:r>
                  <a:rPr lang="en-US" sz="1600" dirty="0"/>
                  <a:t>2-step TD: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+2</m:t>
                        </m:r>
                      </m:sub>
                    </m:sSub>
                    <m:r>
                      <a:rPr lang="en-US" sz="16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16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𝛾</m:t>
                    </m:r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+2</m:t>
                        </m:r>
                      </m:sub>
                    </m:sSub>
                    <m:r>
                      <a:rPr lang="en-US" sz="1600" i="1"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p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1600" i="1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+2</m:t>
                        </m:r>
                      </m:sub>
                    </m:sSub>
                    <m:r>
                      <a:rPr lang="en-US" sz="16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1600" dirty="0"/>
              </a:p>
              <a:p>
                <a:r>
                  <a:rPr lang="en-US" sz="1600" dirty="0"/>
                  <a:t>…</a:t>
                </a:r>
              </a:p>
              <a:p>
                <a14:m>
                  <m:oMath xmlns:m="http://schemas.openxmlformats.org/officeDocument/2006/math">
                    <m:r>
                      <a:rPr lang="en-US" sz="1600" b="0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1600" dirty="0"/>
                  <a:t>-step TD: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16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16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𝛾</m:t>
                    </m:r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+2</m:t>
                        </m:r>
                      </m:sub>
                    </m:sSub>
                    <m:r>
                      <a:rPr lang="en-US" sz="1600" i="1">
                        <a:latin typeface="Cambria Math" panose="02040503050406030204" pitchFamily="18" charset="0"/>
                      </a:rPr>
                      <m:t>+…+</m:t>
                    </m:r>
                    <m:sSup>
                      <m:sSup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p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1600" i="1"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p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  <m:r>
                      <a:rPr lang="en-US" sz="1600" i="1">
                        <a:latin typeface="Cambria Math" panose="02040503050406030204" pitchFamily="18" charset="0"/>
                      </a:rPr>
                      <m:t>𝑉</m:t>
                    </m:r>
                    <m:d>
                      <m:d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endParaRPr lang="en-US" sz="1600" dirty="0"/>
              </a:p>
              <a:p>
                <a:r>
                  <a:rPr lang="en-US" sz="1600" dirty="0"/>
                  <a:t>MC: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       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16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𝛾</m:t>
                    </m:r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+2</m:t>
                        </m:r>
                      </m:sub>
                    </m:sSub>
                    <m:r>
                      <a:rPr lang="en-US" sz="1600" i="1">
                        <a:latin typeface="Cambria Math" panose="02040503050406030204" pitchFamily="18" charset="0"/>
                      </a:rPr>
                      <m:t>+…+</m:t>
                    </m:r>
                    <m:sSup>
                      <m:sSup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p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sub>
                    </m:sSub>
                  </m:oMath>
                </a14:m>
                <a:endParaRPr lang="en-US" sz="1600" dirty="0"/>
              </a:p>
              <a:p>
                <a:endParaRPr lang="en-US" sz="1600" dirty="0"/>
              </a:p>
              <a:p>
                <a:r>
                  <a:rPr lang="en-US" sz="1600" b="1" dirty="0"/>
                  <a:t>Update</a:t>
                </a:r>
                <a:r>
                  <a:rPr lang="en-US" sz="1600" dirty="0"/>
                  <a:t>: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𝑉</m:t>
                    </m:r>
                    <m:d>
                      <m:d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US" sz="1600" dirty="0"/>
                  <a:t>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𝑉</m:t>
                    </m:r>
                    <m:d>
                      <m:d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[</m:t>
                    </m:r>
                    <m:sSub>
                      <m:sSub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)]</m:t>
                    </m:r>
                  </m:oMath>
                </a14:m>
                <a:endParaRPr lang="en-US" sz="1600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E90DE811-595E-8CBB-4AEB-304DB735AF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7041" y="3868550"/>
                <a:ext cx="6376791" cy="2062103"/>
              </a:xfrm>
              <a:prstGeom prst="rect">
                <a:avLst/>
              </a:prstGeom>
              <a:blipFill>
                <a:blip r:embed="rId9"/>
                <a:stretch>
                  <a:fillRect l="-574" t="-888" b="-295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9804826F-9AE8-BB0B-FA2E-3E36076ACC01}"/>
                  </a:ext>
                </a:extLst>
              </p:cNvPr>
              <p:cNvSpPr txBox="1"/>
              <p:nvPr/>
            </p:nvSpPr>
            <p:spPr>
              <a:xfrm>
                <a:off x="8837705" y="4141820"/>
                <a:ext cx="2362349" cy="1384995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r>
                  <a:rPr lang="en-US" sz="1400" b="1" dirty="0"/>
                  <a:t>Notation</a:t>
                </a:r>
                <a:endParaRPr lang="en-US" sz="1400" b="1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sz="1400" dirty="0"/>
                  <a:t>  … the return is calculated from the rewards up to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1400" dirty="0"/>
                  <a:t> and the rest is bootstrapped using the value function estimate.</a:t>
                </a:r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9804826F-9AE8-BB0B-FA2E-3E36076ACC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37705" y="4141820"/>
                <a:ext cx="2362349" cy="1384995"/>
              </a:xfrm>
              <a:prstGeom prst="rect">
                <a:avLst/>
              </a:prstGeom>
              <a:blipFill>
                <a:blip r:embed="rId10"/>
                <a:stretch>
                  <a:fillRect l="-513" r="-769" b="-259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Speech Bubble: Rectangle with Corners Rounded 26">
                <a:extLst>
                  <a:ext uri="{FF2B5EF4-FFF2-40B4-BE49-F238E27FC236}">
                    <a16:creationId xmlns:a16="http://schemas.microsoft.com/office/drawing/2014/main" id="{3E3ADA8B-8A4F-3382-9E61-2CE86283C2FB}"/>
                  </a:ext>
                </a:extLst>
              </p:cNvPr>
              <p:cNvSpPr/>
              <p:nvPr/>
            </p:nvSpPr>
            <p:spPr>
              <a:xfrm>
                <a:off x="2680283" y="6126976"/>
                <a:ext cx="4009937" cy="319673"/>
              </a:xfrm>
              <a:prstGeom prst="wedgeRoundRectCallout">
                <a:avLst>
                  <a:gd name="adj1" fmla="val -31269"/>
                  <a:gd name="adj2" fmla="val -115663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sz="1400" dirty="0"/>
                  <a:t>The update needs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14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400" dirty="0"/>
                  <a:t> and is </a:t>
                </a:r>
                <a14:m>
                  <m:oMath xmlns:m="http://schemas.openxmlformats.org/officeDocument/2006/math">
                    <m:r>
                      <a:rPr lang="en-US" sz="1400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1400" dirty="0"/>
                  <a:t> steps delayed!</a:t>
                </a:r>
              </a:p>
            </p:txBody>
          </p:sp>
        </mc:Choice>
        <mc:Fallback xmlns="">
          <p:sp>
            <p:nvSpPr>
              <p:cNvPr id="27" name="Speech Bubble: Rectangle with Corners Rounded 26">
                <a:extLst>
                  <a:ext uri="{FF2B5EF4-FFF2-40B4-BE49-F238E27FC236}">
                    <a16:creationId xmlns:a16="http://schemas.microsoft.com/office/drawing/2014/main" id="{3E3ADA8B-8A4F-3382-9E61-2CE86283C2F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80283" y="6126976"/>
                <a:ext cx="4009937" cy="319673"/>
              </a:xfrm>
              <a:prstGeom prst="wedgeRoundRectCallout">
                <a:avLst>
                  <a:gd name="adj1" fmla="val -31269"/>
                  <a:gd name="adj2" fmla="val -115663"/>
                  <a:gd name="adj3" fmla="val 16667"/>
                </a:avLst>
              </a:prstGeom>
              <a:blipFill>
                <a:blip r:embed="rId11"/>
                <a:stretch>
                  <a:fillRect b="-760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416829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27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84016E2A-017B-E3E1-20B3-74045202D0F6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/>
                  <a:t>Alg.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 TD Prediction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84016E2A-017B-E3E1-20B3-74045202D0F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 t="-20161" b="-354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EC034EDA-40C7-0E1C-E97A-1D86B89646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13110" y="1311069"/>
            <a:ext cx="7765780" cy="518180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F843E6ED-89CE-1779-C4B7-7D54066D44FE}"/>
              </a:ext>
            </a:extLst>
          </p:cNvPr>
          <p:cNvSpPr txBox="1"/>
          <p:nvPr/>
        </p:nvSpPr>
        <p:spPr>
          <a:xfrm>
            <a:off x="4424253" y="4954746"/>
            <a:ext cx="366458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()</a:t>
            </a:r>
          </a:p>
        </p:txBody>
      </p:sp>
      <p:sp>
        <p:nvSpPr>
          <p:cNvPr id="10" name="Speech Bubble: Rectangle with Corners Rounded 9">
            <a:extLst>
              <a:ext uri="{FF2B5EF4-FFF2-40B4-BE49-F238E27FC236}">
                <a16:creationId xmlns:a16="http://schemas.microsoft.com/office/drawing/2014/main" id="{BE955289-DCEB-4971-C670-C936C2BF5317}"/>
              </a:ext>
            </a:extLst>
          </p:cNvPr>
          <p:cNvSpPr/>
          <p:nvPr/>
        </p:nvSpPr>
        <p:spPr>
          <a:xfrm>
            <a:off x="383152" y="3720372"/>
            <a:ext cx="1829957" cy="588954"/>
          </a:xfrm>
          <a:prstGeom prst="wedgeRoundRectCallout">
            <a:avLst>
              <a:gd name="adj1" fmla="val 107580"/>
              <a:gd name="adj2" fmla="val 112796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Detect the end of the episode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Speech Bubble: Rectangle with Corners Rounded 11">
                <a:extLst>
                  <a:ext uri="{FF2B5EF4-FFF2-40B4-BE49-F238E27FC236}">
                    <a16:creationId xmlns:a16="http://schemas.microsoft.com/office/drawing/2014/main" id="{4914E5E8-E349-09FD-90D9-4EB3CD1EA191}"/>
                  </a:ext>
                </a:extLst>
              </p:cNvPr>
              <p:cNvSpPr/>
              <p:nvPr/>
            </p:nvSpPr>
            <p:spPr>
              <a:xfrm>
                <a:off x="209406" y="4760687"/>
                <a:ext cx="2003704" cy="786244"/>
              </a:xfrm>
              <a:prstGeom prst="wedgeRoundRectCallout">
                <a:avLst>
                  <a:gd name="adj1" fmla="val 91754"/>
                  <a:gd name="adj2" fmla="val 800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/>
                  <a:t>Start only when we can update </a:t>
                </a:r>
                <a14:m>
                  <m:oMath xmlns:m="http://schemas.openxmlformats.org/officeDocument/2006/math">
                    <m:r>
                      <a:rPr lang="en-US" sz="1600" i="1" dirty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1600" b="0" i="1" dirty="0" smtClean="0">
                        <a:latin typeface="Cambria Math" panose="02040503050406030204" pitchFamily="18" charset="0"/>
                      </a:rPr>
                      <m:t>≥ </m:t>
                    </m:r>
                    <m:r>
                      <a:rPr lang="en-US" sz="1600" b="0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endParaRPr lang="en-US" sz="1600" dirty="0"/>
              </a:p>
            </p:txBody>
          </p:sp>
        </mc:Choice>
        <mc:Fallback xmlns="">
          <p:sp>
            <p:nvSpPr>
              <p:cNvPr id="12" name="Speech Bubble: Rectangle with Corners Rounded 11">
                <a:extLst>
                  <a:ext uri="{FF2B5EF4-FFF2-40B4-BE49-F238E27FC236}">
                    <a16:creationId xmlns:a16="http://schemas.microsoft.com/office/drawing/2014/main" id="{4914E5E8-E349-09FD-90D9-4EB3CD1EA19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9406" y="4760687"/>
                <a:ext cx="2003704" cy="786244"/>
              </a:xfrm>
              <a:prstGeom prst="wedgeRoundRectCallout">
                <a:avLst>
                  <a:gd name="adj1" fmla="val 91754"/>
                  <a:gd name="adj2" fmla="val 800"/>
                  <a:gd name="adj3" fmla="val 16667"/>
                </a:avLst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Speech Bubble: Rectangle with Corners Rounded 12">
                <a:extLst>
                  <a:ext uri="{FF2B5EF4-FFF2-40B4-BE49-F238E27FC236}">
                    <a16:creationId xmlns:a16="http://schemas.microsoft.com/office/drawing/2014/main" id="{F26C6334-EC59-8CC4-D349-78BE5FEC6E3F}"/>
                  </a:ext>
                </a:extLst>
              </p:cNvPr>
              <p:cNvSpPr/>
              <p:nvPr/>
            </p:nvSpPr>
            <p:spPr>
              <a:xfrm>
                <a:off x="7425988" y="5293300"/>
                <a:ext cx="2329544" cy="1258502"/>
              </a:xfrm>
              <a:prstGeom prst="wedgeRoundRectCallout">
                <a:avLst>
                  <a:gd name="adj1" fmla="val -73081"/>
                  <a:gd name="adj2" fmla="val -20962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/>
                  <a:t>Use bootstrapping if the episode is not over. </a:t>
                </a:r>
                <a:r>
                  <a:rPr lang="en-US" sz="1600" b="1" dirty="0"/>
                  <a:t>Note</a:t>
                </a:r>
                <a:r>
                  <a:rPr lang="en-US" sz="1600" dirty="0"/>
                  <a:t>: </a:t>
                </a:r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𝜏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16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600" dirty="0"/>
                  <a:t>  is called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𝑉</m:t>
                    </m:r>
                    <m:d>
                      <m:dPr>
                        <m:ctrlPr>
                          <a:rPr lang="en-US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sz="1600" dirty="0"/>
                  <a:t> in the equations! </a:t>
                </a:r>
              </a:p>
            </p:txBody>
          </p:sp>
        </mc:Choice>
        <mc:Fallback xmlns="">
          <p:sp>
            <p:nvSpPr>
              <p:cNvPr id="13" name="Speech Bubble: Rectangle with Corners Rounded 12">
                <a:extLst>
                  <a:ext uri="{FF2B5EF4-FFF2-40B4-BE49-F238E27FC236}">
                    <a16:creationId xmlns:a16="http://schemas.microsoft.com/office/drawing/2014/main" id="{F26C6334-EC59-8CC4-D349-78BE5FEC6E3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25988" y="5293300"/>
                <a:ext cx="2329544" cy="1258502"/>
              </a:xfrm>
              <a:prstGeom prst="wedgeRoundRectCallout">
                <a:avLst>
                  <a:gd name="adj1" fmla="val -73081"/>
                  <a:gd name="adj2" fmla="val -20962"/>
                  <a:gd name="adj3" fmla="val 16667"/>
                </a:avLst>
              </a:prstGeom>
              <a:blipFill>
                <a:blip r:embed="rId5"/>
                <a:stretch>
                  <a:fillRect t="-2857" b="-71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Speech Bubble: Rectangle with Corners Rounded 13">
            <a:extLst>
              <a:ext uri="{FF2B5EF4-FFF2-40B4-BE49-F238E27FC236}">
                <a16:creationId xmlns:a16="http://schemas.microsoft.com/office/drawing/2014/main" id="{203B6702-D9F1-9CDF-DE51-C7708AD222CA}"/>
              </a:ext>
            </a:extLst>
          </p:cNvPr>
          <p:cNvSpPr/>
          <p:nvPr/>
        </p:nvSpPr>
        <p:spPr>
          <a:xfrm>
            <a:off x="754424" y="5702958"/>
            <a:ext cx="1458686" cy="338555"/>
          </a:xfrm>
          <a:prstGeom prst="wedgeRoundRectCallout">
            <a:avLst>
              <a:gd name="adj1" fmla="val 122871"/>
              <a:gd name="adj2" fmla="val 4627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The update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DE859F95-A5C2-CE37-B3D7-5DC8E7DDC4E6}"/>
              </a:ext>
            </a:extLst>
          </p:cNvPr>
          <p:cNvGrpSpPr/>
          <p:nvPr/>
        </p:nvGrpSpPr>
        <p:grpSpPr>
          <a:xfrm>
            <a:off x="9986271" y="4309326"/>
            <a:ext cx="2365690" cy="1216727"/>
            <a:chOff x="9986271" y="4309326"/>
            <a:chExt cx="2365690" cy="1216727"/>
          </a:xfrm>
        </p:grpSpPr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6BD81C03-2FFC-3430-6A96-CC215F8CB002}"/>
                </a:ext>
              </a:extLst>
            </p:cNvPr>
            <p:cNvGrpSpPr/>
            <p:nvPr/>
          </p:nvGrpSpPr>
          <p:grpSpPr>
            <a:xfrm>
              <a:off x="9986271" y="4309326"/>
              <a:ext cx="1996323" cy="913879"/>
              <a:chOff x="10044440" y="1032968"/>
              <a:chExt cx="1996323" cy="913879"/>
            </a:xfrm>
          </p:grpSpPr>
          <p:cxnSp>
            <p:nvCxnSpPr>
              <p:cNvPr id="7" name="Straight Connector 6">
                <a:extLst>
                  <a:ext uri="{FF2B5EF4-FFF2-40B4-BE49-F238E27FC236}">
                    <a16:creationId xmlns:a16="http://schemas.microsoft.com/office/drawing/2014/main" id="{D8B9856B-B3C4-5BCC-42AC-811D84A88D5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0044440" y="1577515"/>
                <a:ext cx="1996323" cy="0"/>
              </a:xfrm>
              <a:prstGeom prst="line">
                <a:avLst/>
              </a:prstGeom>
              <a:ln>
                <a:headEnd type="triangle" w="med" len="med"/>
                <a:tailEnd type="none" w="med" len="me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" name="TextBox 7">
                    <a:extLst>
                      <a:ext uri="{FF2B5EF4-FFF2-40B4-BE49-F238E27FC236}">
                        <a16:creationId xmlns:a16="http://schemas.microsoft.com/office/drawing/2014/main" id="{44A9B8B8-C293-91A1-01EB-1F759EBE74C9}"/>
                      </a:ext>
                    </a:extLst>
                  </p:cNvPr>
                  <p:cNvSpPr txBox="1"/>
                  <p:nvPr/>
                </p:nvSpPr>
                <p:spPr>
                  <a:xfrm>
                    <a:off x="11437576" y="1577515"/>
                    <a:ext cx="376929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8" name="TextBox 7">
                    <a:extLst>
                      <a:ext uri="{FF2B5EF4-FFF2-40B4-BE49-F238E27FC236}">
                        <a16:creationId xmlns:a16="http://schemas.microsoft.com/office/drawing/2014/main" id="{44A9B8B8-C293-91A1-01EB-1F759EBE74C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1437576" y="1577515"/>
                    <a:ext cx="376929" cy="369332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" name="TextBox 10">
                    <a:extLst>
                      <a:ext uri="{FF2B5EF4-FFF2-40B4-BE49-F238E27FC236}">
                        <a16:creationId xmlns:a16="http://schemas.microsoft.com/office/drawing/2014/main" id="{D60D0466-EF57-5F71-0C88-02AB91FDD90D}"/>
                      </a:ext>
                    </a:extLst>
                  </p:cNvPr>
                  <p:cNvSpPr txBox="1"/>
                  <p:nvPr/>
                </p:nvSpPr>
                <p:spPr>
                  <a:xfrm>
                    <a:off x="10044440" y="1577515"/>
                    <a:ext cx="376929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𝜏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1" name="TextBox 10">
                    <a:extLst>
                      <a:ext uri="{FF2B5EF4-FFF2-40B4-BE49-F238E27FC236}">
                        <a16:creationId xmlns:a16="http://schemas.microsoft.com/office/drawing/2014/main" id="{D60D0466-EF57-5F71-0C88-02AB91FDD90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044440" y="1577515"/>
                    <a:ext cx="376929" cy="369332"/>
                  </a:xfrm>
                  <a:prstGeom prst="rect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" name="TextBox 14">
                    <a:extLst>
                      <a:ext uri="{FF2B5EF4-FFF2-40B4-BE49-F238E27FC236}">
                        <a16:creationId xmlns:a16="http://schemas.microsoft.com/office/drawing/2014/main" id="{CA6A7031-056F-EB6D-642F-809EE4320E9D}"/>
                      </a:ext>
                    </a:extLst>
                  </p:cNvPr>
                  <p:cNvSpPr txBox="1"/>
                  <p:nvPr/>
                </p:nvSpPr>
                <p:spPr>
                  <a:xfrm>
                    <a:off x="10416206" y="1032968"/>
                    <a:ext cx="1111291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14:m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oMath>
                    </a14:m>
                    <a:r>
                      <a:rPr lang="en-US" dirty="0"/>
                      <a:t> steps</a:t>
                    </a:r>
                  </a:p>
                </p:txBody>
              </p:sp>
            </mc:Choice>
            <mc:Fallback xmlns="">
              <p:sp>
                <p:nvSpPr>
                  <p:cNvPr id="15" name="TextBox 14">
                    <a:extLst>
                      <a:ext uri="{FF2B5EF4-FFF2-40B4-BE49-F238E27FC236}">
                        <a16:creationId xmlns:a16="http://schemas.microsoft.com/office/drawing/2014/main" id="{CA6A7031-056F-EB6D-642F-809EE4320E9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416206" y="1032968"/>
                    <a:ext cx="1111291" cy="369332"/>
                  </a:xfrm>
                  <a:prstGeom prst="rect">
                    <a:avLst/>
                  </a:prstGeom>
                  <a:blipFill>
                    <a:blip r:embed="rId8"/>
                    <a:stretch>
                      <a:fillRect t="-8333" b="-28333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6" name="Right Brace 15">
                <a:extLst>
                  <a:ext uri="{FF2B5EF4-FFF2-40B4-BE49-F238E27FC236}">
                    <a16:creationId xmlns:a16="http://schemas.microsoft.com/office/drawing/2014/main" id="{DF1F0B09-177D-1C23-8922-13B60D4726FE}"/>
                  </a:ext>
                </a:extLst>
              </p:cNvPr>
              <p:cNvSpPr/>
              <p:nvPr/>
            </p:nvSpPr>
            <p:spPr>
              <a:xfrm rot="16200000">
                <a:off x="10847163" y="722444"/>
                <a:ext cx="146575" cy="1416969"/>
              </a:xfrm>
              <a:prstGeom prst="rightBrac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ABD183B9-C0A7-1967-D463-484C00285B8B}"/>
                    </a:ext>
                  </a:extLst>
                </p:cNvPr>
                <p:cNvSpPr txBox="1"/>
                <p:nvPr/>
              </p:nvSpPr>
              <p:spPr>
                <a:xfrm>
                  <a:off x="10355638" y="5218276"/>
                  <a:ext cx="1996323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1400" dirty="0"/>
                    <a:t>Observed </a:t>
                  </a:r>
                  <a14:m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𝑅</m:t>
                      </m:r>
                      <m:r>
                        <m:rPr>
                          <m:sty m:val="p"/>
                        </m:rPr>
                        <a:rPr lang="en-US" sz="1400" b="0" i="0" smtClean="0">
                          <a:latin typeface="Cambria Math" panose="02040503050406030204" pitchFamily="18" charset="0"/>
                        </a:rPr>
                        <m:t>s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ABD183B9-C0A7-1967-D463-484C00285B8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355638" y="5218276"/>
                  <a:ext cx="1996323" cy="307777"/>
                </a:xfrm>
                <a:prstGeom prst="rect">
                  <a:avLst/>
                </a:prstGeom>
                <a:blipFill>
                  <a:blip r:embed="rId9"/>
                  <a:stretch>
                    <a:fillRect l="-917" t="-3922" b="-1960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86571286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734AF4-4767-BE73-5248-2A894D1A0C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Convergence Guarantee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BC0AB8C-EE24-D6EE-CD41-08A2D933C66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3770851"/>
                <a:ext cx="10515600" cy="2406112"/>
              </a:xfrm>
            </p:spPr>
            <p:txBody>
              <a:bodyPr>
                <a:normAutofit fontScale="85000" lnSpcReduction="10000"/>
              </a:bodyPr>
              <a:lstStyle/>
              <a:p>
                <a:pPr marL="0" indent="0">
                  <a:buNone/>
                </a:pPr>
                <a:r>
                  <a:rPr lang="en-US" b="1" dirty="0"/>
                  <a:t>Explanation</a:t>
                </a:r>
                <a:r>
                  <a:rPr lang="en-US" dirty="0"/>
                  <a:t>: Using observed rewards (which have in expectation no error) in </a:t>
                </a:r>
                <a:endParaRPr lang="en-US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: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𝛾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+2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+…+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𝛾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𝛾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</m:sSup>
                      <m:r>
                        <a:rPr lang="en-US" i="1">
                          <a:latin typeface="Cambria Math" panose="02040503050406030204" pitchFamily="18" charset="0"/>
                        </a:rPr>
                        <m:t>𝑉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reduces the error compared to using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as a return estimate.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/>
                  <a:t> every update is guaranteed to reduce the expected error. </a:t>
                </a:r>
                <a:br>
                  <a:rPr lang="en-US" dirty="0"/>
                </a:br>
                <a:r>
                  <a:rPr lang="en-US" b="1" dirty="0"/>
                  <a:t>All </a:t>
                </a:r>
                <a14:m>
                  <m:oMath xmlns:m="http://schemas.openxmlformats.org/officeDocument/2006/math">
                    <m:r>
                      <a:rPr lang="en-US" b="1" i="1" dirty="0">
                        <a:latin typeface="Cambria Math" panose="02040503050406030204" pitchFamily="18" charset="0"/>
                      </a:rPr>
                      <m:t>𝒏</m:t>
                    </m:r>
                  </m:oMath>
                </a14:m>
                <a:r>
                  <a:rPr lang="en-US" b="1" dirty="0"/>
                  <a:t>-step methods (including 1-step and MC) converge</a:t>
                </a:r>
                <a:r>
                  <a:rPr lang="en-US" dirty="0"/>
                  <a:t>!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BC0AB8C-EE24-D6EE-CD41-08A2D933C66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3770851"/>
                <a:ext cx="10515600" cy="2406112"/>
              </a:xfrm>
              <a:blipFill>
                <a:blip r:embed="rId2"/>
                <a:stretch>
                  <a:fillRect l="-928" t="-4569" b="-7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5D9954E-8BC2-1D59-59D7-361BEEF7AC40}"/>
                  </a:ext>
                </a:extLst>
              </p:cNvPr>
              <p:cNvSpPr txBox="1"/>
              <p:nvPr/>
            </p:nvSpPr>
            <p:spPr>
              <a:xfrm>
                <a:off x="2382473" y="1392572"/>
                <a:ext cx="7231310" cy="2033827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 marL="0" indent="0" algn="ctr">
                  <a:buNone/>
                </a:pPr>
                <a:r>
                  <a:rPr lang="en-US" sz="2000" b="1" dirty="0"/>
                  <a:t>Error Reduction Property of </a:t>
                </a:r>
                <a14:m>
                  <m:oMath xmlns:m="http://schemas.openxmlformats.org/officeDocument/2006/math">
                    <m:r>
                      <a:rPr lang="en-US" sz="2000" b="1" i="1" dirty="0">
                        <a:latin typeface="Cambria Math" panose="02040503050406030204" pitchFamily="18" charset="0"/>
                      </a:rPr>
                      <m:t>𝒏</m:t>
                    </m:r>
                  </m:oMath>
                </a14:m>
                <a:r>
                  <a:rPr lang="en-US" sz="2000" b="1" dirty="0"/>
                  <a:t>-step Returns </a:t>
                </a:r>
              </a:p>
              <a:p>
                <a:endParaRPr lang="en-US" sz="2000" dirty="0"/>
              </a:p>
              <a:p>
                <a:r>
                  <a:rPr lang="en-US" sz="2000" dirty="0"/>
                  <a:t>The worst error of the expected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2000" dirty="0"/>
                  <a:t>-step return is guaranteed to be less than or equal to the discounted worst error of using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endParaRPr lang="en-US" sz="2000" dirty="0"/>
              </a:p>
              <a:p>
                <a:endParaRPr lang="en-US" sz="20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sz="2000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2000" i="0" smtClean="0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lim>
                          </m:limLow>
                        </m:fName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sz="200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𝔼</m:t>
                                  </m:r>
                                </m:e>
                                <m:sub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sub>
                              </m:sSub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[</m:t>
                              </m:r>
                              <m:sSub>
                                <m:sSubPr>
                                  <m:ctrlP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𝐺</m:t>
                                  </m:r>
                                </m:e>
                                <m:sub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:</m:t>
                                  </m:r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|</m:t>
                              </m:r>
                              <m:sSub>
                                <m:sSubPr>
                                  <m:ctrlP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]−</m:t>
                              </m:r>
                              <m:sSub>
                                <m:sSubPr>
                                  <m:ctrlPr>
                                    <a:rPr lang="en-US" sz="20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sub>
                              </m:sSub>
                              <m: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</m:d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≤</m:t>
                          </m:r>
                          <m:sSup>
                            <m:sSup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</m:e>
                            <m:sup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p>
                          </m:sSup>
                          <m:func>
                            <m:func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limLow>
                                <m:limLowPr>
                                  <m:ctrlP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</m:ctrlPr>
                                </m:limLow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2000">
                                      <a:latin typeface="Cambria Math" panose="02040503050406030204" pitchFamily="18" charset="0"/>
                                    </a:rPr>
                                    <m:t>max</m:t>
                                  </m:r>
                                </m:e>
                                <m:lim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lim>
                              </m:limLow>
                            </m:fName>
                            <m:e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20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𝑉</m:t>
                                      </m:r>
                                    </m:e>
                                    <m:sub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𝑡</m:t>
                                      </m:r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+</m:t>
                                      </m:r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𝑛</m:t>
                                      </m:r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−1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en-US" sz="20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</m:d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US" sz="20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𝑣</m:t>
                                      </m:r>
                                    </m:e>
                                    <m:sub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𝜋</m:t>
                                      </m:r>
                                    </m:sub>
                                  </m:sSub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</m:d>
                            </m:e>
                          </m:func>
                        </m:e>
                      </m:func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5D9954E-8BC2-1D59-59D7-361BEEF7AC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82473" y="1392572"/>
                <a:ext cx="7231310" cy="2033827"/>
              </a:xfrm>
              <a:prstGeom prst="rect">
                <a:avLst/>
              </a:prstGeom>
              <a:blipFill>
                <a:blip r:embed="rId3"/>
                <a:stretch>
                  <a:fillRect l="-841" t="-890" r="-67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7141234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Title 3">
                <a:extLst>
                  <a:ext uri="{FF2B5EF4-FFF2-40B4-BE49-F238E27FC236}">
                    <a16:creationId xmlns:a16="http://schemas.microsoft.com/office/drawing/2014/main" id="{C0944D32-5F67-3759-0E01-9E6ED1636AF0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 Control: Sarsa</a:t>
                </a:r>
              </a:p>
            </p:txBody>
          </p:sp>
        </mc:Choice>
        <mc:Fallback xmlns="">
          <p:sp>
            <p:nvSpPr>
              <p:cNvPr id="4" name="Title 3">
                <a:extLst>
                  <a:ext uri="{FF2B5EF4-FFF2-40B4-BE49-F238E27FC236}">
                    <a16:creationId xmlns:a16="http://schemas.microsoft.com/office/drawing/2014/main" id="{C0944D32-5F67-3759-0E01-9E6ED1636AF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b="-147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 Placeholder 4">
                <a:extLst>
                  <a:ext uri="{FF2B5EF4-FFF2-40B4-BE49-F238E27FC236}">
                    <a16:creationId xmlns:a16="http://schemas.microsoft.com/office/drawing/2014/main" id="{D8BFD2D0-399A-1A99-8CB8-AA18E396C959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n-US" dirty="0"/>
                  <a:t>On-Policy learning using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 return estimates.</a:t>
                </a:r>
              </a:p>
            </p:txBody>
          </p:sp>
        </mc:Choice>
        <mc:Fallback xmlns="">
          <p:sp>
            <p:nvSpPr>
              <p:cNvPr id="5" name="Text Placeholder 4">
                <a:extLst>
                  <a:ext uri="{FF2B5EF4-FFF2-40B4-BE49-F238E27FC236}">
                    <a16:creationId xmlns:a16="http://schemas.microsoft.com/office/drawing/2014/main" id="{D8BFD2D0-399A-1A99-8CB8-AA18E396C95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blipFill>
                <a:blip r:embed="rId3"/>
                <a:stretch>
                  <a:fillRect l="-870" t="-52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3635104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2FF0FE0E-E041-84BE-0F39-AE6BA8D28743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 Sarsa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2FF0FE0E-E041-84BE-0F39-AE6BA8D2874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t="-20161" b="-354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B66D976-5489-1CA0-FBD4-D8ED85B1689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pPr marL="0" indent="0">
                  <a:buNone/>
                </a:pPr>
                <a:r>
                  <a:rPr lang="en-US" dirty="0"/>
                  <a:t>Original Sarsa is called one-step Sarsa or Sarsa(0)</a:t>
                </a:r>
              </a:p>
              <a:p>
                <a:endParaRPr lang="en-US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b="1" i="1" dirty="0">
                        <a:latin typeface="Cambria Math" panose="02040503050406030204" pitchFamily="18" charset="0"/>
                      </a:rPr>
                      <m:t>𝒏</m:t>
                    </m:r>
                  </m:oMath>
                </a14:m>
                <a:r>
                  <a:rPr lang="en-US" b="1" dirty="0"/>
                  <a:t>-step Sarsa</a:t>
                </a:r>
              </a:p>
              <a:p>
                <a:pPr lvl="1"/>
                <a:r>
                  <a:rPr lang="en-US" dirty="0"/>
                  <a:t>On policy</a:t>
                </a:r>
              </a:p>
              <a:p>
                <a:pPr lvl="1"/>
                <a:r>
                  <a:rPr lang="en-US" b="1" dirty="0"/>
                  <a:t>Remember</a:t>
                </a:r>
                <a:r>
                  <a:rPr lang="en-US" dirty="0"/>
                  <a:t>: The policy needs to keep exploring so we typically learn an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-greedy policy</a:t>
                </a:r>
              </a:p>
              <a:p>
                <a:pPr lvl="1"/>
                <a:r>
                  <a:rPr lang="en-US" dirty="0"/>
                  <a:t>Use state-action pairs and learns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dirty="0"/>
                  <a:t> so we can find the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-greedy policy</a:t>
                </a:r>
              </a:p>
              <a:p>
                <a:pPr marL="457200" lvl="1" indent="0">
                  <a:buNone/>
                </a:pPr>
                <a:endParaRPr lang="en-US" dirty="0"/>
              </a:p>
              <a:p>
                <a:r>
                  <a:rPr lang="en-US" dirty="0"/>
                  <a:t>Return estimate (redefined using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dirty="0"/>
                  <a:t>):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: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𝛾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+2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+…+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𝛾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𝛾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</m:sSup>
                      <m:r>
                        <a:rPr lang="en-US" i="1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Update rule:</a:t>
                </a:r>
                <a:endParaRPr lang="en-US" baseline="-250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←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[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: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B66D976-5489-1CA0-FBD4-D8ED85B1689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043" t="-3189" r="-87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Speech Bubble: Rectangle with Corners Rounded 3">
                <a:extLst>
                  <a:ext uri="{FF2B5EF4-FFF2-40B4-BE49-F238E27FC236}">
                    <a16:creationId xmlns:a16="http://schemas.microsoft.com/office/drawing/2014/main" id="{FC23A07C-A168-39B7-4E5B-CB74A33475C0}"/>
                  </a:ext>
                </a:extLst>
              </p:cNvPr>
              <p:cNvSpPr/>
              <p:nvPr/>
            </p:nvSpPr>
            <p:spPr>
              <a:xfrm>
                <a:off x="8462748" y="578972"/>
                <a:ext cx="2327171" cy="818358"/>
              </a:xfrm>
              <a:prstGeom prst="wedgeRoundRectCallout">
                <a:avLst>
                  <a:gd name="adj1" fmla="val -58080"/>
                  <a:gd name="adj2" fmla="val 74886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b="1" dirty="0"/>
                  <a:t>Note</a:t>
                </a:r>
                <a:r>
                  <a:rPr lang="en-US" sz="1200" dirty="0"/>
                  <a:t>: (0) has nothing to do with the steps, but means that 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sz="1200" dirty="0"/>
                  <a:t>. We will learn about eligibility traces later.</a:t>
                </a:r>
              </a:p>
            </p:txBody>
          </p:sp>
        </mc:Choice>
        <mc:Fallback xmlns="">
          <p:sp>
            <p:nvSpPr>
              <p:cNvPr id="4" name="Speech Bubble: Rectangle with Corners Rounded 3">
                <a:extLst>
                  <a:ext uri="{FF2B5EF4-FFF2-40B4-BE49-F238E27FC236}">
                    <a16:creationId xmlns:a16="http://schemas.microsoft.com/office/drawing/2014/main" id="{FC23A07C-A168-39B7-4E5B-CB74A33475C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62748" y="578972"/>
                <a:ext cx="2327171" cy="818358"/>
              </a:xfrm>
              <a:prstGeom prst="wedgeRoundRectCallout">
                <a:avLst>
                  <a:gd name="adj1" fmla="val -58080"/>
                  <a:gd name="adj2" fmla="val 74886"/>
                  <a:gd name="adj3" fmla="val 16667"/>
                </a:avLst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2854591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83C4D17A-69EF-11E4-BED6-7D19667C9913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/>
                  <a:t>Speedup of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 Sarsa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83C4D17A-69EF-11E4-BED6-7D19667C991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 t="-20161" b="-354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4CEA1E66-A5A6-1448-FC06-21631B9284E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719040" y="1712911"/>
            <a:ext cx="8753919" cy="4779963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A7794699-37F3-BC74-A159-90CC2AB0350C}"/>
                  </a:ext>
                </a:extLst>
              </p:cNvPr>
              <p:cNvSpPr txBox="1"/>
              <p:nvPr/>
            </p:nvSpPr>
            <p:spPr>
              <a:xfrm>
                <a:off x="2153174" y="1343579"/>
                <a:ext cx="394282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dirty="0"/>
                  <a:t>-values updated during one episode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A7794699-37F3-BC74-A159-90CC2AB035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53174" y="1343579"/>
                <a:ext cx="3942825" cy="369332"/>
              </a:xfrm>
              <a:prstGeom prst="rect">
                <a:avLst/>
              </a:prstGeom>
              <a:blipFill>
                <a:blip r:embed="rId4"/>
                <a:stretch>
                  <a:fillRect l="-309" t="-6557" b="-262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0043453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28821F91-F3CA-B3DB-B920-4A58F4CB1232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>
                <a:normAutofit fontScale="90000"/>
              </a:bodyPr>
              <a:lstStyle/>
              <a:p>
                <a:r>
                  <a:rPr lang="en-US" dirty="0"/>
                  <a:t>Alg. From DT prediction to 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 Sarsa Control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28821F91-F3CA-B3DB-B920-4A58F4CB123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087" t="-13710" b="-282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20C5DA64-CB96-33B7-5A2F-82B17E4E3CB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6209546" y="1397000"/>
            <a:ext cx="5681934" cy="4779963"/>
          </a:xfrm>
          <a:prstGeom prst="rect">
            <a:avLst/>
          </a:prstGeom>
        </p:spPr>
      </p:pic>
      <p:grpSp>
        <p:nvGrpSpPr>
          <p:cNvPr id="11" name="Group 10">
            <a:extLst>
              <a:ext uri="{FF2B5EF4-FFF2-40B4-BE49-F238E27FC236}">
                <a16:creationId xmlns:a16="http://schemas.microsoft.com/office/drawing/2014/main" id="{FDAF4139-9F31-EF78-000D-A76A64FB1843}"/>
              </a:ext>
            </a:extLst>
          </p:cNvPr>
          <p:cNvGrpSpPr/>
          <p:nvPr/>
        </p:nvGrpSpPr>
        <p:grpSpPr>
          <a:xfrm>
            <a:off x="391291" y="1125097"/>
            <a:ext cx="5818255" cy="4814496"/>
            <a:chOff x="391291" y="1125097"/>
            <a:chExt cx="5818255" cy="4814496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6DF7BC5E-65EA-3D4D-F1F7-F5B1678B32F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91291" y="1397000"/>
              <a:ext cx="5818255" cy="3882297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Speech Bubble: Rectangle with Corners Rounded 5">
                  <a:extLst>
                    <a:ext uri="{FF2B5EF4-FFF2-40B4-BE49-F238E27FC236}">
                      <a16:creationId xmlns:a16="http://schemas.microsoft.com/office/drawing/2014/main" id="{1E655817-FD0E-0110-CF26-A64D12FE50D6}"/>
                    </a:ext>
                  </a:extLst>
                </p:cNvPr>
                <p:cNvSpPr/>
                <p:nvPr/>
              </p:nvSpPr>
              <p:spPr>
                <a:xfrm>
                  <a:off x="3635495" y="1125097"/>
                  <a:ext cx="1724099" cy="543806"/>
                </a:xfrm>
                <a:prstGeom prst="wedgeRoundRectCallout">
                  <a:avLst>
                    <a:gd name="adj1" fmla="val -149901"/>
                    <a:gd name="adj2" fmla="val 90110"/>
                    <a:gd name="adj3" fmla="val 16667"/>
                  </a:avLst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 xmlns:m="http://schemas.openxmlformats.org/officeDocument/2006/math"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𝜋</m:t>
                      </m:r>
                    </m:oMath>
                  </a14:m>
                  <a:r>
                    <a:rPr lang="en-US" sz="1600" dirty="0"/>
                    <a:t> is given</a:t>
                  </a:r>
                </a:p>
              </p:txBody>
            </p:sp>
          </mc:Choice>
          <mc:Fallback xmlns="">
            <p:sp>
              <p:nvSpPr>
                <p:cNvPr id="6" name="Speech Bubble: Rectangle with Corners Rounded 5">
                  <a:extLst>
                    <a:ext uri="{FF2B5EF4-FFF2-40B4-BE49-F238E27FC236}">
                      <a16:creationId xmlns:a16="http://schemas.microsoft.com/office/drawing/2014/main" id="{1E655817-FD0E-0110-CF26-A64D12FE50D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35495" y="1125097"/>
                  <a:ext cx="1724099" cy="543806"/>
                </a:xfrm>
                <a:prstGeom prst="wedgeRoundRectCallout">
                  <a:avLst>
                    <a:gd name="adj1" fmla="val -149901"/>
                    <a:gd name="adj2" fmla="val 90110"/>
                    <a:gd name="adj3" fmla="val 16667"/>
                  </a:avLst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Speech Bubble: Rectangle with Corners Rounded 6">
                  <a:extLst>
                    <a:ext uri="{FF2B5EF4-FFF2-40B4-BE49-F238E27FC236}">
                      <a16:creationId xmlns:a16="http://schemas.microsoft.com/office/drawing/2014/main" id="{0AD7BF87-C864-0A9A-559D-B2EA2F900B48}"/>
                    </a:ext>
                  </a:extLst>
                </p:cNvPr>
                <p:cNvSpPr/>
                <p:nvPr/>
              </p:nvSpPr>
              <p:spPr>
                <a:xfrm>
                  <a:off x="3145721" y="5395787"/>
                  <a:ext cx="1724099" cy="543806"/>
                </a:xfrm>
                <a:prstGeom prst="wedgeRoundRectCallout">
                  <a:avLst>
                    <a:gd name="adj1" fmla="val -77431"/>
                    <a:gd name="adj2" fmla="val -133232"/>
                    <a:gd name="adj3" fmla="val 16667"/>
                  </a:avLst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600" dirty="0"/>
                    <a:t>Update </a:t>
                  </a:r>
                  <a14:m>
                    <m:oMath xmlns:m="http://schemas.openxmlformats.org/officeDocument/2006/math"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𝑉</m:t>
                      </m:r>
                    </m:oMath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7" name="Speech Bubble: Rectangle with Corners Rounded 6">
                  <a:extLst>
                    <a:ext uri="{FF2B5EF4-FFF2-40B4-BE49-F238E27FC236}">
                      <a16:creationId xmlns:a16="http://schemas.microsoft.com/office/drawing/2014/main" id="{0AD7BF87-C864-0A9A-559D-B2EA2F900B4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45721" y="5395787"/>
                  <a:ext cx="1724099" cy="543806"/>
                </a:xfrm>
                <a:prstGeom prst="wedgeRoundRectCallout">
                  <a:avLst>
                    <a:gd name="adj1" fmla="val -77431"/>
                    <a:gd name="adj2" fmla="val -133232"/>
                    <a:gd name="adj3" fmla="val 16667"/>
                  </a:avLst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8" name="Arrow: Right 7">
            <a:extLst>
              <a:ext uri="{FF2B5EF4-FFF2-40B4-BE49-F238E27FC236}">
                <a16:creationId xmlns:a16="http://schemas.microsoft.com/office/drawing/2014/main" id="{E2A2EAED-A095-EC43-F7C8-D9EE9FD07E2F}"/>
              </a:ext>
            </a:extLst>
          </p:cNvPr>
          <p:cNvSpPr/>
          <p:nvPr/>
        </p:nvSpPr>
        <p:spPr>
          <a:xfrm>
            <a:off x="5866228" y="3287652"/>
            <a:ext cx="618335" cy="767817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A2D7B70A-A257-1910-96CE-4CB963B34780}"/>
              </a:ext>
            </a:extLst>
          </p:cNvPr>
          <p:cNvGrpSpPr/>
          <p:nvPr/>
        </p:nvGrpSpPr>
        <p:grpSpPr>
          <a:xfrm>
            <a:off x="7549272" y="1946300"/>
            <a:ext cx="4572390" cy="4775368"/>
            <a:chOff x="7549272" y="1946300"/>
            <a:chExt cx="4572390" cy="4775368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Speech Bubble: Rectangle with Corners Rounded 3">
                  <a:extLst>
                    <a:ext uri="{FF2B5EF4-FFF2-40B4-BE49-F238E27FC236}">
                      <a16:creationId xmlns:a16="http://schemas.microsoft.com/office/drawing/2014/main" id="{DF12DD82-7DDC-9157-BB79-8D5B905F0BAA}"/>
                    </a:ext>
                  </a:extLst>
                </p:cNvPr>
                <p:cNvSpPr/>
                <p:nvPr/>
              </p:nvSpPr>
              <p:spPr>
                <a:xfrm>
                  <a:off x="10030478" y="6177862"/>
                  <a:ext cx="1724099" cy="543806"/>
                </a:xfrm>
                <a:prstGeom prst="wedgeRoundRectCallout">
                  <a:avLst>
                    <a:gd name="adj1" fmla="val -54354"/>
                    <a:gd name="adj2" fmla="val -121679"/>
                    <a:gd name="adj3" fmla="val 16667"/>
                  </a:avLst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600" dirty="0"/>
                    <a:t>Update </a:t>
                  </a:r>
                  <a14:m>
                    <m:oMath xmlns:m="http://schemas.openxmlformats.org/officeDocument/2006/math"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𝑄</m:t>
                      </m:r>
                    </m:oMath>
                  </a14:m>
                  <a:r>
                    <a:rPr lang="en-US" sz="1600" dirty="0"/>
                    <a:t> and </a:t>
                  </a:r>
                  <a14:m>
                    <m:oMath xmlns:m="http://schemas.openxmlformats.org/officeDocument/2006/math"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𝜋</m:t>
                      </m:r>
                    </m:oMath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4" name="Speech Bubble: Rectangle with Corners Rounded 3">
                  <a:extLst>
                    <a:ext uri="{FF2B5EF4-FFF2-40B4-BE49-F238E27FC236}">
                      <a16:creationId xmlns:a16="http://schemas.microsoft.com/office/drawing/2014/main" id="{DF12DD82-7DDC-9157-BB79-8D5B905F0BA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030478" y="6177862"/>
                  <a:ext cx="1724099" cy="543806"/>
                </a:xfrm>
                <a:prstGeom prst="wedgeRoundRectCallout">
                  <a:avLst>
                    <a:gd name="adj1" fmla="val -54354"/>
                    <a:gd name="adj2" fmla="val -121679"/>
                    <a:gd name="adj3" fmla="val 16667"/>
                  </a:avLst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Speech Bubble: Rectangle with Corners Rounded 8">
                  <a:extLst>
                    <a:ext uri="{FF2B5EF4-FFF2-40B4-BE49-F238E27FC236}">
                      <a16:creationId xmlns:a16="http://schemas.microsoft.com/office/drawing/2014/main" id="{8FEBBC07-A809-4A77-8EB9-8F7555FB6C1C}"/>
                    </a:ext>
                  </a:extLst>
                </p:cNvPr>
                <p:cNvSpPr/>
                <p:nvPr/>
              </p:nvSpPr>
              <p:spPr>
                <a:xfrm>
                  <a:off x="9856838" y="4018671"/>
                  <a:ext cx="2264824" cy="449306"/>
                </a:xfrm>
                <a:prstGeom prst="wedgeRoundRectCallout">
                  <a:avLst>
                    <a:gd name="adj1" fmla="val -40849"/>
                    <a:gd name="adj2" fmla="val 74156"/>
                    <a:gd name="adj3" fmla="val 16667"/>
                  </a:avLst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dirty="0"/>
                    <a:t>On-policy: Select next action from the  current </a:t>
                  </a:r>
                  <a14:m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𝜋</m:t>
                      </m:r>
                    </m:oMath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9" name="Speech Bubble: Rectangle with Corners Rounded 8">
                  <a:extLst>
                    <a:ext uri="{FF2B5EF4-FFF2-40B4-BE49-F238E27FC236}">
                      <a16:creationId xmlns:a16="http://schemas.microsoft.com/office/drawing/2014/main" id="{8FEBBC07-A809-4A77-8EB9-8F7555FB6C1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856838" y="4018671"/>
                  <a:ext cx="2264824" cy="449306"/>
                </a:xfrm>
                <a:prstGeom prst="wedgeRoundRectCallout">
                  <a:avLst>
                    <a:gd name="adj1" fmla="val -40849"/>
                    <a:gd name="adj2" fmla="val 74156"/>
                    <a:gd name="adj3" fmla="val 16667"/>
                  </a:avLst>
                </a:prstGeom>
                <a:blipFill>
                  <a:blip r:embed="rId8"/>
                  <a:stretch>
                    <a:fillRect t="-625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6C5221A8-2300-AE4C-B12E-E7B10DAE2C2B}"/>
                </a:ext>
              </a:extLst>
            </p:cNvPr>
            <p:cNvSpPr/>
            <p:nvPr/>
          </p:nvSpPr>
          <p:spPr>
            <a:xfrm>
              <a:off x="7549272" y="1946300"/>
              <a:ext cx="589586" cy="196607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2708044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Title 3">
                <a:extLst>
                  <a:ext uri="{FF2B5EF4-FFF2-40B4-BE49-F238E27FC236}">
                    <a16:creationId xmlns:a16="http://schemas.microsoft.com/office/drawing/2014/main" id="{7DA8184C-9049-E158-3CA0-9F9DEC7C2B77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 Off-Policy Learning</a:t>
                </a:r>
              </a:p>
            </p:txBody>
          </p:sp>
        </mc:Choice>
        <mc:Fallback xmlns="">
          <p:sp>
            <p:nvSpPr>
              <p:cNvPr id="4" name="Title 3">
                <a:extLst>
                  <a:ext uri="{FF2B5EF4-FFF2-40B4-BE49-F238E27FC236}">
                    <a16:creationId xmlns:a16="http://schemas.microsoft.com/office/drawing/2014/main" id="{7DA8184C-9049-E158-3CA0-9F9DEC7C2B7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b="-147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5BA03D2-90FD-7653-DAD2-E19EAC638E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 importance sampling ratios to prediction and control.</a:t>
            </a:r>
          </a:p>
        </p:txBody>
      </p:sp>
    </p:spTree>
    <p:extLst>
      <p:ext uri="{BB962C8B-B14F-4D97-AF65-F5344CB8AC3E}">
        <p14:creationId xmlns:p14="http://schemas.microsoft.com/office/powerpoint/2010/main" val="262545585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C227CE56-EFBA-0625-24BB-9BB9832ABD73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 Off-Policy Learning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C227CE56-EFBA-0625-24BB-9BB9832ABD7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t="-20161" b="-354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52EDB9D-8B4A-E823-8389-87C92CF3318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70000" lnSpcReduction="20000"/>
              </a:bodyPr>
              <a:lstStyle/>
              <a:p>
                <a:r>
                  <a:rPr lang="en-US" b="1" dirty="0"/>
                  <a:t>Goal</a:t>
                </a:r>
                <a:r>
                  <a:rPr lang="en-US" dirty="0"/>
                  <a:t>: Learn a deterministic target policy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 using an exploring (soft) behavioral policy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dirty="0"/>
                  <a:t>.</a:t>
                </a:r>
              </a:p>
              <a:p>
                <a:endParaRPr lang="en-US" dirty="0"/>
              </a:p>
              <a:p>
                <a:r>
                  <a:rPr lang="en-US" b="1" dirty="0"/>
                  <a:t>Method</a:t>
                </a:r>
                <a:r>
                  <a:rPr lang="en-US" dirty="0"/>
                  <a:t>: Use importance sampling ratio as a weight for updates</a:t>
                </a:r>
              </a:p>
              <a:p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𝑉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𝛼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𝜌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: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𝐺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: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d>
                        </m:e>
                      </m:d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 </a:t>
                </a:r>
              </a:p>
              <a:p>
                <a:pPr marL="0" indent="0">
                  <a:buNone/>
                </a:pPr>
                <a:r>
                  <a:rPr lang="en-US" dirty="0"/>
                  <a:t>   where the weight is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𝜌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: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∏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min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⁡(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  <m:e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den>
                          </m:f>
                        </m:e>
                      </m:nary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Can be used in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 TD for prediction or in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 Sarsa for control.</a:t>
                </a:r>
              </a:p>
              <a:p>
                <a:endParaRPr lang="en-US" dirty="0"/>
              </a:p>
              <a:p>
                <a:r>
                  <a:rPr lang="en-US" b="1" dirty="0"/>
                  <a:t>Note</a:t>
                </a:r>
                <a:r>
                  <a:rPr lang="en-US" dirty="0"/>
                  <a:t>: Since the soft behavioral policy provides exploration, we can learn the optimal deterministic policy!</a:t>
                </a:r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52EDB9D-8B4A-E823-8389-87C92CF3318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522" t="-216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Speech Bubble: Rectangle with Corners Rounded 3">
                <a:extLst>
                  <a:ext uri="{FF2B5EF4-FFF2-40B4-BE49-F238E27FC236}">
                    <a16:creationId xmlns:a16="http://schemas.microsoft.com/office/drawing/2014/main" id="{B552D126-208B-494D-2625-5FF1C93AC51E}"/>
                  </a:ext>
                </a:extLst>
              </p:cNvPr>
              <p:cNvSpPr/>
              <p:nvPr/>
            </p:nvSpPr>
            <p:spPr>
              <a:xfrm>
                <a:off x="8690693" y="3478420"/>
                <a:ext cx="2118220" cy="1044429"/>
              </a:xfrm>
              <a:prstGeom prst="wedgeRoundRectCallout">
                <a:avLst>
                  <a:gd name="adj1" fmla="val -100549"/>
                  <a:gd name="adj2" fmla="val 7530"/>
                  <a:gd name="adj3" fmla="val 16667"/>
                </a:avLst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How likely is 𝜋 to choose an action compared to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dirty="0"/>
                  <a:t>? </a:t>
                </a:r>
              </a:p>
            </p:txBody>
          </p:sp>
        </mc:Choice>
        <mc:Fallback xmlns="">
          <p:sp>
            <p:nvSpPr>
              <p:cNvPr id="4" name="Speech Bubble: Rectangle with Corners Rounded 3">
                <a:extLst>
                  <a:ext uri="{FF2B5EF4-FFF2-40B4-BE49-F238E27FC236}">
                    <a16:creationId xmlns:a16="http://schemas.microsoft.com/office/drawing/2014/main" id="{B552D126-208B-494D-2625-5FF1C93AC51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90693" y="3478420"/>
                <a:ext cx="2118220" cy="1044429"/>
              </a:xfrm>
              <a:prstGeom prst="wedgeRoundRectCallout">
                <a:avLst>
                  <a:gd name="adj1" fmla="val -100549"/>
                  <a:gd name="adj2" fmla="val 7530"/>
                  <a:gd name="adj3" fmla="val 16667"/>
                </a:avLst>
              </a:prstGeom>
              <a:blipFill>
                <a:blip r:embed="rId4"/>
                <a:stretch>
                  <a:fillRect b="-229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9807723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945701-1839-841A-1942-F401EF862C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Alg. Comparing On-Policy with Off-Policy</a:t>
            </a:r>
          </a:p>
        </p:txBody>
      </p:sp>
      <p:pic>
        <p:nvPicPr>
          <p:cNvPr id="6" name="Content Placeholder 4">
            <a:extLst>
              <a:ext uri="{FF2B5EF4-FFF2-40B4-BE49-F238E27FC236}">
                <a16:creationId xmlns:a16="http://schemas.microsoft.com/office/drawing/2014/main" id="{8A799686-6590-82E9-E530-6D9F900BE80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24622" y="1553598"/>
            <a:ext cx="5205999" cy="4379580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25632627-3153-537A-8736-FC5EB073E581}"/>
              </a:ext>
            </a:extLst>
          </p:cNvPr>
          <p:cNvSpPr/>
          <p:nvPr/>
        </p:nvSpPr>
        <p:spPr>
          <a:xfrm>
            <a:off x="1644990" y="2023081"/>
            <a:ext cx="581679" cy="20358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DC5BEAA-9BB8-9D02-5309-611E50704614}"/>
              </a:ext>
            </a:extLst>
          </p:cNvPr>
          <p:cNvSpPr/>
          <p:nvPr/>
        </p:nvSpPr>
        <p:spPr>
          <a:xfrm>
            <a:off x="3989157" y="5300291"/>
            <a:ext cx="581679" cy="20358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94EAF0B-5EB2-C808-EDCD-CB37308993D3}"/>
              </a:ext>
            </a:extLst>
          </p:cNvPr>
          <p:cNvSpPr/>
          <p:nvPr/>
        </p:nvSpPr>
        <p:spPr>
          <a:xfrm>
            <a:off x="3345819" y="4316643"/>
            <a:ext cx="581679" cy="20358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9E409DA4-C9B0-9C34-A0E9-54BAD6DFE9B8}"/>
              </a:ext>
            </a:extLst>
          </p:cNvPr>
          <p:cNvGrpSpPr/>
          <p:nvPr/>
        </p:nvGrpSpPr>
        <p:grpSpPr>
          <a:xfrm>
            <a:off x="5659709" y="1062757"/>
            <a:ext cx="6430497" cy="5673149"/>
            <a:chOff x="5659709" y="1062757"/>
            <a:chExt cx="6430497" cy="5673149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5F49EE39-7243-4381-1C9D-C27904D7EFE1}"/>
                </a:ext>
              </a:extLst>
            </p:cNvPr>
            <p:cNvGrpSpPr/>
            <p:nvPr/>
          </p:nvGrpSpPr>
          <p:grpSpPr>
            <a:xfrm>
              <a:off x="5659709" y="1062757"/>
              <a:ext cx="6430497" cy="5673149"/>
              <a:chOff x="5659709" y="1062757"/>
              <a:chExt cx="6430497" cy="5673149"/>
            </a:xfrm>
          </p:grpSpPr>
          <p:pic>
            <p:nvPicPr>
              <p:cNvPr id="5" name="Picture 4">
                <a:extLst>
                  <a:ext uri="{FF2B5EF4-FFF2-40B4-BE49-F238E27FC236}">
                    <a16:creationId xmlns:a16="http://schemas.microsoft.com/office/drawing/2014/main" id="{2111ED8E-9F47-A0A6-34AD-6DCCED9317F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5659709" y="1334660"/>
                <a:ext cx="5945915" cy="4817456"/>
              </a:xfrm>
              <a:prstGeom prst="rect">
                <a:avLst/>
              </a:prstGeom>
            </p:spPr>
          </p:pic>
          <p:sp>
            <p:nvSpPr>
              <p:cNvPr id="3" name="Speech Bubble: Rectangle with Corners Rounded 2">
                <a:extLst>
                  <a:ext uri="{FF2B5EF4-FFF2-40B4-BE49-F238E27FC236}">
                    <a16:creationId xmlns:a16="http://schemas.microsoft.com/office/drawing/2014/main" id="{7405347D-3A8C-817A-0198-FB46D428A08C}"/>
                  </a:ext>
                </a:extLst>
              </p:cNvPr>
              <p:cNvSpPr/>
              <p:nvPr/>
            </p:nvSpPr>
            <p:spPr>
              <a:xfrm>
                <a:off x="9881525" y="1062757"/>
                <a:ext cx="1724099" cy="543806"/>
              </a:xfrm>
              <a:prstGeom prst="wedgeRoundRectCallout">
                <a:avLst>
                  <a:gd name="adj1" fmla="val -75002"/>
                  <a:gd name="adj2" fmla="val 68289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/>
                  <a:t>Add behavior policy</a:t>
                </a:r>
              </a:p>
            </p:txBody>
          </p:sp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B7CC600E-3AFD-2FD3-7283-4D46C25C5673}"/>
                  </a:ext>
                </a:extLst>
              </p:cNvPr>
              <p:cNvSpPr/>
              <p:nvPr/>
            </p:nvSpPr>
            <p:spPr>
              <a:xfrm>
                <a:off x="8718211" y="4418437"/>
                <a:ext cx="586333" cy="216384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" name="Speech Bubble: Rectangle with Corners Rounded 6">
                <a:extLst>
                  <a:ext uri="{FF2B5EF4-FFF2-40B4-BE49-F238E27FC236}">
                    <a16:creationId xmlns:a16="http://schemas.microsoft.com/office/drawing/2014/main" id="{D0AD5C9F-6D47-4621-45B9-9385077EF25E}"/>
                  </a:ext>
                </a:extLst>
              </p:cNvPr>
              <p:cNvSpPr/>
              <p:nvPr/>
            </p:nvSpPr>
            <p:spPr>
              <a:xfrm>
                <a:off x="10366107" y="4418437"/>
                <a:ext cx="1724099" cy="543806"/>
              </a:xfrm>
              <a:prstGeom prst="wedgeRoundRectCallout">
                <a:avLst>
                  <a:gd name="adj1" fmla="val -109818"/>
                  <a:gd name="adj2" fmla="val 158139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/>
                  <a:t>Use importance sampling ratio</a:t>
                </a:r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4F3B9A1D-1B3F-1708-DAD7-FA40CAA1493A}"/>
                  </a:ext>
                </a:extLst>
              </p:cNvPr>
              <p:cNvSpPr/>
              <p:nvPr/>
            </p:nvSpPr>
            <p:spPr>
              <a:xfrm>
                <a:off x="6965029" y="2023082"/>
                <a:ext cx="447893" cy="203587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8E169648-1DAF-B5A5-C80D-AEBC7295E489}"/>
                  </a:ext>
                </a:extLst>
              </p:cNvPr>
              <p:cNvSpPr/>
              <p:nvPr/>
            </p:nvSpPr>
            <p:spPr>
              <a:xfrm>
                <a:off x="9433632" y="5673788"/>
                <a:ext cx="447893" cy="203587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62AEA7A5-93F3-FE1D-2FF9-E7F3208BA93C}"/>
                  </a:ext>
                </a:extLst>
              </p:cNvPr>
              <p:cNvSpPr txBox="1"/>
              <p:nvPr/>
            </p:nvSpPr>
            <p:spPr>
              <a:xfrm>
                <a:off x="5942112" y="6151131"/>
                <a:ext cx="5458761" cy="584775"/>
              </a:xfrm>
              <a:prstGeom prst="rect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600" dirty="0"/>
                  <a:t>Off-Policy: The behavioral policy provides exploration so we can learn a deterministic policy!</a:t>
                </a:r>
              </a:p>
            </p:txBody>
          </p:sp>
        </p:grp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BEC83A1B-FFF7-CAE0-EFC3-59D9D3F791C3}"/>
                </a:ext>
              </a:extLst>
            </p:cNvPr>
            <p:cNvSpPr/>
            <p:nvPr/>
          </p:nvSpPr>
          <p:spPr>
            <a:xfrm>
              <a:off x="8154481" y="5490373"/>
              <a:ext cx="1150063" cy="203587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391ADFBD-CEF3-5E12-84F2-4276E80144D6}"/>
                </a:ext>
              </a:extLst>
            </p:cNvPr>
            <p:cNvSpPr/>
            <p:nvPr/>
          </p:nvSpPr>
          <p:spPr>
            <a:xfrm>
              <a:off x="8823744" y="1695798"/>
              <a:ext cx="675856" cy="203587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79A7ADEA-50AB-1D47-DCD7-7B2BDD2E1057}"/>
              </a:ext>
            </a:extLst>
          </p:cNvPr>
          <p:cNvSpPr/>
          <p:nvPr/>
        </p:nvSpPr>
        <p:spPr>
          <a:xfrm>
            <a:off x="5326967" y="3245771"/>
            <a:ext cx="561924" cy="767817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Speech Bubble: Rectangle with Corners Rounded 19">
            <a:extLst>
              <a:ext uri="{FF2B5EF4-FFF2-40B4-BE49-F238E27FC236}">
                <a16:creationId xmlns:a16="http://schemas.microsoft.com/office/drawing/2014/main" id="{3D719930-D8A7-468C-7B92-AAA575154DF9}"/>
              </a:ext>
            </a:extLst>
          </p:cNvPr>
          <p:cNvSpPr/>
          <p:nvPr/>
        </p:nvSpPr>
        <p:spPr>
          <a:xfrm>
            <a:off x="10711542" y="1852972"/>
            <a:ext cx="1378663" cy="543806"/>
          </a:xfrm>
          <a:prstGeom prst="wedgeRoundRectCallout">
            <a:avLst>
              <a:gd name="adj1" fmla="val -85843"/>
              <a:gd name="adj2" fmla="val -2440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Greedy target policy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CC12FB8-8201-418B-E7F3-1FC2FCBE894E}"/>
              </a:ext>
            </a:extLst>
          </p:cNvPr>
          <p:cNvSpPr txBox="1"/>
          <p:nvPr/>
        </p:nvSpPr>
        <p:spPr>
          <a:xfrm>
            <a:off x="2355455" y="3244334"/>
            <a:ext cx="1373945" cy="36933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/>
              <a:t>On-Policy</a:t>
            </a:r>
          </a:p>
        </p:txBody>
      </p:sp>
    </p:spTree>
    <p:extLst>
      <p:ext uri="{BB962C8B-B14F-4D97-AF65-F5344CB8AC3E}">
        <p14:creationId xmlns:p14="http://schemas.microsoft.com/office/powerpoint/2010/main" val="152833231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8" name="Rectangle 17">
            <a:extLst>
              <a:ext uri="{FF2B5EF4-FFF2-40B4-BE49-F238E27FC236}">
                <a16:creationId xmlns:a16="http://schemas.microsoft.com/office/drawing/2014/main" id="{E81BF4F6-F2CF-4984-9D14-D6966D92F9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380997" y="381001"/>
            <a:ext cx="6858001" cy="6095995"/>
          </a:xfrm>
          <a:prstGeom prst="rect">
            <a:avLst/>
          </a:prstGeom>
          <a:ln>
            <a:noFill/>
          </a:ln>
          <a:effectLst>
            <a:outerShdw blurRad="381000" dist="101600" sx="99000" sy="99000" algn="l" rotWithShape="0">
              <a:prstClr val="black">
                <a:alpha val="12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DCC851C-DBC0-5ACA-7D15-A7CD3408E7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7413" y="4544704"/>
            <a:ext cx="4792635" cy="1811645"/>
          </a:xfrm>
        </p:spPr>
        <p:txBody>
          <a:bodyPr anchor="ctr">
            <a:normAutofit/>
          </a:bodyPr>
          <a:lstStyle/>
          <a:p>
            <a:r>
              <a:rPr lang="en-US" sz="3600" dirty="0"/>
              <a:t>What you Need to Know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344F555-26B8-BE90-E588-B24F3A239A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110" b="-1"/>
          <a:stretch>
            <a:fillRect/>
          </a:stretch>
        </p:blipFill>
        <p:spPr bwMode="auto">
          <a:xfrm>
            <a:off x="-1" y="10"/>
            <a:ext cx="6096001" cy="41147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70212C3-796F-8D06-DF1F-5A3CD87EF03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89657" y="691912"/>
                <a:ext cx="5506608" cy="5755780"/>
              </a:xfrm>
            </p:spPr>
            <p:txBody>
              <a:bodyPr anchor="ctr">
                <a:normAutofit fontScale="92500" lnSpcReduction="10000"/>
              </a:bodyPr>
              <a:lstStyle/>
              <a:p>
                <a14:m>
                  <m:oMath xmlns:m="http://schemas.openxmlformats.org/officeDocument/2006/math">
                    <m:r>
                      <a:rPr lang="en-US" sz="1800" b="0" i="1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1800" dirty="0"/>
                  <a:t>-step methods let us vary the learning behavior between one-step DT methods and Monte Carlo Methods (whole episode).</a:t>
                </a:r>
              </a:p>
              <a:p>
                <a:endParaRPr lang="en-US" sz="1800" dirty="0"/>
              </a:p>
              <a:p>
                <a:r>
                  <a:rPr lang="en-US" sz="1800" dirty="0"/>
                  <a:t>Advantage: </a:t>
                </a:r>
              </a:p>
              <a:p>
                <a:pPr lvl="1"/>
                <a:r>
                  <a:rPr lang="en-US" sz="1800" b="1" dirty="0"/>
                  <a:t>Learning</a:t>
                </a:r>
                <a:r>
                  <a:rPr lang="en-US" sz="1800" dirty="0"/>
                  <a:t>: Looking more steps ahead speeds up learning, especially for sparse rewards.</a:t>
                </a:r>
              </a:p>
              <a:p>
                <a:pPr lvl="1"/>
                <a:r>
                  <a:rPr lang="en-US" sz="1800" dirty="0"/>
                  <a:t>An intermediate amount of bootstrapping typically </a:t>
                </a:r>
                <a:r>
                  <a:rPr lang="en-US" sz="1800" b="1" dirty="0"/>
                  <a:t>performs better </a:t>
                </a:r>
                <a:r>
                  <a:rPr lang="en-US" sz="1800" dirty="0"/>
                  <a:t>than the one-step and MC extremes. </a:t>
                </a:r>
                <a14:m>
                  <m:oMath xmlns:m="http://schemas.openxmlformats.org/officeDocument/2006/math">
                    <m:r>
                      <a:rPr lang="en-US" sz="1800" b="0" i="1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1800" dirty="0"/>
                  <a:t> is application-dependent and can be tuned.</a:t>
                </a:r>
              </a:p>
              <a:p>
                <a:endParaRPr lang="en-US" sz="1800" dirty="0"/>
              </a:p>
              <a:p>
                <a:r>
                  <a:rPr lang="en-US" sz="1800" dirty="0"/>
                  <a:t>Drawback:</a:t>
                </a:r>
              </a:p>
              <a:p>
                <a:pPr lvl="1"/>
                <a:r>
                  <a:rPr lang="en-US" sz="1800" b="1" dirty="0"/>
                  <a:t>Delay</a:t>
                </a:r>
                <a:r>
                  <a:rPr lang="en-US" sz="1800" dirty="0"/>
                  <a:t>: Updates are delayed </a:t>
                </a:r>
                <a14:m>
                  <m:oMath xmlns:m="http://schemas.openxmlformats.org/officeDocument/2006/math">
                    <m:r>
                      <a:rPr lang="en-US" sz="1800" i="1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1800" dirty="0"/>
                  <a:t>-step since they need to know future events (rewards and states).</a:t>
                </a:r>
              </a:p>
              <a:p>
                <a:pPr lvl="1"/>
                <a:r>
                  <a:rPr lang="en-US" sz="1800" b="1" dirty="0"/>
                  <a:t>Computation</a:t>
                </a:r>
                <a:r>
                  <a:rPr lang="en-US" sz="1800" dirty="0"/>
                  <a:t>: More computation per time step and higher memory needs than one-step methods.</a:t>
                </a:r>
              </a:p>
              <a:p>
                <a:pPr lvl="1"/>
                <a:endParaRPr lang="en-US" sz="1800" dirty="0"/>
              </a:p>
              <a:p>
                <a:pPr marL="0" indent="0">
                  <a:buNone/>
                </a:pPr>
                <a:r>
                  <a:rPr lang="en-US" sz="1800" b="1" dirty="0"/>
                  <a:t>Eligibility traces </a:t>
                </a:r>
                <a:r>
                  <a:rPr lang="en-US" sz="1800" dirty="0"/>
                  <a:t>address the delay and computation drawbacks. We will cover these methods later.</a:t>
                </a:r>
              </a:p>
              <a:p>
                <a:endParaRPr lang="en-US" sz="14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70212C3-796F-8D06-DF1F-5A3CD87EF03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9657" y="691912"/>
                <a:ext cx="5506608" cy="5755780"/>
              </a:xfrm>
              <a:blipFill>
                <a:blip r:embed="rId3"/>
                <a:stretch>
                  <a:fillRect l="-775" t="-424" r="-12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3401540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10964</TotalTime>
  <Words>1600</Words>
  <Application>Microsoft Office PowerPoint</Application>
  <PresentationFormat>Widescreen</PresentationFormat>
  <Paragraphs>189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3" baseType="lpstr">
      <vt:lpstr>Aptos</vt:lpstr>
      <vt:lpstr>Aptos Display</vt:lpstr>
      <vt:lpstr>Arial</vt:lpstr>
      <vt:lpstr>Calibri</vt:lpstr>
      <vt:lpstr>Cambria Math</vt:lpstr>
      <vt:lpstr>Office Theme</vt:lpstr>
      <vt:lpstr>Reinforcement Learning  n-step Bootstrapping Sutton/Barto* Chapter 7</vt:lpstr>
      <vt:lpstr>Topics of this Course</vt:lpstr>
      <vt:lpstr>Summary of Notation</vt:lpstr>
      <vt:lpstr>1-step TD vs. n-step TD vs. MC</vt:lpstr>
      <vt:lpstr>Why is a Longer Look-ahead Useful?</vt:lpstr>
      <vt:lpstr>n-step TD Prediction</vt:lpstr>
      <vt:lpstr>n-step TD Prediction</vt:lpstr>
      <vt:lpstr>Alg. n-step TD Prediction</vt:lpstr>
      <vt:lpstr>Convergence Guarantee</vt:lpstr>
      <vt:lpstr>n-step Control: Sarsa</vt:lpstr>
      <vt:lpstr>n-step Sarsa</vt:lpstr>
      <vt:lpstr>Speedup of n-step Sarsa</vt:lpstr>
      <vt:lpstr>Alg. From DT prediction to  n-step Sarsa Control</vt:lpstr>
      <vt:lpstr>n-step Off-Policy Learning</vt:lpstr>
      <vt:lpstr>n-step Off-Policy Learning</vt:lpstr>
      <vt:lpstr>Alg. Comparing On-Policy with Off-Policy</vt:lpstr>
      <vt:lpstr>What you Need to Know</vt:lpstr>
    </vt:vector>
  </TitlesOfParts>
  <Company>Southern Methodist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Hahsler, Michael</dc:creator>
  <cp:lastModifiedBy>Hahsler, Michael</cp:lastModifiedBy>
  <cp:revision>155</cp:revision>
  <dcterms:created xsi:type="dcterms:W3CDTF">2025-09-08T14:44:49Z</dcterms:created>
  <dcterms:modified xsi:type="dcterms:W3CDTF">2026-02-06T15:02:46Z</dcterms:modified>
</cp:coreProperties>
</file>