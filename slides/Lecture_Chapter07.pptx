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481" r:id="rId10"/>
    <p:sldId id="392" r:id="rId11"/>
    <p:sldId id="391" r:id="rId12"/>
    <p:sldId id="394" r:id="rId13"/>
    <p:sldId id="393" r:id="rId14"/>
    <p:sldId id="389" r:id="rId15"/>
    <p:sldId id="390" r:id="rId16"/>
    <p:sldId id="395" r:id="rId17"/>
    <p:sldId id="482" r:id="rId18"/>
    <p:sldId id="485" r:id="rId19"/>
    <p:sldId id="483" r:id="rId20"/>
    <p:sldId id="484" r:id="rId21"/>
    <p:sldId id="3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-step Bootstrapping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481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482"/>
          </p14:sldIdLst>
        </p14:section>
        <p14:section name="Revisiting Bias vs. Variance" id="{A5B4CEC4-55F2-4BF1-8072-B7A1BD255BDF}">
          <p14:sldIdLst>
            <p14:sldId id="485"/>
            <p14:sldId id="483"/>
            <p14:sldId id="484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59" autoAdjust="0"/>
    <p:restoredTop sz="94653"/>
  </p:normalViewPr>
  <p:slideViewPr>
    <p:cSldViewPr snapToGrid="0">
      <p:cViewPr varScale="1">
        <p:scale>
          <a:sx n="94" d="100"/>
          <a:sy n="94" d="100"/>
        </p:scale>
        <p:origin x="101" y="54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6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1.png"/><Relationship Id="rId7" Type="http://schemas.openxmlformats.org/officeDocument/2006/relationships/image" Target="../media/image37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 descr="QR code linking to the online course material.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  <p:pic>
        <p:nvPicPr>
          <p:cNvPr id="4" name="object 23">
            <a:hlinkClick r:id="rId7"/>
            <a:extLst>
              <a:ext uri="{FF2B5EF4-FFF2-40B4-BE49-F238E27FC236}">
                <a16:creationId xmlns:a16="http://schemas.microsoft.com/office/drawing/2014/main" id="{3CBD6548-3D4E-9A40-CA35-355261D4E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An episode as a sequence: state S_t, action A_t, reward R_t+1, state S_t+1, action A_t+1, reward R_t+2, state S_t+2, action A_t+2, reward R_t+3, state S_t+3, action A_t+3, and so on. Labels: V(S sub t); V(S sub t plus 1); update; 1-step; Used to bootstrap estimate of the remaining return G sub t plus 1.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 descr="An episode as a sequence: state S_t, action A_t, reward R_t+1, state S_t+1, action A_t+1, reward R_t+2, state S_t+2, action A_t+2, reward R_t+3, state S_t+3, action A_t+3, and so on. Labels: V(S sub t); V(S sub t plus 1); update; 1-step.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 descr="An episode as a sequence: state S_t, action A_t, reward R_t+1, state S_t+1, action A_t+1, reward R_t+2, state S_t+2, action A_t+2, reward R_t+3, state S_t+3, action A_t+3, and so on.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 descr="Scale from 1-step TD on the left to MC (whole episode) on the right, with n-step TD as the range of methods in between.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 descr="Scale from 1-step TD on the left to MC (whole episode) on the right.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 descr="Scale from 1-step TD on the left to MC on the right.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pic>
        <p:nvPicPr>
          <p:cNvPr id="4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 Labels: R sub t plus 1; V(S sub t plus 1); V(S sub t).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 </a:t>
                </a:r>
              </a:p>
            </p:txBody>
          </p:sp>
        </mc:Choice>
        <mc:Fallback xmlns="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Brace annotation: Update with the whole sequence of observed rewards to no bootstrapping.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643" y="1128393"/>
            <a:ext cx="8045837" cy="53686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982115" y="4958940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1014" y="3724566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  <a:blipFill>
                <a:blip r:embed="rId5"/>
                <a:stretch>
                  <a:fillRect t="-2871" b="-7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t is the current time step. tau is the timestep that gets updated.">
            <a:extLst>
              <a:ext uri="{FF2B5EF4-FFF2-40B4-BE49-F238E27FC236}">
                <a16:creationId xmlns:a16="http://schemas.microsoft.com/office/drawing/2014/main" id="{AF682137-4399-D068-602B-53B27612B383}"/>
              </a:ext>
            </a:extLst>
          </p:cNvPr>
          <p:cNvGrpSpPr/>
          <p:nvPr/>
        </p:nvGrpSpPr>
        <p:grpSpPr>
          <a:xfrm>
            <a:off x="7688504" y="2753168"/>
            <a:ext cx="2587176" cy="1328076"/>
            <a:chOff x="7130642" y="2748974"/>
            <a:chExt cx="2587176" cy="132807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E859F95-A5C2-CE37-B3D7-5DC8E7DDC4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352128" y="2748974"/>
              <a:ext cx="2365690" cy="1216727"/>
              <a:chOff x="9986271" y="4309326"/>
              <a:chExt cx="2365690" cy="1216727"/>
            </a:xfrm>
          </p:grpSpPr>
          <p:grpSp>
            <p:nvGrpSpPr>
              <p:cNvPr id="18" name="Group 17" descr="Time line: an arrow with tau on the left and t on the right, with a brace over the n steps between them.">
                <a:extLst>
                  <a:ext uri="{FF2B5EF4-FFF2-40B4-BE49-F238E27FC236}">
                    <a16:creationId xmlns:a16="http://schemas.microsoft.com/office/drawing/2014/main" id="{6BD81C03-2FFC-3430-6A96-CC215F8CB002}"/>
                  </a:ext>
                </a:extLst>
              </p:cNvPr>
              <p:cNvGrpSpPr/>
              <p:nvPr/>
            </p:nvGrpSpPr>
            <p:grpSpPr>
              <a:xfrm>
                <a:off x="9986271" y="4309326"/>
                <a:ext cx="1996323" cy="913879"/>
                <a:chOff x="10044440" y="1032968"/>
                <a:chExt cx="1996323" cy="913879"/>
              </a:xfrm>
            </p:grpSpPr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D8B9856B-B3C4-5BCC-42AC-811D84A88D5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044440" y="1577515"/>
                  <a:ext cx="1996323" cy="0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a14:m>
                      <a:r>
                        <a:rPr lang="en-US" dirty="0"/>
                        <a:t> steps</a:t>
                      </a:r>
                    </a:p>
                  </p:txBody>
                </p:sp>
              </mc:Choice>
              <mc:Fallback xmlns="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333" b="-28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ight Brace 15">
                  <a:extLst>
                    <a:ext uri="{FF2B5EF4-FFF2-40B4-BE49-F238E27FC236}">
                      <a16:creationId xmlns:a16="http://schemas.microsoft.com/office/drawing/2014/main" id="{DF1F0B09-177D-1C23-8922-13B60D4726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 rot="16200000">
                  <a:off x="10847163" y="722444"/>
                  <a:ext cx="146575" cy="1416969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/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Observed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917" t="-3922" b="-196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0A3EC7-0C60-EBDF-04C7-F6EB9211F932}"/>
                </a:ext>
              </a:extLst>
            </p:cNvPr>
            <p:cNvSpPr/>
            <p:nvPr/>
          </p:nvSpPr>
          <p:spPr>
            <a:xfrm>
              <a:off x="7130642" y="2748974"/>
              <a:ext cx="2546059" cy="1328076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Reduction Property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Explanation</a:t>
                </a:r>
                <a:r>
                  <a:rPr lang="en-US" sz="18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/>
                  <a:t>The averages of observed rewards have in expectation no error (are unbiased).</a:t>
                </a:r>
              </a:p>
              <a:p>
                <a:r>
                  <a:rPr lang="en-US" sz="1800" dirty="0"/>
                  <a:t>The impact of 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time steps away and thus discounted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/>
                  <a:t> (related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800" dirty="0"/>
                  <a:t>-contracting property of Bellman updates).</a:t>
                </a:r>
              </a:p>
              <a:p>
                <a:r>
                  <a:rPr lang="en-US" sz="1800" dirty="0"/>
                  <a:t>Expectation just means we need many estimates (= use many episodes)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  <a:blipFill>
                <a:blip r:embed="rId2"/>
                <a:stretch>
                  <a:fillRect l="-464" t="-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expected value of n-step returns is always better than the current approximation (for the worst state).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  <a:blipFill>
                <a:blip r:embed="rId3"/>
                <a:stretch>
                  <a:fillRect l="-786" t="-1190" r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/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Implication: All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methods (including 1-step and MC) converge!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  <a:blipFill>
                <a:blip r:embed="rId4"/>
                <a:stretch>
                  <a:fillRect t="-4348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093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Generalized policy iteration with action values: an evaluation arrow from pi to Q, labelled Q goes to q pi, and an improvement arrow from Q back to pi, labelled pi goes to greedy(Q). Labels: GPI; pi squiggly right arrow epsilon minus greedy(Q); n -step TD prediction.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 descr="Generalized policy iteration with action values: an evaluation arrow from pi to Q, labelled Q goes to q pi, and an improvement arrow from Q back to pi, labelled pi goes to greedy(Q). Labels: GPI.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 descr="Generalized policy iteration with action values: an evaluation arrow from pi to Q, labelled Q goes to q pi, and an improvement arrow from Q back to pi, labelled pi goes to greedy(Q).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  <a:solidFill>
                <a:srgbClr val="C35115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8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 Labels: pi is given; Update V.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57140" y="1070568"/>
            <a:ext cx="5818255" cy="4810301"/>
            <a:chOff x="391291" y="1125097"/>
            <a:chExt cx="5818255" cy="4810301"/>
          </a:xfrm>
        </p:grpSpPr>
        <p:pic>
          <p:nvPicPr>
            <p:cNvPr id="3" name="Picture 2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1142" t="1505" b="-1"/>
          <a:stretch>
            <a:fillRect/>
          </a:stretch>
        </p:blipFill>
        <p:spPr>
          <a:xfrm>
            <a:off x="5356370" y="1195437"/>
            <a:ext cx="6535109" cy="547756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49022" y="2486510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 descr="Callout: Update Q and pi; On-policy: Select next action from the current pi.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3761602" y="4158915"/>
            <a:ext cx="7944649" cy="2316214"/>
            <a:chOff x="4162379" y="5264674"/>
            <a:chExt cx="7944649" cy="23162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23790" y="1787509"/>
            <a:ext cx="2647568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3007" y="4716389"/>
            <a:ext cx="3283694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5394" y="5766610"/>
            <a:ext cx="3354499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 </a:t>
                </a:r>
              </a:p>
            </p:txBody>
          </p:sp>
        </mc:Choice>
        <mc:Fallback xmlns="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0347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 (like in off-policy MC)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Using a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 to produce useful observations.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03470"/>
              </a:xfrm>
              <a:blipFill>
                <a:blip r:embed="rId3"/>
                <a:stretch>
                  <a:fillRect l="-522" t="-2071" b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Alg. Comparing On-Policy with Off-Policy Sarsa</a:t>
            </a:r>
          </a:p>
        </p:txBody>
      </p:sp>
      <p:pic>
        <p:nvPicPr>
          <p:cNvPr id="6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4723002" y="1086409"/>
            <a:ext cx="7429581" cy="5625404"/>
            <a:chOff x="5721298" y="1204864"/>
            <a:chExt cx="6368907" cy="4947252"/>
          </a:xfrm>
        </p:grpSpPr>
        <p:grpSp>
          <p:nvGrpSpPr>
            <p:cNvPr id="21" name="Group 20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721298" y="1204864"/>
              <a:ext cx="6368907" cy="4947252"/>
              <a:chOff x="5721298" y="1204864"/>
              <a:chExt cx="6368907" cy="4947252"/>
            </a:xfrm>
          </p:grpSpPr>
          <p:pic>
            <p:nvPicPr>
              <p:cNvPr id="5" name="Picture 4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036"/>
              <a:stretch>
                <a:fillRect/>
              </a:stretch>
            </p:blipFill>
            <p:spPr>
              <a:xfrm>
                <a:off x="5721298" y="1334660"/>
                <a:ext cx="5884326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204864"/>
                <a:ext cx="1724099" cy="327952"/>
              </a:xfrm>
              <a:prstGeom prst="wedgeRoundRectCallout">
                <a:avLst>
                  <a:gd name="adj1" fmla="val -70622"/>
                  <a:gd name="adj2" fmla="val 952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35926" y="29755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452426" y="1827649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opular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choice</m:t>
                    </m:r>
                  </m:oMath>
                </a14:m>
                <a:r>
                  <a:rPr lang="en-US" sz="1600" b="0" i="0" dirty="0">
                    <a:latin typeface="Cambria Math" panose="02040503050406030204" pitchFamily="18" charset="0"/>
                  </a:rPr>
                  <a:t>: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−greedy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6B2ECD-522B-977E-1964-6E48D26B84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Q-Learning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6B2ECD-522B-977E-1964-6E48D26B84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8737CF-E4BA-0983-733D-3F8104162B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Off-policy Q-learning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bootstrapping needs correction.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first action/reward are fine since we will use it to update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need to be corrected!</a:t>
                </a:r>
              </a:p>
              <a:p>
                <a:endParaRPr lang="en-US" dirty="0"/>
              </a:p>
              <a:p>
                <a:r>
                  <a:rPr lang="en-US" dirty="0"/>
                  <a:t>Options: </a:t>
                </a:r>
              </a:p>
              <a:p>
                <a:pPr lvl="1"/>
                <a:r>
                  <a:rPr lang="en-US" dirty="0"/>
                  <a:t>Only use updates when the all actions chosen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match the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 </a:t>
                </a:r>
                <a:br>
                  <a:rPr lang="en-US" dirty="0"/>
                </a:br>
                <a:r>
                  <a:rPr lang="en-US" dirty="0"/>
                  <a:t>This is very sample inefficient.</a:t>
                </a:r>
              </a:p>
              <a:p>
                <a:pPr lvl="1"/>
                <a:r>
                  <a:rPr lang="en-US" dirty="0"/>
                  <a:t>Use importance sampling to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</a:t>
                </a:r>
                <a:r>
                  <a:rPr lang="en-US"/>
                  <a:t>introduces large </a:t>
                </a:r>
                <a:r>
                  <a:rPr lang="en-US" dirty="0"/>
                  <a:t>variance.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8737CF-E4BA-0983-733D-3F8104162B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 descr="The rewards are from following the behavioral policy and the bootstrapped value is from the target policy.">
            <a:extLst>
              <a:ext uri="{FF2B5EF4-FFF2-40B4-BE49-F238E27FC236}">
                <a16:creationId xmlns:a16="http://schemas.microsoft.com/office/drawing/2014/main" id="{9EBB9F56-6A6C-3946-87F2-7839654E90ED}"/>
              </a:ext>
            </a:extLst>
          </p:cNvPr>
          <p:cNvGrpSpPr/>
          <p:nvPr/>
        </p:nvGrpSpPr>
        <p:grpSpPr>
          <a:xfrm>
            <a:off x="3016526" y="2733946"/>
            <a:ext cx="7404653" cy="516138"/>
            <a:chOff x="2537261" y="3099729"/>
            <a:chExt cx="8313899" cy="51613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9A86C093-1578-A534-E667-9866B054AC89}"/>
                </a:ext>
              </a:extLst>
            </p:cNvPr>
            <p:cNvSpPr/>
            <p:nvPr/>
          </p:nvSpPr>
          <p:spPr>
            <a:xfrm rot="5400000">
              <a:off x="4928627" y="708363"/>
              <a:ext cx="188156" cy="497088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668E29-8F0F-BE9B-C3A1-C915B55B3E2D}"/>
                </a:ext>
              </a:extLst>
            </p:cNvPr>
            <p:cNvSpPr txBox="1"/>
            <p:nvPr/>
          </p:nvSpPr>
          <p:spPr>
            <a:xfrm>
              <a:off x="3586263" y="3246535"/>
              <a:ext cx="2913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from the behavior policy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8FA630-45A6-3552-9B71-6FCEB096CEE9}"/>
                </a:ext>
              </a:extLst>
            </p:cNvPr>
            <p:cNvSpPr txBox="1"/>
            <p:nvPr/>
          </p:nvSpPr>
          <p:spPr>
            <a:xfrm>
              <a:off x="8204433" y="3187813"/>
              <a:ext cx="2646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from the target policy</a:t>
              </a:r>
            </a:p>
          </p:txBody>
        </p: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8DA81D98-AF06-115F-2613-48C35602845A}"/>
                </a:ext>
              </a:extLst>
            </p:cNvPr>
            <p:cNvSpPr/>
            <p:nvPr/>
          </p:nvSpPr>
          <p:spPr>
            <a:xfrm rot="5400000">
              <a:off x="9132167" y="1778515"/>
              <a:ext cx="112544" cy="282349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3472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6799-D70D-0479-00D4-CAFD7F6AE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n -step Off-Policy Control">
            <a:extLst>
              <a:ext uri="{FF2B5EF4-FFF2-40B4-BE49-F238E27FC236}">
                <a16:creationId xmlns:a16="http://schemas.microsoft.com/office/drawing/2014/main" id="{8138D10E-888D-72A7-5275-6D5A9A2FC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Bias vs. Variance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62B5E-E38D-52DC-ACB6-0B4432166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effect on learning in RL</a:t>
            </a:r>
          </a:p>
        </p:txBody>
      </p:sp>
    </p:spTree>
    <p:extLst>
      <p:ext uri="{BB962C8B-B14F-4D97-AF65-F5344CB8AC3E}">
        <p14:creationId xmlns:p14="http://schemas.microsoft.com/office/powerpoint/2010/main" val="3338538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Reminder: Bias vs.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3465"/>
                <a:ext cx="6921617" cy="549939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400" b="1" dirty="0"/>
                  <a:t>Convergence</a:t>
                </a:r>
                <a:r>
                  <a:rPr lang="en-US" sz="1400" dirty="0"/>
                  <a:t>: Will learning eventually stabilize at a </a:t>
                </a:r>
                <a:r>
                  <a:rPr lang="en-US" sz="1400" b="1" dirty="0"/>
                  <a:t>fixed solution</a:t>
                </a:r>
                <a:r>
                  <a:rPr lang="en-US" sz="1400" dirty="0"/>
                  <a:t>?</a:t>
                </a:r>
                <a:endParaRPr lang="en-US" sz="1400" b="1" dirty="0"/>
              </a:p>
              <a:p>
                <a:pPr marL="0" indent="0">
                  <a:buNone/>
                </a:pPr>
                <a:r>
                  <a:rPr lang="en-US" sz="1400" b="1" dirty="0"/>
                  <a:t>Optimality</a:t>
                </a:r>
                <a:r>
                  <a:rPr lang="en-US" sz="1400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/>
                  <a:t>Affected by:</a:t>
                </a:r>
                <a:endParaRPr lang="en-US" sz="1400" dirty="0"/>
              </a:p>
              <a:p>
                <a:r>
                  <a:rPr lang="en-US" sz="1400" b="1" dirty="0"/>
                  <a:t>Bias: </a:t>
                </a:r>
                <a:r>
                  <a:rPr lang="en-US" sz="1400" dirty="0"/>
                  <a:t>systematic error  </a:t>
                </a:r>
                <a:br>
                  <a:rPr lang="en-US" sz="1400" dirty="0"/>
                </a:br>
                <a:r>
                  <a:rPr lang="en-US" sz="1400" dirty="0"/>
                  <a:t>Do we move towards the </a:t>
                </a:r>
                <a:r>
                  <a:rPr lang="en-US" sz="1400" b="1" dirty="0"/>
                  <a:t>optimal solution</a:t>
                </a:r>
                <a:r>
                  <a:rPr lang="en-US" sz="1400" dirty="0"/>
                  <a:t>? Estimation and approximation may introduce bias.</a:t>
                </a:r>
                <a:endParaRPr lang="en-US" sz="1400" b="1" dirty="0"/>
              </a:p>
              <a:p>
                <a:r>
                  <a:rPr lang="en-US" sz="1400" b="1" dirty="0"/>
                  <a:t>Variance: </a:t>
                </a:r>
                <a:r>
                  <a:rPr lang="en-US" sz="1400" dirty="0"/>
                  <a:t>difference in found solutions</a:t>
                </a:r>
                <a:br>
                  <a:rPr lang="en-US" sz="1400" dirty="0"/>
                </a:br>
                <a:r>
                  <a:rPr lang="en-US" sz="1400" dirty="0"/>
                  <a:t>ML: The result of randomness (sampling the training data and in the algorithm)</a:t>
                </a:r>
                <a:br>
                  <a:rPr lang="en-US" sz="1400" dirty="0"/>
                </a:br>
                <a:r>
                  <a:rPr lang="en-US" sz="1400" dirty="0"/>
                  <a:t>RL: Sampling + training data is not fixed. Observations and rewards depend on the agent’s current actions (i.e., behavior policy).</a:t>
                </a:r>
                <a:br>
                  <a:rPr lang="en-US" sz="1400" dirty="0"/>
                </a:b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General error components:</a:t>
                </a:r>
                <a:br>
                  <a:rPr lang="en-US" sz="1400" dirty="0"/>
                </a:br>
                <a:br>
                  <a:rPr lang="en-US" sz="14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sz="1400" dirty="0"/>
                </a:br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400" dirty="0"/>
                  <a:t>RL algorithm keeps learning, so variance and bias may change over time. Questions: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1400" dirty="0"/>
                  <a:t>Does it </a:t>
                </a:r>
                <a:r>
                  <a:rPr lang="en-US" sz="1400" b="1" dirty="0"/>
                  <a:t>converge</a:t>
                </a:r>
                <a:r>
                  <a:rPr lang="en-US" sz="1400" dirty="0"/>
                  <a:t> or exhibit </a:t>
                </a:r>
                <a:r>
                  <a:rPr lang="en-US" sz="1400" b="1" dirty="0"/>
                  <a:t>instability</a:t>
                </a:r>
                <a:r>
                  <a:rPr lang="en-US" sz="1400" dirty="0"/>
                  <a:t>? Does it converge to the optimum?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1400" dirty="0"/>
                  <a:t>How fast does it converge? Depends mostly on variance and how fast bias can be reduced.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3465"/>
                <a:ext cx="6921617" cy="5499391"/>
              </a:xfrm>
              <a:blipFill>
                <a:blip r:embed="rId2"/>
                <a:stretch>
                  <a:fillRect l="-264" t="-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 descr="Number line: the algorithm's solution is offset from the optimal solution by the algorithm bias.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" name="Group 44" descr="Variance shown as a spread around the algorithm's solution.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 descr="Variance is made up of sample randomness, changing data and irreducible error from a stochastic environment.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7678168" y="1678581"/>
            <a:ext cx="3628653" cy="1536451"/>
            <a:chOff x="7678168" y="2146246"/>
            <a:chExt cx="3628653" cy="1536451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7678168" y="2146246"/>
              <a:ext cx="2454967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01151" y="2154850"/>
              <a:ext cx="9496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Variability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106" name="Group 105" descr="After convergence: the algorithm's solution is still offset from the optimal solution by the algorithm bias. Variance now comes from sample randomness and irreducible error only, because changing data drops out with a fixed policy.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94968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Variability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80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2FB7-2636-B8E7-0186-D65F8EC66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Algorithmic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3A6FC-6672-55AB-A342-6DABA947D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647297" cy="481468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Control</a:t>
            </a:r>
            <a:endParaRPr lang="en-US" dirty="0"/>
          </a:p>
          <a:p>
            <a:r>
              <a:rPr lang="en-US" b="1" dirty="0"/>
              <a:t>Variance from changing data </a:t>
            </a:r>
            <a:r>
              <a:rPr lang="en-US" dirty="0"/>
              <a:t>because we change the policy during learning.</a:t>
            </a:r>
          </a:p>
          <a:p>
            <a:r>
              <a:rPr lang="en-US" dirty="0"/>
              <a:t>Makes learning challenging and may lead to instability.</a:t>
            </a:r>
          </a:p>
          <a:p>
            <a:r>
              <a:rPr lang="en-US" dirty="0"/>
              <a:t>If the algorithm convergences, then the policy stops changing and the Variance from changing data becomes 0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MC Methods</a:t>
            </a:r>
            <a:endParaRPr lang="en-US" dirty="0"/>
          </a:p>
          <a:p>
            <a:r>
              <a:rPr lang="en-US" b="1" dirty="0"/>
              <a:t>No Bias </a:t>
            </a:r>
            <a:r>
              <a:rPr lang="en-US" dirty="0"/>
              <a:t>because it averages many unbiased returns.</a:t>
            </a:r>
          </a:p>
          <a:p>
            <a:r>
              <a:rPr lang="en-US" b="1" dirty="0"/>
              <a:t>Large sample variance </a:t>
            </a:r>
            <a:r>
              <a:rPr lang="en-US" dirty="0"/>
              <a:t>from sampling whole episodes: Makes learning slow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TD Methods</a:t>
            </a:r>
            <a:endParaRPr lang="en-US" dirty="0"/>
          </a:p>
          <a:p>
            <a:r>
              <a:rPr lang="en-US" b="1" dirty="0"/>
              <a:t>Bias </a:t>
            </a:r>
            <a:r>
              <a:rPr lang="en-US" dirty="0"/>
              <a:t>created by bootstrapping  which might go away after convergence.</a:t>
            </a:r>
          </a:p>
          <a:p>
            <a:r>
              <a:rPr lang="en-US" b="1" dirty="0"/>
              <a:t>lower sample variance </a:t>
            </a:r>
            <a:r>
              <a:rPr lang="en-US" dirty="0"/>
              <a:t>because bootstrapping only sample one reward at a time: Learns faster.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N-step Methods</a:t>
            </a:r>
            <a:r>
              <a:rPr lang="en-US" dirty="0"/>
              <a:t>: In between MC and TD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B83F4D1-C925-BA9C-4939-39A3DA819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97486" y="1319112"/>
            <a:ext cx="4078303" cy="2642232"/>
            <a:chOff x="7678168" y="572800"/>
            <a:chExt cx="4078303" cy="2642232"/>
          </a:xfrm>
        </p:grpSpPr>
        <p:grpSp>
          <p:nvGrpSpPr>
            <p:cNvPr id="4" name="Group 3" descr="Number line: the algorithm's solution is offset from the optimal solution by the algorithm bias.">
              <a:extLst>
                <a:ext uri="{FF2B5EF4-FFF2-40B4-BE49-F238E27FC236}">
                  <a16:creationId xmlns:a16="http://schemas.microsoft.com/office/drawing/2014/main" id="{45117B80-F820-7E36-EB7C-A72632F1C28E}"/>
                </a:ext>
              </a:extLst>
            </p:cNvPr>
            <p:cNvGrpSpPr/>
            <p:nvPr/>
          </p:nvGrpSpPr>
          <p:grpSpPr>
            <a:xfrm>
              <a:off x="7759817" y="572800"/>
              <a:ext cx="3996654" cy="1010643"/>
              <a:chOff x="7759817" y="1040465"/>
              <a:chExt cx="3996654" cy="1010643"/>
            </a:xfrm>
          </p:grpSpPr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178C55D7-B8A1-81F5-A15C-BD548CF45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59817" y="2015627"/>
                <a:ext cx="3744372" cy="41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B89A95-B6C5-228D-36BA-10940756C774}"/>
                  </a:ext>
                </a:extLst>
              </p:cNvPr>
              <p:cNvSpPr/>
              <p:nvPr/>
            </p:nvSpPr>
            <p:spPr>
              <a:xfrm>
                <a:off x="10993359" y="1992385"/>
                <a:ext cx="71307" cy="58723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F1665ED-C817-8FA9-33D4-A202120B00F4}"/>
                  </a:ext>
                </a:extLst>
              </p:cNvPr>
              <p:cNvSpPr/>
              <p:nvPr/>
            </p:nvSpPr>
            <p:spPr>
              <a:xfrm>
                <a:off x="9097860" y="1992385"/>
                <a:ext cx="71307" cy="58723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B35AF-0913-08A5-D535-D24A80B33FE6}"/>
                  </a:ext>
                </a:extLst>
              </p:cNvPr>
              <p:cNvSpPr txBox="1"/>
              <p:nvPr/>
            </p:nvSpPr>
            <p:spPr>
              <a:xfrm>
                <a:off x="10904956" y="1040465"/>
                <a:ext cx="8515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Optimal </a:t>
                </a:r>
                <a:br>
                  <a:rPr lang="en-US" sz="1400" dirty="0"/>
                </a:br>
                <a:r>
                  <a:rPr lang="en-US" sz="1400" dirty="0"/>
                  <a:t>solution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2AB8CC-22AB-1260-F71B-926FB90FFACE}"/>
                  </a:ext>
                </a:extLst>
              </p:cNvPr>
              <p:cNvSpPr txBox="1"/>
              <p:nvPr/>
            </p:nvSpPr>
            <p:spPr>
              <a:xfrm>
                <a:off x="7759817" y="1183378"/>
                <a:ext cx="109042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Algorithm’s </a:t>
                </a:r>
                <a:br>
                  <a:rPr lang="en-US" sz="1400" dirty="0"/>
                </a:br>
                <a:r>
                  <a:rPr lang="en-US" sz="1400" dirty="0"/>
                  <a:t>solution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FEE97ED3-853C-AED5-C60A-1CB772296BDD}"/>
                  </a:ext>
                </a:extLst>
              </p:cNvPr>
              <p:cNvCxnSpPr/>
              <p:nvPr/>
            </p:nvCxnSpPr>
            <p:spPr>
              <a:xfrm>
                <a:off x="8565160" y="1706598"/>
                <a:ext cx="420598" cy="2132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4373300-259C-F8AD-9D6B-F8A89487BDF4}"/>
                  </a:ext>
                </a:extLst>
              </p:cNvPr>
              <p:cNvCxnSpPr>
                <a:stCxn id="8" idx="2"/>
              </p:cNvCxnSpPr>
              <p:nvPr/>
            </p:nvCxnSpPr>
            <p:spPr>
              <a:xfrm flipH="1">
                <a:off x="11064666" y="1563685"/>
                <a:ext cx="266048" cy="35620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 descr="Variance shown as a spread around the algorithm's solution.">
              <a:extLst>
                <a:ext uri="{FF2B5EF4-FFF2-40B4-BE49-F238E27FC236}">
                  <a16:creationId xmlns:a16="http://schemas.microsoft.com/office/drawing/2014/main" id="{FB9090AC-2F4A-E894-FAF4-3CDD32824595}"/>
                </a:ext>
              </a:extLst>
            </p:cNvPr>
            <p:cNvGrpSpPr/>
            <p:nvPr/>
          </p:nvGrpSpPr>
          <p:grpSpPr>
            <a:xfrm>
              <a:off x="9169167" y="998596"/>
              <a:ext cx="1824191" cy="453629"/>
              <a:chOff x="9169167" y="1466261"/>
              <a:chExt cx="1824191" cy="453629"/>
            </a:xfrm>
          </p:grpSpPr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94F7B1D-12BB-1B7A-85BA-3CF230761B1E}"/>
                  </a:ext>
                </a:extLst>
              </p:cNvPr>
              <p:cNvSpPr/>
              <p:nvPr/>
            </p:nvSpPr>
            <p:spPr>
              <a:xfrm rot="16200000">
                <a:off x="10005849" y="932380"/>
                <a:ext cx="150828" cy="1824191"/>
              </a:xfrm>
              <a:prstGeom prst="rightBrac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8C4655-1659-3FCC-7360-35A52C9E465F}"/>
                  </a:ext>
                </a:extLst>
              </p:cNvPr>
              <p:cNvSpPr txBox="1"/>
              <p:nvPr/>
            </p:nvSpPr>
            <p:spPr>
              <a:xfrm>
                <a:off x="9431758" y="1466261"/>
                <a:ext cx="12990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Algorithm bias</a:t>
                </a:r>
              </a:p>
            </p:txBody>
          </p:sp>
        </p:grpSp>
        <p:grpSp>
          <p:nvGrpSpPr>
            <p:cNvPr id="15" name="Group 14" descr="Variance is made up of sample randomness, changing data and irreducible error from a stochastic environment.">
              <a:extLst>
                <a:ext uri="{FF2B5EF4-FFF2-40B4-BE49-F238E27FC236}">
                  <a16:creationId xmlns:a16="http://schemas.microsoft.com/office/drawing/2014/main" id="{48124638-3CC8-672A-299E-0B4E5D5F60C7}"/>
                </a:ext>
              </a:extLst>
            </p:cNvPr>
            <p:cNvGrpSpPr/>
            <p:nvPr/>
          </p:nvGrpSpPr>
          <p:grpSpPr>
            <a:xfrm>
              <a:off x="7678168" y="1678581"/>
              <a:ext cx="3628653" cy="1536451"/>
              <a:chOff x="7678168" y="2146246"/>
              <a:chExt cx="3628653" cy="1536451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A8A3E16-0AA6-C1FF-A9D0-E4E91FE3C2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78168" y="2146246"/>
                <a:ext cx="2454967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577A656-404E-7A70-CF1B-1E5247329728}"/>
                  </a:ext>
                </a:extLst>
              </p:cNvPr>
              <p:cNvSpPr txBox="1"/>
              <p:nvPr/>
            </p:nvSpPr>
            <p:spPr>
              <a:xfrm>
                <a:off x="8701151" y="2154850"/>
                <a:ext cx="9496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Variability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FC82AF7-A589-5522-A477-775CC4B921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62683" y="3318349"/>
                <a:ext cx="673916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692B06-B62E-2458-3313-8866DC2E9447}"/>
                  </a:ext>
                </a:extLst>
              </p:cNvPr>
              <p:cNvSpPr txBox="1"/>
              <p:nvPr/>
            </p:nvSpPr>
            <p:spPr>
              <a:xfrm>
                <a:off x="9187202" y="3159477"/>
                <a:ext cx="211961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Irreducible error </a:t>
                </a:r>
                <a:br>
                  <a:rPr lang="en-US" sz="1400" dirty="0"/>
                </a:br>
                <a:r>
                  <a:rPr lang="en-US" sz="1400" dirty="0"/>
                  <a:t>(stochastic environment)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1FF47F-2EA2-0342-DB2C-63A570945C9B}"/>
                  </a:ext>
                </a:extLst>
              </p:cNvPr>
              <p:cNvSpPr txBox="1"/>
              <p:nvPr/>
            </p:nvSpPr>
            <p:spPr>
              <a:xfrm>
                <a:off x="9038454" y="2951119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</a:t>
                </a:r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C05A0E1-7EB9-476D-4B2D-F1E15E630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00533" y="2671307"/>
                <a:ext cx="531225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1E9AB6-EF7C-6CD6-9D99-DB9C64426D32}"/>
                  </a:ext>
                </a:extLst>
              </p:cNvPr>
              <p:cNvSpPr txBox="1"/>
              <p:nvPr/>
            </p:nvSpPr>
            <p:spPr>
              <a:xfrm rot="5400000" flipH="1">
                <a:off x="9021845" y="2312166"/>
                <a:ext cx="2885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=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BCAEF982-2663-F378-757F-D09F093863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3163" y="2942537"/>
                <a:ext cx="117449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5CBF46D-DFED-0D97-8E07-535C8D5C61D3}"/>
                  </a:ext>
                </a:extLst>
              </p:cNvPr>
              <p:cNvSpPr txBox="1"/>
              <p:nvPr/>
            </p:nvSpPr>
            <p:spPr>
              <a:xfrm>
                <a:off x="9030052" y="2637589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AADFF5F-022F-DCF0-5936-566634C30D9E}"/>
                  </a:ext>
                </a:extLst>
              </p:cNvPr>
              <p:cNvSpPr txBox="1"/>
              <p:nvPr/>
            </p:nvSpPr>
            <p:spPr>
              <a:xfrm>
                <a:off x="9424174" y="2495593"/>
                <a:ext cx="17855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Sample randomness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7BA3B2-4538-12FB-2881-37597344BD80}"/>
                  </a:ext>
                </a:extLst>
              </p:cNvPr>
              <p:cNvSpPr txBox="1"/>
              <p:nvPr/>
            </p:nvSpPr>
            <p:spPr>
              <a:xfrm>
                <a:off x="9539223" y="2808179"/>
                <a:ext cx="134293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Changing data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4742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6134100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sample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pPr lvl="1"/>
                <a:r>
                  <a:rPr lang="en-US" sz="1800" b="1" dirty="0"/>
                  <a:t>DRL</a:t>
                </a:r>
                <a:r>
                  <a:rPr lang="en-US" sz="1800" dirty="0"/>
                  <a:t>: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are popular for deep RL!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Delayed Updates</a:t>
                </a:r>
                <a:r>
                  <a:rPr lang="en-US" sz="1800" dirty="0"/>
                  <a:t>: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-steps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  <a:br>
                  <a:rPr lang="en-US" sz="1800" dirty="0"/>
                </a:br>
                <a:br>
                  <a:rPr lang="en-US" sz="1800" dirty="0"/>
                </a:br>
                <a:r>
                  <a:rPr lang="en-US" sz="1700" b="1" dirty="0"/>
                  <a:t>Eligibility traces </a:t>
                </a:r>
                <a:r>
                  <a:rPr lang="en-US" sz="1700" dirty="0"/>
                  <a:t>address the delay and computation drawbacks, but they don’t work well with DRL. We will cover these methods later.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6134100"/>
              </a:xfrm>
              <a:blipFill>
                <a:blip r:embed="rId3"/>
                <a:stretch>
                  <a:fillRect l="-649" t="-1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12508</TotalTime>
  <Words>2226</Words>
  <Application>Microsoft Office PowerPoint</Application>
  <PresentationFormat>Widescreen</PresentationFormat>
  <Paragraphs>264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 </vt:lpstr>
      <vt:lpstr>Alg. n-step TD Prediction</vt:lpstr>
      <vt:lpstr>Error Reduction Property and Convergence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 </vt:lpstr>
      <vt:lpstr>Alg. Comparing On-Policy with Off-Policy Sarsa</vt:lpstr>
      <vt:lpstr>n-step Q-Learning</vt:lpstr>
      <vt:lpstr>Revisiting Bias vs. Variance</vt:lpstr>
      <vt:lpstr>Reminder: Bias vs. Variance</vt:lpstr>
      <vt:lpstr>Effect of Algorithmic Choices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182</cp:revision>
  <dcterms:created xsi:type="dcterms:W3CDTF">2025-09-08T14:44:49Z</dcterms:created>
  <dcterms:modified xsi:type="dcterms:W3CDTF">2026-10-27T15:55:58Z</dcterms:modified>
</cp:coreProperties>
</file>