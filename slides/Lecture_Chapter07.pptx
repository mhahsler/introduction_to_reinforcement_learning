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85" r:id="rId4"/>
    <p:sldId id="396" r:id="rId5"/>
    <p:sldId id="386" r:id="rId6"/>
    <p:sldId id="387" r:id="rId7"/>
    <p:sldId id="388" r:id="rId8"/>
    <p:sldId id="392" r:id="rId9"/>
    <p:sldId id="391" r:id="rId10"/>
    <p:sldId id="394" r:id="rId11"/>
    <p:sldId id="393" r:id="rId12"/>
    <p:sldId id="389" r:id="rId13"/>
    <p:sldId id="390" r:id="rId14"/>
    <p:sldId id="395" r:id="rId15"/>
    <p:sldId id="39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85"/>
            <p14:sldId id="396"/>
            <p14:sldId id="386"/>
            <p14:sldId id="387"/>
            <p14:sldId id="388"/>
            <p14:sldId id="392"/>
            <p14:sldId id="391"/>
            <p14:sldId id="394"/>
            <p14:sldId id="393"/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DA0A5-DD6E-AE51-3C17-167B058EC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2292"/>
            <a:ext cx="10515600" cy="17780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How far do we look in the sampled episode ahead to update the state value?</a:t>
            </a:r>
            <a:endParaRPr lang="en-US" sz="1600" b="1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1-step DT</a:t>
            </a:r>
          </a:p>
          <a:p>
            <a:pPr lvl="1"/>
            <a:r>
              <a:rPr lang="en-US" sz="1600" dirty="0"/>
              <a:t>We have already discussed 1-step TD: Q-Learning, Sarsa</a:t>
            </a:r>
          </a:p>
          <a:p>
            <a:pPr lvl="1"/>
            <a:r>
              <a:rPr lang="en-US" sz="1600" dirty="0"/>
              <a:t>We only observe the next step and its reward. The remaining return is bootstrapped using the estimate of the next state’s value.</a:t>
            </a:r>
            <a:endParaRPr lang="en-US" sz="1600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25B38B9-8EEE-3230-C9A7-D1B5877AC90A}"/>
              </a:ext>
            </a:extLst>
          </p:cNvPr>
          <p:cNvGrpSpPr/>
          <p:nvPr/>
        </p:nvGrpSpPr>
        <p:grpSpPr>
          <a:xfrm>
            <a:off x="3472518" y="5568363"/>
            <a:ext cx="4920486" cy="666395"/>
            <a:chOff x="2879313" y="2782204"/>
            <a:chExt cx="5495707" cy="87984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7470490-29F2-50C7-075E-7377CEFC4DB5}"/>
                </a:ext>
              </a:extLst>
            </p:cNvPr>
            <p:cNvGrpSpPr/>
            <p:nvPr/>
          </p:nvGrpSpPr>
          <p:grpSpPr>
            <a:xfrm>
              <a:off x="2879313" y="2782204"/>
              <a:ext cx="5495707" cy="631088"/>
              <a:chOff x="2879313" y="2782204"/>
              <a:chExt cx="5495707" cy="631088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94B77C9-C9AA-6F5D-D56B-315043DD70EF}"/>
                  </a:ext>
                </a:extLst>
              </p:cNvPr>
              <p:cNvSpPr/>
              <p:nvPr/>
            </p:nvSpPr>
            <p:spPr>
              <a:xfrm>
                <a:off x="3378394" y="3224828"/>
                <a:ext cx="174504" cy="1884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EAB5D2C-C971-DEFC-52FE-D0987A0552AA}"/>
                  </a:ext>
                </a:extLst>
              </p:cNvPr>
              <p:cNvSpPr/>
              <p:nvPr/>
            </p:nvSpPr>
            <p:spPr>
              <a:xfrm>
                <a:off x="7907350" y="3224828"/>
                <a:ext cx="174504" cy="1884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0F54933B-23C4-19A8-0DB4-85CED3BAE1BB}"/>
                  </a:ext>
                </a:extLst>
              </p:cNvPr>
              <p:cNvCxnSpPr/>
              <p:nvPr/>
            </p:nvCxnSpPr>
            <p:spPr>
              <a:xfrm>
                <a:off x="3664580" y="3319060"/>
                <a:ext cx="4132251" cy="0"/>
              </a:xfrm>
              <a:prstGeom prst="straightConnector1">
                <a:avLst/>
              </a:prstGeom>
              <a:ln w="57150">
                <a:headEnd type="triangl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41C27E2-D7A4-5F48-644A-B5DB89090844}"/>
                  </a:ext>
                </a:extLst>
              </p:cNvPr>
              <p:cNvSpPr txBox="1"/>
              <p:nvPr/>
            </p:nvSpPr>
            <p:spPr>
              <a:xfrm>
                <a:off x="2879313" y="2782204"/>
                <a:ext cx="11726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1-step TD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3257FD-880A-AF81-88C4-FE4114583699}"/>
                  </a:ext>
                </a:extLst>
              </p:cNvPr>
              <p:cNvSpPr txBox="1"/>
              <p:nvPr/>
            </p:nvSpPr>
            <p:spPr>
              <a:xfrm>
                <a:off x="7788687" y="2803144"/>
                <a:ext cx="58633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MC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22D92CF-821B-F68A-10A5-9F501334710E}"/>
                </a:ext>
              </a:extLst>
            </p:cNvPr>
            <p:cNvSpPr txBox="1"/>
            <p:nvPr/>
          </p:nvSpPr>
          <p:spPr>
            <a:xfrm>
              <a:off x="5090858" y="3354274"/>
              <a:ext cx="11726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Spectrum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82561" y="4626649"/>
                <a:ext cx="6096698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 DT</a:t>
                </a:r>
              </a:p>
              <a:p>
                <a:pPr lvl="1"/>
                <a:r>
                  <a:rPr lang="en-US" sz="1600" dirty="0"/>
                  <a:t>Looks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ahead and bootstraps the rest.</a:t>
                </a:r>
              </a:p>
              <a:p>
                <a:pPr lvl="1"/>
                <a:r>
                  <a:rPr lang="en-US" sz="1600" dirty="0"/>
                  <a:t>TD unifies and generalizes MC and one-step TD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561" y="4626649"/>
                <a:ext cx="6096698" cy="861774"/>
              </a:xfrm>
              <a:prstGeom prst="rect">
                <a:avLst/>
              </a:prstGeom>
              <a:blipFill>
                <a:blip r:embed="rId5"/>
                <a:stretch>
                  <a:fillRect t="-2128" b="-4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637816" y="2832616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7"/>
                  <a:stretch>
                    <a:fillRect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 V-values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3" y="3166218"/>
            <a:ext cx="1829957" cy="588954"/>
          </a:xfrm>
          <a:prstGeom prst="wedgeRoundRectCallout">
            <a:avLst>
              <a:gd name="adj1" fmla="val 76684"/>
              <a:gd name="adj2" fmla="val 13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 of episode is detected below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F26C6334-EC59-8CC4-D349-78BE5FEC6E3F}"/>
              </a:ext>
            </a:extLst>
          </p:cNvPr>
          <p:cNvSpPr/>
          <p:nvPr/>
        </p:nvSpPr>
        <p:spPr>
          <a:xfrm>
            <a:off x="7425988" y="5293300"/>
            <a:ext cx="2329544" cy="543806"/>
          </a:xfrm>
          <a:prstGeom prst="wedgeRoundRectCallout">
            <a:avLst>
              <a:gd name="adj1" fmla="val -70920"/>
              <a:gd name="adj2" fmla="val 1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Use bootstrapping if the episode is not over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3B6702-D9F1-9CDF-DE51-C7708AD222CA}"/>
              </a:ext>
            </a:extLst>
          </p:cNvPr>
          <p:cNvSpPr/>
          <p:nvPr/>
        </p:nvSpPr>
        <p:spPr>
          <a:xfrm>
            <a:off x="754424" y="5702958"/>
            <a:ext cx="1458686" cy="338555"/>
          </a:xfrm>
          <a:prstGeom prst="wedgeRoundRectCallout">
            <a:avLst>
              <a:gd name="adj1" fmla="val 122871"/>
              <a:gd name="adj2" fmla="val 46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update</a:t>
            </a:r>
          </a:p>
        </p:txBody>
      </p: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Returns </a:t>
                </a:r>
              </a:p>
              <a:p>
                <a:r>
                  <a:rPr lang="en-US" dirty="0"/>
                  <a:t>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to correct for the missing rewards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guaranteed to be less than or equal to the discounted the worst error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the update is guaranteed to reduce the error meaning that all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(including 1-step and MC)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 (Sarsa)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BFD2D0-399A-1A99-8CB8-AA18E396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policy. This is done by estimating Q-values instead of V-values. </a:t>
            </a:r>
          </a:p>
        </p:txBody>
      </p:sp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dirty="0"/>
                  <a:t>On policy</a:t>
                </a:r>
              </a:p>
              <a:p>
                <a:pPr lvl="1"/>
                <a:r>
                  <a:rPr lang="en-US" dirty="0"/>
                  <a:t>Remember: The policy needs to keep exploring so we learn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lvl="1"/>
                <a:r>
                  <a:rPr lang="en-US" dirty="0"/>
                  <a:t>Use state-action pairs and learns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so we can find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Return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C23A07C-A168-39B7-4E5B-CB74A33475C0}"/>
              </a:ext>
            </a:extLst>
          </p:cNvPr>
          <p:cNvSpPr/>
          <p:nvPr/>
        </p:nvSpPr>
        <p:spPr>
          <a:xfrm>
            <a:off x="8519020" y="578972"/>
            <a:ext cx="1530991" cy="608202"/>
          </a:xfrm>
          <a:prstGeom prst="wedgeRoundRectCallout">
            <a:avLst>
              <a:gd name="adj1" fmla="val -42766"/>
              <a:gd name="adj2" fmla="val 863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Note (0) has nothing to do with the steps!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6026200" y="3287652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7549272" y="1946300"/>
            <a:ext cx="4478529" cy="4775368"/>
            <a:chOff x="7549272" y="1946300"/>
            <a:chExt cx="4478529" cy="47753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Select next action from the  current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  <a:blipFill>
                  <a:blip r:embed="rId8"/>
                  <a:stretch>
                    <a:fillRect t="-4854" b="-2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221A8-2300-AE4C-B12E-E7B10DAE2C2B}"/>
                </a:ext>
              </a:extLst>
            </p:cNvPr>
            <p:cNvSpPr/>
            <p:nvPr/>
          </p:nvSpPr>
          <p:spPr>
            <a:xfrm>
              <a:off x="7549272" y="1946300"/>
              <a:ext cx="589586" cy="196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Sarsa.</a:t>
                </a:r>
              </a:p>
              <a:p>
                <a:r>
                  <a:rPr lang="en-US" dirty="0"/>
                  <a:t>Note: Since the behavioral policy provides exploration, we can learn the best (greedy) policy.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552D126-208B-494D-2625-5FF1C93AC51E}"/>
              </a:ext>
            </a:extLst>
          </p:cNvPr>
          <p:cNvSpPr/>
          <p:nvPr/>
        </p:nvSpPr>
        <p:spPr>
          <a:xfrm>
            <a:off x="8892330" y="3665989"/>
            <a:ext cx="2118220" cy="1044429"/>
          </a:xfrm>
          <a:prstGeom prst="wedgeRoundRectCallout">
            <a:avLst>
              <a:gd name="adj1" fmla="val -100549"/>
              <a:gd name="adj2" fmla="val 75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Probability that 𝑏 chooses the same actions as 𝜋</a:t>
            </a:r>
          </a:p>
        </p:txBody>
      </p:sp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429" y="1497795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644990" y="202308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989157" y="530029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49EE39-7243-4381-1C9D-C27904D7EFE1}"/>
              </a:ext>
            </a:extLst>
          </p:cNvPr>
          <p:cNvGrpSpPr/>
          <p:nvPr/>
        </p:nvGrpSpPr>
        <p:grpSpPr>
          <a:xfrm>
            <a:off x="5659709" y="1062757"/>
            <a:ext cx="6430497" cy="5674134"/>
            <a:chOff x="5659709" y="1062757"/>
            <a:chExt cx="6430497" cy="567413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111ED8E-9F47-A0A6-34AD-6DCCED931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59709" y="1334660"/>
              <a:ext cx="5945915" cy="4817456"/>
            </a:xfrm>
            <a:prstGeom prst="rect">
              <a:avLst/>
            </a:prstGeom>
          </p:spPr>
        </p:pic>
        <p:sp>
          <p:nvSpPr>
            <p:cNvPr id="3" name="Speech Bubble: Rectangle with Corners Rounded 2">
              <a:extLst>
                <a:ext uri="{FF2B5EF4-FFF2-40B4-BE49-F238E27FC236}">
                  <a16:creationId xmlns:a16="http://schemas.microsoft.com/office/drawing/2014/main" id="{7405347D-3A8C-817A-0198-FB46D428A08C}"/>
                </a:ext>
              </a:extLst>
            </p:cNvPr>
            <p:cNvSpPr/>
            <p:nvPr/>
          </p:nvSpPr>
          <p:spPr>
            <a:xfrm>
              <a:off x="9881525" y="1062757"/>
              <a:ext cx="1724099" cy="543806"/>
            </a:xfrm>
            <a:prstGeom prst="wedgeRoundRectCallout">
              <a:avLst>
                <a:gd name="adj1" fmla="val -75002"/>
                <a:gd name="adj2" fmla="val 68289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 behavior policy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7CC600E-3AFD-2FD3-7283-4D46C25C5673}"/>
                </a:ext>
              </a:extLst>
            </p:cNvPr>
            <p:cNvSpPr/>
            <p:nvPr/>
          </p:nvSpPr>
          <p:spPr>
            <a:xfrm>
              <a:off x="8718211" y="4418437"/>
              <a:ext cx="586333" cy="2163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D0AD5C9F-6D47-4621-45B9-9385077EF25E}"/>
                </a:ext>
              </a:extLst>
            </p:cNvPr>
            <p:cNvSpPr/>
            <p:nvPr/>
          </p:nvSpPr>
          <p:spPr>
            <a:xfrm>
              <a:off x="10366107" y="4418437"/>
              <a:ext cx="1724099" cy="543806"/>
            </a:xfrm>
            <a:prstGeom prst="wedgeRoundRectCallout">
              <a:avLst>
                <a:gd name="adj1" fmla="val -119535"/>
                <a:gd name="adj2" fmla="val 7470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Importance sampling ratio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B9A1D-1B3F-1708-DAD7-FA40CAA1493A}"/>
                </a:ext>
              </a:extLst>
            </p:cNvPr>
            <p:cNvSpPr/>
            <p:nvPr/>
          </p:nvSpPr>
          <p:spPr>
            <a:xfrm>
              <a:off x="6965029" y="2023082"/>
              <a:ext cx="44789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169648-1DAF-B5A5-C80D-AEBC7295E489}"/>
                </a:ext>
              </a:extLst>
            </p:cNvPr>
            <p:cNvSpPr/>
            <p:nvPr/>
          </p:nvSpPr>
          <p:spPr>
            <a:xfrm>
              <a:off x="9433632" y="5673788"/>
              <a:ext cx="44789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AEA7A5-93F3-FE1D-2FF9-E7F3208BA93C}"/>
                </a:ext>
              </a:extLst>
            </p:cNvPr>
            <p:cNvSpPr txBox="1"/>
            <p:nvPr/>
          </p:nvSpPr>
          <p:spPr>
            <a:xfrm>
              <a:off x="6685241" y="6152116"/>
              <a:ext cx="465227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The behavioral policy provides exploration do we can learn a greedy policy!</a:t>
              </a:r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430527" y="3245771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bridge the gap between on-step DT methods and Monte Carlo Methods.</a:t>
                </a:r>
              </a:p>
              <a:p>
                <a:r>
                  <a:rPr lang="en-US" dirty="0"/>
                  <a:t> They perform an intermediate amount of bootstrapping and typically perform better than the extremes.</a:t>
                </a:r>
              </a:p>
              <a:p>
                <a:endParaRPr lang="en-US" dirty="0"/>
              </a:p>
              <a:p>
                <a:r>
                  <a:rPr lang="en-US" dirty="0"/>
                  <a:t>Drawback:</a:t>
                </a:r>
              </a:p>
              <a:p>
                <a:pPr lvl="1"/>
                <a:r>
                  <a:rPr lang="en-US" dirty="0"/>
                  <a:t>Updates are delayed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since they need to know future events (actions and states).</a:t>
                </a:r>
              </a:p>
              <a:p>
                <a:pPr lvl="1"/>
                <a:r>
                  <a:rPr lang="en-US" dirty="0"/>
                  <a:t>More computation per time step and higher memory needs than one-step methods.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will later cover the related concept of eligibility traces.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6" r="-812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7615</TotalTime>
  <Words>1217</Words>
  <Application>Microsoft Office PowerPoint</Application>
  <PresentationFormat>Widescreen</PresentationFormat>
  <Paragraphs>144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Summary of Notation</vt:lpstr>
      <vt:lpstr>1-step TD vs. n-step TD vs. MC</vt:lpstr>
      <vt:lpstr>n-step TD Prediction</vt:lpstr>
      <vt:lpstr>n-step TD Prediction</vt:lpstr>
      <vt:lpstr>Alg. n-step TD Prediction</vt:lpstr>
      <vt:lpstr>Convergence</vt:lpstr>
      <vt:lpstr>n-step Control (Sarsa)</vt:lpstr>
      <vt:lpstr>n-step Sarsa</vt:lpstr>
      <vt:lpstr>Speedup of n-step Sarsa</vt:lpstr>
      <vt:lpstr>Alg. From DT prediction to  n-step Sarsa Control</vt:lpstr>
      <vt:lpstr>n-step Off-Policy Learning</vt:lpstr>
      <vt:lpstr>n-step Off-Policy Learning</vt:lpstr>
      <vt:lpstr>Alg. Comparing On-Policy with Off-Policy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149</cp:revision>
  <dcterms:created xsi:type="dcterms:W3CDTF">2025-09-08T14:44:49Z</dcterms:created>
  <dcterms:modified xsi:type="dcterms:W3CDTF">2025-11-29T19:04:12Z</dcterms:modified>
</cp:coreProperties>
</file>