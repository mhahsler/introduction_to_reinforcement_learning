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388" r:id="rId10"/>
    <p:sldId id="480" r:id="rId11"/>
    <p:sldId id="392" r:id="rId12"/>
    <p:sldId id="391" r:id="rId13"/>
    <p:sldId id="394" r:id="rId14"/>
    <p:sldId id="393" r:id="rId15"/>
    <p:sldId id="389" r:id="rId16"/>
    <p:sldId id="390" r:id="rId17"/>
    <p:sldId id="395" r:id="rId18"/>
    <p:sldId id="481" r:id="rId19"/>
    <p:sldId id="39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388"/>
            <p14:sldId id="480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481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128" y="3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7" Type="http://schemas.openxmlformats.org/officeDocument/2006/relationships/image" Target="../media/image36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6.png"/><Relationship Id="rId4" Type="http://schemas.openxmlformats.org/officeDocument/2006/relationships/image" Target="../media/image3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7.png"/><Relationship Id="rId7" Type="http://schemas.openxmlformats.org/officeDocument/2006/relationships/image" Target="../media/image34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798687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48821"/>
                <a:ext cx="10515600" cy="203466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How far ahead in the sampled episode do we look to estimate the return? </a:t>
                </a:r>
                <a:br>
                  <a:rPr lang="en-US" sz="1800" dirty="0"/>
                </a:br>
                <a:r>
                  <a:rPr lang="en-US" sz="1800" dirty="0"/>
                  <a:t>This is a question of bias and variance of the estimate.</a:t>
                </a:r>
                <a:endParaRPr lang="en-US" sz="1800" b="1" dirty="0"/>
              </a:p>
              <a:p>
                <a:pPr marL="0" indent="0">
                  <a:buNone/>
                </a:pPr>
                <a:endParaRPr lang="en-US" sz="1800" b="1" dirty="0"/>
              </a:p>
              <a:p>
                <a:r>
                  <a:rPr lang="en-US" sz="1800" b="1" dirty="0"/>
                  <a:t>MC: </a:t>
                </a:r>
                <a:r>
                  <a:rPr lang="en-US" sz="1800" dirty="0"/>
                  <a:t>We use the whole episode. No bias, but high variance.</a:t>
                </a:r>
                <a:endParaRPr lang="en-US" sz="1800" b="1" dirty="0"/>
              </a:p>
              <a:p>
                <a:r>
                  <a:rPr lang="en-US" sz="1800" b="1" dirty="0"/>
                  <a:t>1-step TD: </a:t>
                </a:r>
                <a:r>
                  <a:rPr lang="en-US" sz="1800" dirty="0"/>
                  <a:t>We only observe the </a:t>
                </a:r>
                <a:r>
                  <a:rPr lang="en-US" sz="1800" b="1" dirty="0"/>
                  <a:t>next step </a:t>
                </a:r>
                <a:r>
                  <a:rPr lang="en-US" sz="1800" dirty="0"/>
                  <a:t>and its reward (reduces variance). The remaining return is </a:t>
                </a:r>
                <a:r>
                  <a:rPr lang="en-US" sz="1800" b="1" dirty="0"/>
                  <a:t>bootstrapped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This </a:t>
                </a:r>
                <a:r>
                  <a:rPr lang="en-US" sz="1800" b="1" dirty="0"/>
                  <a:t>propagates state value errors (= bias)</a:t>
                </a:r>
                <a:r>
                  <a:rPr lang="en-US" sz="1800" dirty="0"/>
                  <a:t>!</a:t>
                </a:r>
                <a:endParaRPr lang="en-US" sz="1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48821"/>
                <a:ext cx="10515600" cy="2034665"/>
              </a:xfrm>
              <a:blipFill>
                <a:blip r:embed="rId3"/>
                <a:stretch>
                  <a:fillRect l="-522" t="-2695" b="-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838200" y="4194044"/>
                <a:ext cx="1061005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TD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Looks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ahead and bootstraps the rest. Using more observed rewards should help to </a:t>
                </a:r>
                <a:r>
                  <a:rPr lang="en-US" b="1" dirty="0"/>
                  <a:t>reduce the bootstrapping error (bias), </a:t>
                </a:r>
                <a:r>
                  <a:rPr lang="en-US" dirty="0"/>
                  <a:t>but increases variance.</a:t>
                </a: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TD unifies and generalizes MC and one-step TD.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4044"/>
                <a:ext cx="10610054" cy="1200329"/>
              </a:xfrm>
              <a:prstGeom prst="rect">
                <a:avLst/>
              </a:prstGeom>
              <a:blipFill>
                <a:blip r:embed="rId4"/>
                <a:stretch>
                  <a:fillRect l="-402" t="-2030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745815" y="2845053"/>
            <a:ext cx="5965095" cy="1634100"/>
            <a:chOff x="2637816" y="2832616"/>
            <a:chExt cx="5965095" cy="1634100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  <a:blipFill>
                  <a:blip r:embed="rId8"/>
                  <a:stretch>
                    <a:fillRect t="-5682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9C8751-262A-9AFB-0431-0FA4A253A1C0}"/>
              </a:ext>
            </a:extLst>
          </p:cNvPr>
          <p:cNvGrpSpPr/>
          <p:nvPr/>
        </p:nvGrpSpPr>
        <p:grpSpPr>
          <a:xfrm>
            <a:off x="3461835" y="5469206"/>
            <a:ext cx="5815969" cy="1035725"/>
            <a:chOff x="3541531" y="5788233"/>
            <a:chExt cx="5815969" cy="103572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1C9C314-988F-0A98-1955-8D7377802AD9}"/>
                </a:ext>
              </a:extLst>
            </p:cNvPr>
            <p:cNvGrpSpPr/>
            <p:nvPr/>
          </p:nvGrpSpPr>
          <p:grpSpPr>
            <a:xfrm>
              <a:off x="3541531" y="5788233"/>
              <a:ext cx="5067252" cy="477986"/>
              <a:chOff x="2888293" y="5522210"/>
              <a:chExt cx="5067252" cy="477986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2888293" y="5522210"/>
                <a:ext cx="5067252" cy="477986"/>
                <a:chOff x="2659667" y="2782204"/>
                <a:chExt cx="5659631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659667" y="2782204"/>
                  <a:ext cx="1392309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MC 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5A8B58D0-D9D0-BAF2-8636-E6875C7D5815}"/>
                      </a:ext>
                    </a:extLst>
                  </p:cNvPr>
                  <p:cNvSpPr txBox="1"/>
                  <p:nvPr/>
                </p:nvSpPr>
                <p:spPr>
                  <a:xfrm>
                    <a:off x="5171964" y="5534292"/>
                    <a:ext cx="124658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-step TD </a:t>
                    </a:r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5A8B58D0-D9D0-BAF2-8636-E6875C7D58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71964" y="5534292"/>
                    <a:ext cx="12465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AF54B1-52B7-51E1-9344-4E55FBE98E14}"/>
                </a:ext>
              </a:extLst>
            </p:cNvPr>
            <p:cNvSpPr txBox="1"/>
            <p:nvPr/>
          </p:nvSpPr>
          <p:spPr>
            <a:xfrm>
              <a:off x="3746518" y="6239183"/>
              <a:ext cx="14974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High bias, </a:t>
              </a:r>
              <a:br>
                <a:rPr lang="en-US" sz="1600" dirty="0"/>
              </a:br>
              <a:r>
                <a:rPr lang="en-US" sz="1600" dirty="0"/>
                <a:t>low variance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F3A082-7E28-E820-2EC2-EAE87E843084}"/>
                </a:ext>
              </a:extLst>
            </p:cNvPr>
            <p:cNvSpPr txBox="1"/>
            <p:nvPr/>
          </p:nvSpPr>
          <p:spPr>
            <a:xfrm>
              <a:off x="7860065" y="6230068"/>
              <a:ext cx="14974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no bias, </a:t>
              </a:r>
              <a:br>
                <a:rPr lang="en-US" sz="1600" dirty="0"/>
              </a:br>
              <a:r>
                <a:rPr lang="en-US" sz="1600" dirty="0"/>
                <a:t>high variance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755198" y="4068173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198" y="4068173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2" r="-767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0AA742C-5A0A-0CE4-1F94-BD3DCEAF2274}"/>
              </a:ext>
            </a:extLst>
          </p:cNvPr>
          <p:cNvSpPr txBox="1"/>
          <p:nvPr/>
        </p:nvSpPr>
        <p:spPr>
          <a:xfrm>
            <a:off x="8277187" y="5661877"/>
            <a:ext cx="3277772" cy="83099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b="1" dirty="0"/>
              <a:t>Error sources</a:t>
            </a:r>
          </a:p>
          <a:p>
            <a:r>
              <a:rPr lang="en-US" sz="1600" dirty="0"/>
              <a:t>Variance: Observed rewards</a:t>
            </a:r>
            <a:br>
              <a:rPr lang="en-US" sz="1600" dirty="0"/>
            </a:br>
            <a:r>
              <a:rPr lang="en-US" sz="1600" dirty="0"/>
              <a:t>Bias: Value function estimates</a:t>
            </a:r>
          </a:p>
        </p:txBody>
      </p:sp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2" y="3720372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/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  <a:blipFill>
                <a:blip r:embed="rId5"/>
                <a:stretch>
                  <a:fillRect t="-285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/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E859F95-A5C2-CE37-B3D7-5DC8E7DDC4E6}"/>
              </a:ext>
            </a:extLst>
          </p:cNvPr>
          <p:cNvGrpSpPr/>
          <p:nvPr/>
        </p:nvGrpSpPr>
        <p:grpSpPr>
          <a:xfrm>
            <a:off x="9986271" y="4309326"/>
            <a:ext cx="2365690" cy="1216727"/>
            <a:chOff x="9986271" y="4309326"/>
            <a:chExt cx="2365690" cy="121672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D81C03-2FFC-3430-6A96-CC215F8CB002}"/>
                </a:ext>
              </a:extLst>
            </p:cNvPr>
            <p:cNvGrpSpPr/>
            <p:nvPr/>
          </p:nvGrpSpPr>
          <p:grpSpPr>
            <a:xfrm>
              <a:off x="9986271" y="4309326"/>
              <a:ext cx="1996323" cy="913879"/>
              <a:chOff x="10044440" y="1032968"/>
              <a:chExt cx="1996323" cy="91387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8B9856B-B3C4-5BCC-42AC-811D84A88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44440" y="1577515"/>
                <a:ext cx="1996323" cy="0"/>
              </a:xfrm>
              <a:prstGeom prst="line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 steps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8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Right Brace 15">
                <a:extLst>
                  <a:ext uri="{FF2B5EF4-FFF2-40B4-BE49-F238E27FC236}">
                    <a16:creationId xmlns:a16="http://schemas.microsoft.com/office/drawing/2014/main" id="{DF1F0B09-177D-1C23-8922-13B60D4726FE}"/>
                  </a:ext>
                </a:extLst>
              </p:cNvPr>
              <p:cNvSpPr/>
              <p:nvPr/>
            </p:nvSpPr>
            <p:spPr>
              <a:xfrm rot="16200000">
                <a:off x="10847163" y="722444"/>
                <a:ext cx="146575" cy="141696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/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Observed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917" t="-3922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Error Reduction Property and Convergence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466" y="3606799"/>
                <a:ext cx="10515600" cy="1888979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Explanation</a:t>
                </a:r>
                <a:r>
                  <a:rPr lang="en-US" sz="18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/>
                  <a:t>The averages of observed rewards have in expectation no error (are unbiased).</a:t>
                </a:r>
              </a:p>
              <a:p>
                <a:r>
                  <a:rPr lang="en-US" sz="1800" dirty="0"/>
                  <a:t>The impact of the error-prone bootstrap estimate is smaller because it is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time steps away and thus discounted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800" dirty="0"/>
                  <a:t> (related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800" dirty="0"/>
                  <a:t>-contracting property of Bellman updates).</a:t>
                </a:r>
              </a:p>
              <a:p>
                <a:r>
                  <a:rPr lang="en-US" sz="1800" dirty="0"/>
                  <a:t>Expectation just means we need many estimates (= use many episodes)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466" y="3606799"/>
                <a:ext cx="10515600" cy="1888979"/>
              </a:xfrm>
              <a:blipFill>
                <a:blip r:embed="rId2"/>
                <a:stretch>
                  <a:fillRect l="-464" t="-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072082" y="1252872"/>
                <a:ext cx="7743038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expected value of n-step returns is always better than the current approximation (for the worst state).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082" y="1252872"/>
                <a:ext cx="7743038" cy="2033827"/>
              </a:xfrm>
              <a:prstGeom prst="rect">
                <a:avLst/>
              </a:prstGeom>
              <a:blipFill>
                <a:blip r:embed="rId3"/>
                <a:stretch>
                  <a:fillRect l="-786" t="-1190" r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5E86A9-F4CE-EE45-120B-538532B55D95}"/>
                  </a:ext>
                </a:extLst>
              </p:cNvPr>
              <p:cNvSpPr txBox="1"/>
              <p:nvPr/>
            </p:nvSpPr>
            <p:spPr>
              <a:xfrm>
                <a:off x="2072082" y="5689862"/>
                <a:ext cx="7743038" cy="40011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Implication: All </a:t>
                </a:r>
                <a14:m>
                  <m:oMath xmlns:m="http://schemas.openxmlformats.org/officeDocument/2006/math">
                    <m:r>
                      <a:rPr lang="en-US" sz="2000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methods (including 1-step and MC) converge!</a:t>
                </a:r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5E86A9-F4CE-EE45-120B-538532B55D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082" y="5689862"/>
                <a:ext cx="7743038" cy="400110"/>
              </a:xfrm>
              <a:prstGeom prst="rect">
                <a:avLst/>
              </a:prstGeom>
              <a:blipFill>
                <a:blip r:embed="rId4"/>
                <a:stretch>
                  <a:fillRect t="-4348" b="-23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E528-C1DE-F2F1-563E-D757ECA4F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Bias-Variance Tradeoff in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02818"/>
                <a:ext cx="10515600" cy="3846966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We use a set of return estimates/samples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starting at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as the training set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)}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learn a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using the tabular updating rule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i="1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Bias</a:t>
                </a:r>
                <a:r>
                  <a:rPr lang="en-US" dirty="0"/>
                  <a:t>: How far is the average prediction from the truth?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Bias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e>
                        </m:d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Variance</a:t>
                </a:r>
                <a:r>
                  <a:rPr lang="en-US" dirty="0"/>
                  <a:t>: How much do predictions fluctuate?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Var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𝐷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𝑣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Total error (means-squared error)</a:t>
                </a:r>
                <a:r>
                  <a:rPr lang="en-US" dirty="0"/>
                  <a:t>: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Total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rror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ia</m:t>
                    </m:r>
                    <m:sSup>
                      <m:sSup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ar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rreducible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oise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02818"/>
                <a:ext cx="10515600" cy="3846966"/>
              </a:xfrm>
              <a:blipFill>
                <a:blip r:embed="rId2"/>
                <a:stretch>
                  <a:fillRect l="-406" t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2151477"/>
                  </p:ext>
                </p:extLst>
              </p:nvPr>
            </p:nvGraphicFramePr>
            <p:xfrm>
              <a:off x="1290270" y="4849784"/>
              <a:ext cx="9450597" cy="186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 of 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 of Estimate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No bias:</a:t>
                          </a:r>
                          <a:r>
                            <a:rPr lang="en-US" sz="1600" b="1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</a:t>
                          </a:r>
                          <a:r>
                            <a:rPr lang="en-US" sz="1600" baseline="0" dirty="0"/>
                            <a:t> an unbiased sample</a:t>
                          </a:r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</a:t>
                          </a:r>
                          <a:r>
                            <a:rPr lang="en-US" sz="1600" dirty="0"/>
                            <a:t>: difference between sample returns;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r>
                            <a:rPr lang="en-US" sz="1600" dirty="0"/>
                            <a:t>-step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 bias</a:t>
                          </a:r>
                          <a:r>
                            <a:rPr lang="en-US" sz="1600" dirty="0"/>
                            <a:t>:</a:t>
                          </a:r>
                          <a:r>
                            <a:rPr lang="en-US" sz="1600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 bootstrapped; falls when getting close to the optimal value function.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Low: </a:t>
                          </a:r>
                          <a:r>
                            <a:rPr lang="en-US" sz="1600" dirty="0"/>
                            <a:t>only one reward is sampled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2151477"/>
                  </p:ext>
                </p:extLst>
              </p:nvPr>
            </p:nvGraphicFramePr>
            <p:xfrm>
              <a:off x="1290270" y="4849784"/>
              <a:ext cx="9450597" cy="186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 of 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 of Estimate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472" t="-59375" r="-87778" b="-17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</a:t>
                          </a:r>
                          <a:r>
                            <a:rPr lang="en-US" sz="1600" dirty="0"/>
                            <a:t>: difference between sample returns;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90" t="-250820" r="-662745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472" t="-225263" r="-87778" b="-1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Low: </a:t>
                          </a:r>
                          <a:r>
                            <a:rPr lang="en-US" sz="1600" dirty="0"/>
                            <a:t>only one reward is sampled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/>
              <p:nvPr/>
            </p:nvSpPr>
            <p:spPr>
              <a:xfrm>
                <a:off x="8686800" y="1957972"/>
                <a:ext cx="3023048" cy="400854"/>
              </a:xfrm>
              <a:prstGeom prst="wedgeRoundRectCallout">
                <a:avLst>
                  <a:gd name="adj1" fmla="val -74492"/>
                  <a:gd name="adj2" fmla="val 112305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is biased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s are biased!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0" y="1957972"/>
                <a:ext cx="3023048" cy="400854"/>
              </a:xfrm>
              <a:prstGeom prst="wedgeRoundRectCallout">
                <a:avLst>
                  <a:gd name="adj1" fmla="val -74492"/>
                  <a:gd name="adj2" fmla="val 11230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/>
              <p:nvPr/>
            </p:nvSpPr>
            <p:spPr>
              <a:xfrm>
                <a:off x="7757411" y="2985961"/>
                <a:ext cx="4159770" cy="636309"/>
              </a:xfrm>
              <a:prstGeom prst="wedgeRoundRectCallout">
                <a:avLst>
                  <a:gd name="adj1" fmla="val -79588"/>
                  <a:gd name="adj2" fmla="val 6102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has initially high variance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s have a high variance due to sampling.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7411" y="2985961"/>
                <a:ext cx="4159770" cy="636309"/>
              </a:xfrm>
              <a:prstGeom prst="wedgeRoundRectCallout">
                <a:avLst>
                  <a:gd name="adj1" fmla="val -79588"/>
                  <a:gd name="adj2" fmla="val 610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/>
              <p:nvPr/>
            </p:nvSpPr>
            <p:spPr>
              <a:xfrm>
                <a:off x="10784588" y="4699416"/>
                <a:ext cx="1325409" cy="2012131"/>
              </a:xfrm>
              <a:prstGeom prst="wedgeRoundRectCallout">
                <a:avLst>
                  <a:gd name="adj1" fmla="val -83383"/>
                  <a:gd name="adj2" fmla="val 886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With limited data: </a:t>
                </a:r>
              </a:p>
              <a:p>
                <a:pPr algn="ctr"/>
                <a:r>
                  <a:rPr lang="en-US" sz="1600" dirty="0"/>
                  <a:t>Total error becomes min. for some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4588" y="4699416"/>
                <a:ext cx="1325409" cy="2012131"/>
              </a:xfrm>
              <a:prstGeom prst="wedgeRoundRectCallout">
                <a:avLst>
                  <a:gd name="adj1" fmla="val -83383"/>
                  <a:gd name="adj2" fmla="val 8869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011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3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5866228" y="3287652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9856838" y="4018671"/>
            <a:ext cx="2264824" cy="2702997"/>
            <a:chOff x="9856838" y="4018671"/>
            <a:chExt cx="2264824" cy="27029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</a:extLst>
          </p:cNvPr>
          <p:cNvSpPr/>
          <p:nvPr/>
        </p:nvSpPr>
        <p:spPr>
          <a:xfrm>
            <a:off x="7157803" y="4497050"/>
            <a:ext cx="2872675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</a:extLst>
          </p:cNvPr>
          <p:cNvSpPr/>
          <p:nvPr/>
        </p:nvSpPr>
        <p:spPr>
          <a:xfrm>
            <a:off x="8694038" y="5573658"/>
            <a:ext cx="2466140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</a:extLst>
          </p:cNvPr>
          <p:cNvSpPr/>
          <p:nvPr/>
        </p:nvSpPr>
        <p:spPr>
          <a:xfrm>
            <a:off x="7029133" y="1960277"/>
            <a:ext cx="2264769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Sample efficiency issue</a:t>
                </a:r>
                <a:r>
                  <a:rPr lang="en-US" dirty="0"/>
                  <a:t>: Can only learn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Updating the behavior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−greedy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6" cy="5089359"/>
            <a:chOff x="5659709" y="1062757"/>
            <a:chExt cx="6430496" cy="5089359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6" cy="5089359"/>
              <a:chOff x="5659709" y="1062757"/>
              <a:chExt cx="6430496" cy="508935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6" y="4198999"/>
                <a:ext cx="1724099" cy="543806"/>
              </a:xfrm>
              <a:prstGeom prst="wedgeRoundRectCallout">
                <a:avLst>
                  <a:gd name="adj1" fmla="val -109575"/>
                  <a:gd name="adj2" fmla="val 19901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326967" y="32457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We could update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−greedy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A87B64-32A5-338D-6776-2AC3654F00A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Q-Learning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A87B64-32A5-338D-6776-2AC3654F00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A5D9A4-5700-5EBA-0E79-41C2AA0036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Q-Learning needs a return estimate for the target policy. Mixing rewards form the behavior policy with a bootstrapped Q-value from the target policy is an issue!</a:t>
                </a:r>
              </a:p>
              <a:p>
                <a:r>
                  <a:rPr lang="en-US" dirty="0"/>
                  <a:t>We would still need importance sampling to fix the rewards.</a:t>
                </a:r>
              </a:p>
              <a:p>
                <a:r>
                  <a:rPr lang="en-US" dirty="0"/>
                  <a:t>Most applications stick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A5D9A4-5700-5EBA-0E79-41C2AA0036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806" b="-38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D4CA94F-E4A3-E0CE-BA8F-9A0C9D18CFA5}"/>
                  </a:ext>
                </a:extLst>
              </p:cNvPr>
              <p:cNvSpPr/>
              <p:nvPr/>
            </p:nvSpPr>
            <p:spPr>
              <a:xfrm>
                <a:off x="8829413" y="3120221"/>
                <a:ext cx="2797728" cy="666925"/>
              </a:xfrm>
              <a:prstGeom prst="wedgeRoundRectCallout">
                <a:avLst>
                  <a:gd name="adj1" fmla="val -8920"/>
                  <a:gd name="adj2" fmla="val -11183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Choose this action using the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D4CA94F-E4A3-E0CE-BA8F-9A0C9D18CF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9413" y="3120221"/>
                <a:ext cx="2797728" cy="666925"/>
              </a:xfrm>
              <a:prstGeom prst="wedgeRoundRectCallout">
                <a:avLst>
                  <a:gd name="adj1" fmla="val -8920"/>
                  <a:gd name="adj2" fmla="val -111835"/>
                  <a:gd name="adj3" fmla="val 16667"/>
                </a:avLst>
              </a:prstGeom>
              <a:blipFill>
                <a:blip r:embed="rId4"/>
                <a:stretch>
                  <a:fillRect b="-7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9E15BC-F019-9127-131F-E9E17173C224}"/>
              </a:ext>
            </a:extLst>
          </p:cNvPr>
          <p:cNvCxnSpPr/>
          <p:nvPr/>
        </p:nvCxnSpPr>
        <p:spPr>
          <a:xfrm>
            <a:off x="4102217" y="2701255"/>
            <a:ext cx="3754073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CDB4F50-B100-9216-5C41-BCC29A59BE3B}"/>
                  </a:ext>
                </a:extLst>
              </p:cNvPr>
              <p:cNvSpPr/>
              <p:nvPr/>
            </p:nvSpPr>
            <p:spPr>
              <a:xfrm>
                <a:off x="3956807" y="3226481"/>
                <a:ext cx="3094140" cy="666925"/>
              </a:xfrm>
              <a:prstGeom prst="wedgeRoundRectCallout">
                <a:avLst>
                  <a:gd name="adj1" fmla="val -8920"/>
                  <a:gd name="adj2" fmla="val -111835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These were sampled using the behavioral policy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CDB4F50-B100-9216-5C41-BCC29A59BE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807" y="3226481"/>
                <a:ext cx="3094140" cy="666925"/>
              </a:xfrm>
              <a:prstGeom prst="wedgeRoundRectCallout">
                <a:avLst>
                  <a:gd name="adj1" fmla="val -8920"/>
                  <a:gd name="adj2" fmla="val -111835"/>
                  <a:gd name="adj3" fmla="val 16667"/>
                </a:avLst>
              </a:prstGeom>
              <a:blipFill>
                <a:blip r:embed="rId5"/>
                <a:stretch>
                  <a:fillRect b="-6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3198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56272" y="-3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</p:spPr>
            <p:txBody>
              <a:bodyPr anchor="ctr">
                <a:normAutofit fontScale="92500"/>
              </a:bodyPr>
              <a:lstStyle/>
              <a:p>
                <a:r>
                  <a:rPr lang="en-US" sz="1800" dirty="0"/>
                  <a:t>Advantage of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over one-step methods: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 (</a:t>
                </a:r>
                <a:r>
                  <a:rPr lang="en-US" sz="1800" b="1" dirty="0"/>
                  <a:t>bias</a:t>
                </a:r>
                <a:r>
                  <a:rPr lang="en-US" sz="1800" dirty="0"/>
                  <a:t>) at the cost of increased </a:t>
                </a:r>
                <a:r>
                  <a:rPr lang="en-US" sz="1800" b="1" dirty="0"/>
                  <a:t>variance</a:t>
                </a:r>
                <a:r>
                  <a:rPr lang="en-US" sz="1800" dirty="0"/>
                  <a:t>. 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</a:t>
                </a:r>
                <a:r>
                  <a:rPr lang="en-US" sz="1800" dirty="0"/>
                  <a:t> in terms of the variance/bias tradeoff 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Drawbacks:</a:t>
                </a:r>
              </a:p>
              <a:p>
                <a:pPr lvl="1"/>
                <a:r>
                  <a:rPr lang="en-US" sz="1800" b="1" dirty="0"/>
                  <a:t>Delay</a:t>
                </a:r>
                <a:r>
                  <a:rPr lang="en-US" sz="1800" dirty="0"/>
                  <a:t>: </a:t>
                </a:r>
                <a:r>
                  <a:rPr lang="en-US" sz="1800" dirty="0" err="1"/>
                  <a:t>Updat</a:t>
                </a:r>
                <a:r>
                  <a:rPr lang="en-US" sz="1800" dirty="0"/>
                  <a:t>es are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steps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</a:p>
              <a:p>
                <a:pPr lvl="1"/>
                <a:endParaRPr lang="en-US" sz="1800" dirty="0"/>
              </a:p>
              <a:p>
                <a:r>
                  <a:rPr lang="en-US" sz="1800" b="1" dirty="0"/>
                  <a:t>Eligibility traces </a:t>
                </a:r>
                <a:r>
                  <a:rPr lang="en-US" sz="1800" dirty="0"/>
                  <a:t>address the delay and computation drawbacks. We will cover these methods later.</a:t>
                </a:r>
              </a:p>
              <a:p>
                <a:r>
                  <a:rPr lang="en-US" sz="1800" dirty="0"/>
                  <a:t>Modern </a:t>
                </a:r>
                <a:r>
                  <a:rPr lang="en-US" sz="1800" b="1" dirty="0"/>
                  <a:t>Deep Reinforcement Learning </a:t>
                </a:r>
                <a:r>
                  <a:rPr lang="en-US" sz="1800" dirty="0"/>
                  <a:t>cannot use eligibility traces and goes back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  <a:blipFill>
                <a:blip r:embed="rId3"/>
                <a:stretch>
                  <a:fillRect l="-541" b="-7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12286</TotalTime>
  <Words>2078</Words>
  <Application>Microsoft Office PowerPoint</Application>
  <PresentationFormat>Widescreen</PresentationFormat>
  <Paragraphs>229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</vt:lpstr>
      <vt:lpstr>Alg. n-step TD Prediction</vt:lpstr>
      <vt:lpstr>Error Reduction Property and Convergence</vt:lpstr>
      <vt:lpstr>Bias-Variance Tradeoff in RL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</vt:lpstr>
      <vt:lpstr>Alg. Comparing On-Policy with Off-Policy</vt:lpstr>
      <vt:lpstr>n-Step Q-Learning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172</cp:revision>
  <dcterms:created xsi:type="dcterms:W3CDTF">2025-09-08T14:44:49Z</dcterms:created>
  <dcterms:modified xsi:type="dcterms:W3CDTF">2026-10-07T15:17:33Z</dcterms:modified>
</cp:coreProperties>
</file>