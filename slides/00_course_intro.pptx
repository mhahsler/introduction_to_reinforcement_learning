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94" r:id="rId4"/>
    <p:sldId id="391" r:id="rId5"/>
    <p:sldId id="392" r:id="rId6"/>
    <p:sldId id="39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3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2D9ED-F008-4B5F-9525-3D2B5EB9B0EC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56EB6-77CF-499D-BB6E-2C5024EC1F11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 b="1" cap="none" dirty="0"/>
            <a:t>Lecture + Problem Sets</a:t>
          </a:r>
          <a:r>
            <a:rPr lang="en-US" sz="1600" cap="none" dirty="0"/>
            <a:t>: We will discuss algorithms appropriate for different tasks and types of environments. Problem sets will improve the understanding. </a:t>
          </a:r>
        </a:p>
      </dgm:t>
    </dgm:pt>
    <dgm:pt modelId="{A0502F33-FF3E-4CDA-BF79-BFD6A8042CB4}" type="parTrans" cxnId="{2D3F6008-DDCC-40AC-AE52-C234FBC376D5}">
      <dgm:prSet/>
      <dgm:spPr/>
      <dgm:t>
        <a:bodyPr/>
        <a:lstStyle/>
        <a:p>
          <a:endParaRPr lang="en-US"/>
        </a:p>
      </dgm:t>
    </dgm:pt>
    <dgm:pt modelId="{F3A3D373-011E-46F0-BFFD-E173B7E1F018}" type="sibTrans" cxnId="{2D3F6008-DDCC-40AC-AE52-C234FBC376D5}">
      <dgm:prSet/>
      <dgm:spPr/>
      <dgm:t>
        <a:bodyPr/>
        <a:lstStyle/>
        <a:p>
          <a:endParaRPr lang="en-US"/>
        </a:p>
      </dgm:t>
    </dgm:pt>
    <dgm:pt modelId="{FD37932E-AB41-4F9E-B178-8A6DF0D730CD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 b="1" cap="none" dirty="0"/>
            <a:t>Projects</a:t>
          </a:r>
          <a:r>
            <a:rPr lang="en-US" sz="1600" cap="none" dirty="0"/>
            <a:t>: You will implement algorithms to solve several tasks and conduct experiments to investigate how well the algorithms work and how they scale with problem size. </a:t>
          </a:r>
        </a:p>
      </dgm:t>
      <dgm:extLst>
        <a:ext uri="{E40237B7-FDA0-4F09-8148-C483321AD2D9}">
          <dgm14:cNvPr xmlns:dgm14="http://schemas.microsoft.com/office/drawing/2010/diagram" id="0" name="" descr="You will implement algorithms to solve several tasks and conduct experiments to investigate how well the algorithms work and how they scale with problem size. "/>
        </a:ext>
      </dgm:extLst>
    </dgm:pt>
    <dgm:pt modelId="{B268A2BD-0C9E-4DCF-91BA-E16A455E029C}" type="parTrans" cxnId="{47E824B7-3212-4E68-B17D-01C286CB2575}">
      <dgm:prSet/>
      <dgm:spPr/>
      <dgm:t>
        <a:bodyPr/>
        <a:lstStyle/>
        <a:p>
          <a:endParaRPr lang="en-US"/>
        </a:p>
      </dgm:t>
    </dgm:pt>
    <dgm:pt modelId="{E5EB9EE9-E9CD-4FDC-9F83-012E5F75DF28}" type="sibTrans" cxnId="{47E824B7-3212-4E68-B17D-01C286CB2575}">
      <dgm:prSet/>
      <dgm:spPr/>
      <dgm:t>
        <a:bodyPr/>
        <a:lstStyle/>
        <a:p>
          <a:endParaRPr lang="en-US"/>
        </a:p>
      </dgm:t>
    </dgm:pt>
    <dgm:pt modelId="{343D494A-2D2E-4876-BC06-03FE2CAE800A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 b="1" cap="none" dirty="0"/>
            <a:t>Exams: </a:t>
          </a:r>
          <a:r>
            <a:rPr lang="en-US" sz="1600" b="0" cap="none" dirty="0"/>
            <a:t>Checks knowledge of AI concepts and the ability to apply them.</a:t>
          </a:r>
          <a:endParaRPr lang="en-US" sz="1600" b="1" cap="none" dirty="0"/>
        </a:p>
      </dgm:t>
      <dgm:extLst>
        <a:ext uri="{E40237B7-FDA0-4F09-8148-C483321AD2D9}">
          <dgm14:cNvPr xmlns:dgm14="http://schemas.microsoft.com/office/drawing/2010/diagram" id="0" name="" descr="You will implement algorithms to solve several tasks and conduct experiments to investigate how well the algorithms work and how they scale with problem size. "/>
        </a:ext>
      </dgm:extLst>
    </dgm:pt>
    <dgm:pt modelId="{477F5A59-B38B-457D-A879-B8D83A751434}" type="parTrans" cxnId="{698395C8-DCEE-4D98-952C-CCFDAF0E21BB}">
      <dgm:prSet/>
      <dgm:spPr/>
      <dgm:t>
        <a:bodyPr/>
        <a:lstStyle/>
        <a:p>
          <a:endParaRPr lang="en-US"/>
        </a:p>
      </dgm:t>
    </dgm:pt>
    <dgm:pt modelId="{EA5533A2-E0A4-4FB3-82BC-2C084507BD7D}" type="sibTrans" cxnId="{698395C8-DCEE-4D98-952C-CCFDAF0E21BB}">
      <dgm:prSet/>
      <dgm:spPr/>
      <dgm:t>
        <a:bodyPr/>
        <a:lstStyle/>
        <a:p>
          <a:endParaRPr lang="en-US"/>
        </a:p>
      </dgm:t>
    </dgm:pt>
    <dgm:pt modelId="{691847A3-79DF-4D9A-862B-527494AC6810}" type="pres">
      <dgm:prSet presAssocID="{67D2D9ED-F008-4B5F-9525-3D2B5EB9B0EC}" presName="root" presStyleCnt="0">
        <dgm:presLayoutVars>
          <dgm:dir/>
          <dgm:resizeHandles val="exact"/>
        </dgm:presLayoutVars>
      </dgm:prSet>
      <dgm:spPr/>
    </dgm:pt>
    <dgm:pt modelId="{57AEA7ED-7400-46FB-B788-DC93A6CEA299}" type="pres">
      <dgm:prSet presAssocID="{85556EB6-77CF-499D-BB6E-2C5024EC1F11}" presName="compNode" presStyleCnt="0"/>
      <dgm:spPr/>
    </dgm:pt>
    <dgm:pt modelId="{08A12263-E4A9-4A00-88E6-3846A16416C1}" type="pres">
      <dgm:prSet presAssocID="{85556EB6-77CF-499D-BB6E-2C5024EC1F11}" presName="iconBgRect" presStyleLbl="bgShp" presStyleIdx="0" presStyleCnt="3"/>
      <dgm:spPr/>
    </dgm:pt>
    <dgm:pt modelId="{86982F10-A107-426F-B3DF-5C8430D602FE}" type="pres">
      <dgm:prSet presAssocID="{85556EB6-77CF-499D-BB6E-2C5024EC1F1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26F34AEE-C90C-490B-B05A-0CF8911036E6}" type="pres">
      <dgm:prSet presAssocID="{85556EB6-77CF-499D-BB6E-2C5024EC1F11}" presName="spaceRect" presStyleCnt="0"/>
      <dgm:spPr/>
    </dgm:pt>
    <dgm:pt modelId="{75CDBA54-D425-4D8F-91AD-9709476643B9}" type="pres">
      <dgm:prSet presAssocID="{85556EB6-77CF-499D-BB6E-2C5024EC1F11}" presName="textRect" presStyleLbl="revTx" presStyleIdx="0" presStyleCnt="3" custScaleX="180132">
        <dgm:presLayoutVars>
          <dgm:chMax val="1"/>
          <dgm:chPref val="1"/>
        </dgm:presLayoutVars>
      </dgm:prSet>
      <dgm:spPr/>
    </dgm:pt>
    <dgm:pt modelId="{07FA76DA-9D4B-45C4-AD2E-7CECAF062D28}" type="pres">
      <dgm:prSet presAssocID="{F3A3D373-011E-46F0-BFFD-E173B7E1F018}" presName="sibTrans" presStyleCnt="0"/>
      <dgm:spPr/>
    </dgm:pt>
    <dgm:pt modelId="{6C28C8B4-E0AA-4AA0-989D-A8BA14913931}" type="pres">
      <dgm:prSet presAssocID="{FD37932E-AB41-4F9E-B178-8A6DF0D730CD}" presName="compNode" presStyleCnt="0"/>
      <dgm:spPr/>
    </dgm:pt>
    <dgm:pt modelId="{38F2B982-E76D-43F8-875F-C9F7F87FB6F0}" type="pres">
      <dgm:prSet presAssocID="{FD37932E-AB41-4F9E-B178-8A6DF0D730CD}" presName="iconBgRect" presStyleLbl="bgShp" presStyleIdx="1" presStyleCnt="3"/>
      <dgm:spPr/>
    </dgm:pt>
    <dgm:pt modelId="{4DA6517A-86C8-4E8B-867A-3B85CA151A02}" type="pres">
      <dgm:prSet presAssocID="{FD37932E-AB41-4F9E-B178-8A6DF0D730C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3A6481FB-2447-4EBA-8327-1D3DCA8AF792}" type="pres">
      <dgm:prSet presAssocID="{FD37932E-AB41-4F9E-B178-8A6DF0D730CD}" presName="spaceRect" presStyleCnt="0"/>
      <dgm:spPr/>
    </dgm:pt>
    <dgm:pt modelId="{D299793F-65DD-49BB-939C-47011274A408}" type="pres">
      <dgm:prSet presAssocID="{FD37932E-AB41-4F9E-B178-8A6DF0D730CD}" presName="textRect" presStyleLbl="revTx" presStyleIdx="1" presStyleCnt="3" custScaleX="155608">
        <dgm:presLayoutVars>
          <dgm:chMax val="1"/>
          <dgm:chPref val="1"/>
        </dgm:presLayoutVars>
      </dgm:prSet>
      <dgm:spPr/>
    </dgm:pt>
    <dgm:pt modelId="{C86814F7-C00B-4719-A8C6-E88FDD196FE4}" type="pres">
      <dgm:prSet presAssocID="{E5EB9EE9-E9CD-4FDC-9F83-012E5F75DF28}" presName="sibTrans" presStyleCnt="0"/>
      <dgm:spPr/>
    </dgm:pt>
    <dgm:pt modelId="{070C5CC5-EF16-42B0-937B-4090C16771AF}" type="pres">
      <dgm:prSet presAssocID="{343D494A-2D2E-4876-BC06-03FE2CAE800A}" presName="compNode" presStyleCnt="0"/>
      <dgm:spPr/>
    </dgm:pt>
    <dgm:pt modelId="{0A2E255C-A31C-404C-87A9-40118ABC48AC}" type="pres">
      <dgm:prSet presAssocID="{343D494A-2D2E-4876-BC06-03FE2CAE800A}" presName="iconBgRect" presStyleLbl="bgShp" presStyleIdx="2" presStyleCnt="3"/>
      <dgm:spPr/>
    </dgm:pt>
    <dgm:pt modelId="{F968AA62-AAE0-4276-99CD-39211C3E5225}" type="pres">
      <dgm:prSet presAssocID="{343D494A-2D2E-4876-BC06-03FE2CAE800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ipboard Mixed with solid fill"/>
        </a:ext>
      </dgm:extLst>
    </dgm:pt>
    <dgm:pt modelId="{89E99985-C245-492C-BB2C-DD6CA619488C}" type="pres">
      <dgm:prSet presAssocID="{343D494A-2D2E-4876-BC06-03FE2CAE800A}" presName="spaceRect" presStyleCnt="0"/>
      <dgm:spPr/>
    </dgm:pt>
    <dgm:pt modelId="{3FA3308A-970F-4619-8880-75C0B3013189}" type="pres">
      <dgm:prSet presAssocID="{343D494A-2D2E-4876-BC06-03FE2CAE800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D3F6008-DDCC-40AC-AE52-C234FBC376D5}" srcId="{67D2D9ED-F008-4B5F-9525-3D2B5EB9B0EC}" destId="{85556EB6-77CF-499D-BB6E-2C5024EC1F11}" srcOrd="0" destOrd="0" parTransId="{A0502F33-FF3E-4CDA-BF79-BFD6A8042CB4}" sibTransId="{F3A3D373-011E-46F0-BFFD-E173B7E1F018}"/>
    <dgm:cxn modelId="{6DB08242-3BE2-4477-9F6B-13CA0CCB8688}" type="presOf" srcId="{85556EB6-77CF-499D-BB6E-2C5024EC1F11}" destId="{75CDBA54-D425-4D8F-91AD-9709476643B9}" srcOrd="0" destOrd="0" presId="urn:microsoft.com/office/officeart/2018/5/layout/IconCircleLabelList"/>
    <dgm:cxn modelId="{5279A052-2419-477D-8F9E-9BB1CFC24018}" type="presOf" srcId="{343D494A-2D2E-4876-BC06-03FE2CAE800A}" destId="{3FA3308A-970F-4619-8880-75C0B3013189}" srcOrd="0" destOrd="0" presId="urn:microsoft.com/office/officeart/2018/5/layout/IconCircleLabelList"/>
    <dgm:cxn modelId="{47E824B7-3212-4E68-B17D-01C286CB2575}" srcId="{67D2D9ED-F008-4B5F-9525-3D2B5EB9B0EC}" destId="{FD37932E-AB41-4F9E-B178-8A6DF0D730CD}" srcOrd="1" destOrd="0" parTransId="{B268A2BD-0C9E-4DCF-91BA-E16A455E029C}" sibTransId="{E5EB9EE9-E9CD-4FDC-9F83-012E5F75DF28}"/>
    <dgm:cxn modelId="{C5BBC8B9-D165-4CAD-B91D-9084CC61E1A0}" type="presOf" srcId="{67D2D9ED-F008-4B5F-9525-3D2B5EB9B0EC}" destId="{691847A3-79DF-4D9A-862B-527494AC6810}" srcOrd="0" destOrd="0" presId="urn:microsoft.com/office/officeart/2018/5/layout/IconCircleLabelList"/>
    <dgm:cxn modelId="{DC9067BD-BB72-4D12-86ED-168745D75E51}" type="presOf" srcId="{FD37932E-AB41-4F9E-B178-8A6DF0D730CD}" destId="{D299793F-65DD-49BB-939C-47011274A408}" srcOrd="0" destOrd="0" presId="urn:microsoft.com/office/officeart/2018/5/layout/IconCircleLabelList"/>
    <dgm:cxn modelId="{698395C8-DCEE-4D98-952C-CCFDAF0E21BB}" srcId="{67D2D9ED-F008-4B5F-9525-3D2B5EB9B0EC}" destId="{343D494A-2D2E-4876-BC06-03FE2CAE800A}" srcOrd="2" destOrd="0" parTransId="{477F5A59-B38B-457D-A879-B8D83A751434}" sibTransId="{EA5533A2-E0A4-4FB3-82BC-2C084507BD7D}"/>
    <dgm:cxn modelId="{CDDD1C15-C97D-4D9C-83CF-C609B3B839CD}" type="presParOf" srcId="{691847A3-79DF-4D9A-862B-527494AC6810}" destId="{57AEA7ED-7400-46FB-B788-DC93A6CEA299}" srcOrd="0" destOrd="0" presId="urn:microsoft.com/office/officeart/2018/5/layout/IconCircleLabelList"/>
    <dgm:cxn modelId="{E29AD60C-6AD7-42FB-854D-857090BE4F4D}" type="presParOf" srcId="{57AEA7ED-7400-46FB-B788-DC93A6CEA299}" destId="{08A12263-E4A9-4A00-88E6-3846A16416C1}" srcOrd="0" destOrd="0" presId="urn:microsoft.com/office/officeart/2018/5/layout/IconCircleLabelList"/>
    <dgm:cxn modelId="{E784C42F-9C15-4137-8499-407E43DB10E5}" type="presParOf" srcId="{57AEA7ED-7400-46FB-B788-DC93A6CEA299}" destId="{86982F10-A107-426F-B3DF-5C8430D602FE}" srcOrd="1" destOrd="0" presId="urn:microsoft.com/office/officeart/2018/5/layout/IconCircleLabelList"/>
    <dgm:cxn modelId="{53E7089E-E975-44E1-BC12-17CAADEE599A}" type="presParOf" srcId="{57AEA7ED-7400-46FB-B788-DC93A6CEA299}" destId="{26F34AEE-C90C-490B-B05A-0CF8911036E6}" srcOrd="2" destOrd="0" presId="urn:microsoft.com/office/officeart/2018/5/layout/IconCircleLabelList"/>
    <dgm:cxn modelId="{B575AF7A-F7B7-4D70-BA51-AF76149EABFA}" type="presParOf" srcId="{57AEA7ED-7400-46FB-B788-DC93A6CEA299}" destId="{75CDBA54-D425-4D8F-91AD-9709476643B9}" srcOrd="3" destOrd="0" presId="urn:microsoft.com/office/officeart/2018/5/layout/IconCircleLabelList"/>
    <dgm:cxn modelId="{E5322F20-EAC7-42A9-8F7C-56AAFF69C35D}" type="presParOf" srcId="{691847A3-79DF-4D9A-862B-527494AC6810}" destId="{07FA76DA-9D4B-45C4-AD2E-7CECAF062D28}" srcOrd="1" destOrd="0" presId="urn:microsoft.com/office/officeart/2018/5/layout/IconCircleLabelList"/>
    <dgm:cxn modelId="{0ABD7810-BDEB-475E-96DA-FDD6DD2F1A6B}" type="presParOf" srcId="{691847A3-79DF-4D9A-862B-527494AC6810}" destId="{6C28C8B4-E0AA-4AA0-989D-A8BA14913931}" srcOrd="2" destOrd="0" presId="urn:microsoft.com/office/officeart/2018/5/layout/IconCircleLabelList"/>
    <dgm:cxn modelId="{68E6A819-38B6-4A62-93FC-C798D8186577}" type="presParOf" srcId="{6C28C8B4-E0AA-4AA0-989D-A8BA14913931}" destId="{38F2B982-E76D-43F8-875F-C9F7F87FB6F0}" srcOrd="0" destOrd="0" presId="urn:microsoft.com/office/officeart/2018/5/layout/IconCircleLabelList"/>
    <dgm:cxn modelId="{5B887014-5565-4FB2-BAFA-03F47B1B293B}" type="presParOf" srcId="{6C28C8B4-E0AA-4AA0-989D-A8BA14913931}" destId="{4DA6517A-86C8-4E8B-867A-3B85CA151A02}" srcOrd="1" destOrd="0" presId="urn:microsoft.com/office/officeart/2018/5/layout/IconCircleLabelList"/>
    <dgm:cxn modelId="{54472C35-071B-4D03-B206-797914BEAC93}" type="presParOf" srcId="{6C28C8B4-E0AA-4AA0-989D-A8BA14913931}" destId="{3A6481FB-2447-4EBA-8327-1D3DCA8AF792}" srcOrd="2" destOrd="0" presId="urn:microsoft.com/office/officeart/2018/5/layout/IconCircleLabelList"/>
    <dgm:cxn modelId="{B669344F-C799-4CE4-AFE6-A42E7294783C}" type="presParOf" srcId="{6C28C8B4-E0AA-4AA0-989D-A8BA14913931}" destId="{D299793F-65DD-49BB-939C-47011274A408}" srcOrd="3" destOrd="0" presId="urn:microsoft.com/office/officeart/2018/5/layout/IconCircleLabelList"/>
    <dgm:cxn modelId="{B6F08270-C0D8-4CE1-B7EE-41800D3BB82E}" type="presParOf" srcId="{691847A3-79DF-4D9A-862B-527494AC6810}" destId="{C86814F7-C00B-4719-A8C6-E88FDD196FE4}" srcOrd="3" destOrd="0" presId="urn:microsoft.com/office/officeart/2018/5/layout/IconCircleLabelList"/>
    <dgm:cxn modelId="{1941B0D9-5FEC-4F5D-81E6-D6CE125C44A5}" type="presParOf" srcId="{691847A3-79DF-4D9A-862B-527494AC6810}" destId="{070C5CC5-EF16-42B0-937B-4090C16771AF}" srcOrd="4" destOrd="0" presId="urn:microsoft.com/office/officeart/2018/5/layout/IconCircleLabelList"/>
    <dgm:cxn modelId="{619AEDDB-5090-493A-AA4C-F125E029C333}" type="presParOf" srcId="{070C5CC5-EF16-42B0-937B-4090C16771AF}" destId="{0A2E255C-A31C-404C-87A9-40118ABC48AC}" srcOrd="0" destOrd="0" presId="urn:microsoft.com/office/officeart/2018/5/layout/IconCircleLabelList"/>
    <dgm:cxn modelId="{72403486-0129-4BC4-A05A-0E65667C33EC}" type="presParOf" srcId="{070C5CC5-EF16-42B0-937B-4090C16771AF}" destId="{F968AA62-AAE0-4276-99CD-39211C3E5225}" srcOrd="1" destOrd="0" presId="urn:microsoft.com/office/officeart/2018/5/layout/IconCircleLabelList"/>
    <dgm:cxn modelId="{71F521FA-AEF9-458C-9A0A-94A63CD24B3F}" type="presParOf" srcId="{070C5CC5-EF16-42B0-937B-4090C16771AF}" destId="{89E99985-C245-492C-BB2C-DD6CA619488C}" srcOrd="2" destOrd="0" presId="urn:microsoft.com/office/officeart/2018/5/layout/IconCircleLabelList"/>
    <dgm:cxn modelId="{0419BCA8-FD45-4529-9F12-0EBE8A2A546F}" type="presParOf" srcId="{070C5CC5-EF16-42B0-937B-4090C16771AF}" destId="{3FA3308A-970F-4619-8880-75C0B301318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A12263-E4A9-4A00-88E6-3846A16416C1}">
      <dsp:nvSpPr>
        <dsp:cNvPr id="0" name=""/>
        <dsp:cNvSpPr/>
      </dsp:nvSpPr>
      <dsp:spPr>
        <a:xfrm>
          <a:off x="1371722" y="558451"/>
          <a:ext cx="1303875" cy="130387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982F10-A107-426F-B3DF-5C8430D602FE}">
      <dsp:nvSpPr>
        <dsp:cNvPr id="0" name=""/>
        <dsp:cNvSpPr/>
      </dsp:nvSpPr>
      <dsp:spPr>
        <a:xfrm>
          <a:off x="1649597" y="836326"/>
          <a:ext cx="748125" cy="7481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CDBA54-D425-4D8F-91AD-9709476643B9}">
      <dsp:nvSpPr>
        <dsp:cNvPr id="0" name=""/>
        <dsp:cNvSpPr/>
      </dsp:nvSpPr>
      <dsp:spPr>
        <a:xfrm>
          <a:off x="98499" y="2268451"/>
          <a:ext cx="3850321" cy="8517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cap="none" dirty="0"/>
            <a:t>Lecture + Problem Sets</a:t>
          </a:r>
          <a:r>
            <a:rPr lang="en-US" sz="1600" kern="1200" cap="none" dirty="0"/>
            <a:t>: We will discuss algorithms appropriate for different tasks and types of environments. Problem sets will improve the understanding. </a:t>
          </a:r>
        </a:p>
      </dsp:txBody>
      <dsp:txXfrm>
        <a:off x="98499" y="2268451"/>
        <a:ext cx="3850321" cy="851717"/>
      </dsp:txXfrm>
    </dsp:sp>
    <dsp:sp modelId="{38F2B982-E76D-43F8-875F-C9F7F87FB6F0}">
      <dsp:nvSpPr>
        <dsp:cNvPr id="0" name=""/>
        <dsp:cNvSpPr/>
      </dsp:nvSpPr>
      <dsp:spPr>
        <a:xfrm>
          <a:off x="5334006" y="558451"/>
          <a:ext cx="1303875" cy="130387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A6517A-86C8-4E8B-867A-3B85CA151A02}">
      <dsp:nvSpPr>
        <dsp:cNvPr id="0" name=""/>
        <dsp:cNvSpPr/>
      </dsp:nvSpPr>
      <dsp:spPr>
        <a:xfrm>
          <a:off x="5611881" y="836326"/>
          <a:ext cx="748125" cy="7481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99793F-65DD-49BB-939C-47011274A408}">
      <dsp:nvSpPr>
        <dsp:cNvPr id="0" name=""/>
        <dsp:cNvSpPr/>
      </dsp:nvSpPr>
      <dsp:spPr>
        <a:xfrm>
          <a:off x="4322883" y="2268451"/>
          <a:ext cx="3326121" cy="8517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cap="none" dirty="0"/>
            <a:t>Projects</a:t>
          </a:r>
          <a:r>
            <a:rPr lang="en-US" sz="1600" kern="1200" cap="none" dirty="0"/>
            <a:t>: You will implement algorithms to solve several tasks and conduct experiments to investigate how well the algorithms work and how they scale with problem size. </a:t>
          </a:r>
        </a:p>
      </dsp:txBody>
      <dsp:txXfrm>
        <a:off x="4322883" y="2268451"/>
        <a:ext cx="3326121" cy="851717"/>
      </dsp:txXfrm>
    </dsp:sp>
    <dsp:sp modelId="{0A2E255C-A31C-404C-87A9-40118ABC48AC}">
      <dsp:nvSpPr>
        <dsp:cNvPr id="0" name=""/>
        <dsp:cNvSpPr/>
      </dsp:nvSpPr>
      <dsp:spPr>
        <a:xfrm>
          <a:off x="8439879" y="558451"/>
          <a:ext cx="1303875" cy="130387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68AA62-AAE0-4276-99CD-39211C3E5225}">
      <dsp:nvSpPr>
        <dsp:cNvPr id="0" name=""/>
        <dsp:cNvSpPr/>
      </dsp:nvSpPr>
      <dsp:spPr>
        <a:xfrm>
          <a:off x="8717754" y="836326"/>
          <a:ext cx="748125" cy="7481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A3308A-970F-4619-8880-75C0B3013189}">
      <dsp:nvSpPr>
        <dsp:cNvPr id="0" name=""/>
        <dsp:cNvSpPr/>
      </dsp:nvSpPr>
      <dsp:spPr>
        <a:xfrm>
          <a:off x="8023066" y="2268451"/>
          <a:ext cx="2137500" cy="8517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b="1" kern="1200" cap="none" dirty="0"/>
            <a:t>Exams: </a:t>
          </a:r>
          <a:r>
            <a:rPr lang="en-US" sz="1600" b="0" kern="1200" cap="none" dirty="0"/>
            <a:t>Checks knowledge of AI concepts and the ability to apply them.</a:t>
          </a:r>
          <a:endParaRPr lang="en-US" sz="1600" b="1" kern="1200" cap="none" dirty="0"/>
        </a:p>
      </dsp:txBody>
      <dsp:txXfrm>
        <a:off x="8023066" y="2268451"/>
        <a:ext cx="2137500" cy="8517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Course Intro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10"/>
            <a:ext cx="5541660" cy="794516"/>
          </a:xfrm>
        </p:spPr>
        <p:txBody>
          <a:bodyPr anchor="b">
            <a:normAutofit/>
          </a:bodyPr>
          <a:lstStyle/>
          <a:p>
            <a:r>
              <a:rPr lang="en-US" sz="4000" dirty="0"/>
              <a:t>Course Goal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9076"/>
            <a:ext cx="6812280" cy="4489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How Do We Build Intelligent Systems?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ABC4552-96C8-7A2C-5EFF-96517B550E13}"/>
              </a:ext>
            </a:extLst>
          </p:cNvPr>
          <p:cNvSpPr/>
          <p:nvPr/>
        </p:nvSpPr>
        <p:spPr>
          <a:xfrm>
            <a:off x="788565" y="3829575"/>
            <a:ext cx="6660859" cy="847288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BF3AB-F5E7-438D-548D-4A36C4F00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01C9-B55D-E159-EE7F-823319BE6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CLO 1: Explain foundational concepts of </a:t>
            </a:r>
            <a:r>
              <a:rPr lang="en-US" b="1" dirty="0"/>
              <a:t>reinforcement learning</a:t>
            </a:r>
          </a:p>
          <a:p>
            <a:pPr>
              <a:lnSpc>
                <a:spcPct val="120000"/>
              </a:lnSpc>
            </a:pPr>
            <a:r>
              <a:rPr lang="en-US" dirty="0"/>
              <a:t>CLO 2: Formulate sequential decision-making problems as </a:t>
            </a:r>
            <a:r>
              <a:rPr lang="en-US" b="1" dirty="0"/>
              <a:t>Markov Decision Processes</a:t>
            </a:r>
            <a:r>
              <a:rPr lang="en-US" dirty="0"/>
              <a:t> (MDPs)</a:t>
            </a:r>
          </a:p>
          <a:p>
            <a:pPr>
              <a:lnSpc>
                <a:spcPct val="120000"/>
              </a:lnSpc>
            </a:pPr>
            <a:r>
              <a:rPr lang="en-US" dirty="0"/>
              <a:t>CLO 3: Apply </a:t>
            </a:r>
            <a:r>
              <a:rPr lang="en-US" b="1" dirty="0"/>
              <a:t>dynamic programming and Monte Carlo methods </a:t>
            </a:r>
            <a:r>
              <a:rPr lang="en-US" dirty="0"/>
              <a:t>to solve reinforcement learning problems</a:t>
            </a:r>
          </a:p>
          <a:p>
            <a:pPr>
              <a:lnSpc>
                <a:spcPct val="120000"/>
              </a:lnSpc>
            </a:pPr>
            <a:r>
              <a:rPr lang="en-US" dirty="0"/>
              <a:t>CLO 4: Implement and evaluate </a:t>
            </a:r>
            <a:r>
              <a:rPr lang="en-US" b="1" dirty="0"/>
              <a:t>Temporal-Difference (TD) learning </a:t>
            </a:r>
            <a:r>
              <a:rPr lang="en-US" dirty="0"/>
              <a:t>algorithms</a:t>
            </a:r>
          </a:p>
          <a:p>
            <a:pPr>
              <a:lnSpc>
                <a:spcPct val="120000"/>
              </a:lnSpc>
            </a:pPr>
            <a:r>
              <a:rPr lang="en-US" dirty="0"/>
              <a:t>CLO 5: Utilize </a:t>
            </a:r>
            <a:r>
              <a:rPr lang="en-US" b="1" dirty="0"/>
              <a:t>function approximation </a:t>
            </a:r>
            <a:r>
              <a:rPr lang="en-US" dirty="0"/>
              <a:t>methods for large or continuous state spaces</a:t>
            </a:r>
          </a:p>
          <a:p>
            <a:pPr>
              <a:lnSpc>
                <a:spcPct val="120000"/>
              </a:lnSpc>
            </a:pPr>
            <a:r>
              <a:rPr lang="en-US" dirty="0"/>
              <a:t>CLO 6: Implement reinforcement learning agents with </a:t>
            </a:r>
            <a:r>
              <a:rPr lang="en-US" b="1" dirty="0"/>
              <a:t>eligibility traces and policy gradients</a:t>
            </a:r>
          </a:p>
          <a:p>
            <a:pPr>
              <a:lnSpc>
                <a:spcPct val="120000"/>
              </a:lnSpc>
            </a:pPr>
            <a:r>
              <a:rPr lang="en-US" dirty="0"/>
              <a:t>CLO 7: Critically evaluate current research and applications of </a:t>
            </a:r>
            <a:r>
              <a:rPr lang="en-US" b="1" dirty="0"/>
              <a:t>deep reinforcement learning</a:t>
            </a:r>
          </a:p>
          <a:p>
            <a:pPr>
              <a:lnSpc>
                <a:spcPct val="12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353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468C-7B57-AED5-2BA8-94B3237FC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Method</a:t>
            </a:r>
          </a:p>
        </p:txBody>
      </p:sp>
      <p:graphicFrame>
        <p:nvGraphicFramePr>
          <p:cNvPr id="4" name="Content Placeholder 4" descr="You will implement algorithms to solve several tasks and conduct experiments to investigate how well the algorithms work and how they scale with problem size. ">
            <a:extLst>
              <a:ext uri="{FF2B5EF4-FFF2-40B4-BE49-F238E27FC236}">
                <a16:creationId xmlns:a16="http://schemas.microsoft.com/office/drawing/2014/main" id="{07E30FCF-817C-FD5A-27DB-905683C20B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5225928"/>
              </p:ext>
            </p:extLst>
          </p:nvPr>
        </p:nvGraphicFramePr>
        <p:xfrm>
          <a:off x="1007350" y="1550511"/>
          <a:ext cx="10259066" cy="3678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37AF2DD-379A-2C14-3C4F-D66C70B246B4}"/>
              </a:ext>
            </a:extLst>
          </p:cNvPr>
          <p:cNvSpPr txBox="1"/>
          <p:nvPr/>
        </p:nvSpPr>
        <p:spPr>
          <a:xfrm>
            <a:off x="981508" y="5546514"/>
            <a:ext cx="10301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Evaluation is based on problem sets, projects, and exams.</a:t>
            </a:r>
          </a:p>
        </p:txBody>
      </p:sp>
    </p:spTree>
    <p:extLst>
      <p:ext uri="{BB962C8B-B14F-4D97-AF65-F5344CB8AC3E}">
        <p14:creationId xmlns:p14="http://schemas.microsoft.com/office/powerpoint/2010/main" val="3423184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A4C2-6ABA-B4B5-0402-495012026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Mechanics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D382D-43CE-4873-76AC-D924F3D8B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Office hours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My office hours can be found on my home page.</a:t>
            </a:r>
          </a:p>
          <a:p>
            <a:pPr lvl="1"/>
            <a:r>
              <a:rPr lang="en-US" dirty="0"/>
              <a:t>Weekly TA office hours will be done using Zoom. The time and the link will be on Canvas soon.</a:t>
            </a:r>
          </a:p>
          <a:p>
            <a:r>
              <a:rPr lang="en-US" b="1" dirty="0"/>
              <a:t>Communication</a:t>
            </a:r>
            <a:r>
              <a:rPr lang="en-US" dirty="0"/>
              <a:t>: Use Canvas messages and leave comments for assignments.</a:t>
            </a:r>
          </a:p>
          <a:p>
            <a:endParaRPr lang="en-US" dirty="0"/>
          </a:p>
          <a:p>
            <a:r>
              <a:rPr lang="en-US" b="1" dirty="0"/>
              <a:t>Assignment Grading</a:t>
            </a:r>
            <a:r>
              <a:rPr lang="en-US" dirty="0"/>
              <a:t>: The TA will grade assignments and problem sets. Please contact the TA (e.g., during office hours or by leaving a comment) to discuss your assignment and grade.</a:t>
            </a:r>
          </a:p>
          <a:p>
            <a:endParaRPr lang="en-US" dirty="0"/>
          </a:p>
          <a:p>
            <a:r>
              <a:rPr lang="en-US" b="1" dirty="0"/>
              <a:t>Final Grade</a:t>
            </a:r>
            <a:r>
              <a:rPr lang="en-US" dirty="0"/>
              <a:t>: The calculated grade on Canvas serves as a rough guide. I will assign your final grade at the end of the semester.</a:t>
            </a:r>
          </a:p>
        </p:txBody>
      </p:sp>
    </p:spTree>
    <p:extLst>
      <p:ext uri="{BB962C8B-B14F-4D97-AF65-F5344CB8AC3E}">
        <p14:creationId xmlns:p14="http://schemas.microsoft.com/office/powerpoint/2010/main" val="1834417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B0874-44AF-8EFD-BCBB-851D6F00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Be Successful you need…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487AD-771D-8DAA-546E-E45BEF6D9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Proficiency in </a:t>
            </a:r>
            <a:r>
              <a:rPr lang="en-US" b="1" dirty="0"/>
              <a:t>Python</a:t>
            </a:r>
            <a:r>
              <a:rPr lang="en-US" dirty="0"/>
              <a:t> programming.</a:t>
            </a:r>
          </a:p>
          <a:p>
            <a:endParaRPr lang="en-US" dirty="0"/>
          </a:p>
          <a:p>
            <a:r>
              <a:rPr lang="en-US" dirty="0"/>
              <a:t>Familiarity with </a:t>
            </a:r>
            <a:r>
              <a:rPr lang="en-US" b="1" dirty="0"/>
              <a:t>artificial intelligence</a:t>
            </a:r>
            <a:r>
              <a:rPr lang="en-US" dirty="0"/>
              <a:t> fundamentals, including intelligent agents and search.</a:t>
            </a:r>
          </a:p>
          <a:p>
            <a:endParaRPr lang="en-US" dirty="0"/>
          </a:p>
          <a:p>
            <a:r>
              <a:rPr lang="en-US" dirty="0"/>
              <a:t>Knowledge of </a:t>
            </a:r>
            <a:r>
              <a:rPr lang="en-US" b="1" dirty="0"/>
              <a:t>machine learning </a:t>
            </a:r>
            <a:r>
              <a:rPr lang="en-US" dirty="0"/>
              <a:t>(e.g., supervised learning, deep learning, model evaluation).</a:t>
            </a:r>
          </a:p>
          <a:p>
            <a:endParaRPr lang="en-US" dirty="0"/>
          </a:p>
          <a:p>
            <a:r>
              <a:rPr lang="en-US"/>
              <a:t>Knowledge of </a:t>
            </a:r>
            <a:r>
              <a:rPr lang="en-US" b="1"/>
              <a:t>math </a:t>
            </a:r>
            <a:r>
              <a:rPr lang="en-US" b="1" dirty="0"/>
              <a:t>and probability theory </a:t>
            </a:r>
            <a:r>
              <a:rPr lang="en-US" dirty="0"/>
              <a:t>(probability, expectation)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440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5171</TotalTime>
  <Words>389</Words>
  <Application>Microsoft Office PowerPoint</Application>
  <PresentationFormat>Widescreen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Reinforcement Learning  Course Intro</vt:lpstr>
      <vt:lpstr>Course Goal</vt:lpstr>
      <vt:lpstr>Course Learning Outcomes</vt:lpstr>
      <vt:lpstr>Learning Method</vt:lpstr>
      <vt:lpstr>Course Mechanics</vt:lpstr>
      <vt:lpstr>To Be Successful you need…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71</cp:revision>
  <dcterms:created xsi:type="dcterms:W3CDTF">2025-09-08T14:44:49Z</dcterms:created>
  <dcterms:modified xsi:type="dcterms:W3CDTF">2026-01-21T19:53:18Z</dcterms:modified>
</cp:coreProperties>
</file>