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90" r:id="rId3"/>
    <p:sldId id="394" r:id="rId4"/>
    <p:sldId id="391" r:id="rId5"/>
    <p:sldId id="392" r:id="rId6"/>
    <p:sldId id="395" r:id="rId7"/>
    <p:sldId id="263" r:id="rId8"/>
    <p:sldId id="39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60" autoAdjust="0"/>
    <p:restoredTop sz="94660"/>
  </p:normalViewPr>
  <p:slideViewPr>
    <p:cSldViewPr snapToGrid="0">
      <p:cViewPr varScale="1">
        <p:scale>
          <a:sx n="106" d="100"/>
          <a:sy n="106" d="100"/>
        </p:scale>
        <p:origin x="96" y="269"/>
      </p:cViewPr>
      <p:guideLst/>
    </p:cSldViewPr>
  </p:slideViewPr>
  <p:notesTextViewPr>
    <p:cViewPr>
      <p:scale>
        <a:sx n="1" d="1"/>
        <a:sy n="1" d="1"/>
      </p:scale>
      <p:origin x="0" y="0"/>
    </p:cViewPr>
  </p:notesTextViewPr>
  <p:sorterViewPr>
    <p:cViewPr>
      <p:scale>
        <a:sx n="100" d="100"/>
        <a:sy n="100" d="100"/>
      </p:scale>
      <p:origin x="0" y="-28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67D2D9ED-F008-4B5F-9525-3D2B5EB9B0EC}" type="doc">
      <dgm:prSet loTypeId="urn:microsoft.com/office/officeart/2018/5/layout/IconCircleLabelList" loCatId="icon" qsTypeId="urn:microsoft.com/office/officeart/2005/8/quickstyle/simple1#1" qsCatId="simple" csTypeId="urn:microsoft.com/office/officeart/2018/5/colors/Iconchunking_coloredtext_colorful1" csCatId="colorful" phldr="1"/>
      <dgm:spPr/>
      <dgm:t>
        <a:bodyPr/>
        <a:lstStyle/>
        <a:p>
          <a:endParaRPr lang="en-US"/>
        </a:p>
      </dgm:t>
    </dgm:pt>
    <dgm:pt modelId="{85556EB6-77CF-499D-BB6E-2C5024EC1F11}">
      <dgm:prSet custT="1"/>
      <dgm:spPr/>
      <dgm:t>
        <a:bodyPr/>
        <a:lstStyle/>
        <a:p>
          <a:pPr>
            <a:lnSpc>
              <a:spcPct val="100000"/>
            </a:lnSpc>
            <a:defRPr cap="all"/>
          </a:pPr>
          <a:r>
            <a:rPr lang="en-US" sz="1600" b="1" cap="none" dirty="0"/>
            <a:t>Lecture + Problem Sets</a:t>
          </a:r>
          <a:r>
            <a:rPr lang="en-US" sz="1600" cap="none" dirty="0"/>
            <a:t>: We will discuss algorithms appropriate for different tasks and types of environments. Problem sets will improve the understanding. </a:t>
          </a:r>
        </a:p>
      </dgm:t>
    </dgm:pt>
    <dgm:pt modelId="{A0502F33-FF3E-4CDA-BF79-BFD6A8042CB4}" type="parTrans" cxnId="{2D3F6008-DDCC-40AC-AE52-C234FBC376D5}">
      <dgm:prSet/>
      <dgm:spPr/>
      <dgm:t>
        <a:bodyPr/>
        <a:lstStyle/>
        <a:p>
          <a:endParaRPr lang="en-US"/>
        </a:p>
      </dgm:t>
    </dgm:pt>
    <dgm:pt modelId="{F3A3D373-011E-46F0-BFFD-E173B7E1F018}" type="sibTrans" cxnId="{2D3F6008-DDCC-40AC-AE52-C234FBC376D5}">
      <dgm:prSet/>
      <dgm:spPr/>
      <dgm:t>
        <a:bodyPr/>
        <a:lstStyle/>
        <a:p>
          <a:endParaRPr lang="en-US"/>
        </a:p>
      </dgm:t>
    </dgm:pt>
    <dgm:pt modelId="{FD37932E-AB41-4F9E-B178-8A6DF0D730CD}">
      <dgm:prSet custT="1"/>
      <dgm:spPr/>
      <dgm:t>
        <a:bodyPr/>
        <a:lstStyle/>
        <a:p>
          <a:pPr>
            <a:lnSpc>
              <a:spcPct val="100000"/>
            </a:lnSpc>
            <a:defRPr cap="all"/>
          </a:pPr>
          <a:r>
            <a:rPr lang="en-US" sz="1600" b="1" cap="none" dirty="0"/>
            <a:t>Projects</a:t>
          </a:r>
          <a:r>
            <a:rPr lang="en-US" sz="1600" cap="none" dirty="0"/>
            <a:t>: You will implement algorithms to solve several tasks and conduct experiments to investigate how well the algorithms work and how they scale with problem size.</a:t>
          </a:r>
        </a:p>
        <a:p>
          <a:pPr>
            <a:lnSpc>
              <a:spcPct val="100000"/>
            </a:lnSpc>
            <a:defRPr cap="all"/>
          </a:pPr>
          <a:endParaRPr lang="en-US" sz="1600" cap="none" dirty="0"/>
        </a:p>
        <a:p>
          <a:pPr>
            <a:lnSpc>
              <a:spcPct val="100000"/>
            </a:lnSpc>
            <a:defRPr cap="all"/>
          </a:pPr>
          <a:r>
            <a:rPr lang="en-US" sz="1600" b="1" cap="none" dirty="0">
              <a:solidFill>
                <a:schemeClr val="accent3"/>
              </a:solidFill>
            </a:rPr>
            <a:t>Research</a:t>
          </a:r>
          <a:r>
            <a:rPr lang="en-US" sz="1600" cap="none" dirty="0">
              <a:solidFill>
                <a:schemeClr val="accent3"/>
              </a:solidFill>
            </a:rPr>
            <a:t>: paper and presentation (graduate students only)</a:t>
          </a:r>
          <a:r>
            <a:rPr lang="en-US" sz="1600" cap="none" dirty="0"/>
            <a:t> </a:t>
          </a:r>
        </a:p>
      </dgm:t>
      <dgm:extLst>
        <a:ext uri="{E40237B7-FDA0-4F09-8148-C483321AD2D9}">
          <dgm14:cNvPr xmlns:dgm14="http://schemas.microsoft.com/office/drawing/2010/diagram" id="0" name="" descr="You will implement algorithms to solve several tasks and conduct experiments to investigate how well the algorithms work and how they scale with problem size. "/>
        </a:ext>
      </dgm:extLst>
    </dgm:pt>
    <dgm:pt modelId="{B268A2BD-0C9E-4DCF-91BA-E16A455E029C}" type="parTrans" cxnId="{47E824B7-3212-4E68-B17D-01C286CB2575}">
      <dgm:prSet/>
      <dgm:spPr/>
      <dgm:t>
        <a:bodyPr/>
        <a:lstStyle/>
        <a:p>
          <a:endParaRPr lang="en-US"/>
        </a:p>
      </dgm:t>
    </dgm:pt>
    <dgm:pt modelId="{E5EB9EE9-E9CD-4FDC-9F83-012E5F75DF28}" type="sibTrans" cxnId="{47E824B7-3212-4E68-B17D-01C286CB2575}">
      <dgm:prSet/>
      <dgm:spPr/>
      <dgm:t>
        <a:bodyPr/>
        <a:lstStyle/>
        <a:p>
          <a:endParaRPr lang="en-US"/>
        </a:p>
      </dgm:t>
    </dgm:pt>
    <dgm:pt modelId="{343D494A-2D2E-4876-BC06-03FE2CAE800A}">
      <dgm:prSet custT="1"/>
      <dgm:spPr/>
      <dgm:t>
        <a:bodyPr/>
        <a:lstStyle/>
        <a:p>
          <a:pPr>
            <a:lnSpc>
              <a:spcPct val="100000"/>
            </a:lnSpc>
            <a:defRPr cap="all"/>
          </a:pPr>
          <a:r>
            <a:rPr lang="en-US" sz="1600" b="1" cap="none" dirty="0"/>
            <a:t>Exams: </a:t>
          </a:r>
          <a:r>
            <a:rPr lang="en-US" sz="1600" b="0" cap="none" dirty="0"/>
            <a:t>Checks knowledge of AI concepts and the ability to apply them.</a:t>
          </a:r>
          <a:endParaRPr lang="en-US" sz="1600" b="1" cap="none" dirty="0"/>
        </a:p>
      </dgm:t>
      <dgm:extLst>
        <a:ext uri="{E40237B7-FDA0-4F09-8148-C483321AD2D9}">
          <dgm14:cNvPr xmlns:dgm14="http://schemas.microsoft.com/office/drawing/2010/diagram" id="0" name="" descr="You will implement algorithms to solve several tasks and conduct experiments to investigate how well the algorithms work and how they scale with problem size. "/>
        </a:ext>
      </dgm:extLst>
    </dgm:pt>
    <dgm:pt modelId="{477F5A59-B38B-457D-A879-B8D83A751434}" type="parTrans" cxnId="{698395C8-DCEE-4D98-952C-CCFDAF0E21BB}">
      <dgm:prSet/>
      <dgm:spPr/>
      <dgm:t>
        <a:bodyPr/>
        <a:lstStyle/>
        <a:p>
          <a:endParaRPr lang="en-US"/>
        </a:p>
      </dgm:t>
    </dgm:pt>
    <dgm:pt modelId="{EA5533A2-E0A4-4FB3-82BC-2C084507BD7D}" type="sibTrans" cxnId="{698395C8-DCEE-4D98-952C-CCFDAF0E21BB}">
      <dgm:prSet/>
      <dgm:spPr/>
      <dgm:t>
        <a:bodyPr/>
        <a:lstStyle/>
        <a:p>
          <a:endParaRPr lang="en-US"/>
        </a:p>
      </dgm:t>
    </dgm:pt>
    <dgm:pt modelId="{691847A3-79DF-4D9A-862B-527494AC6810}" type="pres">
      <dgm:prSet presAssocID="{67D2D9ED-F008-4B5F-9525-3D2B5EB9B0EC}" presName="root" presStyleCnt="0">
        <dgm:presLayoutVars>
          <dgm:dir/>
          <dgm:resizeHandles val="exact"/>
        </dgm:presLayoutVars>
      </dgm:prSet>
      <dgm:spPr/>
    </dgm:pt>
    <dgm:pt modelId="{57AEA7ED-7400-46FB-B788-DC93A6CEA299}" type="pres">
      <dgm:prSet presAssocID="{85556EB6-77CF-499D-BB6E-2C5024EC1F11}" presName="compNode" presStyleCnt="0"/>
      <dgm:spPr/>
    </dgm:pt>
    <dgm:pt modelId="{08A12263-E4A9-4A00-88E6-3846A16416C1}" type="pres">
      <dgm:prSet presAssocID="{85556EB6-77CF-499D-BB6E-2C5024EC1F11}" presName="iconBgRect" presStyleLbl="bgShp" presStyleIdx="0" presStyleCnt="3"/>
      <dgm:spPr/>
    </dgm:pt>
    <dgm:pt modelId="{86982F10-A107-426F-B3DF-5C8430D602FE}" type="pres">
      <dgm:prSet presAssocID="{85556EB6-77CF-499D-BB6E-2C5024EC1F11}"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26F34AEE-C90C-490B-B05A-0CF8911036E6}" type="pres">
      <dgm:prSet presAssocID="{85556EB6-77CF-499D-BB6E-2C5024EC1F11}" presName="spaceRect" presStyleCnt="0"/>
      <dgm:spPr/>
    </dgm:pt>
    <dgm:pt modelId="{75CDBA54-D425-4D8F-91AD-9709476643B9}" type="pres">
      <dgm:prSet presAssocID="{85556EB6-77CF-499D-BB6E-2C5024EC1F11}" presName="textRect" presStyleLbl="revTx" presStyleIdx="0" presStyleCnt="3" custScaleX="180132">
        <dgm:presLayoutVars>
          <dgm:chMax val="1"/>
          <dgm:chPref val="1"/>
        </dgm:presLayoutVars>
      </dgm:prSet>
      <dgm:spPr/>
    </dgm:pt>
    <dgm:pt modelId="{07FA76DA-9D4B-45C4-AD2E-7CECAF062D28}" type="pres">
      <dgm:prSet presAssocID="{F3A3D373-011E-46F0-BFFD-E173B7E1F018}" presName="sibTrans" presStyleCnt="0"/>
      <dgm:spPr/>
    </dgm:pt>
    <dgm:pt modelId="{6C28C8B4-E0AA-4AA0-989D-A8BA14913931}" type="pres">
      <dgm:prSet presAssocID="{FD37932E-AB41-4F9E-B178-8A6DF0D730CD}" presName="compNode" presStyleCnt="0"/>
      <dgm:spPr/>
    </dgm:pt>
    <dgm:pt modelId="{38F2B982-E76D-43F8-875F-C9F7F87FB6F0}" type="pres">
      <dgm:prSet presAssocID="{FD37932E-AB41-4F9E-B178-8A6DF0D730CD}" presName="iconBgRect" presStyleLbl="bgShp" presStyleIdx="1" presStyleCnt="3"/>
      <dgm:spPr/>
    </dgm:pt>
    <dgm:pt modelId="{4DA6517A-86C8-4E8B-867A-3B85CA151A02}" type="pres">
      <dgm:prSet presAssocID="{FD37932E-AB41-4F9E-B178-8A6DF0D730C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3A6481FB-2447-4EBA-8327-1D3DCA8AF792}" type="pres">
      <dgm:prSet presAssocID="{FD37932E-AB41-4F9E-B178-8A6DF0D730CD}" presName="spaceRect" presStyleCnt="0"/>
      <dgm:spPr/>
    </dgm:pt>
    <dgm:pt modelId="{D299793F-65DD-49BB-939C-47011274A408}" type="pres">
      <dgm:prSet presAssocID="{FD37932E-AB41-4F9E-B178-8A6DF0D730CD}" presName="textRect" presStyleLbl="revTx" presStyleIdx="1" presStyleCnt="3" custScaleX="155608">
        <dgm:presLayoutVars>
          <dgm:chMax val="1"/>
          <dgm:chPref val="1"/>
        </dgm:presLayoutVars>
      </dgm:prSet>
      <dgm:spPr/>
    </dgm:pt>
    <dgm:pt modelId="{C86814F7-C00B-4719-A8C6-E88FDD196FE4}" type="pres">
      <dgm:prSet presAssocID="{E5EB9EE9-E9CD-4FDC-9F83-012E5F75DF28}" presName="sibTrans" presStyleCnt="0"/>
      <dgm:spPr/>
    </dgm:pt>
    <dgm:pt modelId="{070C5CC5-EF16-42B0-937B-4090C16771AF}" type="pres">
      <dgm:prSet presAssocID="{343D494A-2D2E-4876-BC06-03FE2CAE800A}" presName="compNode" presStyleCnt="0"/>
      <dgm:spPr/>
    </dgm:pt>
    <dgm:pt modelId="{0A2E255C-A31C-404C-87A9-40118ABC48AC}" type="pres">
      <dgm:prSet presAssocID="{343D494A-2D2E-4876-BC06-03FE2CAE800A}" presName="iconBgRect" presStyleLbl="bgShp" presStyleIdx="2" presStyleCnt="3"/>
      <dgm:spPr/>
    </dgm:pt>
    <dgm:pt modelId="{F968AA62-AAE0-4276-99CD-39211C3E5225}" type="pres">
      <dgm:prSet presAssocID="{343D494A-2D2E-4876-BC06-03FE2CAE800A}"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Clipboard Mixed with solid fill"/>
        </a:ext>
      </dgm:extLst>
    </dgm:pt>
    <dgm:pt modelId="{89E99985-C245-492C-BB2C-DD6CA619488C}" type="pres">
      <dgm:prSet presAssocID="{343D494A-2D2E-4876-BC06-03FE2CAE800A}" presName="spaceRect" presStyleCnt="0"/>
      <dgm:spPr/>
    </dgm:pt>
    <dgm:pt modelId="{3FA3308A-970F-4619-8880-75C0B3013189}" type="pres">
      <dgm:prSet presAssocID="{343D494A-2D2E-4876-BC06-03FE2CAE800A}" presName="textRect" presStyleLbl="revTx" presStyleIdx="2" presStyleCnt="3">
        <dgm:presLayoutVars>
          <dgm:chMax val="1"/>
          <dgm:chPref val="1"/>
        </dgm:presLayoutVars>
      </dgm:prSet>
      <dgm:spPr/>
    </dgm:pt>
  </dgm:ptLst>
  <dgm:cxnLst>
    <dgm:cxn modelId="{2D3F6008-DDCC-40AC-AE52-C234FBC376D5}" srcId="{67D2D9ED-F008-4B5F-9525-3D2B5EB9B0EC}" destId="{85556EB6-77CF-499D-BB6E-2C5024EC1F11}" srcOrd="0" destOrd="0" parTransId="{A0502F33-FF3E-4CDA-BF79-BFD6A8042CB4}" sibTransId="{F3A3D373-011E-46F0-BFFD-E173B7E1F018}"/>
    <dgm:cxn modelId="{6DB08242-3BE2-4477-9F6B-13CA0CCB8688}" type="presOf" srcId="{85556EB6-77CF-499D-BB6E-2C5024EC1F11}" destId="{75CDBA54-D425-4D8F-91AD-9709476643B9}" srcOrd="0" destOrd="0" presId="urn:microsoft.com/office/officeart/2018/5/layout/IconCircleLabelList"/>
    <dgm:cxn modelId="{5279A052-2419-477D-8F9E-9BB1CFC24018}" type="presOf" srcId="{343D494A-2D2E-4876-BC06-03FE2CAE800A}" destId="{3FA3308A-970F-4619-8880-75C0B3013189}" srcOrd="0" destOrd="0" presId="urn:microsoft.com/office/officeart/2018/5/layout/IconCircleLabelList"/>
    <dgm:cxn modelId="{47E824B7-3212-4E68-B17D-01C286CB2575}" srcId="{67D2D9ED-F008-4B5F-9525-3D2B5EB9B0EC}" destId="{FD37932E-AB41-4F9E-B178-8A6DF0D730CD}" srcOrd="1" destOrd="0" parTransId="{B268A2BD-0C9E-4DCF-91BA-E16A455E029C}" sibTransId="{E5EB9EE9-E9CD-4FDC-9F83-012E5F75DF28}"/>
    <dgm:cxn modelId="{C5BBC8B9-D165-4CAD-B91D-9084CC61E1A0}" type="presOf" srcId="{67D2D9ED-F008-4B5F-9525-3D2B5EB9B0EC}" destId="{691847A3-79DF-4D9A-862B-527494AC6810}" srcOrd="0" destOrd="0" presId="urn:microsoft.com/office/officeart/2018/5/layout/IconCircleLabelList"/>
    <dgm:cxn modelId="{DC9067BD-BB72-4D12-86ED-168745D75E51}" type="presOf" srcId="{FD37932E-AB41-4F9E-B178-8A6DF0D730CD}" destId="{D299793F-65DD-49BB-939C-47011274A408}" srcOrd="0" destOrd="0" presId="urn:microsoft.com/office/officeart/2018/5/layout/IconCircleLabelList"/>
    <dgm:cxn modelId="{698395C8-DCEE-4D98-952C-CCFDAF0E21BB}" srcId="{67D2D9ED-F008-4B5F-9525-3D2B5EB9B0EC}" destId="{343D494A-2D2E-4876-BC06-03FE2CAE800A}" srcOrd="2" destOrd="0" parTransId="{477F5A59-B38B-457D-A879-B8D83A751434}" sibTransId="{EA5533A2-E0A4-4FB3-82BC-2C084507BD7D}"/>
    <dgm:cxn modelId="{CDDD1C15-C97D-4D9C-83CF-C609B3B839CD}" type="presParOf" srcId="{691847A3-79DF-4D9A-862B-527494AC6810}" destId="{57AEA7ED-7400-46FB-B788-DC93A6CEA299}" srcOrd="0" destOrd="0" presId="urn:microsoft.com/office/officeart/2018/5/layout/IconCircleLabelList"/>
    <dgm:cxn modelId="{E29AD60C-6AD7-42FB-854D-857090BE4F4D}" type="presParOf" srcId="{57AEA7ED-7400-46FB-B788-DC93A6CEA299}" destId="{08A12263-E4A9-4A00-88E6-3846A16416C1}" srcOrd="0" destOrd="0" presId="urn:microsoft.com/office/officeart/2018/5/layout/IconCircleLabelList"/>
    <dgm:cxn modelId="{E784C42F-9C15-4137-8499-407E43DB10E5}" type="presParOf" srcId="{57AEA7ED-7400-46FB-B788-DC93A6CEA299}" destId="{86982F10-A107-426F-B3DF-5C8430D602FE}" srcOrd="1" destOrd="0" presId="urn:microsoft.com/office/officeart/2018/5/layout/IconCircleLabelList"/>
    <dgm:cxn modelId="{53E7089E-E975-44E1-BC12-17CAADEE599A}" type="presParOf" srcId="{57AEA7ED-7400-46FB-B788-DC93A6CEA299}" destId="{26F34AEE-C90C-490B-B05A-0CF8911036E6}" srcOrd="2" destOrd="0" presId="urn:microsoft.com/office/officeart/2018/5/layout/IconCircleLabelList"/>
    <dgm:cxn modelId="{B575AF7A-F7B7-4D70-BA51-AF76149EABFA}" type="presParOf" srcId="{57AEA7ED-7400-46FB-B788-DC93A6CEA299}" destId="{75CDBA54-D425-4D8F-91AD-9709476643B9}" srcOrd="3" destOrd="0" presId="urn:microsoft.com/office/officeart/2018/5/layout/IconCircleLabelList"/>
    <dgm:cxn modelId="{E5322F20-EAC7-42A9-8F7C-56AAFF69C35D}" type="presParOf" srcId="{691847A3-79DF-4D9A-862B-527494AC6810}" destId="{07FA76DA-9D4B-45C4-AD2E-7CECAF062D28}" srcOrd="1" destOrd="0" presId="urn:microsoft.com/office/officeart/2018/5/layout/IconCircleLabelList"/>
    <dgm:cxn modelId="{0ABD7810-BDEB-475E-96DA-FDD6DD2F1A6B}" type="presParOf" srcId="{691847A3-79DF-4D9A-862B-527494AC6810}" destId="{6C28C8B4-E0AA-4AA0-989D-A8BA14913931}" srcOrd="2" destOrd="0" presId="urn:microsoft.com/office/officeart/2018/5/layout/IconCircleLabelList"/>
    <dgm:cxn modelId="{68E6A819-38B6-4A62-93FC-C798D8186577}" type="presParOf" srcId="{6C28C8B4-E0AA-4AA0-989D-A8BA14913931}" destId="{38F2B982-E76D-43F8-875F-C9F7F87FB6F0}" srcOrd="0" destOrd="0" presId="urn:microsoft.com/office/officeart/2018/5/layout/IconCircleLabelList"/>
    <dgm:cxn modelId="{5B887014-5565-4FB2-BAFA-03F47B1B293B}" type="presParOf" srcId="{6C28C8B4-E0AA-4AA0-989D-A8BA14913931}" destId="{4DA6517A-86C8-4E8B-867A-3B85CA151A02}" srcOrd="1" destOrd="0" presId="urn:microsoft.com/office/officeart/2018/5/layout/IconCircleLabelList"/>
    <dgm:cxn modelId="{54472C35-071B-4D03-B206-797914BEAC93}" type="presParOf" srcId="{6C28C8B4-E0AA-4AA0-989D-A8BA14913931}" destId="{3A6481FB-2447-4EBA-8327-1D3DCA8AF792}" srcOrd="2" destOrd="0" presId="urn:microsoft.com/office/officeart/2018/5/layout/IconCircleLabelList"/>
    <dgm:cxn modelId="{B669344F-C799-4CE4-AFE6-A42E7294783C}" type="presParOf" srcId="{6C28C8B4-E0AA-4AA0-989D-A8BA14913931}" destId="{D299793F-65DD-49BB-939C-47011274A408}" srcOrd="3" destOrd="0" presId="urn:microsoft.com/office/officeart/2018/5/layout/IconCircleLabelList"/>
    <dgm:cxn modelId="{B6F08270-C0D8-4CE1-B7EE-41800D3BB82E}" type="presParOf" srcId="{691847A3-79DF-4D9A-862B-527494AC6810}" destId="{C86814F7-C00B-4719-A8C6-E88FDD196FE4}" srcOrd="3" destOrd="0" presId="urn:microsoft.com/office/officeart/2018/5/layout/IconCircleLabelList"/>
    <dgm:cxn modelId="{1941B0D9-5FEC-4F5D-81E6-D6CE125C44A5}" type="presParOf" srcId="{691847A3-79DF-4D9A-862B-527494AC6810}" destId="{070C5CC5-EF16-42B0-937B-4090C16771AF}" srcOrd="4" destOrd="0" presId="urn:microsoft.com/office/officeart/2018/5/layout/IconCircleLabelList"/>
    <dgm:cxn modelId="{619AEDDB-5090-493A-AA4C-F125E029C333}" type="presParOf" srcId="{070C5CC5-EF16-42B0-937B-4090C16771AF}" destId="{0A2E255C-A31C-404C-87A9-40118ABC48AC}" srcOrd="0" destOrd="0" presId="urn:microsoft.com/office/officeart/2018/5/layout/IconCircleLabelList"/>
    <dgm:cxn modelId="{72403486-0129-4BC4-A05A-0E65667C33EC}" type="presParOf" srcId="{070C5CC5-EF16-42B0-937B-4090C16771AF}" destId="{F968AA62-AAE0-4276-99CD-39211C3E5225}" srcOrd="1" destOrd="0" presId="urn:microsoft.com/office/officeart/2018/5/layout/IconCircleLabelList"/>
    <dgm:cxn modelId="{71F521FA-AEF9-458C-9A0A-94A63CD24B3F}" type="presParOf" srcId="{070C5CC5-EF16-42B0-937B-4090C16771AF}" destId="{89E99985-C245-492C-BB2C-DD6CA619488C}" srcOrd="2" destOrd="0" presId="urn:microsoft.com/office/officeart/2018/5/layout/IconCircleLabelList"/>
    <dgm:cxn modelId="{0419BCA8-FD45-4529-9F12-0EBE8A2A546F}" type="presParOf" srcId="{070C5CC5-EF16-42B0-937B-4090C16771AF}" destId="{3FA3308A-970F-4619-8880-75C0B301318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A12263-E4A9-4A00-88E6-3846A16416C1}">
      <dsp:nvSpPr>
        <dsp:cNvPr id="0" name=""/>
        <dsp:cNvSpPr/>
      </dsp:nvSpPr>
      <dsp:spPr>
        <a:xfrm>
          <a:off x="1371722" y="558451"/>
          <a:ext cx="1303875" cy="1303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982F10-A107-426F-B3DF-5C8430D602FE}">
      <dsp:nvSpPr>
        <dsp:cNvPr id="0" name=""/>
        <dsp:cNvSpPr/>
      </dsp:nvSpPr>
      <dsp:spPr>
        <a:xfrm>
          <a:off x="1649597" y="836326"/>
          <a:ext cx="748125" cy="7481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CDBA54-D425-4D8F-91AD-9709476643B9}">
      <dsp:nvSpPr>
        <dsp:cNvPr id="0" name=""/>
        <dsp:cNvSpPr/>
      </dsp:nvSpPr>
      <dsp:spPr>
        <a:xfrm>
          <a:off x="98499" y="2268451"/>
          <a:ext cx="3850321" cy="851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cap="none" dirty="0"/>
            <a:t>Lecture + Problem Sets</a:t>
          </a:r>
          <a:r>
            <a:rPr lang="en-US" sz="1600" kern="1200" cap="none" dirty="0"/>
            <a:t>: We will discuss algorithms appropriate for different tasks and types of environments. Problem sets will improve the understanding. </a:t>
          </a:r>
        </a:p>
      </dsp:txBody>
      <dsp:txXfrm>
        <a:off x="98499" y="2268451"/>
        <a:ext cx="3850321" cy="851717"/>
      </dsp:txXfrm>
    </dsp:sp>
    <dsp:sp modelId="{38F2B982-E76D-43F8-875F-C9F7F87FB6F0}">
      <dsp:nvSpPr>
        <dsp:cNvPr id="0" name=""/>
        <dsp:cNvSpPr/>
      </dsp:nvSpPr>
      <dsp:spPr>
        <a:xfrm>
          <a:off x="5334006" y="558451"/>
          <a:ext cx="1303875" cy="1303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A6517A-86C8-4E8B-867A-3B85CA151A02}">
      <dsp:nvSpPr>
        <dsp:cNvPr id="0" name=""/>
        <dsp:cNvSpPr/>
      </dsp:nvSpPr>
      <dsp:spPr>
        <a:xfrm>
          <a:off x="5611881" y="836326"/>
          <a:ext cx="748125" cy="7481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99793F-65DD-49BB-939C-47011274A408}">
      <dsp:nvSpPr>
        <dsp:cNvPr id="0" name=""/>
        <dsp:cNvSpPr/>
      </dsp:nvSpPr>
      <dsp:spPr>
        <a:xfrm>
          <a:off x="4322883" y="2268451"/>
          <a:ext cx="3326121" cy="851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cap="none" dirty="0"/>
            <a:t>Projects</a:t>
          </a:r>
          <a:r>
            <a:rPr lang="en-US" sz="1600" kern="1200" cap="none" dirty="0"/>
            <a:t>: You will implement algorithms to solve several tasks and conduct experiments to investigate how well the algorithms work and how they scale with problem size.</a:t>
          </a:r>
        </a:p>
        <a:p>
          <a:pPr marL="0" lvl="0" indent="0" algn="ctr" defTabSz="711200">
            <a:lnSpc>
              <a:spcPct val="100000"/>
            </a:lnSpc>
            <a:spcBef>
              <a:spcPct val="0"/>
            </a:spcBef>
            <a:spcAft>
              <a:spcPct val="35000"/>
            </a:spcAft>
            <a:buNone/>
            <a:defRPr cap="all"/>
          </a:pPr>
          <a:endParaRPr lang="en-US" sz="1600" kern="1200" cap="none" dirty="0"/>
        </a:p>
        <a:p>
          <a:pPr marL="0" lvl="0" indent="0" algn="ctr" defTabSz="711200">
            <a:lnSpc>
              <a:spcPct val="100000"/>
            </a:lnSpc>
            <a:spcBef>
              <a:spcPct val="0"/>
            </a:spcBef>
            <a:spcAft>
              <a:spcPct val="35000"/>
            </a:spcAft>
            <a:buNone/>
            <a:defRPr cap="all"/>
          </a:pPr>
          <a:r>
            <a:rPr lang="en-US" sz="1600" b="1" kern="1200" cap="none" dirty="0">
              <a:solidFill>
                <a:schemeClr val="accent3"/>
              </a:solidFill>
            </a:rPr>
            <a:t>Research</a:t>
          </a:r>
          <a:r>
            <a:rPr lang="en-US" sz="1600" kern="1200" cap="none" dirty="0">
              <a:solidFill>
                <a:schemeClr val="accent3"/>
              </a:solidFill>
            </a:rPr>
            <a:t>: paper and presentation (graduate students only)</a:t>
          </a:r>
          <a:r>
            <a:rPr lang="en-US" sz="1600" kern="1200" cap="none" dirty="0"/>
            <a:t> </a:t>
          </a:r>
        </a:p>
      </dsp:txBody>
      <dsp:txXfrm>
        <a:off x="4322883" y="2268451"/>
        <a:ext cx="3326121" cy="851717"/>
      </dsp:txXfrm>
    </dsp:sp>
    <dsp:sp modelId="{0A2E255C-A31C-404C-87A9-40118ABC48AC}">
      <dsp:nvSpPr>
        <dsp:cNvPr id="0" name=""/>
        <dsp:cNvSpPr/>
      </dsp:nvSpPr>
      <dsp:spPr>
        <a:xfrm>
          <a:off x="8439879" y="558451"/>
          <a:ext cx="1303875" cy="1303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68AA62-AAE0-4276-99CD-39211C3E5225}">
      <dsp:nvSpPr>
        <dsp:cNvPr id="0" name=""/>
        <dsp:cNvSpPr/>
      </dsp:nvSpPr>
      <dsp:spPr>
        <a:xfrm>
          <a:off x="8717754" y="836326"/>
          <a:ext cx="748125" cy="748125"/>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A3308A-970F-4619-8880-75C0B3013189}">
      <dsp:nvSpPr>
        <dsp:cNvPr id="0" name=""/>
        <dsp:cNvSpPr/>
      </dsp:nvSpPr>
      <dsp:spPr>
        <a:xfrm>
          <a:off x="8023066" y="2268451"/>
          <a:ext cx="2137500" cy="851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cap="none" dirty="0"/>
            <a:t>Exams: </a:t>
          </a:r>
          <a:r>
            <a:rPr lang="en-US" sz="1600" b="0" kern="1200" cap="none" dirty="0"/>
            <a:t>Checks knowledge of AI concepts and the ability to apply them.</a:t>
          </a:r>
          <a:endParaRPr lang="en-US" sz="1600" b="1" kern="1200" cap="none" dirty="0"/>
        </a:p>
      </dsp:txBody>
      <dsp:txXfrm>
        <a:off x="8023066" y="2268451"/>
        <a:ext cx="2137500" cy="85171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10/16/2026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10/16/2026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mhahsler.github.io/Introduction_to_Reinforcement_Learn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abs/1811.12560" TargetMode="External"/><Relationship Id="rId2" Type="http://schemas.openxmlformats.org/officeDocument/2006/relationships/hyperlink" Target="http://incompleteideas.net/book/the-book.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023360" cy="3204134"/>
          </a:xfrm>
        </p:spPr>
        <p:txBody>
          <a:bodyPr anchor="b">
            <a:normAutofit/>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800" dirty="0">
                <a:solidFill>
                  <a:schemeClr val="bg1"/>
                </a:solidFill>
              </a:rPr>
              <a:t>Course Intro</a:t>
            </a:r>
          </a:p>
        </p:txBody>
      </p:sp>
      <p:sp>
        <p:nvSpPr>
          <p:cNvPr id="3" name="Subtitle 2">
            <a:extLst>
              <a:ext uri="{FF2B5EF4-FFF2-40B4-BE49-F238E27FC236}">
                <a16:creationId xmlns:a16="http://schemas.microsoft.com/office/drawing/2014/main" id="{7FFF10C2-8C10-0E89-D285-D614C36EEE69}"/>
              </a:ext>
            </a:extLst>
          </p:cNvPr>
          <p:cNvSpPr>
            <a:spLocks noGrp="1"/>
          </p:cNvSpPr>
          <p:nvPr>
            <p:ph type="subTitle" idx="1"/>
          </p:nvPr>
        </p:nvSpPr>
        <p:spPr>
          <a:xfrm>
            <a:off x="477982" y="4868822"/>
            <a:ext cx="4023359" cy="1208141"/>
          </a:xfrm>
        </p:spPr>
        <p:txBody>
          <a:bodyPr>
            <a:normAutofit/>
          </a:bodyPr>
          <a:lstStyle/>
          <a:p>
            <a:pPr algn="l"/>
            <a:r>
              <a:rPr lang="en-US" sz="1700" dirty="0">
                <a:solidFill>
                  <a:schemeClr val="bg1"/>
                </a:solidFill>
              </a:rPr>
              <a:t>Michael Hahsler, SMU</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object 23">
            <a:hlinkClick r:id="rId3"/>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4" cstate="print"/>
          <a:stretch>
            <a:fillRect/>
          </a:stretch>
        </p:blipFill>
        <p:spPr>
          <a:xfrm>
            <a:off x="10961016" y="6265038"/>
            <a:ext cx="1037459" cy="383579"/>
          </a:xfrm>
          <a:prstGeom prst="rect">
            <a:avLst/>
          </a:prstGeom>
        </p:spPr>
      </p:pic>
      <p:pic>
        <p:nvPicPr>
          <p:cNvPr id="6" name="Picture 4">
            <a:extLst>
              <a:ext uri="{FF2B5EF4-FFF2-40B4-BE49-F238E27FC236}">
                <a16:creationId xmlns:a16="http://schemas.microsoft.com/office/drawing/2014/main" id="{FDD561C6-F6BB-6A53-51AF-DB34820E51CD}"/>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7456" y="125210"/>
            <a:ext cx="4182403" cy="100094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6"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Lst>
            </p:cNvPr>
            <p:cNvPicPr>
              <a:picLocks noChangeAspect="1"/>
            </p:cNvPicPr>
            <p:nvPr/>
          </p:nvPicPr>
          <p:blipFill>
            <a:blip r:embed="rId6"/>
            <a:stretch>
              <a:fillRect/>
            </a:stretch>
          </p:blipFill>
          <p:spPr>
            <a:xfrm>
              <a:off x="5248582" y="2401735"/>
              <a:ext cx="1694835" cy="2054530"/>
            </a:xfrm>
            <a:prstGeom prst="rect">
              <a:avLst/>
            </a:prstGeom>
          </p:spPr>
        </p:pic>
        <p:pic>
          <p:nvPicPr>
            <p:cNvPr id="9" name="Picture 8">
              <a:extLst>
                <a:ext uri="{FF2B5EF4-FFF2-40B4-BE49-F238E27FC236}">
                  <a16:creationId xmlns:a16="http://schemas.microsoft.com/office/drawing/2014/main" id="{26CB3135-CE78-1137-FBA3-29AA8592D8FA}"/>
                </a:ext>
              </a:extLst>
            </p:cNvPr>
            <p:cNvPicPr>
              <a:picLocks noChangeAspect="1"/>
            </p:cNvPicPr>
            <p:nvPr/>
          </p:nvPicPr>
          <p:blipFill>
            <a:blip r:embed="rId7"/>
            <a:stretch>
              <a:fillRect/>
            </a:stretch>
          </p:blipFill>
          <p:spPr>
            <a:xfrm>
              <a:off x="5315643" y="2435129"/>
              <a:ext cx="1560711" cy="1560711"/>
            </a:xfrm>
            <a:prstGeom prst="rect">
              <a:avLst/>
            </a:prstGeom>
          </p:spPr>
        </p:pic>
      </p:grpSp>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2394629-8F96-41DE-9771-A48E7EF3C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422D56-5BD8-13A1-3F90-4CBC0F4BD399}"/>
              </a:ext>
            </a:extLst>
          </p:cNvPr>
          <p:cNvSpPr>
            <a:spLocks noGrp="1"/>
          </p:cNvSpPr>
          <p:nvPr>
            <p:ph type="title"/>
          </p:nvPr>
        </p:nvSpPr>
        <p:spPr>
          <a:xfrm>
            <a:off x="838200" y="558210"/>
            <a:ext cx="5541660" cy="794516"/>
          </a:xfrm>
        </p:spPr>
        <p:txBody>
          <a:bodyPr anchor="b">
            <a:normAutofit/>
          </a:bodyPr>
          <a:lstStyle/>
          <a:p>
            <a:r>
              <a:rPr lang="en-US" sz="4000" dirty="0"/>
              <a:t>Course Goal</a:t>
            </a:r>
          </a:p>
        </p:txBody>
      </p:sp>
      <p:pic>
        <p:nvPicPr>
          <p:cNvPr id="1026" name="Picture 2" descr="Autonomous car with HUD (Head Up Display). Self-driving vehicle on city street">
            <a:extLst>
              <a:ext uri="{FF2B5EF4-FFF2-40B4-BE49-F238E27FC236}">
                <a16:creationId xmlns:a16="http://schemas.microsoft.com/office/drawing/2014/main" id="{8FCCEA59-8E73-CAF0-73DC-C22AA00582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72"/>
          <a:stretch>
            <a:fillRect/>
          </a:stretch>
        </p:blipFill>
        <p:spPr bwMode="auto">
          <a:xfrm>
            <a:off x="7992957" y="10"/>
            <a:ext cx="4199043" cy="27693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68D6BAFF-D2A2-834E-C188-8FC682CACF91}"/>
              </a:ext>
            </a:extLst>
          </p:cNvPr>
          <p:cNvSpPr>
            <a:spLocks noGrp="1"/>
          </p:cNvSpPr>
          <p:nvPr>
            <p:ph idx="1"/>
          </p:nvPr>
        </p:nvSpPr>
        <p:spPr>
          <a:xfrm>
            <a:off x="838200" y="1619076"/>
            <a:ext cx="6812280" cy="4489330"/>
          </a:xfrm>
        </p:spPr>
        <p:txBody>
          <a:bodyPr>
            <a:normAutofit/>
          </a:bodyPr>
          <a:lstStyle/>
          <a:p>
            <a:pPr marL="0" indent="0">
              <a:buNone/>
            </a:pPr>
            <a:r>
              <a:rPr lang="en-US" sz="2000" dirty="0"/>
              <a:t>How Do We Build Intelligent Systems?</a:t>
            </a:r>
          </a:p>
          <a:p>
            <a:pPr marL="0" indent="0">
              <a:buNone/>
            </a:pPr>
            <a:endParaRPr lang="en-US" sz="2000" dirty="0"/>
          </a:p>
          <a:p>
            <a:pPr marL="0" indent="0">
              <a:buNone/>
            </a:pPr>
            <a:r>
              <a:rPr lang="en-US" sz="2000" dirty="0"/>
              <a:t>Options:</a:t>
            </a:r>
          </a:p>
          <a:p>
            <a:r>
              <a:rPr lang="en-US" sz="2000" dirty="0"/>
              <a:t>Explicitly program behavior: </a:t>
            </a:r>
            <a:r>
              <a:rPr lang="en-US" sz="2000" b="1" dirty="0"/>
              <a:t>Rule-based agent, planning</a:t>
            </a:r>
          </a:p>
          <a:p>
            <a:r>
              <a:rPr lang="en-US" sz="2000" dirty="0"/>
              <a:t>Learn behavior from labeled data offline: </a:t>
            </a:r>
            <a:r>
              <a:rPr lang="en-US" sz="2000" b="1" dirty="0"/>
              <a:t>Supervised learning</a:t>
            </a:r>
          </a:p>
          <a:p>
            <a:r>
              <a:rPr lang="en-US" sz="2000" dirty="0"/>
              <a:t>Learn behavior using feedback from interacting with the environment (online): </a:t>
            </a:r>
            <a:r>
              <a:rPr lang="en-US" sz="2000" b="1" dirty="0"/>
              <a:t>Reinforcement Learning</a:t>
            </a:r>
          </a:p>
        </p:txBody>
      </p:sp>
      <p:pic>
        <p:nvPicPr>
          <p:cNvPr id="5" name="Picture 4" descr="No photo description available.">
            <a:extLst>
              <a:ext uri="{FF2B5EF4-FFF2-40B4-BE49-F238E27FC236}">
                <a16:creationId xmlns:a16="http://schemas.microsoft.com/office/drawing/2014/main" id="{FDD72C19-CD47-53CA-1D79-C3D7465BA2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12" b="-4"/>
          <a:stretch>
            <a:fillRect/>
          </a:stretch>
        </p:blipFill>
        <p:spPr bwMode="auto">
          <a:xfrm>
            <a:off x="7992957" y="2957665"/>
            <a:ext cx="4199043" cy="390033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ABC4552-96C8-7A2C-5EFF-96517B550E13}"/>
              </a:ext>
              <a:ext uri="{C183D7F6-B498-43B3-948B-1728B52AA6E4}">
                <adec:decorative xmlns:adec="http://schemas.microsoft.com/office/drawing/2017/decorative" val="1"/>
              </a:ext>
            </a:extLst>
          </p:cNvPr>
          <p:cNvSpPr/>
          <p:nvPr/>
        </p:nvSpPr>
        <p:spPr>
          <a:xfrm>
            <a:off x="788565" y="3829575"/>
            <a:ext cx="6660859" cy="847288"/>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1104192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BF3AB-F5E7-438D-548D-4A36C4F000BA}"/>
              </a:ext>
            </a:extLst>
          </p:cNvPr>
          <p:cNvSpPr>
            <a:spLocks noGrp="1"/>
          </p:cNvSpPr>
          <p:nvPr>
            <p:ph type="title"/>
          </p:nvPr>
        </p:nvSpPr>
        <p:spPr/>
        <p:txBody>
          <a:bodyPr/>
          <a:lstStyle/>
          <a:p>
            <a:r>
              <a:rPr lang="en-US" dirty="0"/>
              <a:t>Course Learning Outcomes</a:t>
            </a:r>
          </a:p>
        </p:txBody>
      </p:sp>
      <p:sp>
        <p:nvSpPr>
          <p:cNvPr id="3" name="Content Placeholder 2">
            <a:extLst>
              <a:ext uri="{FF2B5EF4-FFF2-40B4-BE49-F238E27FC236}">
                <a16:creationId xmlns:a16="http://schemas.microsoft.com/office/drawing/2014/main" id="{5BEF01C9-B55D-E159-EE7F-823319BE694D}"/>
              </a:ext>
            </a:extLst>
          </p:cNvPr>
          <p:cNvSpPr>
            <a:spLocks noGrp="1"/>
          </p:cNvSpPr>
          <p:nvPr>
            <p:ph idx="1"/>
          </p:nvPr>
        </p:nvSpPr>
        <p:spPr/>
        <p:txBody>
          <a:bodyPr>
            <a:normAutofit fontScale="77500" lnSpcReduction="20000"/>
          </a:bodyPr>
          <a:lstStyle/>
          <a:p>
            <a:pPr>
              <a:lnSpc>
                <a:spcPct val="120000"/>
              </a:lnSpc>
            </a:pPr>
            <a:r>
              <a:rPr lang="en-US" dirty="0"/>
              <a:t>CLO 1: Explain foundational concepts of </a:t>
            </a:r>
            <a:r>
              <a:rPr lang="en-US" b="1" dirty="0"/>
              <a:t>reinforcement learning</a:t>
            </a:r>
          </a:p>
          <a:p>
            <a:pPr>
              <a:lnSpc>
                <a:spcPct val="120000"/>
              </a:lnSpc>
            </a:pPr>
            <a:r>
              <a:rPr lang="en-US" dirty="0"/>
              <a:t>CLO 2: Formulate sequential decision-making problems as </a:t>
            </a:r>
            <a:r>
              <a:rPr lang="en-US" b="1" dirty="0"/>
              <a:t>Markov Decision Processes</a:t>
            </a:r>
            <a:r>
              <a:rPr lang="en-US" dirty="0"/>
              <a:t> (MDPs)</a:t>
            </a:r>
          </a:p>
          <a:p>
            <a:pPr>
              <a:lnSpc>
                <a:spcPct val="120000"/>
              </a:lnSpc>
            </a:pPr>
            <a:r>
              <a:rPr lang="en-US" dirty="0"/>
              <a:t>CLO 3: Apply </a:t>
            </a:r>
            <a:r>
              <a:rPr lang="en-US" b="1" dirty="0"/>
              <a:t>dynamic programming and Monte Carlo methods </a:t>
            </a:r>
            <a:r>
              <a:rPr lang="en-US" dirty="0"/>
              <a:t>to solve reinforcement learning problems</a:t>
            </a:r>
          </a:p>
          <a:p>
            <a:pPr>
              <a:lnSpc>
                <a:spcPct val="120000"/>
              </a:lnSpc>
            </a:pPr>
            <a:r>
              <a:rPr lang="en-US" dirty="0"/>
              <a:t>CLO 4: Implement and evaluate </a:t>
            </a:r>
            <a:r>
              <a:rPr lang="en-US" b="1" dirty="0"/>
              <a:t>Temporal-Difference (TD) learning </a:t>
            </a:r>
            <a:r>
              <a:rPr lang="en-US" dirty="0"/>
              <a:t>algorithms</a:t>
            </a:r>
          </a:p>
          <a:p>
            <a:pPr>
              <a:lnSpc>
                <a:spcPct val="120000"/>
              </a:lnSpc>
            </a:pPr>
            <a:r>
              <a:rPr lang="en-US" dirty="0"/>
              <a:t>CLO 5: Utilize </a:t>
            </a:r>
            <a:r>
              <a:rPr lang="en-US" b="1" dirty="0"/>
              <a:t>function approximation </a:t>
            </a:r>
            <a:r>
              <a:rPr lang="en-US" dirty="0"/>
              <a:t>methods for large or continuous state spaces</a:t>
            </a:r>
          </a:p>
          <a:p>
            <a:pPr>
              <a:lnSpc>
                <a:spcPct val="120000"/>
              </a:lnSpc>
            </a:pPr>
            <a:r>
              <a:rPr lang="en-US" dirty="0"/>
              <a:t>CLO 6: Implement reinforcement learning agents </a:t>
            </a:r>
            <a:r>
              <a:rPr lang="en-US"/>
              <a:t>with </a:t>
            </a:r>
            <a:r>
              <a:rPr lang="en-US" b="1"/>
              <a:t>policy </a:t>
            </a:r>
            <a:r>
              <a:rPr lang="en-US" b="1" dirty="0"/>
              <a:t>gradients</a:t>
            </a:r>
          </a:p>
          <a:p>
            <a:pPr>
              <a:lnSpc>
                <a:spcPct val="120000"/>
              </a:lnSpc>
            </a:pPr>
            <a:r>
              <a:rPr lang="en-US" dirty="0"/>
              <a:t>CLO 7: Critically evaluate current research and applications of </a:t>
            </a:r>
            <a:r>
              <a:rPr lang="en-US" b="1" dirty="0"/>
              <a:t>deep reinforcement learning</a:t>
            </a:r>
          </a:p>
          <a:p>
            <a:pPr>
              <a:lnSpc>
                <a:spcPct val="120000"/>
              </a:lnSpc>
            </a:pPr>
            <a:endParaRPr lang="en-US" dirty="0"/>
          </a:p>
        </p:txBody>
      </p:sp>
    </p:spTree>
    <p:extLst>
      <p:ext uri="{BB962C8B-B14F-4D97-AF65-F5344CB8AC3E}">
        <p14:creationId xmlns:p14="http://schemas.microsoft.com/office/powerpoint/2010/main" val="3727353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B468C-7B57-AED5-2BA8-94B3237FCA93}"/>
              </a:ext>
            </a:extLst>
          </p:cNvPr>
          <p:cNvSpPr>
            <a:spLocks noGrp="1"/>
          </p:cNvSpPr>
          <p:nvPr>
            <p:ph type="title"/>
          </p:nvPr>
        </p:nvSpPr>
        <p:spPr/>
        <p:txBody>
          <a:bodyPr/>
          <a:lstStyle/>
          <a:p>
            <a:r>
              <a:rPr lang="en-US" dirty="0"/>
              <a:t>Learning Method</a:t>
            </a:r>
          </a:p>
        </p:txBody>
      </p:sp>
      <p:graphicFrame>
        <p:nvGraphicFramePr>
          <p:cNvPr id="4" name="Content Placeholder 4" descr="You will implement algorithms to solve several tasks and conduct experiments to investigate how well the algorithms work and how they scale with problem size. ">
            <a:extLst>
              <a:ext uri="{FF2B5EF4-FFF2-40B4-BE49-F238E27FC236}">
                <a16:creationId xmlns:a16="http://schemas.microsoft.com/office/drawing/2014/main" id="{07E30FCF-817C-FD5A-27DB-905683C20BE9}"/>
              </a:ext>
            </a:extLst>
          </p:cNvPr>
          <p:cNvGraphicFramePr>
            <a:graphicFrameLocks/>
          </p:cNvGraphicFramePr>
          <p:nvPr>
            <p:extLst>
              <p:ext uri="{D42A27DB-BD31-4B8C-83A1-F6EECF244321}">
                <p14:modId xmlns:p14="http://schemas.microsoft.com/office/powerpoint/2010/main" val="3343688815"/>
              </p:ext>
            </p:extLst>
          </p:nvPr>
        </p:nvGraphicFramePr>
        <p:xfrm>
          <a:off x="966467" y="1124198"/>
          <a:ext cx="10259066" cy="36786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C37AF2DD-379A-2C14-3C4F-D66C70B246B4}"/>
              </a:ext>
            </a:extLst>
          </p:cNvPr>
          <p:cNvSpPr txBox="1"/>
          <p:nvPr/>
        </p:nvSpPr>
        <p:spPr>
          <a:xfrm>
            <a:off x="1052514" y="6123542"/>
            <a:ext cx="10301286"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b="1" dirty="0"/>
              <a:t>Evaluation: </a:t>
            </a:r>
            <a:r>
              <a:rPr lang="en-US" dirty="0"/>
              <a:t>is based on problem sets, projects, and exams.     + research paper for graduate students</a:t>
            </a:r>
          </a:p>
        </p:txBody>
      </p:sp>
    </p:spTree>
    <p:extLst>
      <p:ext uri="{BB962C8B-B14F-4D97-AF65-F5344CB8AC3E}">
        <p14:creationId xmlns:p14="http://schemas.microsoft.com/office/powerpoint/2010/main" val="3423184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A4C2-6ABA-B4B5-0402-495012026746}"/>
              </a:ext>
            </a:extLst>
          </p:cNvPr>
          <p:cNvSpPr>
            <a:spLocks noGrp="1"/>
          </p:cNvSpPr>
          <p:nvPr>
            <p:ph type="title"/>
          </p:nvPr>
        </p:nvSpPr>
        <p:spPr/>
        <p:txBody>
          <a:bodyPr/>
          <a:lstStyle/>
          <a:p>
            <a:r>
              <a:rPr lang="en-US" dirty="0"/>
              <a:t>Course Mechanics</a:t>
            </a:r>
          </a:p>
        </p:txBody>
      </p:sp>
      <p:sp>
        <p:nvSpPr>
          <p:cNvPr id="3" name="Content Placeholder 2">
            <a:extLst>
              <a:ext uri="{FF2B5EF4-FFF2-40B4-BE49-F238E27FC236}">
                <a16:creationId xmlns:a16="http://schemas.microsoft.com/office/drawing/2014/main" id="{1C1D382D-43CE-4873-76AC-D924F3D8BE3B}"/>
              </a:ext>
            </a:extLst>
          </p:cNvPr>
          <p:cNvSpPr>
            <a:spLocks noGrp="1"/>
          </p:cNvSpPr>
          <p:nvPr>
            <p:ph idx="1"/>
          </p:nvPr>
        </p:nvSpPr>
        <p:spPr/>
        <p:txBody>
          <a:bodyPr>
            <a:normAutofit fontScale="92500" lnSpcReduction="20000"/>
          </a:bodyPr>
          <a:lstStyle/>
          <a:p>
            <a:r>
              <a:rPr lang="en-US" b="1" dirty="0"/>
              <a:t>Office hours</a:t>
            </a:r>
            <a:r>
              <a:rPr lang="en-US" dirty="0"/>
              <a:t>: </a:t>
            </a:r>
          </a:p>
          <a:p>
            <a:pPr lvl="1"/>
            <a:r>
              <a:rPr lang="en-US" dirty="0"/>
              <a:t>My office hours can be found on my home page.</a:t>
            </a:r>
          </a:p>
          <a:p>
            <a:pPr lvl="1"/>
            <a:r>
              <a:rPr lang="en-US" dirty="0"/>
              <a:t>Weekly TA office hours will be done using Zoom. The time and the link will be on Canvas soon.</a:t>
            </a:r>
          </a:p>
          <a:p>
            <a:r>
              <a:rPr lang="en-US" b="1" dirty="0"/>
              <a:t>Communication</a:t>
            </a:r>
            <a:r>
              <a:rPr lang="en-US" dirty="0"/>
              <a:t>: Use Canvas messages and leave comments for assignments.</a:t>
            </a:r>
          </a:p>
          <a:p>
            <a:endParaRPr lang="en-US" dirty="0"/>
          </a:p>
          <a:p>
            <a:r>
              <a:rPr lang="en-US" b="1" dirty="0"/>
              <a:t>Assignment Grading</a:t>
            </a:r>
            <a:r>
              <a:rPr lang="en-US" dirty="0"/>
              <a:t>: The TA will grade assignments and problem sets. Please contact the TA (e.g., during office hours or by leaving a comment) to discuss your assignment and grade.</a:t>
            </a:r>
          </a:p>
          <a:p>
            <a:endParaRPr lang="en-US" dirty="0"/>
          </a:p>
          <a:p>
            <a:r>
              <a:rPr lang="en-US" b="1" dirty="0"/>
              <a:t>Final Grade</a:t>
            </a:r>
            <a:r>
              <a:rPr lang="en-US" dirty="0"/>
              <a:t>: The calculated grade on Canvas serves as a rough guide. I will assign your final grade at the end of the semester.</a:t>
            </a:r>
          </a:p>
        </p:txBody>
      </p:sp>
    </p:spTree>
    <p:extLst>
      <p:ext uri="{BB962C8B-B14F-4D97-AF65-F5344CB8AC3E}">
        <p14:creationId xmlns:p14="http://schemas.microsoft.com/office/powerpoint/2010/main" val="1834417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F597-7358-49C9-B29D-7FA85F42E21A}"/>
              </a:ext>
            </a:extLst>
          </p:cNvPr>
          <p:cNvSpPr>
            <a:spLocks noGrp="1"/>
          </p:cNvSpPr>
          <p:nvPr>
            <p:ph type="title"/>
          </p:nvPr>
        </p:nvSpPr>
        <p:spPr/>
        <p:txBody>
          <a:bodyPr/>
          <a:lstStyle/>
          <a:p>
            <a:r>
              <a:rPr lang="en-US" dirty="0"/>
              <a:t>Tools and Support</a:t>
            </a:r>
          </a:p>
        </p:txBody>
      </p:sp>
      <p:sp>
        <p:nvSpPr>
          <p:cNvPr id="3" name="Content Placeholder 2">
            <a:extLst>
              <a:ext uri="{FF2B5EF4-FFF2-40B4-BE49-F238E27FC236}">
                <a16:creationId xmlns:a16="http://schemas.microsoft.com/office/drawing/2014/main" id="{DE8F9610-33EA-1E27-06F5-0CE9F526A15B}"/>
              </a:ext>
            </a:extLst>
          </p:cNvPr>
          <p:cNvSpPr>
            <a:spLocks noGrp="1"/>
          </p:cNvSpPr>
          <p:nvPr>
            <p:ph idx="1"/>
          </p:nvPr>
        </p:nvSpPr>
        <p:spPr/>
        <p:txBody>
          <a:bodyPr>
            <a:normAutofit fontScale="77500" lnSpcReduction="20000"/>
          </a:bodyPr>
          <a:lstStyle/>
          <a:p>
            <a:r>
              <a:rPr lang="en-US" b="1" dirty="0"/>
              <a:t>Canvas</a:t>
            </a:r>
            <a:r>
              <a:rPr lang="en-US" dirty="0"/>
              <a:t>: For material, assignments, and communication.</a:t>
            </a:r>
          </a:p>
          <a:p>
            <a:endParaRPr lang="en-US" dirty="0"/>
          </a:p>
          <a:p>
            <a:r>
              <a:rPr lang="en-US" b="1" dirty="0"/>
              <a:t>Course GitHub page</a:t>
            </a:r>
            <a:r>
              <a:rPr lang="en-US" dirty="0"/>
              <a:t>: </a:t>
            </a:r>
            <a:r>
              <a:rPr lang="en-US" dirty="0">
                <a:hlinkClick r:id="rId2"/>
              </a:rPr>
              <a:t>https://mhahsler.github.io/Introduction_to_Reinforcement_Learning/</a:t>
            </a:r>
            <a:r>
              <a:rPr lang="en-US" dirty="0"/>
              <a:t> </a:t>
            </a:r>
          </a:p>
          <a:p>
            <a:pPr lvl="1"/>
            <a:r>
              <a:rPr lang="en-US" dirty="0" err="1"/>
              <a:t>Howtos</a:t>
            </a:r>
            <a:endParaRPr lang="en-US" dirty="0"/>
          </a:p>
          <a:p>
            <a:pPr lvl="1"/>
            <a:r>
              <a:rPr lang="en-US" dirty="0"/>
              <a:t>Slides</a:t>
            </a:r>
          </a:p>
          <a:p>
            <a:pPr lvl="1"/>
            <a:r>
              <a:rPr lang="en-US" dirty="0"/>
              <a:t>Code Examples</a:t>
            </a:r>
          </a:p>
          <a:p>
            <a:endParaRPr lang="en-US" dirty="0"/>
          </a:p>
          <a:p>
            <a:r>
              <a:rPr lang="en-US" b="1" dirty="0"/>
              <a:t>AI-Use Guideline: </a:t>
            </a:r>
          </a:p>
          <a:p>
            <a:pPr lvl="1"/>
            <a:r>
              <a:rPr lang="en-US" b="1" dirty="0"/>
              <a:t>Self-study</a:t>
            </a:r>
            <a:r>
              <a:rPr lang="en-US" dirty="0"/>
              <a:t> outside of the classroom is allowed because Generative AI can enhance learning by providing multiple ways to engage with the content and skills developed in this class.</a:t>
            </a:r>
          </a:p>
          <a:p>
            <a:pPr lvl="1"/>
            <a:r>
              <a:rPr lang="en-US" dirty="0"/>
              <a:t>Help with </a:t>
            </a:r>
            <a:r>
              <a:rPr lang="en-US" b="1" dirty="0"/>
              <a:t>coding for assignments</a:t>
            </a:r>
            <a:r>
              <a:rPr lang="en-US" dirty="0"/>
              <a:t>. Most algorithms in this course are quite simple, and you should try to implement them first by yourself. Use AI to provide glue code and for debugging. Be careful. AI chatbots are often inaccurate and sometimes produce incorrect answers. You are responsible for checking the accuracy before using the code.</a:t>
            </a:r>
          </a:p>
          <a:p>
            <a:pPr lvl="1"/>
            <a:r>
              <a:rPr lang="en-US" dirty="0"/>
              <a:t>You are </a:t>
            </a:r>
            <a:r>
              <a:rPr lang="en-US" b="1" dirty="0"/>
              <a:t>not allowed to use AI tools to write your assignment report</a:t>
            </a:r>
            <a:r>
              <a:rPr lang="en-US" dirty="0"/>
              <a:t>. </a:t>
            </a:r>
          </a:p>
          <a:p>
            <a:pPr lvl="1"/>
            <a:r>
              <a:rPr lang="en-US" b="1" dirty="0"/>
              <a:t>Specific AI-use guidelines </a:t>
            </a:r>
            <a:r>
              <a:rPr lang="en-US" dirty="0"/>
              <a:t>may be part of the assignment description.</a:t>
            </a:r>
          </a:p>
          <a:p>
            <a:endParaRPr lang="en-US" dirty="0"/>
          </a:p>
        </p:txBody>
      </p:sp>
    </p:spTree>
    <p:extLst>
      <p:ext uri="{BB962C8B-B14F-4D97-AF65-F5344CB8AC3E}">
        <p14:creationId xmlns:p14="http://schemas.microsoft.com/office/powerpoint/2010/main" val="2148102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87813"/>
            <a:ext cx="10515600" cy="713698"/>
          </a:xfrm>
          <a:prstGeom prst="rect">
            <a:avLst/>
          </a:prstGeom>
        </p:spPr>
        <p:txBody>
          <a:bodyPr vert="horz" wrap="square" lIns="0" tIns="36236" rIns="0" bIns="0" rtlCol="0" anchor="ctr">
            <a:spAutoFit/>
          </a:bodyPr>
          <a:lstStyle/>
          <a:p>
            <a:pPr marL="26841">
              <a:lnSpc>
                <a:spcPct val="100000"/>
              </a:lnSpc>
              <a:spcBef>
                <a:spcPts val="285"/>
              </a:spcBef>
            </a:pPr>
            <a:r>
              <a:rPr spc="-127" dirty="0"/>
              <a:t>Recommended</a:t>
            </a:r>
            <a:r>
              <a:rPr spc="-95" dirty="0"/>
              <a:t> </a:t>
            </a:r>
            <a:r>
              <a:rPr lang="en-US" spc="-53" dirty="0"/>
              <a:t>Readings</a:t>
            </a:r>
            <a:endParaRPr spc="-53" dirty="0"/>
          </a:p>
        </p:txBody>
      </p:sp>
      <p:sp>
        <p:nvSpPr>
          <p:cNvPr id="7" name="Content Placeholder 6">
            <a:extLst>
              <a:ext uri="{FF2B5EF4-FFF2-40B4-BE49-F238E27FC236}">
                <a16:creationId xmlns:a16="http://schemas.microsoft.com/office/drawing/2014/main" id="{C6E550D2-23C5-937B-ED14-A0F805827A1B}"/>
              </a:ext>
            </a:extLst>
          </p:cNvPr>
          <p:cNvSpPr>
            <a:spLocks noGrp="1"/>
          </p:cNvSpPr>
          <p:nvPr>
            <p:ph idx="1"/>
          </p:nvPr>
        </p:nvSpPr>
        <p:spPr/>
        <p:txBody>
          <a:bodyPr>
            <a:normAutofit/>
          </a:bodyPr>
          <a:lstStyle/>
          <a:p>
            <a:pPr>
              <a:spcBef>
                <a:spcPts val="602"/>
              </a:spcBef>
            </a:pPr>
            <a:r>
              <a:rPr lang="en-US" dirty="0"/>
              <a:t>Richard S. Sutton, Andrew G. Barto, </a:t>
            </a:r>
            <a:br>
              <a:rPr lang="en-US" dirty="0"/>
            </a:br>
            <a:r>
              <a:rPr lang="en-US" i="1" dirty="0">
                <a:hlinkClick r:id="rId2"/>
              </a:rPr>
              <a:t>Reinforcement Learning: An Introduction</a:t>
            </a:r>
            <a:r>
              <a:rPr lang="en-US" dirty="0">
                <a:hlinkClick r:id="rId2"/>
              </a:rPr>
              <a:t>,</a:t>
            </a:r>
            <a:r>
              <a:rPr lang="en-US" dirty="0"/>
              <a:t> </a:t>
            </a:r>
            <a:br>
              <a:rPr lang="en-US" dirty="0"/>
            </a:br>
            <a:r>
              <a:rPr lang="en-US" dirty="0"/>
              <a:t>2nd edition, MIT Press, Cambridge, MA, 2018.</a:t>
            </a:r>
          </a:p>
          <a:p>
            <a:pPr>
              <a:spcBef>
                <a:spcPts val="1279"/>
              </a:spcBef>
            </a:pPr>
            <a:endParaRPr lang="en-US" dirty="0"/>
          </a:p>
          <a:p>
            <a:pPr>
              <a:spcBef>
                <a:spcPts val="1279"/>
              </a:spcBef>
            </a:pPr>
            <a:r>
              <a:rPr lang="en-US" dirty="0"/>
              <a:t>Vincent François-Lavet, Peter Henderson, </a:t>
            </a:r>
            <a:r>
              <a:rPr lang="en-US" dirty="0" err="1"/>
              <a:t>Riashat</a:t>
            </a:r>
            <a:r>
              <a:rPr lang="en-US" dirty="0"/>
              <a:t> Islam, Marc G. Bellemare and Joelle Pineau, </a:t>
            </a:r>
            <a:br>
              <a:rPr lang="en-US" dirty="0"/>
            </a:br>
            <a:r>
              <a:rPr lang="en-US" dirty="0">
                <a:hlinkClick r:id="rId3"/>
              </a:rPr>
              <a:t>An Introduction to Deep Reinforcement Learning,</a:t>
            </a:r>
            <a:r>
              <a:rPr lang="en-US" dirty="0"/>
              <a:t> </a:t>
            </a:r>
            <a:br>
              <a:rPr lang="en-US" dirty="0"/>
            </a:br>
            <a:r>
              <a:rPr lang="en-US" i="1" dirty="0"/>
              <a:t>Foundations and Trends in Machine Learning</a:t>
            </a:r>
            <a:r>
              <a:rPr lang="en-US" dirty="0"/>
              <a:t>, 11:3-4, pp 219-354, 2018.</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0B0874-44AF-8EFD-BCBB-851D6F009CA7}"/>
              </a:ext>
            </a:extLst>
          </p:cNvPr>
          <p:cNvSpPr>
            <a:spLocks noGrp="1"/>
          </p:cNvSpPr>
          <p:nvPr>
            <p:ph type="title"/>
          </p:nvPr>
        </p:nvSpPr>
        <p:spPr>
          <a:xfrm>
            <a:off x="640080" y="325369"/>
            <a:ext cx="4368602" cy="1956841"/>
          </a:xfrm>
        </p:spPr>
        <p:txBody>
          <a:bodyPr anchor="b">
            <a:normAutofit/>
          </a:bodyPr>
          <a:lstStyle/>
          <a:p>
            <a:r>
              <a:rPr lang="en-US" sz="4600"/>
              <a:t>To Be Successful You </a:t>
            </a:r>
            <a:r>
              <a:rPr lang="en-US" sz="4600" dirty="0"/>
              <a:t>N</a:t>
            </a:r>
            <a:r>
              <a:rPr lang="en-US" sz="4600"/>
              <a:t>eed</a:t>
            </a:r>
            <a:r>
              <a:rPr lang="en-US" sz="4600" dirty="0"/>
              <a:t>…</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A487AD-771D-8DAA-546E-E45BEF6D9AB6}"/>
              </a:ext>
            </a:extLst>
          </p:cNvPr>
          <p:cNvSpPr>
            <a:spLocks noGrp="1"/>
          </p:cNvSpPr>
          <p:nvPr>
            <p:ph idx="1"/>
          </p:nvPr>
        </p:nvSpPr>
        <p:spPr>
          <a:xfrm>
            <a:off x="640081" y="2872899"/>
            <a:ext cx="4753488" cy="3320668"/>
          </a:xfrm>
        </p:spPr>
        <p:txBody>
          <a:bodyPr>
            <a:normAutofit/>
          </a:bodyPr>
          <a:lstStyle/>
          <a:p>
            <a:r>
              <a:rPr lang="en-US" sz="1400" dirty="0"/>
              <a:t>Proficiency in </a:t>
            </a:r>
            <a:r>
              <a:rPr lang="en-US" sz="1400" b="1" dirty="0"/>
              <a:t>Python</a:t>
            </a:r>
            <a:r>
              <a:rPr lang="en-US" sz="1400" dirty="0"/>
              <a:t> programming.</a:t>
            </a:r>
          </a:p>
          <a:p>
            <a:endParaRPr lang="en-US" sz="1400" dirty="0"/>
          </a:p>
          <a:p>
            <a:r>
              <a:rPr lang="en-US" sz="1400" dirty="0"/>
              <a:t>Familiarity with </a:t>
            </a:r>
            <a:r>
              <a:rPr lang="en-US" sz="1400" b="1" dirty="0"/>
              <a:t>artificial intelligence</a:t>
            </a:r>
            <a:r>
              <a:rPr lang="en-US" sz="1400" dirty="0"/>
              <a:t> fundamentals, including intelligent agents and search.</a:t>
            </a:r>
          </a:p>
          <a:p>
            <a:endParaRPr lang="en-US" sz="1400" dirty="0"/>
          </a:p>
          <a:p>
            <a:r>
              <a:rPr lang="en-US" sz="1400" dirty="0"/>
              <a:t>Knowledge of </a:t>
            </a:r>
            <a:r>
              <a:rPr lang="en-US" sz="1400" b="1" dirty="0"/>
              <a:t>machine learning </a:t>
            </a:r>
            <a:r>
              <a:rPr lang="en-US" sz="1400" dirty="0"/>
              <a:t>(e.g., supervised learning, deep learning, model evaluation).</a:t>
            </a:r>
          </a:p>
          <a:p>
            <a:endParaRPr lang="en-US" sz="1400" dirty="0"/>
          </a:p>
          <a:p>
            <a:r>
              <a:rPr lang="en-US" sz="1400" dirty="0"/>
              <a:t>Knowledge of </a:t>
            </a:r>
            <a:r>
              <a:rPr lang="en-US" sz="1400" b="1" dirty="0"/>
              <a:t>math and probability theory </a:t>
            </a:r>
            <a:r>
              <a:rPr lang="en-US" sz="1400" dirty="0"/>
              <a:t>(probability, expectation)</a:t>
            </a:r>
          </a:p>
          <a:p>
            <a:pPr marL="0" indent="0">
              <a:buNone/>
            </a:pPr>
            <a:endParaRPr lang="en-US" sz="1400" dirty="0"/>
          </a:p>
        </p:txBody>
      </p:sp>
      <p:pic>
        <p:nvPicPr>
          <p:cNvPr id="4" name="Picture 3">
            <a:extLst>
              <a:ext uri="{FF2B5EF4-FFF2-40B4-BE49-F238E27FC236}">
                <a16:creationId xmlns:a16="http://schemas.microsoft.com/office/drawing/2014/main" id="{16372A63-7E7A-05CB-D20C-38E7F3650F08}"/>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75" r="28172"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440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5196</TotalTime>
  <Words>631</Words>
  <Application>Microsoft Office PowerPoint</Application>
  <PresentationFormat>Widescreen</PresentationFormat>
  <Paragraphs>58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Reinforcement Learning  Course Intro</vt:lpstr>
      <vt:lpstr>Course Goal</vt:lpstr>
      <vt:lpstr>Course Learning Outcomes</vt:lpstr>
      <vt:lpstr>Learning Method</vt:lpstr>
      <vt:lpstr>Course Mechanics</vt:lpstr>
      <vt:lpstr>Tools and Support</vt:lpstr>
      <vt:lpstr>Recommended Readings</vt:lpstr>
      <vt:lpstr>To Be Successful You Need…</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Hahsler, Michael</cp:lastModifiedBy>
  <cp:revision>78</cp:revision>
  <dcterms:created xsi:type="dcterms:W3CDTF">2025-09-08T14:44:49Z</dcterms:created>
  <dcterms:modified xsi:type="dcterms:W3CDTF">2026-10-16T21:39:35Z</dcterms:modified>
</cp:coreProperties>
</file>