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479" r:id="rId5"/>
    <p:sldId id="393" r:id="rId6"/>
    <p:sldId id="386" r:id="rId7"/>
    <p:sldId id="396" r:id="rId8"/>
    <p:sldId id="397" r:id="rId9"/>
    <p:sldId id="398" r:id="rId10"/>
    <p:sldId id="399" r:id="rId11"/>
    <p:sldId id="402" r:id="rId12"/>
    <p:sldId id="401" r:id="rId13"/>
    <p:sldId id="403" r:id="rId14"/>
    <p:sldId id="395" r:id="rId15"/>
    <p:sldId id="400" r:id="rId16"/>
    <p:sldId id="406" r:id="rId17"/>
    <p:sldId id="404" r:id="rId18"/>
    <p:sldId id="407" r:id="rId19"/>
    <p:sldId id="410" r:id="rId20"/>
    <p:sldId id="408" r:id="rId21"/>
    <p:sldId id="40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  <p14:sldId id="479"/>
          </p14:sldIdLst>
        </p14:section>
        <p14:section name="Introduction" id="{3FBBE9B2-8635-424D-824A-711EB3C57D43}">
          <p14:sldIdLst>
            <p14:sldId id="393"/>
            <p14:sldId id="386"/>
            <p14:sldId id="396"/>
            <p14:sldId id="397"/>
            <p14:sldId id="398"/>
            <p14:sldId id="399"/>
            <p14:sldId id="402"/>
          </p14:sldIdLst>
        </p14:section>
        <p14:section name="Backward View and Prediction" id="{109EF36A-AEEE-47E8-BFE0-2CBDE1E96074}">
          <p14:sldIdLst>
            <p14:sldId id="401"/>
            <p14:sldId id="403"/>
            <p14:sldId id="395"/>
            <p14:sldId id="400"/>
            <p14:sldId id="406"/>
          </p14:sldIdLst>
        </p14:section>
        <p14:section name="Control" id="{D19960EB-A1C6-4D66-80F2-3E021135FEAC}">
          <p14:sldIdLst>
            <p14:sldId id="404"/>
            <p14:sldId id="407"/>
            <p14:sldId id="410"/>
            <p14:sldId id="408"/>
          </p14:sldIdLst>
        </p14:section>
        <p14:section name="Summary" id="{B4D006AA-B9D2-4811-B2E5-789BBF68F9DC}">
          <p14:sldIdLst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3.png"/><Relationship Id="rId4" Type="http://schemas.openxmlformats.org/officeDocument/2006/relationships/image" Target="../media/image15.png"/><Relationship Id="rId9" Type="http://schemas.openxmlformats.org/officeDocument/2006/relationships/image" Target="../media/image35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Eligibility Traces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481" y="271515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D896AA8-AD22-FC37-BA81-9F43B070213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1FE3A0-E973-B40B-8CFF-88FB30F76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0BDFAA0-1BD7-3834-6A9A-98646B135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b="1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58A05-C588-3D8E-A2A4-32ADB770D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Notice on Practical Use of Eligibility Traces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926EB7-2062-E3E3-592A-D82567C8C1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109267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Eligibility traces </a:t>
                </a:r>
                <a:r>
                  <a:rPr lang="en-US" dirty="0"/>
                  <a:t>are favored over n-step bootstrapping for</a:t>
                </a:r>
              </a:p>
              <a:p>
                <a:pPr lvl="1"/>
                <a:r>
                  <a:rPr lang="en-US" dirty="0"/>
                  <a:t>tabular RL</a:t>
                </a:r>
              </a:p>
              <a:p>
                <a:pPr lvl="1"/>
                <a:r>
                  <a:rPr lang="en-US" dirty="0"/>
                  <a:t>linear function approximation</a:t>
                </a:r>
              </a:p>
              <a:p>
                <a:r>
                  <a:rPr lang="en-US" b="1" dirty="0"/>
                  <a:t>Reason</a:t>
                </a:r>
                <a:r>
                  <a:rPr lang="en-US" dirty="0"/>
                  <a:t>: allows online, backward-view updates without storing future trajectory steps. </a:t>
                </a:r>
              </a:p>
              <a:p>
                <a:endParaRPr lang="en-US" dirty="0"/>
              </a:p>
              <a:p>
                <a:r>
                  <a:rPr lang="en-US" b="1" dirty="0"/>
                  <a:t>Deep RL</a:t>
                </a:r>
                <a:r>
                  <a:rPr lang="en-US" dirty="0"/>
                  <a:t>: the paradigm has shifted back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-step: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926EB7-2062-E3E3-592A-D82567C8C1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109267"/>
              </a:xfrm>
              <a:blipFill>
                <a:blip r:embed="rId2"/>
                <a:stretch>
                  <a:fillRect l="-522" t="-4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26148CD9-74D4-4293-C516-34B0E4EF16D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7588762"/>
                  </p:ext>
                </p:extLst>
              </p:nvPr>
            </p:nvGraphicFramePr>
            <p:xfrm>
              <a:off x="1534912" y="3552213"/>
              <a:ext cx="8993271" cy="2720293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2022020">
                      <a:extLst>
                        <a:ext uri="{9D8B030D-6E8A-4147-A177-3AD203B41FA5}">
                          <a16:colId xmlns:a16="http://schemas.microsoft.com/office/drawing/2014/main" val="4120724083"/>
                        </a:ext>
                      </a:extLst>
                    </a:gridCol>
                    <a:gridCol w="3573710">
                      <a:extLst>
                        <a:ext uri="{9D8B030D-6E8A-4147-A177-3AD203B41FA5}">
                          <a16:colId xmlns:a16="http://schemas.microsoft.com/office/drawing/2014/main" val="2005873537"/>
                        </a:ext>
                      </a:extLst>
                    </a:gridCol>
                    <a:gridCol w="3397541">
                      <a:extLst>
                        <a:ext uri="{9D8B030D-6E8A-4147-A177-3AD203B41FA5}">
                          <a16:colId xmlns:a16="http://schemas.microsoft.com/office/drawing/2014/main" val="98541530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Feature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Classic Eligibility Traces / TD(λ)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Modern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1600" u="none" strike="noStrike" dirty="0">
                              <a:effectLst/>
                            </a:rPr>
                            <a:t>-Step Returns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588987377"/>
                      </a:ext>
                    </a:extLst>
                  </a:tr>
                  <a:tr h="839423"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Compatibility with Deep Learning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Difficult to combine with neural networks and </a:t>
                          </a:r>
                          <a:r>
                            <a:rPr lang="en-US" sz="1600" b="1" u="none" strike="noStrike" dirty="0">
                              <a:effectLst/>
                            </a:rPr>
                            <a:t>experience replay 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due to shifting historical weights.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Perfect for parallelized data collection and </a:t>
                          </a:r>
                          <a:r>
                            <a:rPr lang="en-US" sz="1600" b="1" u="none" strike="noStrike" dirty="0">
                              <a:effectLst/>
                            </a:rPr>
                            <a:t>minibatch training.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20756729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>
                              <a:effectLst/>
                            </a:rPr>
                            <a:t>Implementation</a:t>
                          </a:r>
                          <a:endParaRPr lang="en-US" sz="1600" b="1" i="0" u="none" strike="noStrike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Complex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 to track recursively across deep architectures.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Straightforward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; you simply pull a slice of n sequential transitions from a buffer.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4128766215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>
                              <a:effectLst/>
                            </a:rPr>
                            <a:t>Status in Modern RL</a:t>
                          </a:r>
                          <a:endParaRPr lang="en-US" sz="1600" b="1" i="0" u="none" strike="noStrike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Effectively retired from deep RL 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(except when framed as GAE).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Ubiquitous standard 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across value and policy-based methods.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0875049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26148CD9-74D4-4293-C516-34B0E4EF16D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7588762"/>
                  </p:ext>
                </p:extLst>
              </p:nvPr>
            </p:nvGraphicFramePr>
            <p:xfrm>
              <a:off x="1534912" y="3552213"/>
              <a:ext cx="8993271" cy="2720293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2022020">
                      <a:extLst>
                        <a:ext uri="{9D8B030D-6E8A-4147-A177-3AD203B41FA5}">
                          <a16:colId xmlns:a16="http://schemas.microsoft.com/office/drawing/2014/main" val="4120724083"/>
                        </a:ext>
                      </a:extLst>
                    </a:gridCol>
                    <a:gridCol w="3573710">
                      <a:extLst>
                        <a:ext uri="{9D8B030D-6E8A-4147-A177-3AD203B41FA5}">
                          <a16:colId xmlns:a16="http://schemas.microsoft.com/office/drawing/2014/main" val="2005873537"/>
                        </a:ext>
                      </a:extLst>
                    </a:gridCol>
                    <a:gridCol w="3397541">
                      <a:extLst>
                        <a:ext uri="{9D8B030D-6E8A-4147-A177-3AD203B41FA5}">
                          <a16:colId xmlns:a16="http://schemas.microsoft.com/office/drawing/2014/main" val="98541530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Feature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Classic Eligibility Traces / TD(λ)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3"/>
                          <a:stretch>
                            <a:fillRect l="-164875" t="-1333" r="-717" b="-5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87377"/>
                      </a:ext>
                    </a:extLst>
                  </a:tr>
                  <a:tr h="839423"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Compatibility with Deep Learning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Difficult to combine with neural networks and </a:t>
                          </a:r>
                          <a:r>
                            <a:rPr lang="en-US" sz="1600" b="1" u="none" strike="noStrike" dirty="0">
                              <a:effectLst/>
                            </a:rPr>
                            <a:t>experience replay 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due to shifting historical weights.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 dirty="0">
                              <a:effectLst/>
                            </a:rPr>
                            <a:t>Perfect for parallelized data collection and </a:t>
                          </a:r>
                          <a:r>
                            <a:rPr lang="en-US" sz="1600" b="1" u="none" strike="noStrike" dirty="0">
                              <a:effectLst/>
                            </a:rPr>
                            <a:t>minibatch training.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207567296"/>
                      </a:ext>
                    </a:extLst>
                  </a:tr>
                  <a:tr h="737870"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>
                              <a:effectLst/>
                            </a:rPr>
                            <a:t>Implementation</a:t>
                          </a:r>
                          <a:endParaRPr lang="en-US" sz="1600" b="1" i="0" u="none" strike="noStrike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Complex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 to track recursively across deep architectures.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Straightforward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; you simply pull a slice of n sequential transitions from a buffer.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4128766215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u="none" strike="noStrike">
                              <a:effectLst/>
                            </a:rPr>
                            <a:t>Status in Modern RL</a:t>
                          </a:r>
                          <a:endParaRPr lang="en-US" sz="1600" b="1" i="0" u="none" strike="noStrike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Effectively retired from deep RL 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(except when framed as GAE).</a:t>
                          </a:r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ctr">
                            <a:buNone/>
                          </a:pPr>
                          <a:r>
                            <a:rPr lang="en-US" sz="1600" b="1" u="none" strike="noStrike" dirty="0">
                              <a:effectLst/>
                            </a:rPr>
                            <a:t>Ubiquitous standard </a:t>
                          </a:r>
                          <a:r>
                            <a:rPr lang="en-US" sz="1600" u="none" strike="noStrike" dirty="0">
                              <a:effectLst/>
                            </a:rPr>
                            <a:t>across value and policy-based methods.</a:t>
                          </a:r>
                          <a:endParaRPr lang="en-US" sz="16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08750490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28105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Performing updates with compound return targets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Remember Chapter 7: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target is the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5062756" cy="319673"/>
              </a:xfrm>
              <a:prstGeom prst="wedgeRoundRectCallout">
                <a:avLst>
                  <a:gd name="adj1" fmla="val -34086"/>
                  <a:gd name="adj2" fmla="val -1104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The update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is only available with a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-steps delay!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5062756" cy="319673"/>
              </a:xfrm>
              <a:prstGeom prst="wedgeRoundRectCallout">
                <a:avLst>
                  <a:gd name="adj1" fmla="val -34086"/>
                  <a:gd name="adj2" fmla="val -110415"/>
                  <a:gd name="adj3" fmla="val 16667"/>
                </a:avLst>
              </a:prstGeom>
              <a:blipFill>
                <a:blip r:embed="rId11"/>
                <a:stretch>
                  <a:fillRect b="-7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/>
                  <a:t>Valid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600" dirty="0"/>
                  <a:t>-step Update Targets and Compound Updates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797" t="-7258" b="-20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from Chapter 7 with approximation: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  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a valid update target for tabular learning and approx. SGD since it has the </a:t>
                </a:r>
                <a:r>
                  <a:rPr lang="en-US" b="1" dirty="0"/>
                  <a:t>error reduction property</a:t>
                </a:r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Observation: </a:t>
                </a:r>
                <a:r>
                  <a:rPr lang="en-US" dirty="0"/>
                  <a:t>Any average of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also valid. </a:t>
                </a:r>
                <a:br>
                  <a:rPr lang="en-US" dirty="0"/>
                </a:br>
                <a:r>
                  <a:rPr lang="en-US" dirty="0"/>
                  <a:t>E.g., average 2-step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-step returns: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</m:oMath>
                </a14:m>
                <a:br>
                  <a:rPr lang="en-US" dirty="0"/>
                </a:br>
                <a:r>
                  <a:rPr lang="en-US" dirty="0"/>
                  <a:t>Updating with an average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returns is called a </a:t>
                </a:r>
                <a:r>
                  <a:rPr lang="en-US" b="1" dirty="0"/>
                  <a:t>compound update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2280A73-E815-5EC4-E332-85E7CB4B0E14}"/>
              </a:ext>
            </a:extLst>
          </p:cNvPr>
          <p:cNvGrpSpPr/>
          <p:nvPr/>
        </p:nvGrpSpPr>
        <p:grpSpPr>
          <a:xfrm>
            <a:off x="2607084" y="2561716"/>
            <a:ext cx="5600745" cy="578738"/>
            <a:chOff x="2607084" y="2561716"/>
            <a:chExt cx="5600745" cy="57873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0838CA07-8D9C-E50E-6F8F-7B0B2A21F028}"/>
                </a:ext>
              </a:extLst>
            </p:cNvPr>
            <p:cNvSpPr/>
            <p:nvPr/>
          </p:nvSpPr>
          <p:spPr>
            <a:xfrm rot="5400000">
              <a:off x="4158423" y="1010377"/>
              <a:ext cx="209405" cy="33120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A991AC5-8DC3-21D6-372F-530168B34C9C}"/>
                </a:ext>
              </a:extLst>
            </p:cNvPr>
            <p:cNvSpPr/>
            <p:nvPr/>
          </p:nvSpPr>
          <p:spPr>
            <a:xfrm rot="5400000">
              <a:off x="7047213" y="1610507"/>
              <a:ext cx="209405" cy="2111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/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 next rewards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C27E4-3F83-062A-3A1B-1C45AE75D4C7}"/>
                </a:ext>
              </a:extLst>
            </p:cNvPr>
            <p:cNvSpPr txBox="1"/>
            <p:nvPr/>
          </p:nvSpPr>
          <p:spPr>
            <a:xfrm>
              <a:off x="6357258" y="2771122"/>
              <a:ext cx="1589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approx. value</a:t>
              </a:r>
            </a:p>
          </p:txBody>
        </p:sp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8340783-1B5F-1A3D-DAB9-CD0A6FA964A0}"/>
              </a:ext>
            </a:extLst>
          </p:cNvPr>
          <p:cNvSpPr/>
          <p:nvPr/>
        </p:nvSpPr>
        <p:spPr>
          <a:xfrm>
            <a:off x="9608576" y="1205016"/>
            <a:ext cx="1103086" cy="384628"/>
          </a:xfrm>
          <a:prstGeom prst="wedgeRoundRectCallout">
            <a:avLst>
              <a:gd name="adj1" fmla="val -50438"/>
              <a:gd name="adj2" fmla="val 15495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Episode termination</a:t>
            </a:r>
          </a:p>
        </p:txBody>
      </p:sp>
    </p:spTree>
    <p:extLst>
      <p:ext uri="{BB962C8B-B14F-4D97-AF65-F5344CB8AC3E}">
        <p14:creationId xmlns:p14="http://schemas.microsoft.com/office/powerpoint/2010/main" val="135570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A916-1D32-343A-582D-ECAC6FEC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</p:spPr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uses a compound return called the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-return </a:t>
                </a:r>
                <a:r>
                  <a:rPr lang="en-US" dirty="0"/>
                  <a:t>as the update target: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</a:t>
                </a:r>
              </a:p>
              <a:p>
                <a:pPr lvl="1"/>
                <a:r>
                  <a:rPr lang="en-US" b="1" dirty="0"/>
                  <a:t>TD(0)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uses only first component. One-step TD update.</a:t>
                </a:r>
              </a:p>
              <a:p>
                <a:pPr lvl="1"/>
                <a:r>
                  <a:rPr lang="en-US" b="1" dirty="0"/>
                  <a:t>TD(1)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uses only the last component. MC update.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  <a:blipFill>
                <a:blip r:embed="rId3"/>
                <a:stretch>
                  <a:fillRect l="-1777" t="-2168" r="-28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AD5742-C377-3B82-A3AC-29EC678FF371}"/>
              </a:ext>
            </a:extLst>
          </p:cNvPr>
          <p:cNvGrpSpPr/>
          <p:nvPr/>
        </p:nvGrpSpPr>
        <p:grpSpPr>
          <a:xfrm>
            <a:off x="7245518" y="732971"/>
            <a:ext cx="4870635" cy="5834743"/>
            <a:chOff x="7245518" y="732971"/>
            <a:chExt cx="4870635" cy="583474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2BA8CB2-8F90-3E45-6200-8B998E60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2632" b="-9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/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Weight fades with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sz="1600" dirty="0"/>
                    <a:t> with each step</a:t>
                  </a:r>
                </a:p>
              </p:txBody>
            </p:sp>
          </mc:Choice>
          <mc:Fallback xmlns="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BD9B5C7-FCFF-D5C7-EA13-2E6FEC687214}"/>
                </a:ext>
              </a:extLst>
            </p:cNvPr>
            <p:cNvSpPr/>
            <p:nvPr/>
          </p:nvSpPr>
          <p:spPr>
            <a:xfrm>
              <a:off x="7467600" y="732971"/>
              <a:ext cx="4572000" cy="583474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4C434FD8-8A11-6911-301B-29866AEE6CE0}"/>
              </a:ext>
            </a:extLst>
          </p:cNvPr>
          <p:cNvSpPr/>
          <p:nvPr/>
        </p:nvSpPr>
        <p:spPr>
          <a:xfrm>
            <a:off x="7535959" y="1458491"/>
            <a:ext cx="1369771" cy="488611"/>
          </a:xfrm>
          <a:prstGeom prst="wedgeRoundRectCallout">
            <a:avLst>
              <a:gd name="adj1" fmla="val -28539"/>
              <a:gd name="adj2" fmla="val 8250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One-step TD update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2F87CCE9-8FC0-3D6F-A5B8-9DC3C4AB13A2}"/>
              </a:ext>
            </a:extLst>
          </p:cNvPr>
          <p:cNvSpPr/>
          <p:nvPr/>
        </p:nvSpPr>
        <p:spPr>
          <a:xfrm>
            <a:off x="10714534" y="1656301"/>
            <a:ext cx="1216208" cy="267554"/>
          </a:xfrm>
          <a:prstGeom prst="wedgeRoundRectCallout">
            <a:avLst>
              <a:gd name="adj1" fmla="val -25937"/>
              <a:gd name="adj2" fmla="val 11952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MC update</a:t>
            </a:r>
          </a:p>
        </p:txBody>
      </p:sp>
    </p:spTree>
    <p:extLst>
      <p:ext uri="{BB962C8B-B14F-4D97-AF65-F5344CB8AC3E}">
        <p14:creationId xmlns:p14="http://schemas.microsoft.com/office/powerpoint/2010/main" val="15843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493F-084F-943F-45CA-5A04C19F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56977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Exponential Weighting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C1A5070E-8687-C3E9-A4FA-E23EB540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942"/>
            <a:ext cx="8910169" cy="338217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504A251-7A4B-B5D1-0D08-FD48C5DDB09E}"/>
              </a:ext>
            </a:extLst>
          </p:cNvPr>
          <p:cNvGrpSpPr/>
          <p:nvPr/>
        </p:nvGrpSpPr>
        <p:grpSpPr>
          <a:xfrm>
            <a:off x="7717709" y="350727"/>
            <a:ext cx="3892174" cy="4077325"/>
            <a:chOff x="7245518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174B41-EE6C-E138-A680-C04898DE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4167" b="-39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9A43E5-8E1D-3156-AA65-CF4343161354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16ACD39-94C7-E93B-CFA7-78B554F7210E}"/>
              </a:ext>
            </a:extLst>
          </p:cNvPr>
          <p:cNvGrpSpPr/>
          <p:nvPr/>
        </p:nvGrpSpPr>
        <p:grpSpPr>
          <a:xfrm>
            <a:off x="3295627" y="2195680"/>
            <a:ext cx="4521408" cy="769809"/>
            <a:chOff x="2607084" y="2310989"/>
            <a:chExt cx="4521408" cy="76980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9BF4B60D-FCB5-2B25-ED94-390F8DFFBC66}"/>
                </a:ext>
              </a:extLst>
            </p:cNvPr>
            <p:cNvSpPr/>
            <p:nvPr/>
          </p:nvSpPr>
          <p:spPr>
            <a:xfrm rot="5400000">
              <a:off x="3627441" y="1541360"/>
              <a:ext cx="186529" cy="222724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BF2A84D-DF47-76B2-0747-3E42761FF1AF}"/>
                </a:ext>
              </a:extLst>
            </p:cNvPr>
            <p:cNvSpPr/>
            <p:nvPr/>
          </p:nvSpPr>
          <p:spPr>
            <a:xfrm rot="5400000">
              <a:off x="6205043" y="2098366"/>
              <a:ext cx="206761" cy="63200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/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return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349" b="-238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8F60A7-9A6C-71A9-7242-F0B87582D6E7}"/>
                </a:ext>
              </a:extLst>
            </p:cNvPr>
            <p:cNvSpPr txBox="1"/>
            <p:nvPr/>
          </p:nvSpPr>
          <p:spPr>
            <a:xfrm>
              <a:off x="5539178" y="2563581"/>
              <a:ext cx="1589314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MC return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37684-C8C2-C840-CC19-2BA080EE3D18}"/>
              </a:ext>
            </a:extLst>
          </p:cNvPr>
          <p:cNvSpPr/>
          <p:nvPr/>
        </p:nvSpPr>
        <p:spPr>
          <a:xfrm>
            <a:off x="8027234" y="1409075"/>
            <a:ext cx="2372924" cy="2890814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04A16-EAD0-6655-A5AD-7A2BCDE89836}"/>
              </a:ext>
            </a:extLst>
          </p:cNvPr>
          <p:cNvSpPr/>
          <p:nvPr/>
        </p:nvSpPr>
        <p:spPr>
          <a:xfrm>
            <a:off x="10545580" y="1410779"/>
            <a:ext cx="916139" cy="2889110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AB2C4-AE24-FF40-E02E-F57FC7FF3A8F}"/>
              </a:ext>
            </a:extLst>
          </p:cNvPr>
          <p:cNvSpPr/>
          <p:nvPr/>
        </p:nvSpPr>
        <p:spPr>
          <a:xfrm>
            <a:off x="5769651" y="4589471"/>
            <a:ext cx="2804723" cy="1391948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9B6BEA-7DC1-B2E5-B3DC-E8D31183EC84}"/>
              </a:ext>
            </a:extLst>
          </p:cNvPr>
          <p:cNvSpPr/>
          <p:nvPr/>
        </p:nvSpPr>
        <p:spPr>
          <a:xfrm>
            <a:off x="2144237" y="3325098"/>
            <a:ext cx="3625414" cy="2656321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7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2"/>
                <a:ext cx="10515600" cy="131952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simplistic algorithm is to use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as the update target for </a:t>
                </a:r>
                <a:r>
                  <a:rPr lang="en-US" b="1" dirty="0"/>
                  <a:t>semi-gradient descent with approximation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Update</a:t>
                </a:r>
                <a:r>
                  <a:rPr lang="en-US" dirty="0"/>
                  <a:t>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the target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2"/>
                <a:ext cx="10515600" cy="1319520"/>
              </a:xfrm>
              <a:blipFill>
                <a:blip r:embed="rId3"/>
                <a:stretch>
                  <a:fillRect l="-406" t="-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6B6541E-4F61-7898-94D2-0C6B57C3A0DC}"/>
              </a:ext>
            </a:extLst>
          </p:cNvPr>
          <p:cNvGrpSpPr/>
          <p:nvPr/>
        </p:nvGrpSpPr>
        <p:grpSpPr>
          <a:xfrm>
            <a:off x="1152460" y="2765735"/>
            <a:ext cx="9669185" cy="3962956"/>
            <a:chOff x="1406047" y="2529918"/>
            <a:chExt cx="9669185" cy="39629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C18844-D839-BB6E-0FE0-040203E5B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17561" y="3385750"/>
              <a:ext cx="7357671" cy="310712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/>
                <p:nvPr/>
              </p:nvSpPr>
              <p:spPr>
                <a:xfrm>
                  <a:off x="1406047" y="2529918"/>
                  <a:ext cx="2158583" cy="2031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19-state random walk value estimation task.</a:t>
                  </a:r>
                  <a:br>
                    <a:rPr lang="en-US" dirty="0"/>
                  </a:br>
                  <a:br>
                    <a:rPr lang="en-US" dirty="0"/>
                  </a:b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algorithm mimics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methods.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6047" y="2529918"/>
                  <a:ext cx="2158583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2260" t="-1502" b="-42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2A65E2A-F699-E5C1-C264-E0BC7D75A8D7}"/>
              </a:ext>
            </a:extLst>
          </p:cNvPr>
          <p:cNvGrpSpPr/>
          <p:nvPr/>
        </p:nvGrpSpPr>
        <p:grpSpPr>
          <a:xfrm>
            <a:off x="3403550" y="2923409"/>
            <a:ext cx="7659148" cy="661675"/>
            <a:chOff x="2214694" y="6167346"/>
            <a:chExt cx="7659148" cy="661675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7D967B2-B348-0E40-0BB3-84B7D0B3F934}"/>
                </a:ext>
              </a:extLst>
            </p:cNvPr>
            <p:cNvGrpSpPr/>
            <p:nvPr/>
          </p:nvGrpSpPr>
          <p:grpSpPr>
            <a:xfrm>
              <a:off x="2461790" y="6167346"/>
              <a:ext cx="7165118" cy="661675"/>
              <a:chOff x="2461790" y="6167346"/>
              <a:chExt cx="7165118" cy="66167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2619BE9-C484-A416-98A4-8AE733AC04D1}"/>
                  </a:ext>
                </a:extLst>
              </p:cNvPr>
              <p:cNvSpPr/>
              <p:nvPr/>
            </p:nvSpPr>
            <p:spPr>
              <a:xfrm>
                <a:off x="2461790" y="6372200"/>
                <a:ext cx="117424" cy="11905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CB1DB2A-CAD7-37A1-3BAA-EC2AEDB53E27}"/>
                  </a:ext>
                </a:extLst>
              </p:cNvPr>
              <p:cNvSpPr/>
              <p:nvPr/>
            </p:nvSpPr>
            <p:spPr>
              <a:xfrm>
                <a:off x="9440989" y="6372200"/>
                <a:ext cx="117424" cy="11905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F1689B6-1017-4B3A-8792-CA3EEBC41DC8}"/>
                  </a:ext>
                </a:extLst>
              </p:cNvPr>
              <p:cNvSpPr/>
              <p:nvPr/>
            </p:nvSpPr>
            <p:spPr>
              <a:xfrm>
                <a:off x="2801105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630ABE6-10AF-4F05-9562-8CF14AF760F7}"/>
                  </a:ext>
                </a:extLst>
              </p:cNvPr>
              <p:cNvSpPr/>
              <p:nvPr/>
            </p:nvSpPr>
            <p:spPr>
              <a:xfrm>
                <a:off x="6295785" y="6363887"/>
                <a:ext cx="127577" cy="135683"/>
              </a:xfrm>
              <a:prstGeom prst="ellips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34CBCC4-8E16-081B-E4B3-06EC788C2930}"/>
                  </a:ext>
                </a:extLst>
              </p:cNvPr>
              <p:cNvSpPr/>
              <p:nvPr/>
            </p:nvSpPr>
            <p:spPr>
              <a:xfrm>
                <a:off x="8043125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89AA893-5A37-4C2B-270B-FFF9ECEC7666}"/>
                  </a:ext>
                </a:extLst>
              </p:cNvPr>
              <p:cNvSpPr/>
              <p:nvPr/>
            </p:nvSpPr>
            <p:spPr>
              <a:xfrm>
                <a:off x="874206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3C910E0-52B9-557F-9E40-121901F79C22}"/>
                  </a:ext>
                </a:extLst>
              </p:cNvPr>
              <p:cNvSpPr/>
              <p:nvPr/>
            </p:nvSpPr>
            <p:spPr>
              <a:xfrm>
                <a:off x="909152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1BEBD32-299F-2311-0411-C2DC5F42B7AA}"/>
                  </a:ext>
                </a:extLst>
              </p:cNvPr>
              <p:cNvSpPr/>
              <p:nvPr/>
            </p:nvSpPr>
            <p:spPr>
              <a:xfrm>
                <a:off x="384950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09C797B-9A54-933C-8553-FAE16E6AFCF7}"/>
                  </a:ext>
                </a:extLst>
              </p:cNvPr>
              <p:cNvSpPr/>
              <p:nvPr/>
            </p:nvSpPr>
            <p:spPr>
              <a:xfrm>
                <a:off x="489791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9BB7535-0223-79FE-D220-16A1A6AFB38E}"/>
                  </a:ext>
                </a:extLst>
              </p:cNvPr>
              <p:cNvSpPr/>
              <p:nvPr/>
            </p:nvSpPr>
            <p:spPr>
              <a:xfrm>
                <a:off x="5946317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9079AEA-6821-8B89-1FD2-B0E52F0EA999}"/>
                  </a:ext>
                </a:extLst>
              </p:cNvPr>
              <p:cNvSpPr/>
              <p:nvPr/>
            </p:nvSpPr>
            <p:spPr>
              <a:xfrm>
                <a:off x="664525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FD6F763-B9D3-4E4F-755F-844788DE5356}"/>
                  </a:ext>
                </a:extLst>
              </p:cNvPr>
              <p:cNvSpPr/>
              <p:nvPr/>
            </p:nvSpPr>
            <p:spPr>
              <a:xfrm>
                <a:off x="699472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89546C9-D7ED-D52D-9595-374828E87B2E}"/>
                  </a:ext>
                </a:extLst>
              </p:cNvPr>
              <p:cNvSpPr/>
              <p:nvPr/>
            </p:nvSpPr>
            <p:spPr>
              <a:xfrm>
                <a:off x="734418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2A0E120-120F-CCDE-C82B-2B47426D7FE5}"/>
                  </a:ext>
                </a:extLst>
              </p:cNvPr>
              <p:cNvSpPr/>
              <p:nvPr/>
            </p:nvSpPr>
            <p:spPr>
              <a:xfrm>
                <a:off x="7693657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89C76DA-D890-CBDA-2CD8-996545D98B33}"/>
                  </a:ext>
                </a:extLst>
              </p:cNvPr>
              <p:cNvSpPr/>
              <p:nvPr/>
            </p:nvSpPr>
            <p:spPr>
              <a:xfrm>
                <a:off x="839259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05A342E-E93C-D36F-1D12-19597437B810}"/>
                  </a:ext>
                </a:extLst>
              </p:cNvPr>
              <p:cNvSpPr/>
              <p:nvPr/>
            </p:nvSpPr>
            <p:spPr>
              <a:xfrm>
                <a:off x="315057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EF2C0E5-30A4-64B5-81CC-A967EB22B1F6}"/>
                  </a:ext>
                </a:extLst>
              </p:cNvPr>
              <p:cNvSpPr/>
              <p:nvPr/>
            </p:nvSpPr>
            <p:spPr>
              <a:xfrm>
                <a:off x="350004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CA23BFD-8168-E566-5BE5-CCBF51E6CB93}"/>
                  </a:ext>
                </a:extLst>
              </p:cNvPr>
              <p:cNvSpPr/>
              <p:nvPr/>
            </p:nvSpPr>
            <p:spPr>
              <a:xfrm>
                <a:off x="4198977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58C67C3-C806-A948-3344-82D69E657CC5}"/>
                  </a:ext>
                </a:extLst>
              </p:cNvPr>
              <p:cNvSpPr/>
              <p:nvPr/>
            </p:nvSpPr>
            <p:spPr>
              <a:xfrm>
                <a:off x="4548445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EB601CA-3FA5-F6F3-E5E0-E10135ABCF00}"/>
                  </a:ext>
                </a:extLst>
              </p:cNvPr>
              <p:cNvSpPr/>
              <p:nvPr/>
            </p:nvSpPr>
            <p:spPr>
              <a:xfrm>
                <a:off x="524738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30AB825-0669-506A-FB89-A2380820FAA5}"/>
                  </a:ext>
                </a:extLst>
              </p:cNvPr>
              <p:cNvSpPr/>
              <p:nvPr/>
            </p:nvSpPr>
            <p:spPr>
              <a:xfrm>
                <a:off x="559684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E8C6C8A-6679-5775-AB35-1ECF87C8B844}"/>
                  </a:ext>
                </a:extLst>
              </p:cNvPr>
              <p:cNvSpPr txBox="1"/>
              <p:nvPr/>
            </p:nvSpPr>
            <p:spPr>
              <a:xfrm>
                <a:off x="6096000" y="6499570"/>
                <a:ext cx="54040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start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0C70CA7B-55C5-9430-3357-3B3F162D64EE}"/>
                  </a:ext>
                </a:extLst>
              </p:cNvPr>
              <p:cNvCxnSpPr>
                <a:stCxn id="12" idx="6"/>
                <a:endCxn id="19" idx="2"/>
              </p:cNvCxnSpPr>
              <p:nvPr/>
            </p:nvCxnSpPr>
            <p:spPr>
              <a:xfrm>
                <a:off x="642336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A10E0A17-7211-8B1D-09E3-ED1D8FFA0A9B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677283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D538BDB-09FC-E391-18F1-F952E72A0CE0}"/>
                  </a:ext>
                </a:extLst>
              </p:cNvPr>
              <p:cNvCxnSpPr>
                <a:cxnSpLocks/>
                <a:stCxn id="20" idx="6"/>
                <a:endCxn id="21" idx="2"/>
              </p:cNvCxnSpPr>
              <p:nvPr/>
            </p:nvCxnSpPr>
            <p:spPr>
              <a:xfrm>
                <a:off x="712229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14953F8-2D0E-1927-8FAE-5D59D36E12D4}"/>
                  </a:ext>
                </a:extLst>
              </p:cNvPr>
              <p:cNvCxnSpPr>
                <a:cxnSpLocks/>
                <a:stCxn id="21" idx="6"/>
                <a:endCxn id="22" idx="2"/>
              </p:cNvCxnSpPr>
              <p:nvPr/>
            </p:nvCxnSpPr>
            <p:spPr>
              <a:xfrm>
                <a:off x="7471766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68AC4A9-3DBC-DE88-8FFA-9CC171FE6EB0}"/>
                  </a:ext>
                </a:extLst>
              </p:cNvPr>
              <p:cNvCxnSpPr>
                <a:cxnSpLocks/>
                <a:stCxn id="22" idx="6"/>
                <a:endCxn id="13" idx="2"/>
              </p:cNvCxnSpPr>
              <p:nvPr/>
            </p:nvCxnSpPr>
            <p:spPr>
              <a:xfrm>
                <a:off x="7821234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173D8E0-7638-0657-ECFD-973A570B6C40}"/>
                  </a:ext>
                </a:extLst>
              </p:cNvPr>
              <p:cNvCxnSpPr>
                <a:cxnSpLocks/>
                <a:stCxn id="13" idx="6"/>
                <a:endCxn id="23" idx="2"/>
              </p:cNvCxnSpPr>
              <p:nvPr/>
            </p:nvCxnSpPr>
            <p:spPr>
              <a:xfrm>
                <a:off x="817070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C49BA629-D5B2-BEDE-7BA3-85920105A7B4}"/>
                  </a:ext>
                </a:extLst>
              </p:cNvPr>
              <p:cNvCxnSpPr>
                <a:cxnSpLocks/>
                <a:stCxn id="23" idx="6"/>
                <a:endCxn id="14" idx="2"/>
              </p:cNvCxnSpPr>
              <p:nvPr/>
            </p:nvCxnSpPr>
            <p:spPr>
              <a:xfrm>
                <a:off x="852017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73249D8A-234C-D0EC-35F0-9851F00DB3FB}"/>
                  </a:ext>
                </a:extLst>
              </p:cNvPr>
              <p:cNvCxnSpPr>
                <a:cxnSpLocks/>
                <a:stCxn id="14" idx="6"/>
                <a:endCxn id="15" idx="2"/>
              </p:cNvCxnSpPr>
              <p:nvPr/>
            </p:nvCxnSpPr>
            <p:spPr>
              <a:xfrm>
                <a:off x="886963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3A6A30CB-9F74-302F-BDAA-838507EE6658}"/>
                  </a:ext>
                </a:extLst>
              </p:cNvPr>
              <p:cNvCxnSpPr>
                <a:cxnSpLocks/>
                <a:stCxn id="15" idx="6"/>
                <a:endCxn id="10" idx="1"/>
              </p:cNvCxnSpPr>
              <p:nvPr/>
            </p:nvCxnSpPr>
            <p:spPr>
              <a:xfrm flipV="1">
                <a:off x="9219106" y="6431728"/>
                <a:ext cx="221883" cy="1"/>
              </a:xfrm>
              <a:prstGeom prst="straightConnector1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DB88DF1-91ED-4C9F-7FC4-392EDFF8BC8C}"/>
                  </a:ext>
                </a:extLst>
              </p:cNvPr>
              <p:cNvSpPr txBox="1"/>
              <p:nvPr/>
            </p:nvSpPr>
            <p:spPr>
              <a:xfrm>
                <a:off x="9146739" y="6167346"/>
                <a:ext cx="2808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1</a:t>
                </a:r>
              </a:p>
            </p:txBody>
          </p: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3C708411-13CA-3938-9960-AF0276035451}"/>
                  </a:ext>
                </a:extLst>
              </p:cNvPr>
              <p:cNvCxnSpPr>
                <a:cxnSpLocks/>
                <a:stCxn id="11" idx="6"/>
                <a:endCxn id="24" idx="2"/>
              </p:cNvCxnSpPr>
              <p:nvPr/>
            </p:nvCxnSpPr>
            <p:spPr>
              <a:xfrm>
                <a:off x="292868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AC1A75C6-70EC-4B7A-A5B0-1BA5335000AF}"/>
                  </a:ext>
                </a:extLst>
              </p:cNvPr>
              <p:cNvCxnSpPr>
                <a:cxnSpLocks/>
                <a:stCxn id="24" idx="6"/>
                <a:endCxn id="25" idx="2"/>
              </p:cNvCxnSpPr>
              <p:nvPr/>
            </p:nvCxnSpPr>
            <p:spPr>
              <a:xfrm>
                <a:off x="327815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5B4BD555-83D5-3B59-C23E-13F48857A492}"/>
                  </a:ext>
                </a:extLst>
              </p:cNvPr>
              <p:cNvCxnSpPr>
                <a:cxnSpLocks/>
                <a:stCxn id="25" idx="6"/>
                <a:endCxn id="16" idx="2"/>
              </p:cNvCxnSpPr>
              <p:nvPr/>
            </p:nvCxnSpPr>
            <p:spPr>
              <a:xfrm>
                <a:off x="362761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Arrow Connector 60">
                <a:extLst>
                  <a:ext uri="{FF2B5EF4-FFF2-40B4-BE49-F238E27FC236}">
                    <a16:creationId xmlns:a16="http://schemas.microsoft.com/office/drawing/2014/main" id="{A9271A34-B6BE-E33B-C643-F3B5597E0CA7}"/>
                  </a:ext>
                </a:extLst>
              </p:cNvPr>
              <p:cNvCxnSpPr>
                <a:cxnSpLocks/>
                <a:stCxn id="16" idx="6"/>
                <a:endCxn id="26" idx="2"/>
              </p:cNvCxnSpPr>
              <p:nvPr/>
            </p:nvCxnSpPr>
            <p:spPr>
              <a:xfrm>
                <a:off x="3977086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0C11D0BD-BB06-F0C0-0AEE-41A1ABA464B2}"/>
                  </a:ext>
                </a:extLst>
              </p:cNvPr>
              <p:cNvCxnSpPr>
                <a:cxnSpLocks/>
                <a:stCxn id="26" idx="6"/>
                <a:endCxn id="27" idx="2"/>
              </p:cNvCxnSpPr>
              <p:nvPr/>
            </p:nvCxnSpPr>
            <p:spPr>
              <a:xfrm>
                <a:off x="4326554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Arrow Connector 73">
                <a:extLst>
                  <a:ext uri="{FF2B5EF4-FFF2-40B4-BE49-F238E27FC236}">
                    <a16:creationId xmlns:a16="http://schemas.microsoft.com/office/drawing/2014/main" id="{F93D429D-1C0A-6EEC-9B3D-430DF89DC51F}"/>
                  </a:ext>
                </a:extLst>
              </p:cNvPr>
              <p:cNvCxnSpPr>
                <a:cxnSpLocks/>
                <a:stCxn id="27" idx="6"/>
                <a:endCxn id="17" idx="2"/>
              </p:cNvCxnSpPr>
              <p:nvPr/>
            </p:nvCxnSpPr>
            <p:spPr>
              <a:xfrm>
                <a:off x="467602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DE24DF03-5C88-B36C-274D-BD029FE5CA35}"/>
                  </a:ext>
                </a:extLst>
              </p:cNvPr>
              <p:cNvCxnSpPr>
                <a:cxnSpLocks/>
                <a:stCxn id="17" idx="6"/>
                <a:endCxn id="28" idx="2"/>
              </p:cNvCxnSpPr>
              <p:nvPr/>
            </p:nvCxnSpPr>
            <p:spPr>
              <a:xfrm>
                <a:off x="502549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B5609BB2-1E49-DFEB-F8E9-C624995B02B7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537495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14AAD3C5-70CE-686C-85C2-34767DF131FC}"/>
                  </a:ext>
                </a:extLst>
              </p:cNvPr>
              <p:cNvCxnSpPr>
                <a:cxnSpLocks/>
                <a:stCxn id="29" idx="6"/>
                <a:endCxn id="18" idx="2"/>
              </p:cNvCxnSpPr>
              <p:nvPr/>
            </p:nvCxnSpPr>
            <p:spPr>
              <a:xfrm>
                <a:off x="5724426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Arrow Connector 85">
                <a:extLst>
                  <a:ext uri="{FF2B5EF4-FFF2-40B4-BE49-F238E27FC236}">
                    <a16:creationId xmlns:a16="http://schemas.microsoft.com/office/drawing/2014/main" id="{5B9F4920-AAF3-A1F4-42A5-8A01574E22EB}"/>
                  </a:ext>
                </a:extLst>
              </p:cNvPr>
              <p:cNvCxnSpPr>
                <a:cxnSpLocks/>
                <a:stCxn id="18" idx="6"/>
                <a:endCxn id="12" idx="2"/>
              </p:cNvCxnSpPr>
              <p:nvPr/>
            </p:nvCxnSpPr>
            <p:spPr>
              <a:xfrm>
                <a:off x="6073894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FB4FE02B-54EB-011C-82F2-386C18847A92}"/>
                  </a:ext>
                </a:extLst>
              </p:cNvPr>
              <p:cNvCxnSpPr>
                <a:cxnSpLocks/>
                <a:stCxn id="9" idx="3"/>
                <a:endCxn id="11" idx="2"/>
              </p:cNvCxnSpPr>
              <p:nvPr/>
            </p:nvCxnSpPr>
            <p:spPr>
              <a:xfrm>
                <a:off x="2579214" y="6431728"/>
                <a:ext cx="221891" cy="1"/>
              </a:xfrm>
              <a:prstGeom prst="straightConnector1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7326ECA9-2FA8-60C8-3A75-C4C6324598BA}"/>
                  </a:ext>
                </a:extLst>
              </p:cNvPr>
              <p:cNvSpPr txBox="1"/>
              <p:nvPr/>
            </p:nvSpPr>
            <p:spPr>
              <a:xfrm>
                <a:off x="8248004" y="6567411"/>
                <a:ext cx="137890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All other reward is 0</a:t>
                </a:r>
              </a:p>
            </p:txBody>
          </p:sp>
        </p:grp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24CD6081-8E7C-5373-C274-98350E0DB050}"/>
                </a:ext>
              </a:extLst>
            </p:cNvPr>
            <p:cNvSpPr/>
            <p:nvPr/>
          </p:nvSpPr>
          <p:spPr>
            <a:xfrm>
              <a:off x="2214694" y="6171467"/>
              <a:ext cx="7659148" cy="63813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01826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The Forward View Issue with </a:t>
                </a:r>
                <a:br>
                  <a:rPr lang="en-US" dirty="0"/>
                </a:br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  <a:blipFill>
                <a:blip r:embed="rId2"/>
                <a:stretch>
                  <a:fillRect l="-3093" t="-50000" b="-6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Uses the </a:t>
                </a:r>
                <a:r>
                  <a:rPr lang="en-US" b="1" dirty="0"/>
                  <a:t>“forward view.” </a:t>
                </a:r>
              </a:p>
              <a:p>
                <a:r>
                  <a:rPr lang="en-US" dirty="0"/>
                  <a:t>Updating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requires the calculation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en-US" dirty="0"/>
                  <a:t>, which requires all future rewards: The </a:t>
                </a:r>
                <a:r>
                  <a:rPr lang="en-US" b="1" dirty="0"/>
                  <a:t>update is delayed </a:t>
                </a:r>
                <a:r>
                  <a:rPr lang="en-US" dirty="0"/>
                  <a:t>till the whole episode is observed (like for MC).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  <a:blipFill>
                <a:blip r:embed="rId3"/>
                <a:stretch>
                  <a:fillRect l="-1185" t="-7660" b="-8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4F066E0-14B9-ED12-6A95-7A9B8E5FEA05}"/>
              </a:ext>
            </a:extLst>
          </p:cNvPr>
          <p:cNvGrpSpPr/>
          <p:nvPr/>
        </p:nvGrpSpPr>
        <p:grpSpPr>
          <a:xfrm>
            <a:off x="8098145" y="374690"/>
            <a:ext cx="3892174" cy="4077325"/>
            <a:chOff x="7318283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BF0173-A454-9854-1EB8-24853BE78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8283" y="1739618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3306" b="-380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FE606E-7390-123A-8006-FFCF34E5BBA2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6F3215-3084-94A5-D9BC-4EF0F1E6626F}"/>
              </a:ext>
            </a:extLst>
          </p:cNvPr>
          <p:cNvGrpSpPr/>
          <p:nvPr/>
        </p:nvGrpSpPr>
        <p:grpSpPr>
          <a:xfrm>
            <a:off x="482272" y="3098780"/>
            <a:ext cx="7339461" cy="2279359"/>
            <a:chOff x="482272" y="3098780"/>
            <a:chExt cx="7339461" cy="22793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B6695FD-E75E-33FA-BCC4-B93D4EA61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272" y="3098780"/>
              <a:ext cx="7339461" cy="209469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462DD3-AC57-AC6E-DB58-8C4AA8C5F1B3}"/>
                    </a:ext>
                  </a:extLst>
                </p:cNvPr>
                <p:cNvSpPr txBox="1"/>
                <p:nvPr/>
              </p:nvSpPr>
              <p:spPr>
                <a:xfrm>
                  <a:off x="1187644" y="5008807"/>
                  <a:ext cx="5383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462DD3-AC57-AC6E-DB58-8C4AA8C5F1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7644" y="5008807"/>
                  <a:ext cx="53839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C21A98-A3F2-1D38-E686-25CC785EEF09}"/>
                    </a:ext>
                  </a:extLst>
                </p:cNvPr>
                <p:cNvSpPr txBox="1"/>
                <p:nvPr/>
              </p:nvSpPr>
              <p:spPr>
                <a:xfrm>
                  <a:off x="2515386" y="4762408"/>
                  <a:ext cx="6164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C21A98-A3F2-1D38-E686-25CC785EEF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5386" y="4762408"/>
                  <a:ext cx="616470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9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41847C-870A-6AAB-5DFF-B9B9859364C8}"/>
                </a:ext>
              </a:extLst>
            </p:cNvPr>
            <p:cNvSpPr txBox="1"/>
            <p:nvPr/>
          </p:nvSpPr>
          <p:spPr>
            <a:xfrm rot="20955581">
              <a:off x="1541594" y="4605447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update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AFA192E-5DA0-E399-780F-3564BE21E5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018" y="4790114"/>
              <a:ext cx="1115736" cy="26005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/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Agent can only update the value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when it is here!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  <a:blipFill>
                <a:blip r:embed="rId9"/>
                <a:stretch>
                  <a:fillRect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12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35685-52DA-F194-570C-06641147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DF6FB-C5F0-A5AF-1E34-825594427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eligibility traces</a:t>
            </a:r>
          </a:p>
        </p:txBody>
      </p:sp>
    </p:spTree>
    <p:extLst>
      <p:ext uri="{BB962C8B-B14F-4D97-AF65-F5344CB8AC3E}">
        <p14:creationId xmlns:p14="http://schemas.microsoft.com/office/powerpoint/2010/main" val="3338747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33E540-9847-9C21-C9F0-CFBE8C99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79571"/>
                <a:ext cx="10515600" cy="17205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can </a:t>
                </a:r>
                <a:r>
                  <a:rPr lang="en-US" b="1" dirty="0"/>
                  <a:t>update the value function for all previous states </a:t>
                </a:r>
                <a:r>
                  <a:rPr lang="en-US" dirty="0"/>
                  <a:t>depending on the current observed TD-error:</a:t>
                </a:r>
              </a:p>
              <a:p>
                <a:pPr lvl="1"/>
                <a:r>
                  <a:rPr lang="en-US" dirty="0"/>
                  <a:t>Approximate the behavior of the forward-looking Off-Line 𝜆-Return Algorithm.</a:t>
                </a:r>
              </a:p>
              <a:p>
                <a:pPr lvl="1"/>
                <a:r>
                  <a:rPr lang="en-US" dirty="0"/>
                  <a:t>Online update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at every time step.</a:t>
                </a:r>
              </a:p>
              <a:p>
                <a:pPr lvl="1"/>
                <a:r>
                  <a:rPr lang="en-US" dirty="0"/>
                  <a:t>Computations are equally spread over time (not just the end of the episode).</a:t>
                </a:r>
              </a:p>
              <a:p>
                <a:pPr lvl="1"/>
                <a:r>
                  <a:rPr lang="en-US" dirty="0"/>
                  <a:t>Works for continuing problems with no episode structure.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79571"/>
                <a:ext cx="10515600" cy="1720562"/>
              </a:xfrm>
              <a:blipFill>
                <a:blip r:embed="rId2"/>
                <a:stretch>
                  <a:fillRect l="-754" t="-7092" r="-348" b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4CA70D1-B1C8-66B6-2B70-B39889CCE8CA}"/>
              </a:ext>
            </a:extLst>
          </p:cNvPr>
          <p:cNvGrpSpPr/>
          <p:nvPr/>
        </p:nvGrpSpPr>
        <p:grpSpPr>
          <a:xfrm>
            <a:off x="1988161" y="1124198"/>
            <a:ext cx="7075799" cy="3327793"/>
            <a:chOff x="2000745" y="1095253"/>
            <a:chExt cx="7075799" cy="332779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F2107B3-4130-2F4D-8348-C8D01145A6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0745" y="1095253"/>
              <a:ext cx="7075799" cy="314232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99931218-62BE-9701-43DE-FF542624DDB6}"/>
                    </a:ext>
                  </a:extLst>
                </p:cNvPr>
                <p:cNvSpPr txBox="1"/>
                <p:nvPr/>
              </p:nvSpPr>
              <p:spPr>
                <a:xfrm>
                  <a:off x="6518848" y="3619087"/>
                  <a:ext cx="5383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99931218-62BE-9701-43DE-FF542624DD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8848" y="3619087"/>
                  <a:ext cx="53839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EF2B6F-A91F-6A73-BE9B-2007F6B1995C}"/>
                    </a:ext>
                  </a:extLst>
                </p:cNvPr>
                <p:cNvSpPr txBox="1"/>
                <p:nvPr/>
              </p:nvSpPr>
              <p:spPr>
                <a:xfrm>
                  <a:off x="8012868" y="4053714"/>
                  <a:ext cx="6164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EF2B6F-A91F-6A73-BE9B-2007F6B19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2868" y="4053714"/>
                  <a:ext cx="6164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2CEEC33-42F0-CF71-67E5-0E3B29769461}"/>
                </a:ext>
              </a:extLst>
            </p:cNvPr>
            <p:cNvGrpSpPr/>
            <p:nvPr/>
          </p:nvGrpSpPr>
          <p:grpSpPr>
            <a:xfrm>
              <a:off x="6932951" y="3768495"/>
              <a:ext cx="1079917" cy="469885"/>
              <a:chOff x="6932951" y="3768495"/>
              <a:chExt cx="1079917" cy="469885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5453FED-9076-E5A4-2B94-9A032A9FD338}"/>
                  </a:ext>
                </a:extLst>
              </p:cNvPr>
              <p:cNvCxnSpPr>
                <a:cxnSpLocks/>
                <a:endCxn id="12" idx="1"/>
              </p:cNvCxnSpPr>
              <p:nvPr/>
            </p:nvCxnSpPr>
            <p:spPr>
              <a:xfrm>
                <a:off x="6932951" y="3895685"/>
                <a:ext cx="1079917" cy="3426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FF7A9AF-DCD8-97D1-286D-51D9A1170DA3}"/>
                  </a:ext>
                </a:extLst>
              </p:cNvPr>
              <p:cNvSpPr txBox="1"/>
              <p:nvPr/>
            </p:nvSpPr>
            <p:spPr>
              <a:xfrm rot="1135729">
                <a:off x="7090062" y="3768495"/>
                <a:ext cx="8899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update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2DE156-8CD9-6258-1FAA-DB9C5CBF9ACF}"/>
                  </a:ext>
                </a:extLst>
              </p:cNvPr>
              <p:cNvSpPr txBox="1"/>
              <p:nvPr/>
            </p:nvSpPr>
            <p:spPr>
              <a:xfrm>
                <a:off x="8699383" y="1402630"/>
                <a:ext cx="2722227" cy="120032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TD-error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remembers how much to blame state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2DE156-8CD9-6258-1FAA-DB9C5CBF9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9383" y="1402630"/>
                <a:ext cx="2722227" cy="1200329"/>
              </a:xfrm>
              <a:prstGeom prst="rect">
                <a:avLst/>
              </a:prstGeom>
              <a:blipFill>
                <a:blip r:embed="rId6"/>
                <a:stretch>
                  <a:fillRect l="-1556" t="-15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8090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B73B-EDBC-685B-D81B-51742C8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The approximation weights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br>
                  <a:rPr lang="en-US" dirty="0">
                    <a:ea typeface="Cambria Math" panose="02040503050406030204" pitchFamily="18" charset="0"/>
                  </a:rPr>
                </a:br>
                <a:r>
                  <a:rPr lang="en-US" dirty="0"/>
                  <a:t>represent what we have learned about the value function so far = </a:t>
                </a:r>
                <a:r>
                  <a:rPr lang="en-US" b="1" dirty="0"/>
                  <a:t>long-term memory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Eligibility trace:</a:t>
                </a:r>
                <a:r>
                  <a:rPr lang="en-US" dirty="0"/>
                  <a:t> a vector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b="1" dirty="0"/>
                </a:br>
                <a:br>
                  <a:rPr lang="en-US" b="1" dirty="0"/>
                </a:br>
                <a:endParaRPr lang="en-US" b="1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𝛾𝜆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keeps track of how much 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contributed to the recent state valuation (sum of gradients). This is a </a:t>
                </a:r>
                <a:r>
                  <a:rPr lang="en-US" b="1" dirty="0"/>
                  <a:t>short-term memory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shows the </a:t>
                </a:r>
                <a:r>
                  <a:rPr lang="en-US" b="1" dirty="0"/>
                  <a:t>eligibility</a:t>
                </a:r>
                <a:r>
                  <a:rPr lang="en-US" dirty="0"/>
                  <a:t> of each component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undergo learning changes when a reinforcement event happens. It is a weighted sum of past gradients.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  <a:blipFill>
                <a:blip r:embed="rId2"/>
                <a:stretch>
                  <a:fillRect l="-219" t="-1239" r="-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86273108-0757-82D9-3CC1-E6ED941AE347}"/>
              </a:ext>
            </a:extLst>
          </p:cNvPr>
          <p:cNvGrpSpPr/>
          <p:nvPr/>
        </p:nvGrpSpPr>
        <p:grpSpPr>
          <a:xfrm>
            <a:off x="6400800" y="1434518"/>
            <a:ext cx="5364787" cy="2490088"/>
            <a:chOff x="6400800" y="1434518"/>
            <a:chExt cx="5364787" cy="249008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2D0E44C-6361-FF1D-4C5B-1D96D2497C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800" y="1434518"/>
              <a:ext cx="5364787" cy="238247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7E1B7AD-D5E2-146D-698D-E658F9A14FE8}"/>
                    </a:ext>
                  </a:extLst>
                </p:cNvPr>
                <p:cNvSpPr txBox="1"/>
                <p:nvPr/>
              </p:nvSpPr>
              <p:spPr>
                <a:xfrm>
                  <a:off x="9725586" y="3385530"/>
                  <a:ext cx="53839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7E1B7AD-D5E2-146D-698D-E658F9A14F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5586" y="3385530"/>
                  <a:ext cx="538393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E4BDAC7-11A9-01B8-0CE4-EB6BD229A090}"/>
                    </a:ext>
                  </a:extLst>
                </p:cNvPr>
                <p:cNvSpPr txBox="1"/>
                <p:nvPr/>
              </p:nvSpPr>
              <p:spPr>
                <a:xfrm>
                  <a:off x="10877249" y="3647607"/>
                  <a:ext cx="61647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E4BDAC7-11A9-01B8-0CE4-EB6BD229A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7249" y="3647607"/>
                  <a:ext cx="616470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20C3EF6-45C9-CEA4-CAF4-7DC4E8295964}"/>
                </a:ext>
              </a:extLst>
            </p:cNvPr>
            <p:cNvCxnSpPr>
              <a:cxnSpLocks/>
            </p:cNvCxnSpPr>
            <p:nvPr/>
          </p:nvCxnSpPr>
          <p:spPr>
            <a:xfrm>
              <a:off x="10189101" y="3599950"/>
              <a:ext cx="709850" cy="158029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1B9E28-149A-64C8-F045-86A88F3B55A6}"/>
                </a:ext>
              </a:extLst>
            </p:cNvPr>
            <p:cNvSpPr txBox="1"/>
            <p:nvPr/>
          </p:nvSpPr>
          <p:spPr>
            <a:xfrm rot="677913">
              <a:off x="10216309" y="3419458"/>
              <a:ext cx="6554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2"/>
                  </a:solidFill>
                </a:rPr>
                <a:t>update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/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effect of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sz="1600" dirty="0"/>
                  <a:t> fades with the discount factor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b="1" dirty="0"/>
                  <a:t> and </a:t>
                </a:r>
                <a:r>
                  <a:rPr lang="en-US" sz="1600" dirty="0"/>
                  <a:t>the trace-decay factor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600" b="1" dirty="0"/>
                  <a:t>.</a:t>
                </a:r>
              </a:p>
            </p:txBody>
          </p:sp>
        </mc:Choice>
        <mc:Fallback xmlns="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5558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Semi-gradient 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B6C74-2CF6-0DB5-D124-C52B90B7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743" y="1124198"/>
            <a:ext cx="8978063" cy="518658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F8D7FF5-595D-B2A3-1001-46E92156EC05}"/>
              </a:ext>
            </a:extLst>
          </p:cNvPr>
          <p:cNvSpPr/>
          <p:nvPr/>
        </p:nvSpPr>
        <p:spPr>
          <a:xfrm>
            <a:off x="2611902" y="4642338"/>
            <a:ext cx="3094892" cy="848751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89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True Online 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37A5CC5-C193-35AF-5BA4-449015E20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70" y="1291903"/>
            <a:ext cx="7139448" cy="4124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39F2A-6304-0820-08BC-891D48A4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01" y="1012060"/>
            <a:ext cx="8490238" cy="58459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/>
              <p:nvPr/>
            </p:nvSpPr>
            <p:spPr>
              <a:xfrm>
                <a:off x="8520332" y="207693"/>
                <a:ext cx="3283173" cy="804367"/>
              </a:xfrm>
              <a:prstGeom prst="wedgeRoundRectCallout">
                <a:avLst>
                  <a:gd name="adj1" fmla="val -66023"/>
                  <a:gd name="adj2" fmla="val 7513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are represented by feature vectors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algn="ctr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0332" y="207693"/>
                <a:ext cx="3283173" cy="804367"/>
              </a:xfrm>
              <a:prstGeom prst="wedgeRoundRectCallout">
                <a:avLst>
                  <a:gd name="adj1" fmla="val -66023"/>
                  <a:gd name="adj2" fmla="val 75134"/>
                  <a:gd name="adj3" fmla="val 16667"/>
                </a:avLst>
              </a:prstGeom>
              <a:blipFill>
                <a:blip r:embed="rId5"/>
                <a:stretch>
                  <a:fillRect t="-7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029D9FF7-4D2D-22D4-59DE-BD479B2B731A}"/>
              </a:ext>
            </a:extLst>
          </p:cNvPr>
          <p:cNvSpPr/>
          <p:nvPr/>
        </p:nvSpPr>
        <p:spPr>
          <a:xfrm>
            <a:off x="959370" y="4084820"/>
            <a:ext cx="2473378" cy="88441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61AC04-88F7-8FBB-96F3-A34889C56F36}"/>
              </a:ext>
            </a:extLst>
          </p:cNvPr>
          <p:cNvSpPr/>
          <p:nvPr/>
        </p:nvSpPr>
        <p:spPr>
          <a:xfrm>
            <a:off x="4447151" y="4531909"/>
            <a:ext cx="4389551" cy="1808930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7F68F2E-0494-F06F-42FA-C54AAB8B1E64}"/>
              </a:ext>
            </a:extLst>
          </p:cNvPr>
          <p:cNvSpPr/>
          <p:nvPr/>
        </p:nvSpPr>
        <p:spPr>
          <a:xfrm>
            <a:off x="3654801" y="4594485"/>
            <a:ext cx="570297" cy="48718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1350B539-C5B1-4BA6-3A80-B96852AEAA02}"/>
                  </a:ext>
                </a:extLst>
              </p:cNvPr>
              <p:cNvSpPr/>
              <p:nvPr/>
            </p:nvSpPr>
            <p:spPr>
              <a:xfrm>
                <a:off x="9406597" y="4838075"/>
                <a:ext cx="2713278" cy="1267303"/>
              </a:xfrm>
              <a:prstGeom prst="wedgeRoundRectCallout">
                <a:avLst>
                  <a:gd name="adj1" fmla="val -79431"/>
                  <a:gd name="adj2" fmla="val 1039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additional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s make sure that the update exactly matches the forward view.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1350B539-C5B1-4BA6-3A80-B96852AEA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597" y="4838075"/>
                <a:ext cx="2713278" cy="1267303"/>
              </a:xfrm>
              <a:prstGeom prst="wedgeRoundRectCallout">
                <a:avLst>
                  <a:gd name="adj1" fmla="val -79431"/>
                  <a:gd name="adj2" fmla="val 10395"/>
                  <a:gd name="adj3" fmla="val 16667"/>
                </a:avLst>
              </a:prstGeom>
              <a:blipFill>
                <a:blip r:embed="rId6"/>
                <a:stretch>
                  <a:fillRect b="-3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3236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5CFE2-11EF-7D02-3FDF-DF2F23B9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with 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114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  <a:blipFill>
                <a:blip r:embed="rId2"/>
                <a:stretch>
                  <a:fillRect l="-5931" t="-13710" r="-5107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B09B-E36D-E314-1E67-84051C05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3F6E-A670-F0EF-DBDF-023F7D0C7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68" y="1286175"/>
            <a:ext cx="5781113" cy="3980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81575-47BE-4663-72BE-0842C9C113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8" t="1084"/>
          <a:stretch>
            <a:fillRect/>
          </a:stretch>
        </p:blipFill>
        <p:spPr>
          <a:xfrm>
            <a:off x="4668473" y="717259"/>
            <a:ext cx="7160004" cy="5867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/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Estimate action values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now a </a:t>
                </a:r>
                <a:r>
                  <a:rPr lang="en-US" dirty="0" err="1"/>
                  <a:t>state+action</a:t>
                </a:r>
                <a:r>
                  <a:rPr lang="en-US" dirty="0"/>
                  <a:t> feature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BAC5591-C5CA-FB5A-6450-05011CDF7B61}"/>
              </a:ext>
            </a:extLst>
          </p:cNvPr>
          <p:cNvSpPr/>
          <p:nvPr/>
        </p:nvSpPr>
        <p:spPr>
          <a:xfrm>
            <a:off x="4318405" y="3084226"/>
            <a:ext cx="584616" cy="846944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6A645-B1CF-ABD6-F520-6924051A359B}"/>
              </a:ext>
            </a:extLst>
          </p:cNvPr>
          <p:cNvSpPr/>
          <p:nvPr/>
        </p:nvSpPr>
        <p:spPr>
          <a:xfrm>
            <a:off x="6917960" y="1142229"/>
            <a:ext cx="1446551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7827E-E3E0-28FC-6F8D-FB4835B33733}"/>
              </a:ext>
            </a:extLst>
          </p:cNvPr>
          <p:cNvSpPr/>
          <p:nvPr/>
        </p:nvSpPr>
        <p:spPr>
          <a:xfrm>
            <a:off x="5031681" y="3249117"/>
            <a:ext cx="941900" cy="258581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5ADE33-72AD-700C-F9B7-A5BE123D8ABA}"/>
              </a:ext>
            </a:extLst>
          </p:cNvPr>
          <p:cNvSpPr/>
          <p:nvPr/>
        </p:nvSpPr>
        <p:spPr>
          <a:xfrm>
            <a:off x="6008448" y="3927423"/>
            <a:ext cx="3885059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C925954A-4BDE-42A9-CF58-FE853D5A7FB3}"/>
              </a:ext>
            </a:extLst>
          </p:cNvPr>
          <p:cNvSpPr/>
          <p:nvPr/>
        </p:nvSpPr>
        <p:spPr>
          <a:xfrm>
            <a:off x="9242683" y="4625356"/>
            <a:ext cx="2044909" cy="1010945"/>
          </a:xfrm>
          <a:prstGeom prst="wedgeRoundRectCallout">
            <a:avLst>
              <a:gd name="adj1" fmla="val -80824"/>
              <a:gd name="adj2" fmla="val -9411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On-policy learning! Needs to keep exploring</a:t>
            </a:r>
          </a:p>
        </p:txBody>
      </p:sp>
    </p:spTree>
    <p:extLst>
      <p:ext uri="{BB962C8B-B14F-4D97-AF65-F5344CB8AC3E}">
        <p14:creationId xmlns:p14="http://schemas.microsoft.com/office/powerpoint/2010/main" val="3763713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80B4-219F-341D-87D6-F012A1CB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Traces in a </a:t>
            </a:r>
            <a:r>
              <a:rPr lang="en-US" dirty="0" err="1"/>
              <a:t>Gridworld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first panel shows the path taken by an agent in a single episode. </a:t>
                </a:r>
              </a:p>
              <a:p>
                <a:r>
                  <a:rPr lang="en-US" dirty="0"/>
                  <a:t>The initial estimated values were zero, and all rewards were zero except for a positive reward at the goal location marked by G. </a:t>
                </a:r>
              </a:p>
              <a:p>
                <a:r>
                  <a:rPr lang="en-US" dirty="0"/>
                  <a:t>The arrows in the other panels show, for various algorithms, which action-values would be increased, and by how much, upon reaching the goal.</a:t>
                </a:r>
              </a:p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updates more values and also updates values closer to the goal more. This leads to </a:t>
                </a:r>
                <a:r>
                  <a:rPr lang="en-US" b="1" dirty="0"/>
                  <a:t>faster and more robust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  <a:blipFill>
                <a:blip r:embed="rId2"/>
                <a:stretch>
                  <a:fillRect l="-696" t="-5405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27DA3-9A00-06C0-7FB1-58369FDD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89" y="1317072"/>
            <a:ext cx="11221222" cy="253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34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5738-04FF-BD6A-6513-80B432E3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Off-policy learning</a:t>
                </a:r>
                <a:r>
                  <a:rPr lang="en-US" dirty="0"/>
                  <a:t>: Use importance sampling (see Chapter 7).</a:t>
                </a:r>
                <a:br>
                  <a:rPr lang="en-US" dirty="0"/>
                </a:br>
                <a:r>
                  <a:rPr lang="en-US" dirty="0"/>
                  <a:t>Note: Semi-gradient methods do not guarantee </a:t>
                </a:r>
                <a:r>
                  <a:rPr lang="en-US" b="1" dirty="0"/>
                  <a:t>stability</a:t>
                </a:r>
                <a:r>
                  <a:rPr lang="en-US" dirty="0"/>
                  <a:t> and may need extensions to improve stability.</a:t>
                </a:r>
              </a:p>
              <a:p>
                <a:endParaRPr lang="en-US" dirty="0"/>
              </a:p>
              <a:p>
                <a:r>
                  <a:rPr lang="en-US" b="1" dirty="0"/>
                  <a:t>Non-linear approximation</a:t>
                </a:r>
                <a:r>
                  <a:rPr lang="en-US" dirty="0"/>
                  <a:t>: For linear approximation backward and forward view matches perfectly. Non-linear approximations create discrepancies. Specialized, modified, or delayed methods are required for </a:t>
                </a:r>
                <a:r>
                  <a:rPr lang="en-US" b="1" dirty="0"/>
                  <a:t>stability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Sparse traces</a:t>
                </a:r>
                <a:r>
                  <a:rPr lang="en-US" dirty="0"/>
                  <a:t>: Most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are typically close to 0. Many algorithms set very small values to zero and save computation.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How to chose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dirty="0"/>
                  <a:t>: There is no clear optimal value. It depends on</a:t>
                </a:r>
              </a:p>
              <a:p>
                <a:pPr lvl="1"/>
                <a:r>
                  <a:rPr lang="en-US" dirty="0" err="1"/>
                  <a:t>Stochasticiy</a:t>
                </a:r>
                <a:r>
                  <a:rPr lang="en-US" dirty="0"/>
                  <a:t> of the environment</a:t>
                </a:r>
              </a:p>
              <a:p>
                <a:pPr lvl="1"/>
                <a:r>
                  <a:rPr lang="en-US" dirty="0"/>
                  <a:t>Reward sparsity</a:t>
                </a:r>
              </a:p>
              <a:p>
                <a:pPr lvl="1"/>
                <a:r>
                  <a:rPr lang="en-US" dirty="0"/>
                  <a:t>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Practitioners</a:t>
                </a:r>
                <a:r>
                  <a:rPr lang="en-US" dirty="0"/>
                  <a:t> often start with lambda equals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r>
                  <a:rPr lang="en-US" dirty="0"/>
                  <a:t> and then lower it if behavior is unstable.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808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EC37-A4CF-60EC-52F4-263B55F33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26E4D-B2A2-5FFB-DA0C-C2A326D53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52" r="23400" b="-2"/>
          <a:stretch>
            <a:fillRect/>
          </a:stretch>
        </p:blipFill>
        <p:spPr bwMode="auto"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generalize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700" b="1" dirty="0"/>
                  <a:t>-step methods</a:t>
                </a:r>
                <a:r>
                  <a:rPr lang="en-US" sz="1700" dirty="0"/>
                  <a:t>: Move between MC and one-step TD.</a:t>
                </a:r>
              </a:p>
              <a:p>
                <a:r>
                  <a:rPr lang="en-US" sz="1700" dirty="0"/>
                  <a:t>Eligibility traces are very general, often learn faster, and are </a:t>
                </a:r>
                <a:r>
                  <a:rPr lang="en-US" sz="1700" b="1" dirty="0"/>
                  <a:t>computationally efficient. </a:t>
                </a:r>
              </a:p>
              <a:p>
                <a:r>
                  <a:rPr lang="en-US" sz="1700" dirty="0"/>
                  <a:t>Since eligibility traces can move close to MC behavior, they should be used if </a:t>
                </a:r>
              </a:p>
              <a:p>
                <a:pPr lvl="1"/>
                <a:r>
                  <a:rPr lang="en-US" sz="1700" dirty="0"/>
                  <a:t>the problem is suspected to be </a:t>
                </a:r>
                <a:r>
                  <a:rPr lang="en-US" sz="1700" b="1" dirty="0"/>
                  <a:t>partially non-Markov </a:t>
                </a:r>
                <a:r>
                  <a:rPr lang="en-US" sz="1700" dirty="0"/>
                  <a:t>or </a:t>
                </a:r>
              </a:p>
              <a:p>
                <a:pPr lvl="1"/>
                <a:r>
                  <a:rPr lang="en-US" sz="1700" dirty="0"/>
                  <a:t>the </a:t>
                </a:r>
                <a:r>
                  <a:rPr lang="en-US" sz="1700" b="1" dirty="0"/>
                  <a:t>rewards</a:t>
                </a:r>
                <a:r>
                  <a:rPr lang="en-US" sz="1700" dirty="0"/>
                  <a:t> are very </a:t>
                </a:r>
                <a:r>
                  <a:rPr lang="en-US" sz="1700" b="1" dirty="0"/>
                  <a:t>delayed</a:t>
                </a:r>
                <a:r>
                  <a:rPr lang="en-US" sz="1700" dirty="0"/>
                  <a:t>.</a:t>
                </a:r>
              </a:p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can also be used to extend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700" b="1" dirty="0"/>
                  <a:t>-learning</a:t>
                </a:r>
                <a:r>
                  <a:rPr lang="en-US" sz="1700" dirty="0"/>
                  <a:t>. This leads to algorithms like Watkins’s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 and Tree-Backup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.</a:t>
                </a:r>
              </a:p>
              <a:p>
                <a:r>
                  <a:rPr lang="en-US" sz="1700" dirty="0"/>
                  <a:t>Non-linear approximation may lead to </a:t>
                </a:r>
                <a:r>
                  <a:rPr lang="en-US" sz="1700" b="1" dirty="0"/>
                  <a:t>stability issues</a:t>
                </a:r>
                <a:r>
                  <a:rPr lang="en-US" sz="17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  <a:blipFill>
                <a:blip r:embed="rId3"/>
                <a:stretch>
                  <a:fillRect l="-576" t="-1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93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12277</TotalTime>
  <Words>1930</Words>
  <Application>Microsoft Office PowerPoint</Application>
  <PresentationFormat>Widescreen</PresentationFormat>
  <Paragraphs>202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Eligibility Traces Sutton/Barto* Chapter 12</vt:lpstr>
      <vt:lpstr>Topics of this Course</vt:lpstr>
      <vt:lpstr>Summary of Notation</vt:lpstr>
      <vt:lpstr>Notice on Practical Use of Eligibility Traces</vt:lpstr>
      <vt:lpstr>The λ-Return</vt:lpstr>
      <vt:lpstr>Remember Chapter 7: n-step TD Prediction</vt:lpstr>
      <vt:lpstr>Valid n-step Update Targets and Compound Updates</vt:lpstr>
      <vt:lpstr>TD(λ) and the λ-Return</vt:lpstr>
      <vt:lpstr>Exponential Weighting Scheme</vt:lpstr>
      <vt:lpstr>The Off-Line λ-Return Algorithm</vt:lpstr>
      <vt:lpstr>The Forward View Issue with  the Off-Line λ-Return Algorithm </vt:lpstr>
      <vt:lpstr>The Backward View</vt:lpstr>
      <vt:lpstr>The Backward View</vt:lpstr>
      <vt:lpstr>Eligibility Traces</vt:lpstr>
      <vt:lpstr>Semi-gradient TD(λ) for Estimation</vt:lpstr>
      <vt:lpstr>True Online TD(λ) for Estimation</vt:lpstr>
      <vt:lpstr>Control with Eligibility Traces</vt:lpstr>
      <vt:lpstr>Sarsa(λ) Control</vt:lpstr>
      <vt:lpstr>Example: Traces in a Gridworld</vt:lpstr>
      <vt:lpstr>Implementation Issues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226</cp:revision>
  <dcterms:created xsi:type="dcterms:W3CDTF">2025-09-08T14:44:49Z</dcterms:created>
  <dcterms:modified xsi:type="dcterms:W3CDTF">2026-10-02T13:37:03Z</dcterms:modified>
</cp:coreProperties>
</file>