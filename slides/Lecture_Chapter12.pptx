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13" r:id="rId3"/>
    <p:sldId id="478" r:id="rId4"/>
    <p:sldId id="393" r:id="rId5"/>
    <p:sldId id="386" r:id="rId6"/>
    <p:sldId id="396" r:id="rId7"/>
    <p:sldId id="397" r:id="rId8"/>
    <p:sldId id="398" r:id="rId9"/>
    <p:sldId id="399" r:id="rId10"/>
    <p:sldId id="402" r:id="rId11"/>
    <p:sldId id="401" r:id="rId12"/>
    <p:sldId id="403" r:id="rId13"/>
    <p:sldId id="395" r:id="rId14"/>
    <p:sldId id="400" r:id="rId15"/>
    <p:sldId id="406" r:id="rId16"/>
    <p:sldId id="404" r:id="rId17"/>
    <p:sldId id="407" r:id="rId18"/>
    <p:sldId id="410" r:id="rId19"/>
    <p:sldId id="408" r:id="rId20"/>
    <p:sldId id="409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78"/>
          </p14:sldIdLst>
        </p14:section>
        <p14:section name="Introduction" id="{3FBBE9B2-8635-424D-824A-711EB3C57D43}">
          <p14:sldIdLst>
            <p14:sldId id="393"/>
            <p14:sldId id="386"/>
            <p14:sldId id="396"/>
            <p14:sldId id="397"/>
            <p14:sldId id="398"/>
            <p14:sldId id="399"/>
            <p14:sldId id="402"/>
          </p14:sldIdLst>
        </p14:section>
        <p14:section name="Backward View and Prediction" id="{109EF36A-AEEE-47E8-BFE0-2CBDE1E96074}">
          <p14:sldIdLst>
            <p14:sldId id="401"/>
            <p14:sldId id="403"/>
            <p14:sldId id="395"/>
            <p14:sldId id="400"/>
            <p14:sldId id="406"/>
          </p14:sldIdLst>
        </p14:section>
        <p14:section name="Control" id="{D19960EB-A1C6-4D66-80F2-3E021135FEAC}">
          <p14:sldIdLst>
            <p14:sldId id="404"/>
            <p14:sldId id="407"/>
            <p14:sldId id="410"/>
            <p14:sldId id="408"/>
          </p14:sldIdLst>
        </p14:section>
        <p14:section name="Summary" id="{B4D006AA-B9D2-4811-B2E5-789BBF68F9DC}">
          <p14:sldIdLst>
            <p14:sldId id="40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7132"/>
    <a:srgbClr val="196B2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23" autoAdjust="0"/>
    <p:restoredTop sz="94660"/>
  </p:normalViewPr>
  <p:slideViewPr>
    <p:cSldViewPr snapToGrid="0">
      <p:cViewPr varScale="1">
        <p:scale>
          <a:sx n="136" d="100"/>
          <a:sy n="136" d="100"/>
        </p:scale>
        <p:origin x="96" y="44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7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20.png"/><Relationship Id="rId7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9.png"/><Relationship Id="rId5" Type="http://schemas.openxmlformats.org/officeDocument/2006/relationships/image" Target="../media/image14.png"/><Relationship Id="rId10" Type="http://schemas.openxmlformats.org/officeDocument/2006/relationships/image" Target="../media/image18.png"/><Relationship Id="rId4" Type="http://schemas.openxmlformats.org/officeDocument/2006/relationships/image" Target="../media/image13.png"/><Relationship Id="rId9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29.png"/><Relationship Id="rId7" Type="http://schemas.openxmlformats.org/officeDocument/2006/relationships/image" Target="../media/image34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3.png"/><Relationship Id="rId4" Type="http://schemas.openxmlformats.org/officeDocument/2006/relationships/image" Target="../media/image15.png"/><Relationship Id="rId9" Type="http://schemas.openxmlformats.org/officeDocument/2006/relationships/image" Target="../media/image350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0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8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5" y="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</a:rPr>
              <a:t>Reinforcement Learning</a:t>
            </a:r>
            <a:br>
              <a:rPr lang="en-US" sz="3600" dirty="0">
                <a:solidFill>
                  <a:schemeClr val="bg1"/>
                </a:solidFill>
              </a:rPr>
            </a:br>
            <a:br>
              <a:rPr lang="en-US" sz="3600" dirty="0">
                <a:solidFill>
                  <a:schemeClr val="bg1"/>
                </a:solidFill>
              </a:rPr>
            </a:br>
            <a:r>
              <a:rPr lang="en-US" sz="3600" dirty="0">
                <a:solidFill>
                  <a:schemeClr val="bg1"/>
                </a:solidFill>
              </a:rPr>
              <a:t>Eligibility Traces</a:t>
            </a:r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000" dirty="0">
                <a:solidFill>
                  <a:schemeClr val="bg1"/>
                </a:solidFill>
              </a:rPr>
              <a:t>Sutton/Barto*</a:t>
            </a:r>
            <a:r>
              <a:rPr lang="en-US" sz="1800" dirty="0">
                <a:solidFill>
                  <a:schemeClr val="bg1"/>
                </a:solidFill>
              </a:rPr>
              <a:t> Chapter 12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1481" y="271515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5D896AA8-AD22-FC37-BA81-9F43B070213A}"/>
              </a:ext>
            </a:extLst>
          </p:cNvPr>
          <p:cNvGrpSpPr/>
          <p:nvPr/>
        </p:nvGrpSpPr>
        <p:grpSpPr>
          <a:xfrm>
            <a:off x="10961015" y="4868822"/>
            <a:ext cx="1037459" cy="1303078"/>
            <a:chOff x="5248582" y="2401735"/>
            <a:chExt cx="1694835" cy="205453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01FE3A0-E973-B40B-8CFF-88FB30F7692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48582" y="2401735"/>
              <a:ext cx="1694835" cy="205453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0BDFAA0-1BD7-3834-6A9A-98646B13550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315643" y="2435129"/>
              <a:ext cx="1560711" cy="15607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b="1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b="1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453620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8A635E-AD98-14E6-86B7-6D189198F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819E1014-11F3-5C77-4D51-18EDE91CBDD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The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-Return</a:t>
                </a:r>
              </a:p>
            </p:txBody>
          </p:sp>
        </mc:Choice>
        <mc:Fallback xmlns="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819E1014-11F3-5C77-4D51-18EDE91CBD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3478" b="-14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30DEA1-85A2-8128-AB1F-6A511F14B1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Performing updates with compound return targets</a:t>
            </a:r>
          </a:p>
        </p:txBody>
      </p:sp>
    </p:spTree>
    <p:extLst>
      <p:ext uri="{BB962C8B-B14F-4D97-AF65-F5344CB8AC3E}">
        <p14:creationId xmlns:p14="http://schemas.microsoft.com/office/powerpoint/2010/main" val="24590379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E481D1FB-CB76-10B4-AAF2-565B474050E1}"/>
              </a:ext>
            </a:extLst>
          </p:cNvPr>
          <p:cNvGrpSpPr/>
          <p:nvPr/>
        </p:nvGrpSpPr>
        <p:grpSpPr>
          <a:xfrm>
            <a:off x="3318150" y="1038934"/>
            <a:ext cx="5200795" cy="4414234"/>
            <a:chOff x="3318150" y="1038934"/>
            <a:chExt cx="5200795" cy="4414234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59C05D1A-35B9-726A-B9FB-4539015C1B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18150" y="1038934"/>
              <a:ext cx="5200795" cy="4414234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25A7302-8A22-B180-53C3-BC6CC6CD4173}"/>
                    </a:ext>
                  </a:extLst>
                </p:cNvPr>
                <p:cNvSpPr txBox="1"/>
                <p:nvPr/>
              </p:nvSpPr>
              <p:spPr>
                <a:xfrm>
                  <a:off x="3702638" y="1750393"/>
                  <a:ext cx="56668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25A7302-8A22-B180-53C3-BC6CC6CD41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02638" y="1750393"/>
                  <a:ext cx="566687" cy="276999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23ACA19-7483-1ABC-2CD2-F35C437F894F}"/>
                    </a:ext>
                  </a:extLst>
                </p:cNvPr>
                <p:cNvSpPr txBox="1"/>
                <p:nvPr/>
              </p:nvSpPr>
              <p:spPr>
                <a:xfrm>
                  <a:off x="3813207" y="2286791"/>
                  <a:ext cx="56668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23ACA19-7483-1ABC-2CD2-F35C437F89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13207" y="2286791"/>
                  <a:ext cx="566687" cy="276999"/>
                </a:xfrm>
                <a:prstGeom prst="rect">
                  <a:avLst/>
                </a:prstGeom>
                <a:blipFill>
                  <a:blip r:embed="rId4"/>
                  <a:stretch>
                    <a:fillRect r="-19565"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9A7E01B-3795-04F8-3F68-4BF896CF1A1B}"/>
                    </a:ext>
                  </a:extLst>
                </p:cNvPr>
                <p:cNvSpPr txBox="1"/>
                <p:nvPr/>
              </p:nvSpPr>
              <p:spPr>
                <a:xfrm>
                  <a:off x="3825437" y="1566995"/>
                  <a:ext cx="56668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120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9A7E01B-3795-04F8-3F68-4BF896CF1A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5437" y="1566995"/>
                  <a:ext cx="566687" cy="276999"/>
                </a:xfrm>
                <a:prstGeom prst="rect">
                  <a:avLst/>
                </a:prstGeom>
                <a:blipFill>
                  <a:blip r:embed="rId5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D3C032F-6175-705F-FE89-1EF9E650E71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Remember Chapter 7: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Prediction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D3C032F-6175-705F-FE89-1EF9E650E7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6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E5A035D4-82B1-F750-0FDC-9E3D1661FF92}"/>
                  </a:ext>
                </a:extLst>
              </p:cNvPr>
              <p:cNvSpPr/>
              <p:nvPr/>
            </p:nvSpPr>
            <p:spPr>
              <a:xfrm>
                <a:off x="754287" y="1755096"/>
                <a:ext cx="2157589" cy="1130593"/>
              </a:xfrm>
              <a:prstGeom prst="wedgeRoundRectCallout">
                <a:avLst>
                  <a:gd name="adj1" fmla="val 84571"/>
                  <a:gd name="adj2" fmla="val -2248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400" dirty="0"/>
                  <a:t>Update target is the reward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400" dirty="0"/>
                  <a:t> + bootstrap the remaining return by the value of the next state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.</a:t>
                </a:r>
              </a:p>
            </p:txBody>
          </p:sp>
        </mc:Choice>
        <mc:Fallback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E5A035D4-82B1-F750-0FDC-9E3D1661FF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287" y="1755096"/>
                <a:ext cx="2157589" cy="1130593"/>
              </a:xfrm>
              <a:prstGeom prst="wedgeRoundRectCallout">
                <a:avLst>
                  <a:gd name="adj1" fmla="val 84571"/>
                  <a:gd name="adj2" fmla="val -22481"/>
                  <a:gd name="adj3" fmla="val 16667"/>
                </a:avLst>
              </a:prstGeom>
              <a:blipFill>
                <a:blip r:embed="rId7"/>
                <a:stretch>
                  <a:fillRect t="-1596" b="-58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Speech Bubble: Rectangle with Corners Rounded 14">
                <a:extLst>
                  <a:ext uri="{FF2B5EF4-FFF2-40B4-BE49-F238E27FC236}">
                    <a16:creationId xmlns:a16="http://schemas.microsoft.com/office/drawing/2014/main" id="{28550480-EEED-F900-3E4A-FF07C3F8AB94}"/>
                  </a:ext>
                </a:extLst>
              </p:cNvPr>
              <p:cNvSpPr/>
              <p:nvPr/>
            </p:nvSpPr>
            <p:spPr>
              <a:xfrm>
                <a:off x="8721949" y="2299895"/>
                <a:ext cx="2536077" cy="894587"/>
              </a:xfrm>
              <a:prstGeom prst="wedgeRoundRectCallout">
                <a:avLst>
                  <a:gd name="adj1" fmla="val -68504"/>
                  <a:gd name="adj2" fmla="val 7971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400" dirty="0"/>
                  <a:t>Update with the whole sequence of observed rewards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400" dirty="0"/>
                  <a:t> no bootstrapping.</a:t>
                </a:r>
              </a:p>
            </p:txBody>
          </p:sp>
        </mc:Choice>
        <mc:Fallback xmlns="">
          <p:sp>
            <p:nvSpPr>
              <p:cNvPr id="15" name="Speech Bubble: Rectangle with Corners Rounded 14">
                <a:extLst>
                  <a:ext uri="{FF2B5EF4-FFF2-40B4-BE49-F238E27FC236}">
                    <a16:creationId xmlns:a16="http://schemas.microsoft.com/office/drawing/2014/main" id="{28550480-EEED-F900-3E4A-FF07C3F8AB9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1949" y="2299895"/>
                <a:ext cx="2536077" cy="894587"/>
              </a:xfrm>
              <a:prstGeom prst="wedgeRoundRectCallout">
                <a:avLst>
                  <a:gd name="adj1" fmla="val -68504"/>
                  <a:gd name="adj2" fmla="val 79718"/>
                  <a:gd name="adj3" fmla="val 16667"/>
                </a:avLst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ight Brace 17">
            <a:extLst>
              <a:ext uri="{FF2B5EF4-FFF2-40B4-BE49-F238E27FC236}">
                <a16:creationId xmlns:a16="http://schemas.microsoft.com/office/drawing/2014/main" id="{E3545678-D718-8AC1-2DDE-65A2B43393C2}"/>
              </a:ext>
            </a:extLst>
          </p:cNvPr>
          <p:cNvSpPr/>
          <p:nvPr/>
        </p:nvSpPr>
        <p:spPr>
          <a:xfrm>
            <a:off x="7967513" y="1750393"/>
            <a:ext cx="199063" cy="346007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90DE811-595E-8CBB-4AEB-304DB735AFA9}"/>
                  </a:ext>
                </a:extLst>
              </p:cNvPr>
              <p:cNvSpPr txBox="1"/>
              <p:nvPr/>
            </p:nvSpPr>
            <p:spPr>
              <a:xfrm>
                <a:off x="637041" y="3868550"/>
                <a:ext cx="6376791" cy="20621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/>
                  <a:t>Return</a:t>
                </a:r>
              </a:p>
              <a:p>
                <a:r>
                  <a:rPr lang="en-US" sz="1600" b="0" dirty="0"/>
                  <a:t>1-step TD: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  <a:p>
                <a:r>
                  <a:rPr lang="en-US" sz="1600" dirty="0"/>
                  <a:t>2-step TD: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+2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  <a:p>
                <a:r>
                  <a:rPr lang="en-US" sz="1600" dirty="0"/>
                  <a:t>…</a:t>
                </a:r>
              </a:p>
              <a:p>
                <a14:m>
                  <m:oMath xmlns:m="http://schemas.openxmlformats.org/officeDocument/2006/math"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-step TD: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+2</m:t>
                            </m:r>
                          </m:sub>
                        </m:s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…+</m:t>
                        </m:r>
                        <m:sSup>
                          <m:sSup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sz="1600" dirty="0"/>
              </a:p>
              <a:p>
                <a:r>
                  <a:rPr lang="en-US" sz="1600" dirty="0"/>
                  <a:t>MC: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      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+…+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endParaRPr lang="en-US" sz="1600" dirty="0"/>
              </a:p>
              <a:p>
                <a:endParaRPr lang="en-US" sz="1600" dirty="0"/>
              </a:p>
              <a:p>
                <a:r>
                  <a:rPr lang="en-US" sz="1600" b="1" dirty="0"/>
                  <a:t>Update</a:t>
                </a:r>
                <a:r>
                  <a:rPr lang="en-US" sz="1600" dirty="0"/>
                  <a:t>: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600" dirty="0"/>
                  <a:t>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)]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90DE811-595E-8CBB-4AEB-304DB735AF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041" y="3868550"/>
                <a:ext cx="6376791" cy="2062103"/>
              </a:xfrm>
              <a:prstGeom prst="rect">
                <a:avLst/>
              </a:prstGeom>
              <a:blipFill>
                <a:blip r:embed="rId9"/>
                <a:stretch>
                  <a:fillRect l="-574" t="-888" b="-29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804826F-9AE8-BB0B-FA2E-3E36076ACC01}"/>
                  </a:ext>
                </a:extLst>
              </p:cNvPr>
              <p:cNvSpPr txBox="1"/>
              <p:nvPr/>
            </p:nvSpPr>
            <p:spPr>
              <a:xfrm>
                <a:off x="9192610" y="4517965"/>
                <a:ext cx="2362349" cy="1384995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400" b="1" dirty="0"/>
                  <a:t>Notation</a:t>
                </a:r>
                <a:endParaRPr lang="en-US" sz="1400" b="1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400" dirty="0"/>
                  <a:t>  … the return is calculated from the rewards up to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400" dirty="0"/>
                  <a:t> and the rest is bootstrapped using the value function estimate.</a:t>
                </a: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804826F-9AE8-BB0B-FA2E-3E36076ACC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92610" y="4517965"/>
                <a:ext cx="2362349" cy="1384995"/>
              </a:xfrm>
              <a:prstGeom prst="rect">
                <a:avLst/>
              </a:prstGeom>
              <a:blipFill>
                <a:blip r:embed="rId10"/>
                <a:stretch>
                  <a:fillRect l="-513" t="-435" r="-769" b="-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Speech Bubble: Rectangle with Corners Rounded 26">
                <a:extLst>
                  <a:ext uri="{FF2B5EF4-FFF2-40B4-BE49-F238E27FC236}">
                    <a16:creationId xmlns:a16="http://schemas.microsoft.com/office/drawing/2014/main" id="{3E3ADA8B-8A4F-3382-9E61-2CE86283C2FB}"/>
                  </a:ext>
                </a:extLst>
              </p:cNvPr>
              <p:cNvSpPr/>
              <p:nvPr/>
            </p:nvSpPr>
            <p:spPr>
              <a:xfrm>
                <a:off x="2680283" y="6126976"/>
                <a:ext cx="5062756" cy="319673"/>
              </a:xfrm>
              <a:prstGeom prst="wedgeRoundRectCallout">
                <a:avLst>
                  <a:gd name="adj1" fmla="val -34086"/>
                  <a:gd name="adj2" fmla="val -110415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The update target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400" dirty="0"/>
                  <a:t> is only available with a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400" dirty="0"/>
                  <a:t>-steps delay!</a:t>
                </a:r>
              </a:p>
            </p:txBody>
          </p:sp>
        </mc:Choice>
        <mc:Fallback>
          <p:sp>
            <p:nvSpPr>
              <p:cNvPr id="27" name="Speech Bubble: Rectangle with Corners Rounded 26">
                <a:extLst>
                  <a:ext uri="{FF2B5EF4-FFF2-40B4-BE49-F238E27FC236}">
                    <a16:creationId xmlns:a16="http://schemas.microsoft.com/office/drawing/2014/main" id="{3E3ADA8B-8A4F-3382-9E61-2CE86283C2F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0283" y="6126976"/>
                <a:ext cx="5062756" cy="319673"/>
              </a:xfrm>
              <a:prstGeom prst="wedgeRoundRectCallout">
                <a:avLst>
                  <a:gd name="adj1" fmla="val -34086"/>
                  <a:gd name="adj2" fmla="val -110415"/>
                  <a:gd name="adj3" fmla="val 16667"/>
                </a:avLst>
              </a:prstGeom>
              <a:blipFill>
                <a:blip r:embed="rId11"/>
                <a:stretch>
                  <a:fillRect b="-78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416829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A9B2958-7AFF-5E40-85A0-3BB1EB5E593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3600" dirty="0"/>
                  <a:t>Valid </a:t>
                </a:r>
                <a14:m>
                  <m:oMath xmlns:m="http://schemas.openxmlformats.org/officeDocument/2006/math">
                    <m:r>
                      <a:rPr lang="en-US" sz="36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3600" dirty="0"/>
                  <a:t>-step Update Targets and Compound Updates</a:t>
                </a:r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A9B2958-7AFF-5E40-85A0-3BB1EB5E59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1797" t="-7258" b="-201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650FC49-244D-8E90-3182-5F8109FFE2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return from Chapter 7 with approximation: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+…+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acc>
                      <m:accPr>
                        <m:chr m:val="̂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   0≤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Any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return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is a valid update target for tabular learning and approx. SGD since it has the </a:t>
                </a:r>
                <a:r>
                  <a:rPr lang="en-US" b="1" dirty="0"/>
                  <a:t>error reduction property</a:t>
                </a:r>
                <a:r>
                  <a:rPr lang="en-US" dirty="0"/>
                  <a:t>.</a:t>
                </a:r>
              </a:p>
              <a:p>
                <a:endParaRPr lang="en-US" b="1" dirty="0"/>
              </a:p>
              <a:p>
                <a:r>
                  <a:rPr lang="en-US" b="1" dirty="0"/>
                  <a:t>Observation: </a:t>
                </a:r>
                <a:r>
                  <a:rPr lang="en-US" dirty="0"/>
                  <a:t>Any average of different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return is also valid. </a:t>
                </a:r>
                <a:br>
                  <a:rPr lang="en-US" dirty="0"/>
                </a:br>
                <a:r>
                  <a:rPr lang="en-US" dirty="0"/>
                  <a:t>E.g., average 2-step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r>
                  <a:rPr lang="en-US" dirty="0"/>
                  <a:t>-step returns: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+4</m:t>
                        </m:r>
                      </m:sub>
                    </m:sSub>
                  </m:oMath>
                </a14:m>
                <a:br>
                  <a:rPr lang="en-US" dirty="0"/>
                </a:br>
                <a:r>
                  <a:rPr lang="en-US" dirty="0"/>
                  <a:t>Updating with an average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returns is called a </a:t>
                </a:r>
                <a:r>
                  <a:rPr lang="en-US" b="1" dirty="0"/>
                  <a:t>compound update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650FC49-244D-8E90-3182-5F8109FFE2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28" t="-2551" r="-5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62280A73-E815-5EC4-E332-85E7CB4B0E14}"/>
              </a:ext>
            </a:extLst>
          </p:cNvPr>
          <p:cNvGrpSpPr/>
          <p:nvPr/>
        </p:nvGrpSpPr>
        <p:grpSpPr>
          <a:xfrm>
            <a:off x="2607084" y="2561716"/>
            <a:ext cx="5600745" cy="578738"/>
            <a:chOff x="2607084" y="2561716"/>
            <a:chExt cx="5600745" cy="578738"/>
          </a:xfrm>
        </p:grpSpPr>
        <p:sp>
          <p:nvSpPr>
            <p:cNvPr id="4" name="Right Brace 3">
              <a:extLst>
                <a:ext uri="{FF2B5EF4-FFF2-40B4-BE49-F238E27FC236}">
                  <a16:creationId xmlns:a16="http://schemas.microsoft.com/office/drawing/2014/main" id="{0838CA07-8D9C-E50E-6F8F-7B0B2A21F028}"/>
                </a:ext>
              </a:extLst>
            </p:cNvPr>
            <p:cNvSpPr/>
            <p:nvPr/>
          </p:nvSpPr>
          <p:spPr>
            <a:xfrm rot="5400000">
              <a:off x="4158423" y="1010377"/>
              <a:ext cx="209405" cy="3312084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EA991AC5-8DC3-21D6-372F-530168B34C9C}"/>
                </a:ext>
              </a:extLst>
            </p:cNvPr>
            <p:cNvSpPr/>
            <p:nvPr/>
          </p:nvSpPr>
          <p:spPr>
            <a:xfrm rot="5400000">
              <a:off x="7047213" y="1610507"/>
              <a:ext cx="209405" cy="2111827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8206752-6D3F-BA03-3608-0B3B18B353C8}"/>
                    </a:ext>
                  </a:extLst>
                </p:cNvPr>
                <p:cNvSpPr txBox="1"/>
                <p:nvPr/>
              </p:nvSpPr>
              <p:spPr>
                <a:xfrm>
                  <a:off x="3420236" y="2748244"/>
                  <a:ext cx="181198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a14:m>
                  <a:r>
                    <a:rPr lang="en-US" dirty="0"/>
                    <a:t> next rewards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8206752-6D3F-BA03-3608-0B3B18B353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20236" y="2748244"/>
                  <a:ext cx="1811985" cy="369332"/>
                </a:xfrm>
                <a:prstGeom prst="rect">
                  <a:avLst/>
                </a:prstGeom>
                <a:blipFill>
                  <a:blip r:embed="rId4"/>
                  <a:stretch>
                    <a:fillRect t="-8333" b="-2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C7C27E4-3F83-062A-3A1B-1C45AE75D4C7}"/>
                </a:ext>
              </a:extLst>
            </p:cNvPr>
            <p:cNvSpPr txBox="1"/>
            <p:nvPr/>
          </p:nvSpPr>
          <p:spPr>
            <a:xfrm>
              <a:off x="6357258" y="2771122"/>
              <a:ext cx="158931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approx. value</a:t>
              </a:r>
            </a:p>
          </p:txBody>
        </p:sp>
      </p:grp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D8340783-1B5F-1A3D-DAB9-CD0A6FA964A0}"/>
              </a:ext>
            </a:extLst>
          </p:cNvPr>
          <p:cNvSpPr/>
          <p:nvPr/>
        </p:nvSpPr>
        <p:spPr>
          <a:xfrm>
            <a:off x="9608576" y="1205016"/>
            <a:ext cx="1103086" cy="384628"/>
          </a:xfrm>
          <a:prstGeom prst="wedgeRoundRectCallout">
            <a:avLst>
              <a:gd name="adj1" fmla="val -50438"/>
              <a:gd name="adj2" fmla="val 154953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Episode termination</a:t>
            </a:r>
          </a:p>
        </p:txBody>
      </p:sp>
    </p:spTree>
    <p:extLst>
      <p:ext uri="{BB962C8B-B14F-4D97-AF65-F5344CB8AC3E}">
        <p14:creationId xmlns:p14="http://schemas.microsoft.com/office/powerpoint/2010/main" val="1355704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0FA916-1D32-343A-582D-ECAC6FEC9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C4C0661-25D7-529D-34D2-975FBEC1732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TD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-Return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C4C0661-25D7-529D-34D2-975FBEC173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28D6DE-1398-3B3A-B0C9-B83074E88D8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8491"/>
                <a:ext cx="6176853" cy="4779633"/>
              </a:xfrm>
            </p:spPr>
            <p:txBody>
              <a:bodyPr/>
              <a:lstStyle/>
              <a:p>
                <a:r>
                  <a:rPr lang="en-US" dirty="0"/>
                  <a:t>TD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i="1" dirty="0">
                    <a:latin typeface="Cambria Math" panose="02040503050406030204" pitchFamily="18" charset="0"/>
                  </a:rPr>
                  <a:t> </a:t>
                </a:r>
                <a:r>
                  <a:rPr lang="en-US" dirty="0"/>
                  <a:t>uses a compound return called the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-return </a:t>
                </a:r>
                <a:r>
                  <a:rPr lang="en-US" dirty="0"/>
                  <a:t>as the update target: </a:t>
                </a: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d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: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nary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Special cases:</a:t>
                </a:r>
              </a:p>
              <a:p>
                <a:pPr lvl="1"/>
                <a:r>
                  <a:rPr lang="en-US" b="1" dirty="0"/>
                  <a:t>TD(0) </a:t>
                </a:r>
                <a:r>
                  <a:rPr lang="en-US" dirty="0"/>
                  <a:t>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 uses only first component. One-step TD update.</a:t>
                </a:r>
              </a:p>
              <a:p>
                <a:pPr lvl="1"/>
                <a:r>
                  <a:rPr lang="en-US" b="1" dirty="0"/>
                  <a:t>TD(1) </a:t>
                </a:r>
                <a:r>
                  <a:rPr lang="en-US" dirty="0"/>
                  <a:t>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 uses only the last component. MC update.</a:t>
                </a:r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28D6DE-1398-3B3A-B0C9-B83074E88D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8491"/>
                <a:ext cx="6176853" cy="4779633"/>
              </a:xfrm>
              <a:blipFill>
                <a:blip r:embed="rId3"/>
                <a:stretch>
                  <a:fillRect l="-1777" t="-2168" r="-28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2BAD5742-C377-3B82-A3AC-29EC678FF371}"/>
              </a:ext>
            </a:extLst>
          </p:cNvPr>
          <p:cNvGrpSpPr/>
          <p:nvPr/>
        </p:nvGrpSpPr>
        <p:grpSpPr>
          <a:xfrm>
            <a:off x="7245518" y="732971"/>
            <a:ext cx="4870635" cy="5834743"/>
            <a:chOff x="7245518" y="732971"/>
            <a:chExt cx="4870635" cy="5834743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2BA8CB2-8F90-3E45-6200-8B998E60AAC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245518" y="1661230"/>
              <a:ext cx="4870635" cy="405444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36D5C95-CDA2-3FED-304E-0891AAB3D20A}"/>
                    </a:ext>
                  </a:extLst>
                </p:cNvPr>
                <p:cNvSpPr txBox="1"/>
                <p:nvPr/>
              </p:nvSpPr>
              <p:spPr>
                <a:xfrm>
                  <a:off x="7721599" y="732971"/>
                  <a:ext cx="4209143" cy="92333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/>
                    <a:t>Backup diagram </a:t>
                  </a:r>
                  <a:br>
                    <a:rPr lang="en-US" b="1" dirty="0"/>
                  </a:br>
                  <a:r>
                    <a:rPr lang="en-US" dirty="0"/>
                    <a:t>Weighting of the components </a:t>
                  </a:r>
                  <a:br>
                    <a:rPr lang="en-US" dirty="0"/>
                  </a:br>
                  <a:r>
                    <a:rPr lang="en-US" dirty="0"/>
                    <a:t>of the </a:t>
                  </a:r>
                  <a14:m>
                    <m:oMath xmlns:m="http://schemas.openxmlformats.org/officeDocument/2006/math">
                      <m:r>
                        <a:rPr lang="en-US" b="0" i="1">
                          <a:latin typeface="Cambria Math" panose="02040503050406030204" pitchFamily="18" charset="0"/>
                        </a:rPr>
                        <m:t>𝜆</m:t>
                      </m:r>
                    </m:oMath>
                  </a14:m>
                  <a:r>
                    <a:rPr lang="en-US" dirty="0"/>
                    <a:t>-return </a:t>
                  </a: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36D5C95-CDA2-3FED-304E-0891AAB3D2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21599" y="732971"/>
                  <a:ext cx="4209143" cy="923330"/>
                </a:xfrm>
                <a:prstGeom prst="rect">
                  <a:avLst/>
                </a:prstGeom>
                <a:blipFill>
                  <a:blip r:embed="rId5"/>
                  <a:stretch>
                    <a:fillRect t="-2632" b="-986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Arrow: Right 12">
                  <a:extLst>
                    <a:ext uri="{FF2B5EF4-FFF2-40B4-BE49-F238E27FC236}">
                      <a16:creationId xmlns:a16="http://schemas.microsoft.com/office/drawing/2014/main" id="{605B1D84-449D-CDE7-389B-CE7D4BCCFA75}"/>
                    </a:ext>
                  </a:extLst>
                </p:cNvPr>
                <p:cNvSpPr/>
                <p:nvPr/>
              </p:nvSpPr>
              <p:spPr>
                <a:xfrm>
                  <a:off x="7721599" y="5762171"/>
                  <a:ext cx="3468915" cy="595085"/>
                </a:xfrm>
                <a:prstGeom prst="rightArrow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Weight fades with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𝜆</m:t>
                      </m:r>
                    </m:oMath>
                  </a14:m>
                  <a:r>
                    <a:rPr lang="en-US" sz="1600" dirty="0"/>
                    <a:t> with each step</a:t>
                  </a:r>
                </a:p>
              </p:txBody>
            </p:sp>
          </mc:Choice>
          <mc:Fallback xmlns="">
            <p:sp>
              <p:nvSpPr>
                <p:cNvPr id="13" name="Arrow: Right 12">
                  <a:extLst>
                    <a:ext uri="{FF2B5EF4-FFF2-40B4-BE49-F238E27FC236}">
                      <a16:creationId xmlns:a16="http://schemas.microsoft.com/office/drawing/2014/main" id="{605B1D84-449D-CDE7-389B-CE7D4BCCFA7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21599" y="5762171"/>
                  <a:ext cx="3468915" cy="595085"/>
                </a:xfrm>
                <a:prstGeom prst="rightArrow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BD9B5C7-FCFF-D5C7-EA13-2E6FEC687214}"/>
                </a:ext>
              </a:extLst>
            </p:cNvPr>
            <p:cNvSpPr/>
            <p:nvPr/>
          </p:nvSpPr>
          <p:spPr>
            <a:xfrm>
              <a:off x="7467600" y="732971"/>
              <a:ext cx="4572000" cy="5834743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" name="Speech Bubble: Rectangle with Corners Rounded 19">
            <a:extLst>
              <a:ext uri="{FF2B5EF4-FFF2-40B4-BE49-F238E27FC236}">
                <a16:creationId xmlns:a16="http://schemas.microsoft.com/office/drawing/2014/main" id="{4C434FD8-8A11-6911-301B-29866AEE6CE0}"/>
              </a:ext>
            </a:extLst>
          </p:cNvPr>
          <p:cNvSpPr/>
          <p:nvPr/>
        </p:nvSpPr>
        <p:spPr>
          <a:xfrm>
            <a:off x="7535959" y="1458491"/>
            <a:ext cx="1369771" cy="488611"/>
          </a:xfrm>
          <a:prstGeom prst="wedgeRoundRectCallout">
            <a:avLst>
              <a:gd name="adj1" fmla="val -28539"/>
              <a:gd name="adj2" fmla="val 82500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One-step TD update</a:t>
            </a:r>
          </a:p>
        </p:txBody>
      </p:sp>
      <p:sp>
        <p:nvSpPr>
          <p:cNvPr id="21" name="Speech Bubble: Rectangle with Corners Rounded 20">
            <a:extLst>
              <a:ext uri="{FF2B5EF4-FFF2-40B4-BE49-F238E27FC236}">
                <a16:creationId xmlns:a16="http://schemas.microsoft.com/office/drawing/2014/main" id="{2F87CCE9-8FC0-3D6F-A5B8-9DC3C4AB13A2}"/>
              </a:ext>
            </a:extLst>
          </p:cNvPr>
          <p:cNvSpPr/>
          <p:nvPr/>
        </p:nvSpPr>
        <p:spPr>
          <a:xfrm>
            <a:off x="10714534" y="1656301"/>
            <a:ext cx="1216208" cy="267554"/>
          </a:xfrm>
          <a:prstGeom prst="wedgeRoundRectCallout">
            <a:avLst>
              <a:gd name="adj1" fmla="val -25937"/>
              <a:gd name="adj2" fmla="val 119520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MC update</a:t>
            </a:r>
          </a:p>
        </p:txBody>
      </p:sp>
    </p:spTree>
    <p:extLst>
      <p:ext uri="{BB962C8B-B14F-4D97-AF65-F5344CB8AC3E}">
        <p14:creationId xmlns:p14="http://schemas.microsoft.com/office/powerpoint/2010/main" val="15843536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27493F-084F-943F-45CA-5A04C19F13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7056977" cy="759072"/>
          </a:xfrm>
        </p:spPr>
        <p:txBody>
          <a:bodyPr>
            <a:normAutofit fontScale="90000"/>
          </a:bodyPr>
          <a:lstStyle/>
          <a:p>
            <a:r>
              <a:rPr lang="en-US" dirty="0"/>
              <a:t>Exponential Weighting Scheme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AAA2C3-60F6-CDD1-D386-D7D3B48F8E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94484" y="1283363"/>
                <a:ext cx="6566941" cy="1106026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𝜆</m:t>
                          </m:r>
                        </m:sup>
                      </m:sSubSup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: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AAA2C3-60F6-CDD1-D386-D7D3B48F8E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94484" y="1283363"/>
                <a:ext cx="6566941" cy="1106026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" name="Picture 18">
            <a:extLst>
              <a:ext uri="{FF2B5EF4-FFF2-40B4-BE49-F238E27FC236}">
                <a16:creationId xmlns:a16="http://schemas.microsoft.com/office/drawing/2014/main" id="{C1A5070E-8687-C3E9-A4FA-E23EB54087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180942"/>
            <a:ext cx="8910169" cy="338217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8504A251-7A4B-B5D1-0D08-FD48C5DDB09E}"/>
              </a:ext>
            </a:extLst>
          </p:cNvPr>
          <p:cNvGrpSpPr/>
          <p:nvPr/>
        </p:nvGrpSpPr>
        <p:grpSpPr>
          <a:xfrm>
            <a:off x="7717709" y="350727"/>
            <a:ext cx="3892174" cy="4077325"/>
            <a:chOff x="7245518" y="732971"/>
            <a:chExt cx="4870635" cy="5144409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8174B41-EE6C-E138-A680-C04898DE2B3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245518" y="1661230"/>
              <a:ext cx="4870635" cy="405444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5D4BDE7A-2510-E893-AFB7-8D27DACA9354}"/>
                    </a:ext>
                  </a:extLst>
                </p:cNvPr>
                <p:cNvSpPr txBox="1"/>
                <p:nvPr/>
              </p:nvSpPr>
              <p:spPr>
                <a:xfrm>
                  <a:off x="7721599" y="732971"/>
                  <a:ext cx="4209143" cy="92333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/>
                    <a:t>Backup diagram </a:t>
                  </a:r>
                  <a:br>
                    <a:rPr lang="en-US" b="1" dirty="0"/>
                  </a:br>
                  <a:r>
                    <a:rPr lang="en-US" dirty="0"/>
                    <a:t>Weighting of the components </a:t>
                  </a:r>
                  <a:br>
                    <a:rPr lang="en-US" dirty="0"/>
                  </a:br>
                  <a:r>
                    <a:rPr lang="en-US" dirty="0"/>
                    <a:t>of the </a:t>
                  </a:r>
                  <a14:m>
                    <m:oMath xmlns:m="http://schemas.openxmlformats.org/officeDocument/2006/math">
                      <m:r>
                        <a:rPr lang="en-US" b="0" i="1">
                          <a:latin typeface="Cambria Math" panose="02040503050406030204" pitchFamily="18" charset="0"/>
                        </a:rPr>
                        <m:t>𝜆</m:t>
                      </m:r>
                    </m:oMath>
                  </a14:m>
                  <a:r>
                    <a:rPr lang="en-US" dirty="0"/>
                    <a:t>-return 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5D4BDE7A-2510-E893-AFB7-8D27DACA93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21599" y="732971"/>
                  <a:ext cx="4209143" cy="923330"/>
                </a:xfrm>
                <a:prstGeom prst="rect">
                  <a:avLst/>
                </a:prstGeom>
                <a:blipFill>
                  <a:blip r:embed="rId5"/>
                  <a:stretch>
                    <a:fillRect t="-4167" b="-391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29A43E5-8E1D-3156-AA65-CF4343161354}"/>
                </a:ext>
              </a:extLst>
            </p:cNvPr>
            <p:cNvSpPr/>
            <p:nvPr/>
          </p:nvSpPr>
          <p:spPr>
            <a:xfrm>
              <a:off x="7467600" y="732971"/>
              <a:ext cx="4572000" cy="5144409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E16ACD39-94C7-E93B-CFA7-78B554F7210E}"/>
              </a:ext>
            </a:extLst>
          </p:cNvPr>
          <p:cNvGrpSpPr/>
          <p:nvPr/>
        </p:nvGrpSpPr>
        <p:grpSpPr>
          <a:xfrm>
            <a:off x="3295627" y="2195680"/>
            <a:ext cx="4521408" cy="769809"/>
            <a:chOff x="2607084" y="2310989"/>
            <a:chExt cx="4521408" cy="769809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9BF4B60D-FCB5-2B25-ED94-390F8DFFBC66}"/>
                </a:ext>
              </a:extLst>
            </p:cNvPr>
            <p:cNvSpPr/>
            <p:nvPr/>
          </p:nvSpPr>
          <p:spPr>
            <a:xfrm rot="5400000">
              <a:off x="3627441" y="1541360"/>
              <a:ext cx="186529" cy="2227244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BF2A84D-DF47-76B2-0747-3E42761FF1AF}"/>
                </a:ext>
              </a:extLst>
            </p:cNvPr>
            <p:cNvSpPr/>
            <p:nvPr/>
          </p:nvSpPr>
          <p:spPr>
            <a:xfrm rot="5400000">
              <a:off x="6205043" y="2098366"/>
              <a:ext cx="206761" cy="632008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853037F1-6566-4F45-221C-AA040D294CB4}"/>
                    </a:ext>
                  </a:extLst>
                </p:cNvPr>
                <p:cNvSpPr txBox="1"/>
                <p:nvPr/>
              </p:nvSpPr>
              <p:spPr>
                <a:xfrm>
                  <a:off x="2864128" y="2711466"/>
                  <a:ext cx="1811985" cy="369332"/>
                </a:xfrm>
                <a:prstGeom prst="rect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a14:m>
                  <a:r>
                    <a:rPr lang="en-US" dirty="0"/>
                    <a:t>-step return</a:t>
                  </a: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853037F1-6566-4F45-221C-AA040D294C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64128" y="2711466"/>
                  <a:ext cx="1811985" cy="369332"/>
                </a:xfrm>
                <a:prstGeom prst="rect">
                  <a:avLst/>
                </a:prstGeom>
                <a:blipFill>
                  <a:blip r:embed="rId6"/>
                  <a:stretch>
                    <a:fillRect t="-6349" b="-2381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E8F60A7-9A6C-71A9-7242-F0B87582D6E7}"/>
                </a:ext>
              </a:extLst>
            </p:cNvPr>
            <p:cNvSpPr txBox="1"/>
            <p:nvPr/>
          </p:nvSpPr>
          <p:spPr>
            <a:xfrm>
              <a:off x="5539178" y="2563581"/>
              <a:ext cx="1589314" cy="36933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MC return</a:t>
              </a:r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48B37684-C8C2-C840-CC19-2BA080EE3D18}"/>
              </a:ext>
            </a:extLst>
          </p:cNvPr>
          <p:cNvSpPr/>
          <p:nvPr/>
        </p:nvSpPr>
        <p:spPr>
          <a:xfrm>
            <a:off x="8027234" y="1409075"/>
            <a:ext cx="2372924" cy="2890814"/>
          </a:xfrm>
          <a:prstGeom prst="rect">
            <a:avLst/>
          </a:prstGeom>
          <a:solidFill>
            <a:srgbClr val="196B24">
              <a:alpha val="20000"/>
            </a:srgb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A504A16-EAD0-6655-A5AD-7A2BCDE89836}"/>
              </a:ext>
            </a:extLst>
          </p:cNvPr>
          <p:cNvSpPr/>
          <p:nvPr/>
        </p:nvSpPr>
        <p:spPr>
          <a:xfrm>
            <a:off x="10545580" y="1410779"/>
            <a:ext cx="916139" cy="2889110"/>
          </a:xfrm>
          <a:prstGeom prst="rect">
            <a:avLst/>
          </a:prstGeom>
          <a:solidFill>
            <a:srgbClr val="E97132">
              <a:alpha val="20000"/>
            </a:srgb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7AB2C4-AE24-FF40-E02E-F57FC7FF3A8F}"/>
              </a:ext>
            </a:extLst>
          </p:cNvPr>
          <p:cNvSpPr/>
          <p:nvPr/>
        </p:nvSpPr>
        <p:spPr>
          <a:xfrm>
            <a:off x="5769651" y="4589471"/>
            <a:ext cx="2804723" cy="1391948"/>
          </a:xfrm>
          <a:prstGeom prst="rect">
            <a:avLst/>
          </a:prstGeom>
          <a:solidFill>
            <a:srgbClr val="E97132">
              <a:alpha val="20000"/>
            </a:srgb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49B6BEA-7DC1-B2E5-B3DC-E8D31183EC84}"/>
              </a:ext>
            </a:extLst>
          </p:cNvPr>
          <p:cNvSpPr/>
          <p:nvPr/>
        </p:nvSpPr>
        <p:spPr>
          <a:xfrm>
            <a:off x="2144237" y="3325098"/>
            <a:ext cx="3625414" cy="2656321"/>
          </a:xfrm>
          <a:prstGeom prst="rect">
            <a:avLst/>
          </a:prstGeom>
          <a:solidFill>
            <a:srgbClr val="196B24">
              <a:alpha val="20000"/>
            </a:srgb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771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212F43B-E560-FE20-4625-A99C59D900B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The Off-Line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-Return Algorithm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212F43B-E560-FE20-4625-A99C59D900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C26E1ED-4D34-BE1E-1FD1-E2DAD55EE2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2"/>
                <a:ext cx="10515600" cy="1319520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A simplistic algorithm is to use the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-return as the update target for </a:t>
                </a:r>
                <a:r>
                  <a:rPr lang="en-US" b="1" dirty="0"/>
                  <a:t>semi-gradient descent with approximation</a:t>
                </a:r>
                <a:r>
                  <a:rPr lang="en-US" dirty="0"/>
                  <a:t>.</a:t>
                </a:r>
              </a:p>
              <a:p>
                <a:r>
                  <a:rPr lang="en-US" b="1" dirty="0"/>
                  <a:t>Update</a:t>
                </a:r>
                <a:r>
                  <a:rPr lang="en-US" dirty="0"/>
                  <a:t>: Use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as the target</a:t>
                </a:r>
                <a:br>
                  <a:rPr lang="en-US" dirty="0"/>
                </a:br>
                <a:br>
                  <a:rPr lang="en-US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  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=0,…,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C26E1ED-4D34-BE1E-1FD1-E2DAD55EE2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2"/>
                <a:ext cx="10515600" cy="1319520"/>
              </a:xfrm>
              <a:blipFill>
                <a:blip r:embed="rId3"/>
                <a:stretch>
                  <a:fillRect l="-406" t="-69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06B6541E-4F61-7898-94D2-0C6B57C3A0DC}"/>
              </a:ext>
            </a:extLst>
          </p:cNvPr>
          <p:cNvGrpSpPr/>
          <p:nvPr/>
        </p:nvGrpSpPr>
        <p:grpSpPr>
          <a:xfrm>
            <a:off x="1152460" y="2765735"/>
            <a:ext cx="9669185" cy="3962956"/>
            <a:chOff x="1406047" y="2529918"/>
            <a:chExt cx="9669185" cy="3962956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4C18844-D839-BB6E-0FE0-040203E5BF2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717561" y="3385750"/>
              <a:ext cx="7357671" cy="3107124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96F77465-318F-82C3-634A-02A393AFCEAC}"/>
                    </a:ext>
                  </a:extLst>
                </p:cNvPr>
                <p:cNvSpPr txBox="1"/>
                <p:nvPr/>
              </p:nvSpPr>
              <p:spPr>
                <a:xfrm>
                  <a:off x="1406047" y="2529918"/>
                  <a:ext cx="2158583" cy="203132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b="1" dirty="0"/>
                    <a:t>Example</a:t>
                  </a:r>
                  <a:r>
                    <a:rPr lang="en-US" dirty="0"/>
                    <a:t>: 19-state random walk value estimation task.</a:t>
                  </a:r>
                  <a:br>
                    <a:rPr lang="en-US" dirty="0"/>
                  </a:br>
                  <a:br>
                    <a:rPr lang="en-US" dirty="0"/>
                  </a:br>
                  <a14:m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𝜆</m:t>
                      </m:r>
                    </m:oMath>
                  </a14:m>
                  <a:r>
                    <a:rPr lang="en-US" dirty="0"/>
                    <a:t>-return algorithm mimics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a14:m>
                  <a:r>
                    <a:rPr lang="en-US" dirty="0"/>
                    <a:t>-step methods.</a:t>
                  </a:r>
                </a:p>
              </p:txBody>
            </p:sp>
          </mc:Choice>
          <mc:Fallback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96F77465-318F-82C3-634A-02A393AFCE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06047" y="2529918"/>
                  <a:ext cx="2158583" cy="2031325"/>
                </a:xfrm>
                <a:prstGeom prst="rect">
                  <a:avLst/>
                </a:prstGeom>
                <a:blipFill>
                  <a:blip r:embed="rId5"/>
                  <a:stretch>
                    <a:fillRect l="-2260" t="-1502" b="-420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12A65E2A-F699-E5C1-C264-E0BC7D75A8D7}"/>
              </a:ext>
            </a:extLst>
          </p:cNvPr>
          <p:cNvGrpSpPr/>
          <p:nvPr/>
        </p:nvGrpSpPr>
        <p:grpSpPr>
          <a:xfrm>
            <a:off x="3403550" y="2923409"/>
            <a:ext cx="7659148" cy="661675"/>
            <a:chOff x="2214694" y="6167346"/>
            <a:chExt cx="7659148" cy="661675"/>
          </a:xfrm>
        </p:grpSpPr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97D967B2-B348-0E40-0BB3-84B7D0B3F934}"/>
                </a:ext>
              </a:extLst>
            </p:cNvPr>
            <p:cNvGrpSpPr/>
            <p:nvPr/>
          </p:nvGrpSpPr>
          <p:grpSpPr>
            <a:xfrm>
              <a:off x="2461790" y="6167346"/>
              <a:ext cx="7165118" cy="661675"/>
              <a:chOff x="2461790" y="6167346"/>
              <a:chExt cx="7165118" cy="661675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32619BE9-C484-A416-98A4-8AE733AC04D1}"/>
                  </a:ext>
                </a:extLst>
              </p:cNvPr>
              <p:cNvSpPr/>
              <p:nvPr/>
            </p:nvSpPr>
            <p:spPr>
              <a:xfrm>
                <a:off x="2461790" y="6372200"/>
                <a:ext cx="117424" cy="11905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6CB1DB2A-CAD7-37A1-3BAA-EC2AEDB53E27}"/>
                  </a:ext>
                </a:extLst>
              </p:cNvPr>
              <p:cNvSpPr/>
              <p:nvPr/>
            </p:nvSpPr>
            <p:spPr>
              <a:xfrm>
                <a:off x="9440989" y="6372200"/>
                <a:ext cx="117424" cy="11905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AF1689B6-1017-4B3A-8792-CA3EEBC41DC8}"/>
                  </a:ext>
                </a:extLst>
              </p:cNvPr>
              <p:cNvSpPr/>
              <p:nvPr/>
            </p:nvSpPr>
            <p:spPr>
              <a:xfrm>
                <a:off x="2801105" y="6363887"/>
                <a:ext cx="127577" cy="135683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7630ABE6-10AF-4F05-9562-8CF14AF760F7}"/>
                  </a:ext>
                </a:extLst>
              </p:cNvPr>
              <p:cNvSpPr/>
              <p:nvPr/>
            </p:nvSpPr>
            <p:spPr>
              <a:xfrm>
                <a:off x="6295785" y="6363887"/>
                <a:ext cx="127577" cy="135683"/>
              </a:xfrm>
              <a:prstGeom prst="ellips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E34CBCC4-8E16-081B-E4B3-06EC788C2930}"/>
                  </a:ext>
                </a:extLst>
              </p:cNvPr>
              <p:cNvSpPr/>
              <p:nvPr/>
            </p:nvSpPr>
            <p:spPr>
              <a:xfrm>
                <a:off x="8043125" y="6363887"/>
                <a:ext cx="127577" cy="135683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289AA893-5A37-4C2B-270B-FFF9ECEC7666}"/>
                  </a:ext>
                </a:extLst>
              </p:cNvPr>
              <p:cNvSpPr/>
              <p:nvPr/>
            </p:nvSpPr>
            <p:spPr>
              <a:xfrm>
                <a:off x="8742061" y="6363887"/>
                <a:ext cx="127577" cy="135683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D3C910E0-52B9-557F-9E40-121901F79C22}"/>
                  </a:ext>
                </a:extLst>
              </p:cNvPr>
              <p:cNvSpPr/>
              <p:nvPr/>
            </p:nvSpPr>
            <p:spPr>
              <a:xfrm>
                <a:off x="9091529" y="6363887"/>
                <a:ext cx="127577" cy="135683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51BEBD32-299F-2311-0411-C2DC5F42B7AA}"/>
                  </a:ext>
                </a:extLst>
              </p:cNvPr>
              <p:cNvSpPr/>
              <p:nvPr/>
            </p:nvSpPr>
            <p:spPr>
              <a:xfrm>
                <a:off x="3849509" y="6363887"/>
                <a:ext cx="127577" cy="135683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E09C797B-9A54-933C-8553-FAE16E6AFCF7}"/>
                  </a:ext>
                </a:extLst>
              </p:cNvPr>
              <p:cNvSpPr/>
              <p:nvPr/>
            </p:nvSpPr>
            <p:spPr>
              <a:xfrm>
                <a:off x="4897913" y="6363887"/>
                <a:ext cx="127577" cy="135683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59BB7535-0223-79FE-D220-16A1A6AFB38E}"/>
                  </a:ext>
                </a:extLst>
              </p:cNvPr>
              <p:cNvSpPr/>
              <p:nvPr/>
            </p:nvSpPr>
            <p:spPr>
              <a:xfrm>
                <a:off x="5946317" y="6363887"/>
                <a:ext cx="127577" cy="135683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D9079AEA-6821-8B89-1FD2-B0E52F0EA999}"/>
                  </a:ext>
                </a:extLst>
              </p:cNvPr>
              <p:cNvSpPr/>
              <p:nvPr/>
            </p:nvSpPr>
            <p:spPr>
              <a:xfrm>
                <a:off x="6645253" y="6363887"/>
                <a:ext cx="127577" cy="135683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7FD6F763-B9D3-4E4F-755F-844788DE5356}"/>
                  </a:ext>
                </a:extLst>
              </p:cNvPr>
              <p:cNvSpPr/>
              <p:nvPr/>
            </p:nvSpPr>
            <p:spPr>
              <a:xfrm>
                <a:off x="6994721" y="6363887"/>
                <a:ext cx="127577" cy="135683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589546C9-D7ED-D52D-9595-374828E87B2E}"/>
                  </a:ext>
                </a:extLst>
              </p:cNvPr>
              <p:cNvSpPr/>
              <p:nvPr/>
            </p:nvSpPr>
            <p:spPr>
              <a:xfrm>
                <a:off x="7344189" y="6363887"/>
                <a:ext cx="127577" cy="135683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12A0E120-120F-CCDE-C82B-2B47426D7FE5}"/>
                  </a:ext>
                </a:extLst>
              </p:cNvPr>
              <p:cNvSpPr/>
              <p:nvPr/>
            </p:nvSpPr>
            <p:spPr>
              <a:xfrm>
                <a:off x="7693657" y="6363887"/>
                <a:ext cx="127577" cy="135683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889C76DA-D890-CBDA-2CD8-996545D98B33}"/>
                  </a:ext>
                </a:extLst>
              </p:cNvPr>
              <p:cNvSpPr/>
              <p:nvPr/>
            </p:nvSpPr>
            <p:spPr>
              <a:xfrm>
                <a:off x="8392593" y="6363887"/>
                <a:ext cx="127577" cy="135683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805A342E-E93C-D36F-1D12-19597437B810}"/>
                  </a:ext>
                </a:extLst>
              </p:cNvPr>
              <p:cNvSpPr/>
              <p:nvPr/>
            </p:nvSpPr>
            <p:spPr>
              <a:xfrm>
                <a:off x="3150573" y="6363887"/>
                <a:ext cx="127577" cy="135683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FEF2C0E5-30A4-64B5-81CC-A967EB22B1F6}"/>
                  </a:ext>
                </a:extLst>
              </p:cNvPr>
              <p:cNvSpPr/>
              <p:nvPr/>
            </p:nvSpPr>
            <p:spPr>
              <a:xfrm>
                <a:off x="3500041" y="6363887"/>
                <a:ext cx="127577" cy="135683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3CA23BFD-8168-E566-5BE5-CCBF51E6CB93}"/>
                  </a:ext>
                </a:extLst>
              </p:cNvPr>
              <p:cNvSpPr/>
              <p:nvPr/>
            </p:nvSpPr>
            <p:spPr>
              <a:xfrm>
                <a:off x="4198977" y="6363887"/>
                <a:ext cx="127577" cy="135683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358C67C3-C806-A948-3344-82D69E657CC5}"/>
                  </a:ext>
                </a:extLst>
              </p:cNvPr>
              <p:cNvSpPr/>
              <p:nvPr/>
            </p:nvSpPr>
            <p:spPr>
              <a:xfrm>
                <a:off x="4548445" y="6363887"/>
                <a:ext cx="127577" cy="135683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EEB601CA-3FA5-F6F3-E5E0-E10135ABCF00}"/>
                  </a:ext>
                </a:extLst>
              </p:cNvPr>
              <p:cNvSpPr/>
              <p:nvPr/>
            </p:nvSpPr>
            <p:spPr>
              <a:xfrm>
                <a:off x="5247381" y="6363887"/>
                <a:ext cx="127577" cy="135683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830AB825-0669-506A-FB89-A2380820FAA5}"/>
                  </a:ext>
                </a:extLst>
              </p:cNvPr>
              <p:cNvSpPr/>
              <p:nvPr/>
            </p:nvSpPr>
            <p:spPr>
              <a:xfrm>
                <a:off x="5596849" y="6363887"/>
                <a:ext cx="127577" cy="135683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E8C6C8A-6679-5775-AB35-1ECF87C8B844}"/>
                  </a:ext>
                </a:extLst>
              </p:cNvPr>
              <p:cNvSpPr txBox="1"/>
              <p:nvPr/>
            </p:nvSpPr>
            <p:spPr>
              <a:xfrm>
                <a:off x="6096000" y="6499570"/>
                <a:ext cx="54040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start</a:t>
                </a:r>
              </a:p>
            </p:txBody>
          </p:sp>
          <p:cxnSp>
            <p:nvCxnSpPr>
              <p:cNvPr id="32" name="Straight Arrow Connector 31">
                <a:extLst>
                  <a:ext uri="{FF2B5EF4-FFF2-40B4-BE49-F238E27FC236}">
                    <a16:creationId xmlns:a16="http://schemas.microsoft.com/office/drawing/2014/main" id="{0C70CA7B-55C5-9430-3357-3B3F162D64EE}"/>
                  </a:ext>
                </a:extLst>
              </p:cNvPr>
              <p:cNvCxnSpPr>
                <a:stCxn id="12" idx="6"/>
                <a:endCxn id="19" idx="2"/>
              </p:cNvCxnSpPr>
              <p:nvPr/>
            </p:nvCxnSpPr>
            <p:spPr>
              <a:xfrm>
                <a:off x="6423362" y="6431729"/>
                <a:ext cx="221891" cy="0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A10E0A17-7211-8B1D-09E3-ED1D8FFA0A9B}"/>
                  </a:ext>
                </a:extLst>
              </p:cNvPr>
              <p:cNvCxnSpPr>
                <a:cxnSpLocks/>
                <a:stCxn id="19" idx="6"/>
                <a:endCxn id="20" idx="2"/>
              </p:cNvCxnSpPr>
              <p:nvPr/>
            </p:nvCxnSpPr>
            <p:spPr>
              <a:xfrm>
                <a:off x="6772830" y="6431729"/>
                <a:ext cx="221891" cy="0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3D538BDB-09FC-E391-18F1-F952E72A0CE0}"/>
                  </a:ext>
                </a:extLst>
              </p:cNvPr>
              <p:cNvCxnSpPr>
                <a:cxnSpLocks/>
                <a:stCxn id="20" idx="6"/>
                <a:endCxn id="21" idx="2"/>
              </p:cNvCxnSpPr>
              <p:nvPr/>
            </p:nvCxnSpPr>
            <p:spPr>
              <a:xfrm>
                <a:off x="7122298" y="6431729"/>
                <a:ext cx="221891" cy="0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014953F8-2D0E-1927-8FAE-5D59D36E12D4}"/>
                  </a:ext>
                </a:extLst>
              </p:cNvPr>
              <p:cNvCxnSpPr>
                <a:cxnSpLocks/>
                <a:stCxn id="21" idx="6"/>
                <a:endCxn id="22" idx="2"/>
              </p:cNvCxnSpPr>
              <p:nvPr/>
            </p:nvCxnSpPr>
            <p:spPr>
              <a:xfrm>
                <a:off x="7471766" y="6431729"/>
                <a:ext cx="221891" cy="0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568AC4A9-3DBC-DE88-8FFA-9CC171FE6EB0}"/>
                  </a:ext>
                </a:extLst>
              </p:cNvPr>
              <p:cNvCxnSpPr>
                <a:cxnSpLocks/>
                <a:stCxn id="22" idx="6"/>
                <a:endCxn id="13" idx="2"/>
              </p:cNvCxnSpPr>
              <p:nvPr/>
            </p:nvCxnSpPr>
            <p:spPr>
              <a:xfrm>
                <a:off x="7821234" y="6431729"/>
                <a:ext cx="221891" cy="0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F173D8E0-7638-0657-ECFD-973A570B6C40}"/>
                  </a:ext>
                </a:extLst>
              </p:cNvPr>
              <p:cNvCxnSpPr>
                <a:cxnSpLocks/>
                <a:stCxn id="13" idx="6"/>
                <a:endCxn id="23" idx="2"/>
              </p:cNvCxnSpPr>
              <p:nvPr/>
            </p:nvCxnSpPr>
            <p:spPr>
              <a:xfrm>
                <a:off x="8170702" y="6431729"/>
                <a:ext cx="221891" cy="0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Arrow Connector 47">
                <a:extLst>
                  <a:ext uri="{FF2B5EF4-FFF2-40B4-BE49-F238E27FC236}">
                    <a16:creationId xmlns:a16="http://schemas.microsoft.com/office/drawing/2014/main" id="{C49BA629-D5B2-BEDE-7BA3-85920105A7B4}"/>
                  </a:ext>
                </a:extLst>
              </p:cNvPr>
              <p:cNvCxnSpPr>
                <a:cxnSpLocks/>
                <a:stCxn id="23" idx="6"/>
                <a:endCxn id="14" idx="2"/>
              </p:cNvCxnSpPr>
              <p:nvPr/>
            </p:nvCxnSpPr>
            <p:spPr>
              <a:xfrm>
                <a:off x="8520170" y="6431729"/>
                <a:ext cx="221891" cy="0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Arrow Connector 50">
                <a:extLst>
                  <a:ext uri="{FF2B5EF4-FFF2-40B4-BE49-F238E27FC236}">
                    <a16:creationId xmlns:a16="http://schemas.microsoft.com/office/drawing/2014/main" id="{73249D8A-234C-D0EC-35F0-9851F00DB3FB}"/>
                  </a:ext>
                </a:extLst>
              </p:cNvPr>
              <p:cNvCxnSpPr>
                <a:cxnSpLocks/>
                <a:stCxn id="14" idx="6"/>
                <a:endCxn id="15" idx="2"/>
              </p:cNvCxnSpPr>
              <p:nvPr/>
            </p:nvCxnSpPr>
            <p:spPr>
              <a:xfrm>
                <a:off x="8869638" y="6431729"/>
                <a:ext cx="221891" cy="0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Straight Arrow Connector 53">
                <a:extLst>
                  <a:ext uri="{FF2B5EF4-FFF2-40B4-BE49-F238E27FC236}">
                    <a16:creationId xmlns:a16="http://schemas.microsoft.com/office/drawing/2014/main" id="{3A6A30CB-9F74-302F-BDAA-838507EE6658}"/>
                  </a:ext>
                </a:extLst>
              </p:cNvPr>
              <p:cNvCxnSpPr>
                <a:cxnSpLocks/>
                <a:stCxn id="15" idx="6"/>
                <a:endCxn id="10" idx="1"/>
              </p:cNvCxnSpPr>
              <p:nvPr/>
            </p:nvCxnSpPr>
            <p:spPr>
              <a:xfrm flipV="1">
                <a:off x="9219106" y="6431728"/>
                <a:ext cx="221883" cy="1"/>
              </a:xfrm>
              <a:prstGeom prst="straightConnector1">
                <a:avLst/>
              </a:prstGeom>
              <a:ln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DDB88DF1-91ED-4C9F-7FC4-392EDFF8BC8C}"/>
                  </a:ext>
                </a:extLst>
              </p:cNvPr>
              <p:cNvSpPr txBox="1"/>
              <p:nvPr/>
            </p:nvSpPr>
            <p:spPr>
              <a:xfrm>
                <a:off x="9146739" y="6167346"/>
                <a:ext cx="28084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1</a:t>
                </a:r>
              </a:p>
            </p:txBody>
          </p:sp>
          <p:cxnSp>
            <p:nvCxnSpPr>
              <p:cNvPr id="58" name="Straight Arrow Connector 57">
                <a:extLst>
                  <a:ext uri="{FF2B5EF4-FFF2-40B4-BE49-F238E27FC236}">
                    <a16:creationId xmlns:a16="http://schemas.microsoft.com/office/drawing/2014/main" id="{3C708411-13CA-3938-9960-AF0276035451}"/>
                  </a:ext>
                </a:extLst>
              </p:cNvPr>
              <p:cNvCxnSpPr>
                <a:cxnSpLocks/>
                <a:stCxn id="11" idx="6"/>
                <a:endCxn id="24" idx="2"/>
              </p:cNvCxnSpPr>
              <p:nvPr/>
            </p:nvCxnSpPr>
            <p:spPr>
              <a:xfrm>
                <a:off x="2928682" y="6431729"/>
                <a:ext cx="221891" cy="0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Straight Arrow Connector 58">
                <a:extLst>
                  <a:ext uri="{FF2B5EF4-FFF2-40B4-BE49-F238E27FC236}">
                    <a16:creationId xmlns:a16="http://schemas.microsoft.com/office/drawing/2014/main" id="{AC1A75C6-70EC-4B7A-A5B0-1BA5335000AF}"/>
                  </a:ext>
                </a:extLst>
              </p:cNvPr>
              <p:cNvCxnSpPr>
                <a:cxnSpLocks/>
                <a:stCxn id="24" idx="6"/>
                <a:endCxn id="25" idx="2"/>
              </p:cNvCxnSpPr>
              <p:nvPr/>
            </p:nvCxnSpPr>
            <p:spPr>
              <a:xfrm>
                <a:off x="3278150" y="6431729"/>
                <a:ext cx="221891" cy="0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Arrow Connector 59">
                <a:extLst>
                  <a:ext uri="{FF2B5EF4-FFF2-40B4-BE49-F238E27FC236}">
                    <a16:creationId xmlns:a16="http://schemas.microsoft.com/office/drawing/2014/main" id="{5B4BD555-83D5-3B59-C23E-13F48857A492}"/>
                  </a:ext>
                </a:extLst>
              </p:cNvPr>
              <p:cNvCxnSpPr>
                <a:cxnSpLocks/>
                <a:stCxn id="25" idx="6"/>
                <a:endCxn id="16" idx="2"/>
              </p:cNvCxnSpPr>
              <p:nvPr/>
            </p:nvCxnSpPr>
            <p:spPr>
              <a:xfrm>
                <a:off x="3627618" y="6431729"/>
                <a:ext cx="221891" cy="0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Arrow Connector 60">
                <a:extLst>
                  <a:ext uri="{FF2B5EF4-FFF2-40B4-BE49-F238E27FC236}">
                    <a16:creationId xmlns:a16="http://schemas.microsoft.com/office/drawing/2014/main" id="{A9271A34-B6BE-E33B-C643-F3B5597E0CA7}"/>
                  </a:ext>
                </a:extLst>
              </p:cNvPr>
              <p:cNvCxnSpPr>
                <a:cxnSpLocks/>
                <a:stCxn id="16" idx="6"/>
                <a:endCxn id="26" idx="2"/>
              </p:cNvCxnSpPr>
              <p:nvPr/>
            </p:nvCxnSpPr>
            <p:spPr>
              <a:xfrm>
                <a:off x="3977086" y="6431729"/>
                <a:ext cx="221891" cy="0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Straight Arrow Connector 61">
                <a:extLst>
                  <a:ext uri="{FF2B5EF4-FFF2-40B4-BE49-F238E27FC236}">
                    <a16:creationId xmlns:a16="http://schemas.microsoft.com/office/drawing/2014/main" id="{0C11D0BD-BB06-F0C0-0AEE-41A1ABA464B2}"/>
                  </a:ext>
                </a:extLst>
              </p:cNvPr>
              <p:cNvCxnSpPr>
                <a:cxnSpLocks/>
                <a:stCxn id="26" idx="6"/>
                <a:endCxn id="27" idx="2"/>
              </p:cNvCxnSpPr>
              <p:nvPr/>
            </p:nvCxnSpPr>
            <p:spPr>
              <a:xfrm>
                <a:off x="4326554" y="6431729"/>
                <a:ext cx="221891" cy="0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Straight Arrow Connector 73">
                <a:extLst>
                  <a:ext uri="{FF2B5EF4-FFF2-40B4-BE49-F238E27FC236}">
                    <a16:creationId xmlns:a16="http://schemas.microsoft.com/office/drawing/2014/main" id="{F93D429D-1C0A-6EEC-9B3D-430DF89DC51F}"/>
                  </a:ext>
                </a:extLst>
              </p:cNvPr>
              <p:cNvCxnSpPr>
                <a:cxnSpLocks/>
                <a:stCxn id="27" idx="6"/>
                <a:endCxn id="17" idx="2"/>
              </p:cNvCxnSpPr>
              <p:nvPr/>
            </p:nvCxnSpPr>
            <p:spPr>
              <a:xfrm>
                <a:off x="4676022" y="6431729"/>
                <a:ext cx="221891" cy="0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" name="Straight Arrow Connector 74">
                <a:extLst>
                  <a:ext uri="{FF2B5EF4-FFF2-40B4-BE49-F238E27FC236}">
                    <a16:creationId xmlns:a16="http://schemas.microsoft.com/office/drawing/2014/main" id="{DE24DF03-5C88-B36C-274D-BD029FE5CA35}"/>
                  </a:ext>
                </a:extLst>
              </p:cNvPr>
              <p:cNvCxnSpPr>
                <a:cxnSpLocks/>
                <a:stCxn id="17" idx="6"/>
                <a:endCxn id="28" idx="2"/>
              </p:cNvCxnSpPr>
              <p:nvPr/>
            </p:nvCxnSpPr>
            <p:spPr>
              <a:xfrm>
                <a:off x="5025490" y="6431729"/>
                <a:ext cx="221891" cy="0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Straight Arrow Connector 75">
                <a:extLst>
                  <a:ext uri="{FF2B5EF4-FFF2-40B4-BE49-F238E27FC236}">
                    <a16:creationId xmlns:a16="http://schemas.microsoft.com/office/drawing/2014/main" id="{B5609BB2-1E49-DFEB-F8E9-C624995B02B7}"/>
                  </a:ext>
                </a:extLst>
              </p:cNvPr>
              <p:cNvCxnSpPr>
                <a:cxnSpLocks/>
                <a:stCxn id="28" idx="6"/>
                <a:endCxn id="29" idx="2"/>
              </p:cNvCxnSpPr>
              <p:nvPr/>
            </p:nvCxnSpPr>
            <p:spPr>
              <a:xfrm>
                <a:off x="5374958" y="6431729"/>
                <a:ext cx="221891" cy="0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Arrow Connector 82">
                <a:extLst>
                  <a:ext uri="{FF2B5EF4-FFF2-40B4-BE49-F238E27FC236}">
                    <a16:creationId xmlns:a16="http://schemas.microsoft.com/office/drawing/2014/main" id="{14AAD3C5-70CE-686C-85C2-34767DF131FC}"/>
                  </a:ext>
                </a:extLst>
              </p:cNvPr>
              <p:cNvCxnSpPr>
                <a:cxnSpLocks/>
                <a:stCxn id="29" idx="6"/>
                <a:endCxn id="18" idx="2"/>
              </p:cNvCxnSpPr>
              <p:nvPr/>
            </p:nvCxnSpPr>
            <p:spPr>
              <a:xfrm>
                <a:off x="5724426" y="6431729"/>
                <a:ext cx="221891" cy="0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Arrow Connector 85">
                <a:extLst>
                  <a:ext uri="{FF2B5EF4-FFF2-40B4-BE49-F238E27FC236}">
                    <a16:creationId xmlns:a16="http://schemas.microsoft.com/office/drawing/2014/main" id="{5B9F4920-AAF3-A1F4-42A5-8A01574E22EB}"/>
                  </a:ext>
                </a:extLst>
              </p:cNvPr>
              <p:cNvCxnSpPr>
                <a:cxnSpLocks/>
                <a:stCxn id="18" idx="6"/>
                <a:endCxn id="12" idx="2"/>
              </p:cNvCxnSpPr>
              <p:nvPr/>
            </p:nvCxnSpPr>
            <p:spPr>
              <a:xfrm>
                <a:off x="6073894" y="6431729"/>
                <a:ext cx="221891" cy="0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Straight Arrow Connector 88">
                <a:extLst>
                  <a:ext uri="{FF2B5EF4-FFF2-40B4-BE49-F238E27FC236}">
                    <a16:creationId xmlns:a16="http://schemas.microsoft.com/office/drawing/2014/main" id="{FB4FE02B-54EB-011C-82F2-386C18847A92}"/>
                  </a:ext>
                </a:extLst>
              </p:cNvPr>
              <p:cNvCxnSpPr>
                <a:cxnSpLocks/>
                <a:stCxn id="9" idx="3"/>
                <a:endCxn id="11" idx="2"/>
              </p:cNvCxnSpPr>
              <p:nvPr/>
            </p:nvCxnSpPr>
            <p:spPr>
              <a:xfrm>
                <a:off x="2579214" y="6431728"/>
                <a:ext cx="221891" cy="1"/>
              </a:xfrm>
              <a:prstGeom prst="straightConnector1">
                <a:avLst/>
              </a:prstGeom>
              <a:ln>
                <a:headEnd type="triangl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7326ECA9-2FA8-60C8-3A75-C4C6324598BA}"/>
                  </a:ext>
                </a:extLst>
              </p:cNvPr>
              <p:cNvSpPr txBox="1"/>
              <p:nvPr/>
            </p:nvSpPr>
            <p:spPr>
              <a:xfrm>
                <a:off x="8248004" y="6567411"/>
                <a:ext cx="1378904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100" dirty="0"/>
                  <a:t>All other reward is 0</a:t>
                </a:r>
              </a:p>
            </p:txBody>
          </p:sp>
        </p:grp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24CD6081-8E7C-5373-C274-98350E0DB050}"/>
                </a:ext>
              </a:extLst>
            </p:cNvPr>
            <p:cNvSpPr/>
            <p:nvPr/>
          </p:nvSpPr>
          <p:spPr>
            <a:xfrm>
              <a:off x="2214694" y="6171467"/>
              <a:ext cx="7659148" cy="638139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4018267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8385F1E-6465-1645-CA42-6BA88334F8C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365126"/>
                <a:ext cx="7099092" cy="759072"/>
              </a:xfrm>
            </p:spPr>
            <p:txBody>
              <a:bodyPr>
                <a:normAutofit fontScale="90000"/>
              </a:bodyPr>
              <a:lstStyle/>
              <a:p>
                <a:r>
                  <a:rPr lang="en-US" dirty="0"/>
                  <a:t>The Forward View Issue with </a:t>
                </a:r>
                <a:br>
                  <a:rPr lang="en-US" dirty="0"/>
                </a:br>
                <a:r>
                  <a:rPr lang="en-US" dirty="0"/>
                  <a:t>the Off-Line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-Return Algorithm 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8385F1E-6465-1645-CA42-6BA88334F8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365126"/>
                <a:ext cx="7099092" cy="759072"/>
              </a:xfrm>
              <a:blipFill>
                <a:blip r:embed="rId2"/>
                <a:stretch>
                  <a:fillRect l="-3093" t="-50000" b="-645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60FE59A-5A07-2A07-3158-4CE63E7481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64786"/>
                <a:ext cx="7201798" cy="1428316"/>
              </a:xfrm>
            </p:spPr>
            <p:txBody>
              <a:bodyPr>
                <a:normAutofit fontScale="85000" lnSpcReduction="10000"/>
              </a:bodyPr>
              <a:lstStyle/>
              <a:p>
                <a:r>
                  <a:rPr lang="en-US" dirty="0"/>
                  <a:t>Uses the </a:t>
                </a:r>
                <a:r>
                  <a:rPr lang="en-US" b="1" dirty="0"/>
                  <a:t>“forward view.” </a:t>
                </a:r>
              </a:p>
              <a:p>
                <a:r>
                  <a:rPr lang="en-US" dirty="0"/>
                  <a:t>Updating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requires the calculation of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𝜆</m:t>
                        </m:r>
                      </m:sup>
                    </m:sSubSup>
                  </m:oMath>
                </a14:m>
                <a:r>
                  <a:rPr lang="en-US" dirty="0"/>
                  <a:t>, which requires all future rewards: The </a:t>
                </a:r>
                <a:r>
                  <a:rPr lang="en-US" b="1" dirty="0"/>
                  <a:t>update is delayed </a:t>
                </a:r>
                <a:r>
                  <a:rPr lang="en-US" dirty="0"/>
                  <a:t>till the whole episode is observed (like for MC).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60FE59A-5A07-2A07-3158-4CE63E7481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64786"/>
                <a:ext cx="7201798" cy="1428316"/>
              </a:xfrm>
              <a:blipFill>
                <a:blip r:embed="rId3"/>
                <a:stretch>
                  <a:fillRect l="-1185" t="-7660" b="-89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14F066E0-14B9-ED12-6A95-7A9B8E5FEA05}"/>
              </a:ext>
            </a:extLst>
          </p:cNvPr>
          <p:cNvGrpSpPr/>
          <p:nvPr/>
        </p:nvGrpSpPr>
        <p:grpSpPr>
          <a:xfrm>
            <a:off x="8098145" y="374690"/>
            <a:ext cx="3892174" cy="4077325"/>
            <a:chOff x="7318283" y="732971"/>
            <a:chExt cx="4870635" cy="5144409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FBF0173-A454-9854-1EB8-24853BE78A3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318283" y="1739618"/>
              <a:ext cx="4870635" cy="405444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083FA437-6AA3-E563-8318-88ED17E056FB}"/>
                    </a:ext>
                  </a:extLst>
                </p:cNvPr>
                <p:cNvSpPr txBox="1"/>
                <p:nvPr/>
              </p:nvSpPr>
              <p:spPr>
                <a:xfrm>
                  <a:off x="7721599" y="732971"/>
                  <a:ext cx="4209143" cy="92333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/>
                    <a:t>Backup diagram </a:t>
                  </a:r>
                  <a:br>
                    <a:rPr lang="en-US" b="1" dirty="0"/>
                  </a:br>
                  <a:r>
                    <a:rPr lang="en-US" dirty="0"/>
                    <a:t>Weighting of the components </a:t>
                  </a:r>
                  <a:br>
                    <a:rPr lang="en-US" dirty="0"/>
                  </a:br>
                  <a:r>
                    <a:rPr lang="en-US" dirty="0"/>
                    <a:t>of the </a:t>
                  </a:r>
                  <a14:m>
                    <m:oMath xmlns:m="http://schemas.openxmlformats.org/officeDocument/2006/math">
                      <m:r>
                        <a:rPr lang="en-US" b="0" i="1">
                          <a:latin typeface="Cambria Math" panose="02040503050406030204" pitchFamily="18" charset="0"/>
                        </a:rPr>
                        <m:t>𝜆</m:t>
                      </m:r>
                    </m:oMath>
                  </a14:m>
                  <a:r>
                    <a:rPr lang="en-US" dirty="0"/>
                    <a:t>-return 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083FA437-6AA3-E563-8318-88ED17E056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21599" y="732971"/>
                  <a:ext cx="4209143" cy="923330"/>
                </a:xfrm>
                <a:prstGeom prst="rect">
                  <a:avLst/>
                </a:prstGeom>
                <a:blipFill>
                  <a:blip r:embed="rId5"/>
                  <a:stretch>
                    <a:fillRect t="-3306" b="-380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8FE606E-7390-123A-8006-FFCF34E5BBA2}"/>
                </a:ext>
              </a:extLst>
            </p:cNvPr>
            <p:cNvSpPr/>
            <p:nvPr/>
          </p:nvSpPr>
          <p:spPr>
            <a:xfrm>
              <a:off x="7467600" y="732971"/>
              <a:ext cx="4572000" cy="5144409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06F3215-3084-94A5-D9BC-4EF0F1E6626F}"/>
              </a:ext>
            </a:extLst>
          </p:cNvPr>
          <p:cNvGrpSpPr/>
          <p:nvPr/>
        </p:nvGrpSpPr>
        <p:grpSpPr>
          <a:xfrm>
            <a:off x="482272" y="3098780"/>
            <a:ext cx="7339461" cy="2279359"/>
            <a:chOff x="482272" y="3098780"/>
            <a:chExt cx="7339461" cy="2279359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AB6695FD-E75E-33FA-BCC4-B93D4EA61FD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82272" y="3098780"/>
              <a:ext cx="7339461" cy="2094693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06462DD3-AC57-AC6E-DB58-8C4AA8C5F1B3}"/>
                    </a:ext>
                  </a:extLst>
                </p:cNvPr>
                <p:cNvSpPr txBox="1"/>
                <p:nvPr/>
              </p:nvSpPr>
              <p:spPr>
                <a:xfrm>
                  <a:off x="1187644" y="5008807"/>
                  <a:ext cx="5383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06462DD3-AC57-AC6E-DB58-8C4AA8C5F1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87644" y="5008807"/>
                  <a:ext cx="538393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4C21A98-A3F2-1D38-E686-25CC785EEF09}"/>
                    </a:ext>
                  </a:extLst>
                </p:cNvPr>
                <p:cNvSpPr txBox="1"/>
                <p:nvPr/>
              </p:nvSpPr>
              <p:spPr>
                <a:xfrm>
                  <a:off x="2515386" y="4762408"/>
                  <a:ext cx="61647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4C21A98-A3F2-1D38-E686-25CC785EEF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15386" y="4762408"/>
                  <a:ext cx="616470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9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841847C-870A-6AAB-5DFF-B9B9859364C8}"/>
                </a:ext>
              </a:extLst>
            </p:cNvPr>
            <p:cNvSpPr txBox="1"/>
            <p:nvPr/>
          </p:nvSpPr>
          <p:spPr>
            <a:xfrm rot="20955581">
              <a:off x="1541594" y="4605447"/>
              <a:ext cx="88998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2"/>
                  </a:solidFill>
                </a:rPr>
                <a:t>update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9AFA192E-5DA0-E399-780F-3564BE21E54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10018" y="4790114"/>
              <a:ext cx="1115736" cy="260058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211F70B4-8AFD-C643-01D4-C8A539A11926}"/>
                  </a:ext>
                </a:extLst>
              </p:cNvPr>
              <p:cNvSpPr/>
              <p:nvPr/>
            </p:nvSpPr>
            <p:spPr>
              <a:xfrm>
                <a:off x="5254052" y="5495935"/>
                <a:ext cx="3065488" cy="626278"/>
              </a:xfrm>
              <a:prstGeom prst="wedgeRoundRectCallout">
                <a:avLst>
                  <a:gd name="adj1" fmla="val 15220"/>
                  <a:gd name="adj2" fmla="val -35339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Agent can only update the value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when it is here!</a:t>
                </a:r>
              </a:p>
            </p:txBody>
          </p:sp>
        </mc:Choice>
        <mc:Fallback xmlns="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211F70B4-8AFD-C643-01D4-C8A539A1192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4052" y="5495935"/>
                <a:ext cx="3065488" cy="626278"/>
              </a:xfrm>
              <a:prstGeom prst="wedgeRoundRectCallout">
                <a:avLst>
                  <a:gd name="adj1" fmla="val 15220"/>
                  <a:gd name="adj2" fmla="val -353391"/>
                  <a:gd name="adj3" fmla="val 16667"/>
                </a:avLst>
              </a:prstGeom>
              <a:blipFill>
                <a:blip r:embed="rId9"/>
                <a:stretch>
                  <a:fillRect b="-38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985122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5C35685-52DA-F194-570C-066411476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Backward View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7DF6FB-C5F0-A5AF-1E34-8255944277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eligibility traces</a:t>
            </a:r>
          </a:p>
        </p:txBody>
      </p:sp>
    </p:spTree>
    <p:extLst>
      <p:ext uri="{BB962C8B-B14F-4D97-AF65-F5344CB8AC3E}">
        <p14:creationId xmlns:p14="http://schemas.microsoft.com/office/powerpoint/2010/main" val="33387470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333E540-9847-9C21-C9F0-CFBE8C995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Backward View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2E6FDC9-6D3E-B7E6-3EA4-F58FDCD127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4579571"/>
                <a:ext cx="10515600" cy="1720562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If we can </a:t>
                </a:r>
                <a:r>
                  <a:rPr lang="en-US" b="1" dirty="0"/>
                  <a:t>update the value function for all previous states </a:t>
                </a:r>
                <a:r>
                  <a:rPr lang="en-US" dirty="0"/>
                  <a:t>depending on the current observed TD-error:</a:t>
                </a:r>
              </a:p>
              <a:p>
                <a:pPr lvl="1"/>
                <a:r>
                  <a:rPr lang="en-US" dirty="0"/>
                  <a:t>Approximate the behavior of the forward-looking Off-Line 𝜆-Return Algorithm.</a:t>
                </a:r>
              </a:p>
              <a:p>
                <a:pPr lvl="1"/>
                <a:r>
                  <a:rPr lang="en-US" dirty="0"/>
                  <a:t>Online update of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at every time step.</a:t>
                </a:r>
              </a:p>
              <a:p>
                <a:pPr lvl="1"/>
                <a:r>
                  <a:rPr lang="en-US" dirty="0"/>
                  <a:t>Computations are equally spread over time (not just the end of the episode).</a:t>
                </a:r>
              </a:p>
              <a:p>
                <a:pPr lvl="1"/>
                <a:r>
                  <a:rPr lang="en-US" dirty="0"/>
                  <a:t>Works for continuing problems with no episode structure.</a:t>
                </a:r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2E6FDC9-6D3E-B7E6-3EA4-F58FDCD127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4579571"/>
                <a:ext cx="10515600" cy="1720562"/>
              </a:xfrm>
              <a:blipFill>
                <a:blip r:embed="rId2"/>
                <a:stretch>
                  <a:fillRect l="-754" t="-7092" r="-348" b="-14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" name="Group 1">
            <a:extLst>
              <a:ext uri="{FF2B5EF4-FFF2-40B4-BE49-F238E27FC236}">
                <a16:creationId xmlns:a16="http://schemas.microsoft.com/office/drawing/2014/main" id="{24CA70D1-B1C8-66B6-2B70-B39889CCE8CA}"/>
              </a:ext>
            </a:extLst>
          </p:cNvPr>
          <p:cNvGrpSpPr/>
          <p:nvPr/>
        </p:nvGrpSpPr>
        <p:grpSpPr>
          <a:xfrm>
            <a:off x="1988161" y="1124198"/>
            <a:ext cx="7075799" cy="3327793"/>
            <a:chOff x="2000745" y="1095253"/>
            <a:chExt cx="7075799" cy="332779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AF2107B3-4130-2F4D-8348-C8D01145A6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00745" y="1095253"/>
              <a:ext cx="7075799" cy="3142324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99931218-62BE-9701-43DE-FF542624DDB6}"/>
                    </a:ext>
                  </a:extLst>
                </p:cNvPr>
                <p:cNvSpPr txBox="1"/>
                <p:nvPr/>
              </p:nvSpPr>
              <p:spPr>
                <a:xfrm>
                  <a:off x="6518848" y="3619087"/>
                  <a:ext cx="5383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99931218-62BE-9701-43DE-FF542624DD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18848" y="3619087"/>
                  <a:ext cx="538393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9BEF2B6F-A91F-6A73-BE9B-2007F6B1995C}"/>
                    </a:ext>
                  </a:extLst>
                </p:cNvPr>
                <p:cNvSpPr txBox="1"/>
                <p:nvPr/>
              </p:nvSpPr>
              <p:spPr>
                <a:xfrm>
                  <a:off x="8012868" y="4053714"/>
                  <a:ext cx="61647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9BEF2B6F-A91F-6A73-BE9B-2007F6B199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12868" y="4053714"/>
                  <a:ext cx="61647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F2CEEC33-42F0-CF71-67E5-0E3B29769461}"/>
                </a:ext>
              </a:extLst>
            </p:cNvPr>
            <p:cNvGrpSpPr/>
            <p:nvPr/>
          </p:nvGrpSpPr>
          <p:grpSpPr>
            <a:xfrm>
              <a:off x="6932951" y="3768495"/>
              <a:ext cx="1079917" cy="469885"/>
              <a:chOff x="6932951" y="3768495"/>
              <a:chExt cx="1079917" cy="469885"/>
            </a:xfrm>
          </p:grpSpPr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B5453FED-9076-E5A4-2B94-9A032A9FD338}"/>
                  </a:ext>
                </a:extLst>
              </p:cNvPr>
              <p:cNvCxnSpPr>
                <a:cxnSpLocks/>
                <a:endCxn id="12" idx="1"/>
              </p:cNvCxnSpPr>
              <p:nvPr/>
            </p:nvCxnSpPr>
            <p:spPr>
              <a:xfrm>
                <a:off x="6932951" y="3895685"/>
                <a:ext cx="1079917" cy="34269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FF7A9AF-DCD8-97D1-286D-51D9A1170DA3}"/>
                  </a:ext>
                </a:extLst>
              </p:cNvPr>
              <p:cNvSpPr txBox="1"/>
              <p:nvPr/>
            </p:nvSpPr>
            <p:spPr>
              <a:xfrm rot="1135729">
                <a:off x="7090062" y="3768495"/>
                <a:ext cx="88998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2"/>
                    </a:solidFill>
                  </a:rPr>
                  <a:t>update</a:t>
                </a:r>
              </a:p>
            </p:txBody>
          </p:sp>
        </p:grp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F2DE156-8CD9-6258-1FAA-DB9C5CBF9ACF}"/>
                  </a:ext>
                </a:extLst>
              </p:cNvPr>
              <p:cNvSpPr txBox="1"/>
              <p:nvPr/>
            </p:nvSpPr>
            <p:spPr>
              <a:xfrm>
                <a:off x="8699383" y="1402630"/>
                <a:ext cx="2722227" cy="1200329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is the TD-error</a:t>
                </a:r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remembers how much to blame state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F2DE156-8CD9-6258-1FAA-DB9C5CBF9A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9383" y="1402630"/>
                <a:ext cx="2722227" cy="1200329"/>
              </a:xfrm>
              <a:prstGeom prst="rect">
                <a:avLst/>
              </a:prstGeom>
              <a:blipFill>
                <a:blip r:embed="rId6"/>
                <a:stretch>
                  <a:fillRect l="-1556" t="-1500" b="-6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380902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3B73B-EDBC-685B-D81B-51742C84C3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Eligibility Traces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57AC5A-7551-2464-A73F-00AD7C56E7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97330"/>
                <a:ext cx="5562601" cy="4921023"/>
              </a:xfrm>
            </p:spPr>
            <p:txBody>
              <a:bodyPr>
                <a:normAutofit fontScale="55000" lnSpcReduction="20000"/>
              </a:bodyPr>
              <a:lstStyle/>
              <a:p>
                <a:r>
                  <a:rPr lang="en-US" dirty="0"/>
                  <a:t>The approximation weights 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br>
                  <a:rPr lang="en-US" dirty="0">
                    <a:ea typeface="Cambria Math" panose="02040503050406030204" pitchFamily="18" charset="0"/>
                  </a:rPr>
                </a:br>
                <a:br>
                  <a:rPr lang="en-US" dirty="0">
                    <a:ea typeface="Cambria Math" panose="02040503050406030204" pitchFamily="18" charset="0"/>
                  </a:rPr>
                </a:br>
                <a:r>
                  <a:rPr lang="en-US" dirty="0"/>
                  <a:t>represent what we have learned about the value function so far = </a:t>
                </a:r>
                <a:r>
                  <a:rPr lang="en-US" b="1" dirty="0"/>
                  <a:t>long-term memory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Eligibility trace:</a:t>
                </a:r>
                <a:r>
                  <a:rPr lang="en-US" dirty="0"/>
                  <a:t> a vector 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br>
                  <a:rPr lang="en-US" b="1" dirty="0"/>
                </a:br>
                <a:br>
                  <a:rPr lang="en-US" b="1" dirty="0"/>
                </a:br>
                <a:endParaRPr lang="en-US" b="1" dirty="0"/>
              </a:p>
              <a:p>
                <a:r>
                  <a:rPr lang="en-US" b="1" dirty="0"/>
                  <a:t>Update</a:t>
                </a:r>
                <a:r>
                  <a:rPr lang="en-US" dirty="0"/>
                  <a:t>: </a:t>
                </a: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𝛾𝜆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b="1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𝛻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br>
                  <a:rPr lang="en-US" dirty="0">
                    <a:ea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>
                  <a:ea typeface="Cambria Math" panose="02040503050406030204" pitchFamily="18" charset="0"/>
                </a:endParaRPr>
              </a:p>
              <a:p>
                <a:endParaRPr lang="en-US" dirty="0"/>
              </a:p>
              <a:p>
                <a:r>
                  <a:rPr lang="en-US" dirty="0"/>
                  <a:t>Each component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keeps track of how much each component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contributed to the recent state valuation (sum of gradients). This is a </a:t>
                </a:r>
                <a:r>
                  <a:rPr lang="en-US" b="1" dirty="0"/>
                  <a:t>short-term memory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In other words,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shows the </a:t>
                </a:r>
                <a:r>
                  <a:rPr lang="en-US" b="1" dirty="0"/>
                  <a:t>eligibility</a:t>
                </a:r>
                <a:r>
                  <a:rPr lang="en-US" dirty="0"/>
                  <a:t> of each component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to undergo learning changes when a reinforcement event happens. It is a weighted sum of past gradients.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57AC5A-7551-2464-A73F-00AD7C56E7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97330"/>
                <a:ext cx="5562601" cy="4921023"/>
              </a:xfrm>
              <a:blipFill>
                <a:blip r:embed="rId2"/>
                <a:stretch>
                  <a:fillRect l="-219" t="-1239" r="-4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86273108-0757-82D9-3CC1-E6ED941AE347}"/>
              </a:ext>
            </a:extLst>
          </p:cNvPr>
          <p:cNvGrpSpPr/>
          <p:nvPr/>
        </p:nvGrpSpPr>
        <p:grpSpPr>
          <a:xfrm>
            <a:off x="6400800" y="1434518"/>
            <a:ext cx="5364787" cy="2490088"/>
            <a:chOff x="6400800" y="1434518"/>
            <a:chExt cx="5364787" cy="2490088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C2D0E44C-6361-FF1D-4C5B-1D96D2497C0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400800" y="1434518"/>
              <a:ext cx="5364787" cy="2382473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17E1B7AD-D5E2-146D-698D-E658F9A14FE8}"/>
                    </a:ext>
                  </a:extLst>
                </p:cNvPr>
                <p:cNvSpPr txBox="1"/>
                <p:nvPr/>
              </p:nvSpPr>
              <p:spPr>
                <a:xfrm>
                  <a:off x="9725586" y="3385530"/>
                  <a:ext cx="538393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1" i="1" smtClean="0"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sz="1200" dirty="0"/>
                </a:p>
              </p:txBody>
            </p:sp>
          </mc:Choice>
          <mc:Fallback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17E1B7AD-D5E2-146D-698D-E658F9A14F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5586" y="3385530"/>
                  <a:ext cx="538393" cy="276999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E4BDAC7-11A9-01B8-0CE4-EB6BD229A090}"/>
                    </a:ext>
                  </a:extLst>
                </p:cNvPr>
                <p:cNvSpPr txBox="1"/>
                <p:nvPr/>
              </p:nvSpPr>
              <p:spPr>
                <a:xfrm>
                  <a:off x="10877249" y="3647607"/>
                  <a:ext cx="616470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1" i="1" smtClean="0"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sz="1200" dirty="0"/>
                </a:p>
              </p:txBody>
            </p:sp>
          </mc:Choice>
          <mc:Fallback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E4BDAC7-11A9-01B8-0CE4-EB6BD229A0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77249" y="3647607"/>
                  <a:ext cx="616470" cy="276999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20C3EF6-45C9-CEA4-CAF4-7DC4E8295964}"/>
                </a:ext>
              </a:extLst>
            </p:cNvPr>
            <p:cNvCxnSpPr>
              <a:cxnSpLocks/>
            </p:cNvCxnSpPr>
            <p:nvPr/>
          </p:nvCxnSpPr>
          <p:spPr>
            <a:xfrm>
              <a:off x="10189101" y="3599950"/>
              <a:ext cx="709850" cy="158029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071B9E28-149A-64C8-F045-86A88F3B55A6}"/>
                </a:ext>
              </a:extLst>
            </p:cNvPr>
            <p:cNvSpPr txBox="1"/>
            <p:nvPr/>
          </p:nvSpPr>
          <p:spPr>
            <a:xfrm rot="677913">
              <a:off x="10216309" y="3419458"/>
              <a:ext cx="65543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accent2"/>
                  </a:solidFill>
                </a:rPr>
                <a:t>update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Arrow: Right 4">
                <a:extLst>
                  <a:ext uri="{FF2B5EF4-FFF2-40B4-BE49-F238E27FC236}">
                    <a16:creationId xmlns:a16="http://schemas.microsoft.com/office/drawing/2014/main" id="{0AEC5751-BCCC-30CA-BC6E-BFEBE788E1F9}"/>
                  </a:ext>
                </a:extLst>
              </p:cNvPr>
              <p:cNvSpPr/>
              <p:nvPr/>
            </p:nvSpPr>
            <p:spPr>
              <a:xfrm rot="693574" flipH="1">
                <a:off x="6720188" y="3390653"/>
                <a:ext cx="4164873" cy="1286126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The effect of </a:t>
                </a:r>
                <a14:m>
                  <m:oMath xmlns:m="http://schemas.openxmlformats.org/officeDocument/2006/math">
                    <m:r>
                      <a:rPr lang="en-US" sz="1600" b="1" i="1" smtClean="0">
                        <a:latin typeface="Cambria Math" panose="02040503050406030204" pitchFamily="18" charset="0"/>
                      </a:rPr>
                      <m:t>𝒛</m:t>
                    </m:r>
                  </m:oMath>
                </a14:m>
                <a:r>
                  <a:rPr lang="en-US" sz="1600" dirty="0"/>
                  <a:t> fades with the discount factor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600" b="1" dirty="0"/>
                  <a:t> and </a:t>
                </a:r>
                <a:r>
                  <a:rPr lang="en-US" sz="1600" dirty="0"/>
                  <a:t>the trace-decay factor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1600" b="1" dirty="0"/>
                  <a:t>.</a:t>
                </a:r>
              </a:p>
            </p:txBody>
          </p:sp>
        </mc:Choice>
        <mc:Fallback>
          <p:sp>
            <p:nvSpPr>
              <p:cNvPr id="5" name="Arrow: Right 4">
                <a:extLst>
                  <a:ext uri="{FF2B5EF4-FFF2-40B4-BE49-F238E27FC236}">
                    <a16:creationId xmlns:a16="http://schemas.microsoft.com/office/drawing/2014/main" id="{0AEC5751-BCCC-30CA-BC6E-BFEBE788E1F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693574" flipH="1">
                <a:off x="6720188" y="3390653"/>
                <a:ext cx="4164873" cy="1286126"/>
              </a:xfrm>
              <a:prstGeom prst="rightArrow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555585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9F0C2D05-B324-3331-AE93-B7A14090860C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Semi-gradient TD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for Estimation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9F0C2D05-B324-3331-AE93-B7A1409086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9CAB6C74-2CF6-0DB5-D124-C52B90B707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9743" y="1124198"/>
            <a:ext cx="8978063" cy="5186584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F8D7FF5-595D-B2A3-1001-46E92156EC05}"/>
              </a:ext>
            </a:extLst>
          </p:cNvPr>
          <p:cNvSpPr/>
          <p:nvPr/>
        </p:nvSpPr>
        <p:spPr>
          <a:xfrm>
            <a:off x="2611902" y="4642338"/>
            <a:ext cx="3094892" cy="848751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3890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8BE3ADF-E39B-FE62-2C36-25A40A47A56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True Online TD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for Estimation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8BE3ADF-E39B-FE62-2C36-25A40A47A5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237A5CC5-C193-35AF-5BA4-449015E206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270" y="1291903"/>
            <a:ext cx="7139448" cy="41244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5239F2A-6304-0820-08BC-891D48A4DC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4801" y="1012060"/>
            <a:ext cx="8490238" cy="584594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9CD7242A-C359-83D7-3070-A18C3EEB885B}"/>
                  </a:ext>
                </a:extLst>
              </p:cNvPr>
              <p:cNvSpPr/>
              <p:nvPr/>
            </p:nvSpPr>
            <p:spPr>
              <a:xfrm>
                <a:off x="8520332" y="207693"/>
                <a:ext cx="3283173" cy="804367"/>
              </a:xfrm>
              <a:prstGeom prst="wedgeRoundRectCallout">
                <a:avLst>
                  <a:gd name="adj1" fmla="val -66023"/>
                  <a:gd name="adj2" fmla="val 75134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States are represented by feature vectors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US" b="1" dirty="0"/>
              </a:p>
              <a:p>
                <a:pPr algn="ctr"/>
                <a:r>
                  <a:rPr lang="en-US" dirty="0"/>
                  <a:t>Replace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US" b="1" dirty="0"/>
              </a:p>
            </p:txBody>
          </p:sp>
        </mc:Choice>
        <mc:Fallback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9CD7242A-C359-83D7-3070-A18C3EEB885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0332" y="207693"/>
                <a:ext cx="3283173" cy="804367"/>
              </a:xfrm>
              <a:prstGeom prst="wedgeRoundRectCallout">
                <a:avLst>
                  <a:gd name="adj1" fmla="val -66023"/>
                  <a:gd name="adj2" fmla="val 75134"/>
                  <a:gd name="adj3" fmla="val 16667"/>
                </a:avLst>
              </a:prstGeom>
              <a:blipFill>
                <a:blip r:embed="rId5"/>
                <a:stretch>
                  <a:fillRect t="-70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029D9FF7-4D2D-22D4-59DE-BD479B2B731A}"/>
              </a:ext>
            </a:extLst>
          </p:cNvPr>
          <p:cNvSpPr/>
          <p:nvPr/>
        </p:nvSpPr>
        <p:spPr>
          <a:xfrm>
            <a:off x="959370" y="4084820"/>
            <a:ext cx="2473378" cy="884419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D61AC04-88F7-8FBB-96F3-A34889C56F36}"/>
              </a:ext>
            </a:extLst>
          </p:cNvPr>
          <p:cNvSpPr/>
          <p:nvPr/>
        </p:nvSpPr>
        <p:spPr>
          <a:xfrm>
            <a:off x="4447151" y="4531909"/>
            <a:ext cx="4389551" cy="1808930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07F68F2E-0494-F06F-42FA-C54AAB8B1E64}"/>
              </a:ext>
            </a:extLst>
          </p:cNvPr>
          <p:cNvSpPr/>
          <p:nvPr/>
        </p:nvSpPr>
        <p:spPr>
          <a:xfrm>
            <a:off x="3654801" y="4594485"/>
            <a:ext cx="570297" cy="487181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1350B539-C5B1-4BA6-3A80-B96852AEAA02}"/>
                  </a:ext>
                </a:extLst>
              </p:cNvPr>
              <p:cNvSpPr/>
              <p:nvPr/>
            </p:nvSpPr>
            <p:spPr>
              <a:xfrm>
                <a:off x="9406597" y="4838075"/>
                <a:ext cx="2713278" cy="1267303"/>
              </a:xfrm>
              <a:prstGeom prst="wedgeRoundRectCallout">
                <a:avLst>
                  <a:gd name="adj1" fmla="val -79431"/>
                  <a:gd name="adj2" fmla="val 10395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The additional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s make sure that the update exactly matches the forward view.</a:t>
                </a:r>
              </a:p>
            </p:txBody>
          </p:sp>
        </mc:Choice>
        <mc:Fallback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1350B539-C5B1-4BA6-3A80-B96852AEAA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06597" y="4838075"/>
                <a:ext cx="2713278" cy="1267303"/>
              </a:xfrm>
              <a:prstGeom prst="wedgeRoundRectCallout">
                <a:avLst>
                  <a:gd name="adj1" fmla="val -79431"/>
                  <a:gd name="adj2" fmla="val 10395"/>
                  <a:gd name="adj3" fmla="val 16667"/>
                </a:avLst>
              </a:prstGeom>
              <a:blipFill>
                <a:blip r:embed="rId6"/>
                <a:stretch>
                  <a:fillRect b="-37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232362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065CFE2-11EF-7D02-3FDF-DF2F23B91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with Eligibility Traces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BC93DA86-D896-6CEA-1DFB-FFCB93FEEC95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Sarsa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BC93DA86-D896-6CEA-1DFB-FFCB93FEEC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 l="-870" t="-52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651140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E24418C-998A-5037-5F17-CE5FE5010CD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365126"/>
                <a:ext cx="3700682" cy="759072"/>
              </a:xfrm>
            </p:spPr>
            <p:txBody>
              <a:bodyPr>
                <a:normAutofit fontScale="90000"/>
              </a:bodyPr>
              <a:lstStyle/>
              <a:p>
                <a:r>
                  <a:rPr lang="en-US" dirty="0"/>
                  <a:t>Sarsa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Control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E24418C-998A-5037-5F17-CE5FE5010CD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365126"/>
                <a:ext cx="3700682" cy="759072"/>
              </a:xfrm>
              <a:blipFill>
                <a:blip r:embed="rId2"/>
                <a:stretch>
                  <a:fillRect l="-5931" t="-13710" r="-5107" b="-28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8DB09B-E36D-E314-1E67-84051C05EA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5533F6E-A670-F0EF-DBDF-023F7D0C71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368" y="1286175"/>
            <a:ext cx="5781113" cy="398057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3F81575-47BE-4663-72BE-0842C9C1139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78" t="1084"/>
          <a:stretch>
            <a:fillRect/>
          </a:stretch>
        </p:blipFill>
        <p:spPr>
          <a:xfrm>
            <a:off x="4668473" y="717259"/>
            <a:ext cx="7160004" cy="58676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68FE2FEC-0A68-0310-3A7B-6B6406C0750C}"/>
                  </a:ext>
                </a:extLst>
              </p:cNvPr>
              <p:cNvSpPr/>
              <p:nvPr/>
            </p:nvSpPr>
            <p:spPr>
              <a:xfrm>
                <a:off x="742013" y="5266751"/>
                <a:ext cx="3322192" cy="1373891"/>
              </a:xfrm>
              <a:prstGeom prst="wedgeRoundRectCallout">
                <a:avLst>
                  <a:gd name="adj1" fmla="val 65105"/>
                  <a:gd name="adj2" fmla="val -108264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Estimate action values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becomes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b="1" i="1" dirty="0">
                    <a:latin typeface="Cambria Math" panose="02040503050406030204" pitchFamily="18" charset="0"/>
                  </a:rPr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is now a </a:t>
                </a:r>
                <a:r>
                  <a:rPr lang="en-US" dirty="0" err="1"/>
                  <a:t>state+action</a:t>
                </a:r>
                <a:r>
                  <a:rPr lang="en-US" dirty="0"/>
                  <a:t> feature</a:t>
                </a:r>
                <a:endParaRPr lang="en-US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68FE2FEC-0A68-0310-3A7B-6B6406C0750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2013" y="5266751"/>
                <a:ext cx="3322192" cy="1373891"/>
              </a:xfrm>
              <a:prstGeom prst="wedgeRoundRectCallout">
                <a:avLst>
                  <a:gd name="adj1" fmla="val 65105"/>
                  <a:gd name="adj2" fmla="val -108264"/>
                  <a:gd name="adj3" fmla="val 16667"/>
                </a:avLst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Arrow: Right 7">
            <a:extLst>
              <a:ext uri="{FF2B5EF4-FFF2-40B4-BE49-F238E27FC236}">
                <a16:creationId xmlns:a16="http://schemas.microsoft.com/office/drawing/2014/main" id="{3BAC5591-C5CA-FB5A-6450-05011CDF7B61}"/>
              </a:ext>
            </a:extLst>
          </p:cNvPr>
          <p:cNvSpPr/>
          <p:nvPr/>
        </p:nvSpPr>
        <p:spPr>
          <a:xfrm>
            <a:off x="4318405" y="3084226"/>
            <a:ext cx="584616" cy="846944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4A6A645-B1CF-ABD6-F520-6924051A359B}"/>
              </a:ext>
            </a:extLst>
          </p:cNvPr>
          <p:cNvSpPr/>
          <p:nvPr/>
        </p:nvSpPr>
        <p:spPr>
          <a:xfrm>
            <a:off x="6917960" y="1142229"/>
            <a:ext cx="1446551" cy="269823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9E7827E-E3E0-28FC-6F8D-FB4835B33733}"/>
              </a:ext>
            </a:extLst>
          </p:cNvPr>
          <p:cNvSpPr/>
          <p:nvPr/>
        </p:nvSpPr>
        <p:spPr>
          <a:xfrm>
            <a:off x="5031681" y="3249117"/>
            <a:ext cx="941900" cy="258581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25ADE33-72AD-700C-F9B7-A5BE123D8ABA}"/>
              </a:ext>
            </a:extLst>
          </p:cNvPr>
          <p:cNvSpPr/>
          <p:nvPr/>
        </p:nvSpPr>
        <p:spPr>
          <a:xfrm>
            <a:off x="6008448" y="3927423"/>
            <a:ext cx="3885059" cy="269823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Speech Bubble: Rectangle with Corners Rounded 11">
            <a:extLst>
              <a:ext uri="{FF2B5EF4-FFF2-40B4-BE49-F238E27FC236}">
                <a16:creationId xmlns:a16="http://schemas.microsoft.com/office/drawing/2014/main" id="{C925954A-4BDE-42A9-CF58-FE853D5A7FB3}"/>
              </a:ext>
            </a:extLst>
          </p:cNvPr>
          <p:cNvSpPr/>
          <p:nvPr/>
        </p:nvSpPr>
        <p:spPr>
          <a:xfrm>
            <a:off x="9242683" y="4625356"/>
            <a:ext cx="2044909" cy="1010945"/>
          </a:xfrm>
          <a:prstGeom prst="wedgeRoundRectCallout">
            <a:avLst>
              <a:gd name="adj1" fmla="val -80824"/>
              <a:gd name="adj2" fmla="val -94118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On-policy learning! Needs to keep exploring</a:t>
            </a:r>
          </a:p>
        </p:txBody>
      </p:sp>
    </p:spTree>
    <p:extLst>
      <p:ext uri="{BB962C8B-B14F-4D97-AF65-F5344CB8AC3E}">
        <p14:creationId xmlns:p14="http://schemas.microsoft.com/office/powerpoint/2010/main" val="37637138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7880B4-219F-341D-87D6-F012A1CB9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Traces in a </a:t>
            </a:r>
            <a:r>
              <a:rPr lang="en-US" dirty="0" err="1"/>
              <a:t>Gridworld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9546063-BDA6-A06A-829E-CBFA1390C0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4039992"/>
                <a:ext cx="10515600" cy="2259304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The first panel shows the path taken by an agent in a single episode. </a:t>
                </a:r>
              </a:p>
              <a:p>
                <a:r>
                  <a:rPr lang="en-US" dirty="0"/>
                  <a:t>The initial estimated values were zero, and all rewards were zero except for a positive reward at the goal location marked by G. </a:t>
                </a:r>
              </a:p>
              <a:p>
                <a:r>
                  <a:rPr lang="en-US" dirty="0"/>
                  <a:t>The arrows in the other panels show, for various algorithms, which action-values would be increased, and by how much, upon reaching the goal.</a:t>
                </a:r>
              </a:p>
              <a:p>
                <a:r>
                  <a:rPr lang="en-US" dirty="0"/>
                  <a:t>Sarsa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updates more values and also updates values closer to the goal more. This leads to </a:t>
                </a:r>
                <a:r>
                  <a:rPr lang="en-US" b="1" dirty="0"/>
                  <a:t>faster and more robust learning.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9546063-BDA6-A06A-829E-CBFA1390C0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4039992"/>
                <a:ext cx="10515600" cy="2259304"/>
              </a:xfrm>
              <a:blipFill>
                <a:blip r:embed="rId2"/>
                <a:stretch>
                  <a:fillRect l="-696" t="-5405" r="-8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56627DA3-9A00-06C0-7FB1-58369FDD7E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389" y="1317072"/>
            <a:ext cx="11221222" cy="2530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2234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035738-04FF-BD6A-6513-80B432E34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Implementation Issues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78B223-E1A4-8D15-DE6B-17478304B2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r>
                  <a:rPr lang="en-US" b="1" dirty="0"/>
                  <a:t>Off-policy learning</a:t>
                </a:r>
                <a:r>
                  <a:rPr lang="en-US" dirty="0"/>
                  <a:t>: Use importance sampling (see Chapter 7).</a:t>
                </a:r>
                <a:br>
                  <a:rPr lang="en-US" dirty="0"/>
                </a:br>
                <a:r>
                  <a:rPr lang="en-US" dirty="0"/>
                  <a:t>Note: Semi-gradient methods do not guarantee </a:t>
                </a:r>
                <a:r>
                  <a:rPr lang="en-US" b="1" dirty="0"/>
                  <a:t>stability</a:t>
                </a:r>
                <a:r>
                  <a:rPr lang="en-US" dirty="0"/>
                  <a:t> and may need extensions to improve stability.</a:t>
                </a:r>
              </a:p>
              <a:p>
                <a:endParaRPr lang="en-US" dirty="0"/>
              </a:p>
              <a:p>
                <a:r>
                  <a:rPr lang="en-US" b="1" dirty="0"/>
                  <a:t>Non-linear approximation</a:t>
                </a:r>
                <a:r>
                  <a:rPr lang="en-US" dirty="0"/>
                  <a:t>: For linear approximation backward and forward view matches perfectly. Non-linear approximations create discrepancies. Specialized, modified, or delayed methods are required for </a:t>
                </a:r>
                <a:r>
                  <a:rPr lang="en-US" b="1" dirty="0"/>
                  <a:t>stability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Sparse traces</a:t>
                </a:r>
                <a:r>
                  <a:rPr lang="en-US" dirty="0"/>
                  <a:t>: Most values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are typically close to 0. Many algorithms set very small values to zero and save computation.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b="1" dirty="0"/>
                  <a:t>How to chose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dirty="0"/>
                  <a:t>: There is no clear optimal value. It depends on</a:t>
                </a:r>
              </a:p>
              <a:p>
                <a:pPr lvl="1"/>
                <a:r>
                  <a:rPr lang="en-US" dirty="0" err="1"/>
                  <a:t>Stochasticiy</a:t>
                </a:r>
                <a:r>
                  <a:rPr lang="en-US" dirty="0"/>
                  <a:t> of the environment</a:t>
                </a:r>
              </a:p>
              <a:p>
                <a:pPr lvl="1"/>
                <a:r>
                  <a:rPr lang="en-US" dirty="0"/>
                  <a:t>Reward sparsity</a:t>
                </a:r>
              </a:p>
              <a:p>
                <a:pPr lvl="1"/>
                <a:r>
                  <a:rPr lang="en-US" dirty="0"/>
                  <a:t>Learning rate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Practitioners</a:t>
                </a:r>
                <a:r>
                  <a:rPr lang="en-US" dirty="0"/>
                  <a:t> often start with lambda equals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0.9</m:t>
                    </m:r>
                  </m:oMath>
                </a14:m>
                <a:r>
                  <a:rPr lang="en-US" dirty="0"/>
                  <a:t> and then lower it if behavior is unstable.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78B223-E1A4-8D15-DE6B-17478304B2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 t="-1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78086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8EC37-A4CF-60EC-52F4-263B55F33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7733" y="490537"/>
            <a:ext cx="5291663" cy="1628775"/>
          </a:xfrm>
        </p:spPr>
        <p:txBody>
          <a:bodyPr anchor="b">
            <a:normAutofit/>
          </a:bodyPr>
          <a:lstStyle/>
          <a:p>
            <a:r>
              <a:rPr lang="en-US" sz="4000"/>
              <a:t>What You Should Know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C226E4D-B2A2-5FFB-DA0C-C2A326D53C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252" r="23400" b="-2"/>
          <a:stretch>
            <a:fillRect/>
          </a:stretch>
        </p:blipFill>
        <p:spPr bwMode="auto">
          <a:xfrm>
            <a:off x="2" y="1587"/>
            <a:ext cx="6095999" cy="6856413"/>
          </a:xfrm>
          <a:custGeom>
            <a:avLst/>
            <a:gdLst/>
            <a:ahLst/>
            <a:cxnLst/>
            <a:rect l="l" t="t" r="r" b="b"/>
            <a:pathLst>
              <a:path w="6649908" h="6856413">
                <a:moveTo>
                  <a:pt x="0" y="0"/>
                </a:moveTo>
                <a:lnTo>
                  <a:pt x="6559859" y="0"/>
                </a:lnTo>
                <a:lnTo>
                  <a:pt x="6572145" y="79394"/>
                </a:lnTo>
                <a:cubicBezTo>
                  <a:pt x="6857782" y="2230562"/>
                  <a:pt x="6243159" y="4473353"/>
                  <a:pt x="6528796" y="6624522"/>
                </a:cubicBezTo>
                <a:lnTo>
                  <a:pt x="6564680" y="6856413"/>
                </a:lnTo>
                <a:lnTo>
                  <a:pt x="0" y="6856413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8300A3-1A0E-8AC1-6DC7-019F4BCFB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417734" y="2614612"/>
                <a:ext cx="5291663" cy="3752849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sz="1700" dirty="0"/>
                  <a:t>Eligibility traces </a:t>
                </a:r>
                <a:r>
                  <a:rPr lang="en-US" sz="1700" b="1" dirty="0"/>
                  <a:t>generalize </a:t>
                </a:r>
                <a14:m>
                  <m:oMath xmlns:m="http://schemas.openxmlformats.org/officeDocument/2006/math">
                    <m:r>
                      <a:rPr lang="en-US" sz="1700" b="1" i="1" dirty="0" smtClean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1700" b="1" dirty="0"/>
                  <a:t>-step methods</a:t>
                </a:r>
                <a:r>
                  <a:rPr lang="en-US" sz="1700" dirty="0"/>
                  <a:t>: Move between MC and one-step TD.</a:t>
                </a:r>
              </a:p>
              <a:p>
                <a:r>
                  <a:rPr lang="en-US" sz="1700" dirty="0"/>
                  <a:t>Eligibility traces are very general, often learn faster, and are </a:t>
                </a:r>
                <a:r>
                  <a:rPr lang="en-US" sz="1700" b="1" dirty="0"/>
                  <a:t>computationally efficient. </a:t>
                </a:r>
              </a:p>
              <a:p>
                <a:r>
                  <a:rPr lang="en-US" sz="1700" dirty="0"/>
                  <a:t>Since eligibility traces can move close to MC behavior, they should be used if </a:t>
                </a:r>
              </a:p>
              <a:p>
                <a:pPr lvl="1"/>
                <a:r>
                  <a:rPr lang="en-US" sz="1700" dirty="0"/>
                  <a:t>the problem is suspected to be </a:t>
                </a:r>
                <a:r>
                  <a:rPr lang="en-US" sz="1700" b="1" dirty="0"/>
                  <a:t>partially non-Markov </a:t>
                </a:r>
                <a:r>
                  <a:rPr lang="en-US" sz="1700" dirty="0"/>
                  <a:t>or </a:t>
                </a:r>
              </a:p>
              <a:p>
                <a:pPr lvl="1"/>
                <a:r>
                  <a:rPr lang="en-US" sz="1700" dirty="0"/>
                  <a:t>the </a:t>
                </a:r>
                <a:r>
                  <a:rPr lang="en-US" sz="1700" b="1" dirty="0"/>
                  <a:t>rewards</a:t>
                </a:r>
                <a:r>
                  <a:rPr lang="en-US" sz="1700" dirty="0"/>
                  <a:t> are very </a:t>
                </a:r>
                <a:r>
                  <a:rPr lang="en-US" sz="1700" b="1" dirty="0"/>
                  <a:t>delayed</a:t>
                </a:r>
                <a:r>
                  <a:rPr lang="en-US" sz="1700" dirty="0"/>
                  <a:t>.</a:t>
                </a:r>
              </a:p>
              <a:p>
                <a:r>
                  <a:rPr lang="en-US" sz="1700" dirty="0"/>
                  <a:t>Eligibility traces </a:t>
                </a:r>
                <a:r>
                  <a:rPr lang="en-US" sz="1700" b="1" dirty="0"/>
                  <a:t>can also be used to extend </a:t>
                </a:r>
                <a14:m>
                  <m:oMath xmlns:m="http://schemas.openxmlformats.org/officeDocument/2006/math">
                    <m:r>
                      <a:rPr lang="en-US" sz="1700" b="1" i="1"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en-US" sz="1700" b="1" dirty="0"/>
                  <a:t>-learning</a:t>
                </a:r>
                <a:r>
                  <a:rPr lang="en-US" sz="1700" dirty="0"/>
                  <a:t>. This leads to algorithms like Watkins’s </a:t>
                </a:r>
                <a14:m>
                  <m:oMath xmlns:m="http://schemas.openxmlformats.org/officeDocument/2006/math">
                    <m:r>
                      <a:rPr lang="en-US" sz="1700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7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700" b="0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7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700" dirty="0"/>
                  <a:t> and Tree-Backup</a:t>
                </a:r>
                <a14:m>
                  <m:oMath xmlns:m="http://schemas.openxmlformats.org/officeDocument/2006/math">
                    <m:r>
                      <a:rPr lang="en-US" sz="17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700" b="0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7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700" dirty="0"/>
                  <a:t>.</a:t>
                </a:r>
              </a:p>
              <a:p>
                <a:r>
                  <a:rPr lang="en-US" sz="1700" dirty="0"/>
                  <a:t>Non-linear approximation may lead to </a:t>
                </a:r>
                <a:r>
                  <a:rPr lang="en-US" sz="1700" b="1" dirty="0"/>
                  <a:t>stability issues</a:t>
                </a:r>
                <a:r>
                  <a:rPr lang="en-US" sz="1700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8300A3-1A0E-8AC1-6DC7-019F4BCFB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417734" y="2614612"/>
                <a:ext cx="5291663" cy="3752849"/>
              </a:xfrm>
              <a:blipFill>
                <a:blip r:embed="rId3"/>
                <a:stretch>
                  <a:fillRect l="-576" t="-16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59399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12267</TotalTime>
  <Words>1794</Words>
  <Application>Microsoft Office PowerPoint</Application>
  <PresentationFormat>Widescreen</PresentationFormat>
  <Paragraphs>183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Eligibility Traces Sutton/Barto* Chapter 12</vt:lpstr>
      <vt:lpstr>Topics of this Course</vt:lpstr>
      <vt:lpstr>Summary of Notation</vt:lpstr>
      <vt:lpstr>The λ-Return</vt:lpstr>
      <vt:lpstr>Remember Chapter 7: n-step TD Prediction</vt:lpstr>
      <vt:lpstr>Valid n-step Update Targets and Compound Updates</vt:lpstr>
      <vt:lpstr>TD(λ) and the λ-Return</vt:lpstr>
      <vt:lpstr>Exponential Weighting Scheme</vt:lpstr>
      <vt:lpstr>The Off-Line λ-Return Algorithm</vt:lpstr>
      <vt:lpstr>The Forward View Issue with  the Off-Line λ-Return Algorithm </vt:lpstr>
      <vt:lpstr>The Backward View</vt:lpstr>
      <vt:lpstr>The Backward View</vt:lpstr>
      <vt:lpstr>Eligibility Traces</vt:lpstr>
      <vt:lpstr>Semi-gradient TD(λ) for Estimation</vt:lpstr>
      <vt:lpstr>True Online TD(λ) for Estimation</vt:lpstr>
      <vt:lpstr>Control with Eligibility Traces</vt:lpstr>
      <vt:lpstr>Sarsa(λ) Control</vt:lpstr>
      <vt:lpstr>Example: Traces in a Gridworld</vt:lpstr>
      <vt:lpstr>Implementation Issues</vt:lpstr>
      <vt:lpstr>What You Should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224</cp:revision>
  <dcterms:created xsi:type="dcterms:W3CDTF">2025-09-08T14:44:49Z</dcterms:created>
  <dcterms:modified xsi:type="dcterms:W3CDTF">2026-04-01T18:22:05Z</dcterms:modified>
</cp:coreProperties>
</file>