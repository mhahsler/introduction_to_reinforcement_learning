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93" r:id="rId5"/>
    <p:sldId id="386" r:id="rId6"/>
    <p:sldId id="396" r:id="rId7"/>
    <p:sldId id="397" r:id="rId8"/>
    <p:sldId id="398" r:id="rId9"/>
    <p:sldId id="399" r:id="rId10"/>
    <p:sldId id="402" r:id="rId11"/>
    <p:sldId id="401" r:id="rId12"/>
    <p:sldId id="403" r:id="rId13"/>
    <p:sldId id="395" r:id="rId14"/>
    <p:sldId id="400" r:id="rId15"/>
    <p:sldId id="406" r:id="rId16"/>
    <p:sldId id="404" r:id="rId17"/>
    <p:sldId id="407" r:id="rId18"/>
    <p:sldId id="410" r:id="rId19"/>
    <p:sldId id="408" r:id="rId20"/>
    <p:sldId id="40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3FBBE9B2-8635-424D-824A-711EB3C57D43}">
          <p14:sldIdLst>
            <p14:sldId id="393"/>
            <p14:sldId id="386"/>
            <p14:sldId id="396"/>
            <p14:sldId id="397"/>
            <p14:sldId id="398"/>
            <p14:sldId id="399"/>
            <p14:sldId id="402"/>
            <p14:sldId id="401"/>
            <p14:sldId id="403"/>
            <p14:sldId id="395"/>
            <p14:sldId id="400"/>
            <p14:sldId id="406"/>
          </p14:sldIdLst>
        </p14:section>
        <p14:section name="Control" id="{D19960EB-A1C6-4D66-80F2-3E021135FEAC}">
          <p14:sldIdLst>
            <p14:sldId id="404"/>
            <p14:sldId id="407"/>
            <p14:sldId id="410"/>
            <p14:sldId id="408"/>
          </p14:sldIdLst>
        </p14:section>
        <p14:section name="Summary" id="{B4D006AA-B9D2-4811-B2E5-789BBF68F9DC}">
          <p14:sldIdLst>
            <p14:sldId id="4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0.png"/><Relationship Id="rId7" Type="http://schemas.openxmlformats.org/officeDocument/2006/relationships/image" Target="../media/image15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33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Eligibility Traces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1481" y="271515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b="1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362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Performing updates with compound return targets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Remember Chapter 7: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/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the whole sequence of observed rewards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/>
                  <a:t> no bootstrapping.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Brace 17">
            <a:extLst>
              <a:ext uri="{FF2B5EF4-FFF2-40B4-BE49-F238E27FC236}">
                <a16:creationId xmlns:a16="http://schemas.microsoft.com/office/drawing/2014/main" id="{E3545678-D718-8AC1-2DDE-65A2B43393C2}"/>
              </a:ext>
            </a:extLst>
          </p:cNvPr>
          <p:cNvSpPr/>
          <p:nvPr/>
        </p:nvSpPr>
        <p:spPr>
          <a:xfrm>
            <a:off x="7967513" y="1750393"/>
            <a:ext cx="199063" cy="34600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…+</m:t>
                        </m:r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 estimate.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t="-435" r="-769" b="-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30B7AFA-5070-0761-161B-A2191BB26B52}"/>
              </a:ext>
            </a:extLst>
          </p:cNvPr>
          <p:cNvSpPr txBox="1"/>
          <p:nvPr/>
        </p:nvSpPr>
        <p:spPr>
          <a:xfrm>
            <a:off x="6772386" y="5462862"/>
            <a:ext cx="2185332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Question: The implementation drops the subscript for V!</a:t>
            </a:r>
          </a:p>
        </p:txBody>
      </p:sp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Valid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Update Targets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from Chapter 7 with approximation: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  0≤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a valid update target for tabular learning and approx. SGD since it has the error reduction property.</a:t>
                </a:r>
              </a:p>
              <a:p>
                <a:endParaRPr lang="en-US" b="1" dirty="0"/>
              </a:p>
              <a:p>
                <a:r>
                  <a:rPr lang="en-US" b="1" dirty="0"/>
                  <a:t>Observation: </a:t>
                </a:r>
                <a:r>
                  <a:rPr lang="en-US" dirty="0"/>
                  <a:t>any average of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is also valid. </a:t>
                </a:r>
                <a:br>
                  <a:rPr lang="en-US" dirty="0"/>
                </a:br>
                <a:r>
                  <a:rPr lang="en-US" dirty="0"/>
                  <a:t>E.g., average 2-step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/>
                  <a:t>-step returns: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+4</m:t>
                        </m:r>
                      </m:sub>
                    </m:sSub>
                  </m:oMath>
                </a14:m>
                <a:br>
                  <a:rPr lang="en-US" dirty="0"/>
                </a:br>
                <a:r>
                  <a:rPr lang="en-US" dirty="0"/>
                  <a:t>Updating with an average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returns is called a compound update.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62280A73-E815-5EC4-E332-85E7CB4B0E14}"/>
              </a:ext>
            </a:extLst>
          </p:cNvPr>
          <p:cNvGrpSpPr/>
          <p:nvPr/>
        </p:nvGrpSpPr>
        <p:grpSpPr>
          <a:xfrm>
            <a:off x="2607084" y="2561716"/>
            <a:ext cx="5600745" cy="578738"/>
            <a:chOff x="2607084" y="2561716"/>
            <a:chExt cx="5600745" cy="578738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0838CA07-8D9C-E50E-6F8F-7B0B2A21F028}"/>
                </a:ext>
              </a:extLst>
            </p:cNvPr>
            <p:cNvSpPr/>
            <p:nvPr/>
          </p:nvSpPr>
          <p:spPr>
            <a:xfrm rot="5400000">
              <a:off x="4158423" y="1010377"/>
              <a:ext cx="209405" cy="331208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EA991AC5-8DC3-21D6-372F-530168B34C9C}"/>
                </a:ext>
              </a:extLst>
            </p:cNvPr>
            <p:cNvSpPr/>
            <p:nvPr/>
          </p:nvSpPr>
          <p:spPr>
            <a:xfrm rot="5400000">
              <a:off x="7047213" y="1610507"/>
              <a:ext cx="209405" cy="211182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/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 next rewards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C27E4-3F83-062A-3A1B-1C45AE75D4C7}"/>
                </a:ext>
              </a:extLst>
            </p:cNvPr>
            <p:cNvSpPr txBox="1"/>
            <p:nvPr/>
          </p:nvSpPr>
          <p:spPr>
            <a:xfrm>
              <a:off x="6357258" y="2771122"/>
              <a:ext cx="15893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approx. value</a:t>
              </a:r>
            </a:p>
          </p:txBody>
        </p:sp>
      </p:grp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D8340783-1B5F-1A3D-DAB9-CD0A6FA964A0}"/>
              </a:ext>
            </a:extLst>
          </p:cNvPr>
          <p:cNvSpPr/>
          <p:nvPr/>
        </p:nvSpPr>
        <p:spPr>
          <a:xfrm>
            <a:off x="9608576" y="1205016"/>
            <a:ext cx="1103086" cy="384628"/>
          </a:xfrm>
          <a:prstGeom prst="wedgeRoundRectCallout">
            <a:avLst>
              <a:gd name="adj1" fmla="val -50438"/>
              <a:gd name="adj2" fmla="val 15495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Episode termination</a:t>
            </a:r>
          </a:p>
        </p:txBody>
      </p:sp>
    </p:spTree>
    <p:extLst>
      <p:ext uri="{BB962C8B-B14F-4D97-AF65-F5344CB8AC3E}">
        <p14:creationId xmlns:p14="http://schemas.microsoft.com/office/powerpoint/2010/main" val="1355704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FA916-1D32-343A-582D-ECAC6FEC9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</p:spPr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uses a compound return called the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-return </a:t>
                </a:r>
                <a:r>
                  <a:rPr lang="en-US" dirty="0"/>
                  <a:t>as the update target: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Special cases:</a:t>
                </a:r>
              </a:p>
              <a:p>
                <a:pPr lvl="1"/>
                <a:r>
                  <a:rPr lang="en-US" b="1" dirty="0"/>
                  <a:t>TD(0)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uses only first component and is a one-step TD update.</a:t>
                </a:r>
              </a:p>
              <a:p>
                <a:pPr lvl="1"/>
                <a:r>
                  <a:rPr lang="en-US" b="1" dirty="0"/>
                  <a:t>TD(1)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uses only the last component and is a MC update.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  <a:blipFill>
                <a:blip r:embed="rId3"/>
                <a:stretch>
                  <a:fillRect l="-1777" t="-2168" r="-2863" b="-1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BAD5742-C377-3B82-A3AC-29EC678FF371}"/>
              </a:ext>
            </a:extLst>
          </p:cNvPr>
          <p:cNvGrpSpPr/>
          <p:nvPr/>
        </p:nvGrpSpPr>
        <p:grpSpPr>
          <a:xfrm>
            <a:off x="7245518" y="732971"/>
            <a:ext cx="4870635" cy="5834743"/>
            <a:chOff x="7245518" y="732971"/>
            <a:chExt cx="4870635" cy="583474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2BA8CB2-8F90-3E45-6200-8B998E60A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2632" b="-986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/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Weight fades with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sz="1600" dirty="0"/>
                    <a:t> with each step</a:t>
                  </a:r>
                </a:p>
              </p:txBody>
            </p:sp>
          </mc:Choice>
          <mc:Fallback xmlns=""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BD9B5C7-FCFF-D5C7-EA13-2E6FEC687214}"/>
                </a:ext>
              </a:extLst>
            </p:cNvPr>
            <p:cNvSpPr/>
            <p:nvPr/>
          </p:nvSpPr>
          <p:spPr>
            <a:xfrm>
              <a:off x="7467600" y="732971"/>
              <a:ext cx="4572000" cy="583474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4C434FD8-8A11-6911-301B-29866AEE6CE0}"/>
              </a:ext>
            </a:extLst>
          </p:cNvPr>
          <p:cNvSpPr/>
          <p:nvPr/>
        </p:nvSpPr>
        <p:spPr>
          <a:xfrm>
            <a:off x="7535959" y="1458491"/>
            <a:ext cx="1369771" cy="488611"/>
          </a:xfrm>
          <a:prstGeom prst="wedgeRoundRectCallout">
            <a:avLst>
              <a:gd name="adj1" fmla="val -28539"/>
              <a:gd name="adj2" fmla="val 8250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One-step TD update</a:t>
            </a:r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2F87CCE9-8FC0-3D6F-A5B8-9DC3C4AB13A2}"/>
              </a:ext>
            </a:extLst>
          </p:cNvPr>
          <p:cNvSpPr/>
          <p:nvPr/>
        </p:nvSpPr>
        <p:spPr>
          <a:xfrm>
            <a:off x="10714534" y="1656301"/>
            <a:ext cx="1216208" cy="267554"/>
          </a:xfrm>
          <a:prstGeom prst="wedgeRoundRectCallout">
            <a:avLst>
              <a:gd name="adj1" fmla="val -25937"/>
              <a:gd name="adj2" fmla="val 11952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MC update</a:t>
            </a:r>
          </a:p>
        </p:txBody>
      </p:sp>
    </p:spTree>
    <p:extLst>
      <p:ext uri="{BB962C8B-B14F-4D97-AF65-F5344CB8AC3E}">
        <p14:creationId xmlns:p14="http://schemas.microsoft.com/office/powerpoint/2010/main" val="1584353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7493F-084F-943F-45CA-5A04C19F1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056977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Exponential Weighting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C1A5070E-8687-C3E9-A4FA-E23EB5408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0942"/>
            <a:ext cx="8910169" cy="338217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504A251-7A4B-B5D1-0D08-FD48C5DDB09E}"/>
              </a:ext>
            </a:extLst>
          </p:cNvPr>
          <p:cNvGrpSpPr/>
          <p:nvPr/>
        </p:nvGrpSpPr>
        <p:grpSpPr>
          <a:xfrm>
            <a:off x="7717709" y="350727"/>
            <a:ext cx="3892174" cy="4077325"/>
            <a:chOff x="7245518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8174B41-EE6C-E138-A680-C04898DE2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4167" b="-39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9A43E5-8E1D-3156-AA65-CF4343161354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16ACD39-94C7-E93B-CFA7-78B554F7210E}"/>
              </a:ext>
            </a:extLst>
          </p:cNvPr>
          <p:cNvGrpSpPr/>
          <p:nvPr/>
        </p:nvGrpSpPr>
        <p:grpSpPr>
          <a:xfrm>
            <a:off x="3295627" y="2195680"/>
            <a:ext cx="4521408" cy="769809"/>
            <a:chOff x="2607084" y="2310989"/>
            <a:chExt cx="4521408" cy="769809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9BF4B60D-FCB5-2B25-ED94-390F8DFFBC66}"/>
                </a:ext>
              </a:extLst>
            </p:cNvPr>
            <p:cNvSpPr/>
            <p:nvPr/>
          </p:nvSpPr>
          <p:spPr>
            <a:xfrm rot="5400000">
              <a:off x="3627441" y="1541360"/>
              <a:ext cx="186529" cy="222724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BF2A84D-DF47-76B2-0747-3E42761FF1AF}"/>
                </a:ext>
              </a:extLst>
            </p:cNvPr>
            <p:cNvSpPr/>
            <p:nvPr/>
          </p:nvSpPr>
          <p:spPr>
            <a:xfrm rot="5400000">
              <a:off x="6205043" y="2098366"/>
              <a:ext cx="206761" cy="63200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/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return</a:t>
                  </a: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6349" b="-238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E8F60A7-9A6C-71A9-7242-F0B87582D6E7}"/>
                </a:ext>
              </a:extLst>
            </p:cNvPr>
            <p:cNvSpPr txBox="1"/>
            <p:nvPr/>
          </p:nvSpPr>
          <p:spPr>
            <a:xfrm>
              <a:off x="5539178" y="2563581"/>
              <a:ext cx="1589314" cy="36933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MC return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48B37684-C8C2-C840-CC19-2BA080EE3D18}"/>
              </a:ext>
            </a:extLst>
          </p:cNvPr>
          <p:cNvSpPr/>
          <p:nvPr/>
        </p:nvSpPr>
        <p:spPr>
          <a:xfrm>
            <a:off x="8027234" y="1409075"/>
            <a:ext cx="2372924" cy="2890814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04A16-EAD0-6655-A5AD-7A2BCDE89836}"/>
              </a:ext>
            </a:extLst>
          </p:cNvPr>
          <p:cNvSpPr/>
          <p:nvPr/>
        </p:nvSpPr>
        <p:spPr>
          <a:xfrm>
            <a:off x="10545580" y="1410779"/>
            <a:ext cx="916139" cy="2889110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7AB2C4-AE24-FF40-E02E-F57FC7FF3A8F}"/>
              </a:ext>
            </a:extLst>
          </p:cNvPr>
          <p:cNvSpPr/>
          <p:nvPr/>
        </p:nvSpPr>
        <p:spPr>
          <a:xfrm>
            <a:off x="5769651" y="4589471"/>
            <a:ext cx="2804723" cy="1391948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9B6BEA-7DC1-B2E5-B3DC-E8D31183EC84}"/>
              </a:ext>
            </a:extLst>
          </p:cNvPr>
          <p:cNvSpPr/>
          <p:nvPr/>
        </p:nvSpPr>
        <p:spPr>
          <a:xfrm>
            <a:off x="2144237" y="3325098"/>
            <a:ext cx="3625414" cy="2656321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77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495771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simplistic algorithm is to use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as the update target for SGD (semi-gradient descent) with approximation.</a:t>
                </a:r>
              </a:p>
              <a:p>
                <a:r>
                  <a:rPr lang="en-US" dirty="0"/>
                  <a:t>Update: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 the target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495771"/>
              </a:xfrm>
              <a:blipFill>
                <a:blip r:embed="rId3"/>
                <a:stretch>
                  <a:fillRect l="-696" t="-8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6B6541E-4F61-7898-94D2-0C6B57C3A0DC}"/>
              </a:ext>
            </a:extLst>
          </p:cNvPr>
          <p:cNvGrpSpPr/>
          <p:nvPr/>
        </p:nvGrpSpPr>
        <p:grpSpPr>
          <a:xfrm>
            <a:off x="1023079" y="3080477"/>
            <a:ext cx="9876018" cy="3107124"/>
            <a:chOff x="1199214" y="3385750"/>
            <a:chExt cx="9876018" cy="310712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C18844-D839-BB6E-0FE0-040203E5B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17561" y="3385750"/>
              <a:ext cx="7357671" cy="310712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/>
                <p:nvPr/>
              </p:nvSpPr>
              <p:spPr>
                <a:xfrm>
                  <a:off x="1199214" y="3666850"/>
                  <a:ext cx="2158583" cy="2031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Example</a:t>
                  </a:r>
                  <a:r>
                    <a:rPr lang="en-US" dirty="0"/>
                    <a:t>: 19-state random walk value estimation task.</a:t>
                  </a:r>
                  <a:br>
                    <a:rPr lang="en-US" dirty="0"/>
                  </a:br>
                  <a:br>
                    <a:rPr lang="en-US" dirty="0"/>
                  </a:br>
                  <a14:m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algorithm mimics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methods.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9214" y="3666850"/>
                  <a:ext cx="2158583" cy="2031325"/>
                </a:xfrm>
                <a:prstGeom prst="rect">
                  <a:avLst/>
                </a:prstGeom>
                <a:blipFill>
                  <a:blip r:embed="rId5"/>
                  <a:stretch>
                    <a:fillRect l="-2542" t="-1198" b="-38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01826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The Forward View Issue with </a:t>
                </a:r>
                <a:br>
                  <a:rPr lang="en-US" dirty="0"/>
                </a:br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  <a:blipFill>
                <a:blip r:embed="rId2"/>
                <a:stretch>
                  <a:fillRect l="-3093" t="-50000" b="-64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Uses the </a:t>
                </a:r>
                <a:r>
                  <a:rPr lang="en-US" b="1" dirty="0"/>
                  <a:t>“forward view.” </a:t>
                </a:r>
              </a:p>
              <a:p>
                <a:r>
                  <a:rPr lang="en-US" dirty="0"/>
                  <a:t>Updating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requires the calculation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</m:oMath>
                </a14:m>
                <a:r>
                  <a:rPr lang="en-US" dirty="0"/>
                  <a:t>, which requires all future rewards</a:t>
                </a:r>
              </a:p>
              <a:p>
                <a:r>
                  <a:rPr lang="en-US" dirty="0"/>
                  <a:t>The </a:t>
                </a:r>
                <a:r>
                  <a:rPr lang="en-US" b="1" dirty="0"/>
                  <a:t>update is delayed </a:t>
                </a:r>
                <a:r>
                  <a:rPr lang="en-US" dirty="0"/>
                  <a:t>till the whole episode is observed (like for MC).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  <a:blipFill>
                <a:blip r:embed="rId3"/>
                <a:stretch>
                  <a:fillRect l="-762" t="-7234" r="-85" b="-8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4F066E0-14B9-ED12-6A95-7A9B8E5FEA05}"/>
              </a:ext>
            </a:extLst>
          </p:cNvPr>
          <p:cNvGrpSpPr/>
          <p:nvPr/>
        </p:nvGrpSpPr>
        <p:grpSpPr>
          <a:xfrm>
            <a:off x="8098145" y="374690"/>
            <a:ext cx="3892174" cy="4077325"/>
            <a:chOff x="7318283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BF0173-A454-9854-1EB8-24853BE78A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18283" y="1739618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3306" b="-380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8FE606E-7390-123A-8006-FFCF34E5BBA2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AB6695FD-E75E-33FA-BCC4-B93D4EA61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272" y="3098780"/>
            <a:ext cx="7339461" cy="20946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/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Agent can only update the value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when it is here!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  <a:blipFill>
                <a:blip r:embed="rId7"/>
                <a:stretch>
                  <a:fillRect b="-3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512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C35685-52DA-F194-570C-066411476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7DF6FB-C5F0-A5AF-1E34-825594427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eligibility traces</a:t>
            </a:r>
          </a:p>
        </p:txBody>
      </p:sp>
    </p:spTree>
    <p:extLst>
      <p:ext uri="{BB962C8B-B14F-4D97-AF65-F5344CB8AC3E}">
        <p14:creationId xmlns:p14="http://schemas.microsoft.com/office/powerpoint/2010/main" val="3338747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33E540-9847-9C21-C9F0-CFBE8C995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79570"/>
                <a:ext cx="10515600" cy="18705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can update our current state value by looking back at the updates of previous states, then we can:</a:t>
                </a:r>
              </a:p>
              <a:p>
                <a:pPr lvl="1"/>
                <a:r>
                  <a:rPr lang="en-US" dirty="0"/>
                  <a:t>Approximate the behavior of the forward-looking Off-Line 𝜆-Return Algorithm.</a:t>
                </a:r>
              </a:p>
              <a:p>
                <a:pPr lvl="1"/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at every time step.</a:t>
                </a:r>
              </a:p>
              <a:p>
                <a:pPr lvl="1"/>
                <a:r>
                  <a:rPr lang="en-US" dirty="0"/>
                  <a:t>Computations are equally spread over time (not just the end of the episode).</a:t>
                </a:r>
              </a:p>
              <a:p>
                <a:pPr lvl="1"/>
                <a:r>
                  <a:rPr lang="en-US" dirty="0"/>
                  <a:t>Works for continuing problems with no episode structure.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79570"/>
                <a:ext cx="10515600" cy="1870525"/>
              </a:xfrm>
              <a:blipFill>
                <a:blip r:embed="rId2"/>
                <a:stretch>
                  <a:fillRect l="-1043" t="-8143" r="-1507" b="-6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AF2107B3-4130-2F4D-8348-C8D01145A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745" y="1095253"/>
            <a:ext cx="7075799" cy="31423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931218-62BE-9701-43DE-FF542624DDB6}"/>
                  </a:ext>
                </a:extLst>
              </p:cNvPr>
              <p:cNvSpPr txBox="1"/>
              <p:nvPr/>
            </p:nvSpPr>
            <p:spPr>
              <a:xfrm>
                <a:off x="6518848" y="3619087"/>
                <a:ext cx="5383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931218-62BE-9701-43DE-FF542624DD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8848" y="3619087"/>
                <a:ext cx="53839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EF2B6F-A91F-6A73-BE9B-2007F6B1995C}"/>
                  </a:ext>
                </a:extLst>
              </p:cNvPr>
              <p:cNvSpPr txBox="1"/>
              <p:nvPr/>
            </p:nvSpPr>
            <p:spPr>
              <a:xfrm>
                <a:off x="8012868" y="4053714"/>
                <a:ext cx="6164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EF2B6F-A91F-6A73-BE9B-2007F6B19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2868" y="4053714"/>
                <a:ext cx="61647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F2CEEC33-42F0-CF71-67E5-0E3B29769461}"/>
              </a:ext>
            </a:extLst>
          </p:cNvPr>
          <p:cNvGrpSpPr/>
          <p:nvPr/>
        </p:nvGrpSpPr>
        <p:grpSpPr>
          <a:xfrm>
            <a:off x="6932951" y="3768495"/>
            <a:ext cx="1079917" cy="469885"/>
            <a:chOff x="6932951" y="3768495"/>
            <a:chExt cx="1079917" cy="469885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5453FED-9076-E5A4-2B94-9A032A9FD338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6932951" y="3895685"/>
              <a:ext cx="1079917" cy="34269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FF7A9AF-DCD8-97D1-286D-51D9A1170DA3}"/>
                </a:ext>
              </a:extLst>
            </p:cNvPr>
            <p:cNvSpPr txBox="1"/>
            <p:nvPr/>
          </p:nvSpPr>
          <p:spPr>
            <a:xfrm rot="1135729">
              <a:off x="7090062" y="3768495"/>
              <a:ext cx="8899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update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8090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3B73B-EDBC-685B-D81B-51742C84C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Eligibility Traces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approximation weights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br>
                  <a:rPr lang="en-US" dirty="0">
                    <a:ea typeface="Cambria Math" panose="02040503050406030204" pitchFamily="18" charset="0"/>
                  </a:rPr>
                </a:br>
                <a:r>
                  <a:rPr lang="en-US" dirty="0"/>
                  <a:t>represent what we have learned about the value function so far = long-term memory.</a:t>
                </a:r>
              </a:p>
              <a:p>
                <a:endParaRPr lang="en-US" dirty="0"/>
              </a:p>
              <a:p>
                <a:r>
                  <a:rPr lang="en-US" b="1" dirty="0"/>
                  <a:t>Eligibility trace:</a:t>
                </a:r>
                <a:r>
                  <a:rPr lang="en-US" dirty="0"/>
                  <a:t> a vector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b="1" dirty="0"/>
                </a:br>
                <a:br>
                  <a:rPr lang="en-US" b="1" dirty="0"/>
                </a:br>
                <a:endParaRPr lang="en-US" b="1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𝛾𝜆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dirty="0"/>
                  <a:t>Each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keeps track of which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contributed to the recent state valuation.</a:t>
                </a:r>
              </a:p>
              <a:p>
                <a:r>
                  <a:rPr lang="en-US" dirty="0"/>
                  <a:t>In other words,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shows the eligibility of each component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undergo learning changes when a reinforcement event happens.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  <a:blipFill>
                <a:blip r:embed="rId2"/>
                <a:stretch>
                  <a:fillRect l="-657" t="-1859" r="-8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113900C-F2B0-BAB2-F576-3E82F4E85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165" y="1397331"/>
            <a:ext cx="5321508" cy="23632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/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The effect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r>
                  <a:rPr lang="en-US" dirty="0"/>
                  <a:t> fades with the discount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5558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Semi-gradient 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CAB6C74-2CF6-0DB5-D124-C52B90B70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743" y="1124198"/>
            <a:ext cx="8978063" cy="51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389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True Online 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237A5CC5-C193-35AF-5BA4-449015E20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70" y="1291903"/>
            <a:ext cx="7139448" cy="4124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239F2A-6304-0820-08BC-891D48A4D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4801" y="1012060"/>
            <a:ext cx="8490238" cy="58459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/>
              <p:nvPr/>
            </p:nvSpPr>
            <p:spPr>
              <a:xfrm>
                <a:off x="8696083" y="207693"/>
                <a:ext cx="3107422" cy="804367"/>
              </a:xfrm>
              <a:prstGeom prst="wedgeRoundRectCallout">
                <a:avLst>
                  <a:gd name="adj1" fmla="val -72450"/>
                  <a:gd name="adj2" fmla="val 65223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States are represented by feature vectors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algn="ctr"/>
                <a:r>
                  <a:rPr lang="en-US" dirty="0"/>
                  <a:t>Replace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083" y="207693"/>
                <a:ext cx="3107422" cy="804367"/>
              </a:xfrm>
              <a:prstGeom prst="wedgeRoundRectCallout">
                <a:avLst>
                  <a:gd name="adj1" fmla="val -72450"/>
                  <a:gd name="adj2" fmla="val 65223"/>
                  <a:gd name="adj3" fmla="val 16667"/>
                </a:avLst>
              </a:prstGeom>
              <a:blipFill>
                <a:blip r:embed="rId5"/>
                <a:stretch>
                  <a:fillRect t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029D9FF7-4D2D-22D4-59DE-BD479B2B731A}"/>
              </a:ext>
            </a:extLst>
          </p:cNvPr>
          <p:cNvSpPr/>
          <p:nvPr/>
        </p:nvSpPr>
        <p:spPr>
          <a:xfrm>
            <a:off x="959370" y="4084820"/>
            <a:ext cx="2473378" cy="88441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61AC04-88F7-8FBB-96F3-A34889C56F36}"/>
              </a:ext>
            </a:extLst>
          </p:cNvPr>
          <p:cNvSpPr/>
          <p:nvPr/>
        </p:nvSpPr>
        <p:spPr>
          <a:xfrm>
            <a:off x="4447151" y="4531909"/>
            <a:ext cx="4389551" cy="1808930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7F68F2E-0494-F06F-42FA-C54AAB8B1E64}"/>
              </a:ext>
            </a:extLst>
          </p:cNvPr>
          <p:cNvSpPr/>
          <p:nvPr/>
        </p:nvSpPr>
        <p:spPr>
          <a:xfrm>
            <a:off x="3654801" y="4594485"/>
            <a:ext cx="570297" cy="487181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2362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65CFE2-11EF-7D02-3FDF-DF2F23B9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with Eligibility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5114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  <a:blipFill>
                <a:blip r:embed="rId2"/>
                <a:stretch>
                  <a:fillRect l="-5931" t="-13710" r="-5107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DB09B-E36D-E314-1E67-84051C05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533F6E-A670-F0EF-DBDF-023F7D0C7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68" y="1286175"/>
            <a:ext cx="5781113" cy="3980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F81575-47BE-4663-72BE-0842C9C113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78" t="1084"/>
          <a:stretch>
            <a:fillRect/>
          </a:stretch>
        </p:blipFill>
        <p:spPr>
          <a:xfrm>
            <a:off x="4668473" y="717259"/>
            <a:ext cx="7160004" cy="58676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/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Estimate action values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now a </a:t>
                </a:r>
                <a:r>
                  <a:rPr lang="en-US" dirty="0" err="1"/>
                  <a:t>state+action</a:t>
                </a:r>
                <a:r>
                  <a:rPr lang="en-US" dirty="0"/>
                  <a:t> feature</a:t>
                </a: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3BAC5591-C5CA-FB5A-6450-05011CDF7B61}"/>
              </a:ext>
            </a:extLst>
          </p:cNvPr>
          <p:cNvSpPr/>
          <p:nvPr/>
        </p:nvSpPr>
        <p:spPr>
          <a:xfrm>
            <a:off x="4318405" y="3084226"/>
            <a:ext cx="584616" cy="846944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A6A645-B1CF-ABD6-F520-6924051A359B}"/>
              </a:ext>
            </a:extLst>
          </p:cNvPr>
          <p:cNvSpPr/>
          <p:nvPr/>
        </p:nvSpPr>
        <p:spPr>
          <a:xfrm>
            <a:off x="6917960" y="1142229"/>
            <a:ext cx="1446551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E7827E-E3E0-28FC-6F8D-FB4835B33733}"/>
              </a:ext>
            </a:extLst>
          </p:cNvPr>
          <p:cNvSpPr/>
          <p:nvPr/>
        </p:nvSpPr>
        <p:spPr>
          <a:xfrm>
            <a:off x="5031681" y="3249117"/>
            <a:ext cx="941900" cy="258581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5ADE33-72AD-700C-F9B7-A5BE123D8ABA}"/>
              </a:ext>
            </a:extLst>
          </p:cNvPr>
          <p:cNvSpPr/>
          <p:nvPr/>
        </p:nvSpPr>
        <p:spPr>
          <a:xfrm>
            <a:off x="6008448" y="3927423"/>
            <a:ext cx="3885059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C925954A-4BDE-42A9-CF58-FE853D5A7FB3}"/>
              </a:ext>
            </a:extLst>
          </p:cNvPr>
          <p:cNvSpPr/>
          <p:nvPr/>
        </p:nvSpPr>
        <p:spPr>
          <a:xfrm>
            <a:off x="9242683" y="4625356"/>
            <a:ext cx="2044909" cy="1010945"/>
          </a:xfrm>
          <a:prstGeom prst="wedgeRoundRectCallout">
            <a:avLst>
              <a:gd name="adj1" fmla="val -80824"/>
              <a:gd name="adj2" fmla="val -9411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On-policy learning! Needs to keep exploring</a:t>
            </a:r>
          </a:p>
        </p:txBody>
      </p:sp>
    </p:spTree>
    <p:extLst>
      <p:ext uri="{BB962C8B-B14F-4D97-AF65-F5344CB8AC3E}">
        <p14:creationId xmlns:p14="http://schemas.microsoft.com/office/powerpoint/2010/main" val="3763713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880B4-219F-341D-87D6-F012A1CB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Traces in a </a:t>
            </a:r>
            <a:r>
              <a:rPr lang="en-US" dirty="0" err="1"/>
              <a:t>Gridworld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The first panel shows the path taken by an agent in a single episode. </a:t>
                </a:r>
              </a:p>
              <a:p>
                <a:r>
                  <a:rPr lang="en-US" dirty="0"/>
                  <a:t>The initial estimated values were zero, and all rewards were zero except for a positive reward at the goal location marked by G. </a:t>
                </a:r>
              </a:p>
              <a:p>
                <a:r>
                  <a:rPr lang="en-US" dirty="0"/>
                  <a:t>The arrows in the other panels show, for various algorithms, which action-values would be increased, and by how much, upon reaching the goal.</a:t>
                </a:r>
              </a:p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updates more values and also updates values closer to the goal more. This leads to </a:t>
                </a:r>
                <a:r>
                  <a:rPr lang="en-US" b="1" dirty="0"/>
                  <a:t>faster and more robust learning.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  <a:blipFill>
                <a:blip r:embed="rId2"/>
                <a:stretch>
                  <a:fillRect l="-696" t="-5405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6627DA3-9A00-06C0-7FB1-58369FDD7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389" y="1317072"/>
            <a:ext cx="11221222" cy="253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234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35738-04FF-BD6A-6513-80B432E3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Implementation Issues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Off-policy</a:t>
                </a:r>
                <a:r>
                  <a:rPr lang="en-US" dirty="0"/>
                  <a:t>: Use importance sampling (see Chapter 7).</a:t>
                </a:r>
                <a:br>
                  <a:rPr lang="en-US" dirty="0"/>
                </a:br>
                <a:r>
                  <a:rPr lang="en-US" dirty="0"/>
                  <a:t>Note: Semi-gradient methods do not guarantee stability and may need extensions to improve stability.</a:t>
                </a:r>
              </a:p>
              <a:p>
                <a:endParaRPr lang="en-US" dirty="0"/>
              </a:p>
              <a:p>
                <a:r>
                  <a:rPr lang="en-US" dirty="0"/>
                  <a:t>Most 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are typically close to 0. Many algorithms set very small values to zero and save computation.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How to chose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dirty="0"/>
                  <a:t>: There is no clear optimal value. It depends on</a:t>
                </a:r>
              </a:p>
              <a:p>
                <a:pPr lvl="1"/>
                <a:r>
                  <a:rPr lang="en-US" dirty="0" err="1"/>
                  <a:t>Stochasticiy</a:t>
                </a:r>
                <a:r>
                  <a:rPr lang="en-US" dirty="0"/>
                  <a:t> of the environment</a:t>
                </a:r>
              </a:p>
              <a:p>
                <a:pPr lvl="1"/>
                <a:r>
                  <a:rPr lang="en-US" dirty="0"/>
                  <a:t>How sparse rewards are</a:t>
                </a:r>
              </a:p>
              <a:p>
                <a:pPr lvl="1"/>
                <a:r>
                  <a:rPr lang="en-US" dirty="0"/>
                  <a:t>The learning 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Practitioners often start with lambda equals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0.9</m:t>
                    </m:r>
                  </m:oMath>
                </a14:m>
                <a:r>
                  <a:rPr lang="en-US" dirty="0"/>
                  <a:t> and then lower it if behavior is unstable.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808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8EC37-A4CF-60EC-52F4-263B55F33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anchor="b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226E4D-B2A2-5FFB-DA0C-C2A326D53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52" r="23400" b="-2"/>
          <a:stretch>
            <a:fillRect/>
          </a:stretch>
        </p:blipFill>
        <p:spPr bwMode="auto">
          <a:xfrm>
            <a:off x="2" y="1587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17734" y="2614612"/>
                <a:ext cx="5291663" cy="3752849"/>
              </a:xfrm>
            </p:spPr>
            <p:txBody>
              <a:bodyPr>
                <a:normAutofit/>
              </a:bodyPr>
              <a:lstStyle/>
              <a:p>
                <a:r>
                  <a:rPr lang="en-US" sz="1700" dirty="0"/>
                  <a:t>Eligibility traces </a:t>
                </a:r>
                <a:r>
                  <a:rPr lang="en-US" sz="1700" b="1" dirty="0"/>
                  <a:t>generalize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700" b="1" dirty="0"/>
                  <a:t>-step methods</a:t>
                </a:r>
                <a:r>
                  <a:rPr lang="en-US" sz="1700" dirty="0"/>
                  <a:t>: Move between MC and one-step TD.</a:t>
                </a:r>
              </a:p>
              <a:p>
                <a:r>
                  <a:rPr lang="en-US" sz="1700" dirty="0"/>
                  <a:t>Eligibility traces are very general, often learn faster, and are </a:t>
                </a:r>
                <a:r>
                  <a:rPr lang="en-US" sz="1700" b="1" dirty="0"/>
                  <a:t>computationally efficient. </a:t>
                </a:r>
              </a:p>
              <a:p>
                <a:r>
                  <a:rPr lang="en-US" sz="1700" dirty="0"/>
                  <a:t>Since eligibility traces can move close to MC behavior, they should be used if </a:t>
                </a:r>
              </a:p>
              <a:p>
                <a:pPr lvl="1"/>
                <a:r>
                  <a:rPr lang="en-US" sz="1700" dirty="0"/>
                  <a:t>the problem is suspected to be </a:t>
                </a:r>
                <a:r>
                  <a:rPr lang="en-US" sz="1700" b="1" dirty="0"/>
                  <a:t>partially non-Markov </a:t>
                </a:r>
                <a:r>
                  <a:rPr lang="en-US" sz="1700" dirty="0"/>
                  <a:t>or </a:t>
                </a:r>
              </a:p>
              <a:p>
                <a:pPr lvl="1"/>
                <a:r>
                  <a:rPr lang="en-US" sz="1700" dirty="0"/>
                  <a:t>the </a:t>
                </a:r>
                <a:r>
                  <a:rPr lang="en-US" sz="1700" b="1" dirty="0"/>
                  <a:t>rewards</a:t>
                </a:r>
                <a:r>
                  <a:rPr lang="en-US" sz="1700" dirty="0"/>
                  <a:t> are very </a:t>
                </a:r>
                <a:r>
                  <a:rPr lang="en-US" sz="1700" b="1" dirty="0"/>
                  <a:t>delayed</a:t>
                </a:r>
                <a:r>
                  <a:rPr lang="en-US" sz="1700" dirty="0"/>
                  <a:t>.</a:t>
                </a:r>
              </a:p>
              <a:p>
                <a:pPr lvl="1"/>
                <a:endParaRPr lang="en-US" sz="1700" dirty="0"/>
              </a:p>
              <a:p>
                <a:r>
                  <a:rPr lang="en-US" sz="1700" dirty="0"/>
                  <a:t>Eligibility traces </a:t>
                </a:r>
                <a:r>
                  <a:rPr lang="en-US" sz="1700" b="1" dirty="0"/>
                  <a:t>can also be used to extend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700" b="1" dirty="0"/>
                  <a:t>-learning</a:t>
                </a:r>
                <a:r>
                  <a:rPr lang="en-US" sz="1700" dirty="0"/>
                  <a:t>. This leads to algorithms like Watkins’s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00" b="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700" dirty="0"/>
                  <a:t> and Tree-Backup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00" b="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7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17734" y="2614612"/>
                <a:ext cx="5291663" cy="3752849"/>
              </a:xfrm>
              <a:blipFill>
                <a:blip r:embed="rId3"/>
                <a:stretch>
                  <a:fillRect l="-576" t="-1136" b="-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5939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12072</TotalTime>
  <Words>1687</Words>
  <Application>Microsoft Office PowerPoint</Application>
  <PresentationFormat>Widescreen</PresentationFormat>
  <Paragraphs>170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Eligibility Traces Sutton/Barto* Chapter 12</vt:lpstr>
      <vt:lpstr>Topics of this Course</vt:lpstr>
      <vt:lpstr>Summary of Notation</vt:lpstr>
      <vt:lpstr>The λ-Return</vt:lpstr>
      <vt:lpstr>Remember Chapter 7: n-step TD Prediction</vt:lpstr>
      <vt:lpstr>Valid n-step Update Targets</vt:lpstr>
      <vt:lpstr>TD(λ) and the λ-Return</vt:lpstr>
      <vt:lpstr>Exponential Weighting Scheme</vt:lpstr>
      <vt:lpstr>The Off-Line λ-Return Algorithm</vt:lpstr>
      <vt:lpstr>The Forward View Issue with  the Off-Line λ-Return Algorithm </vt:lpstr>
      <vt:lpstr>The Backward View</vt:lpstr>
      <vt:lpstr>The Backward View</vt:lpstr>
      <vt:lpstr>Eligibility Traces</vt:lpstr>
      <vt:lpstr>Semi-gradient TD(λ) for Estimation</vt:lpstr>
      <vt:lpstr>True Online TD(λ) for Estimation</vt:lpstr>
      <vt:lpstr>Control with Eligibility Traces</vt:lpstr>
      <vt:lpstr>Sarsa(λ) Control</vt:lpstr>
      <vt:lpstr>Example: Traces in a Gridworld</vt:lpstr>
      <vt:lpstr>Implementation Issues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217</cp:revision>
  <dcterms:created xsi:type="dcterms:W3CDTF">2025-09-08T14:44:49Z</dcterms:created>
  <dcterms:modified xsi:type="dcterms:W3CDTF">2026-03-27T18:51:51Z</dcterms:modified>
</cp:coreProperties>
</file>