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3" r:id="rId3"/>
    <p:sldId id="478" r:id="rId4"/>
    <p:sldId id="393" r:id="rId5"/>
    <p:sldId id="386" r:id="rId6"/>
    <p:sldId id="396" r:id="rId7"/>
    <p:sldId id="397" r:id="rId8"/>
    <p:sldId id="398" r:id="rId9"/>
    <p:sldId id="399" r:id="rId10"/>
    <p:sldId id="402" r:id="rId11"/>
    <p:sldId id="401" r:id="rId12"/>
    <p:sldId id="403" r:id="rId13"/>
    <p:sldId id="395" r:id="rId14"/>
    <p:sldId id="400" r:id="rId15"/>
    <p:sldId id="406" r:id="rId16"/>
    <p:sldId id="404" r:id="rId17"/>
    <p:sldId id="407" r:id="rId18"/>
    <p:sldId id="410" r:id="rId19"/>
    <p:sldId id="408" r:id="rId20"/>
    <p:sldId id="40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ligibility Traces" id="{83286E67-F0F0-421C-8F74-7B93ABA17FBF}">
          <p14:sldIdLst>
            <p14:sldId id="256"/>
            <p14:sldId id="313"/>
            <p14:sldId id="478"/>
          </p14:sldIdLst>
        </p14:section>
        <p14:section name="Introduction" id="{3FBBE9B2-8635-424D-824A-711EB3C57D43}">
          <p14:sldIdLst>
            <p14:sldId id="393"/>
            <p14:sldId id="386"/>
            <p14:sldId id="396"/>
            <p14:sldId id="397"/>
            <p14:sldId id="398"/>
            <p14:sldId id="399"/>
            <p14:sldId id="402"/>
          </p14:sldIdLst>
        </p14:section>
        <p14:section name="Backward View and Prediction" id="{109EF36A-AEEE-47E8-BFE0-2CBDE1E96074}">
          <p14:sldIdLst>
            <p14:sldId id="401"/>
            <p14:sldId id="403"/>
            <p14:sldId id="395"/>
            <p14:sldId id="400"/>
            <p14:sldId id="406"/>
          </p14:sldIdLst>
        </p14:section>
        <p14:section name="Control" id="{D19960EB-A1C6-4D66-80F2-3E021135FEAC}">
          <p14:sldIdLst>
            <p14:sldId id="404"/>
            <p14:sldId id="407"/>
            <p14:sldId id="410"/>
            <p14:sldId id="408"/>
          </p14:sldIdLst>
        </p14:section>
        <p14:section name="Summary" id="{B4D006AA-B9D2-4811-B2E5-789BBF68F9DC}">
          <p14:sldIdLst>
            <p14:sldId id="4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32"/>
    <a:srgbClr val="196B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59" autoAdjust="0"/>
    <p:restoredTop sz="94653"/>
  </p:normalViewPr>
  <p:slideViewPr>
    <p:cSldViewPr snapToGrid="0">
      <p:cViewPr varScale="1">
        <p:scale>
          <a:sx n="74" d="100"/>
          <a:sy n="74" d="100"/>
        </p:scale>
        <p:origin x="208" y="928"/>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410.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0.png"/><Relationship Id="rId7"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9.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21.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3.png"/><Relationship Id="rId10" Type="http://schemas.openxmlformats.org/officeDocument/2006/relationships/image" Target="../media/image12.png"/><Relationship Id="rId4" Type="http://schemas.openxmlformats.org/officeDocument/2006/relationships/image" Target="../media/image27.png"/><Relationship Id="rId9"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7" Type="http://schemas.openxmlformats.org/officeDocument/2006/relationships/image" Target="../media/image360.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40.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80.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3485" y="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463968" cy="3204134"/>
          </a:xfrm>
        </p:spPr>
        <p:txBody>
          <a:bodyPr anchor="b">
            <a:noAutofit/>
          </a:bodyPr>
          <a:lstStyle/>
          <a:p>
            <a:pPr algn="l"/>
            <a:r>
              <a:rPr lang="en-US" sz="3600" dirty="0">
                <a:solidFill>
                  <a:schemeClr val="bg1"/>
                </a:solidFill>
              </a:rPr>
              <a:t>Reinforcement Learning</a:t>
            </a:r>
            <a:br>
              <a:rPr lang="en-US" sz="3600" dirty="0">
                <a:solidFill>
                  <a:schemeClr val="bg1"/>
                </a:solidFill>
              </a:rPr>
            </a:br>
            <a:br>
              <a:rPr lang="en-US" sz="3600" dirty="0">
                <a:solidFill>
                  <a:schemeClr val="bg1"/>
                </a:solidFill>
              </a:rPr>
            </a:br>
            <a:r>
              <a:rPr lang="en-US" sz="3600" dirty="0">
                <a:solidFill>
                  <a:schemeClr val="bg1"/>
                </a:solidFill>
              </a:rPr>
              <a:t>Eligibility Traces</a:t>
            </a:r>
            <a:br>
              <a:rPr lang="en-US" sz="2800" dirty="0">
                <a:solidFill>
                  <a:schemeClr val="bg1"/>
                </a:solidFill>
              </a:rPr>
            </a:br>
            <a:r>
              <a:rPr lang="en-US" sz="2000" dirty="0">
                <a:solidFill>
                  <a:schemeClr val="bg1"/>
                </a:solidFill>
              </a:rPr>
              <a:t>Sutton/Barto*</a:t>
            </a:r>
            <a:r>
              <a:rPr lang="en-US" sz="1800" dirty="0">
                <a:solidFill>
                  <a:schemeClr val="bg1"/>
                </a:solidFill>
              </a:rPr>
              <a:t> Chapter 12</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a:extLst>
              <a:ext uri="{FF2B5EF4-FFF2-40B4-BE49-F238E27FC236}">
                <a16:creationId xmlns:a16="http://schemas.microsoft.com/office/drawing/2014/main" id="{8AD28C7D-14A3-CFEB-3DEC-2E01272844F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481" y="271515"/>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2" y="4868822"/>
            <a:ext cx="4169519" cy="1443894"/>
          </a:xfrm>
        </p:spPr>
        <p:txBody>
          <a:bodyPr>
            <a:normAutofit fontScale="92500"/>
          </a:bodyPr>
          <a:lstStyle/>
          <a:p>
            <a:pPr algn="l"/>
            <a:r>
              <a:rPr lang="en-US" sz="1700" dirty="0">
                <a:solidFill>
                  <a:schemeClr val="bg1"/>
                </a:solidFill>
              </a:rPr>
              <a:t>Michael Hahsler, SMU</a:t>
            </a:r>
          </a:p>
          <a:p>
            <a:pPr algn="l"/>
            <a:r>
              <a:rPr lang="en-US" sz="1300" dirty="0">
                <a:solidFill>
                  <a:schemeClr val="bg1"/>
                </a:solidFill>
              </a:rPr>
              <a:t>With figures from Sutton/Barto*</a:t>
            </a:r>
          </a:p>
          <a:p>
            <a:pPr algn="l"/>
            <a:endParaRPr lang="en-US" sz="1300" dirty="0">
              <a:solidFill>
                <a:schemeClr val="bg1"/>
              </a:solidFill>
            </a:endParaRPr>
          </a:p>
          <a:p>
            <a:pPr algn="l"/>
            <a:r>
              <a:rPr lang="en-US" sz="1300" dirty="0">
                <a:solidFill>
                  <a:schemeClr val="bg1"/>
                </a:solidFill>
              </a:rPr>
              <a:t>*Sutton and Barto, Reinforcement Learning: An Introduction, 2</a:t>
            </a:r>
            <a:r>
              <a:rPr lang="en-US" sz="1300" baseline="30000" dirty="0">
                <a:solidFill>
                  <a:schemeClr val="bg1"/>
                </a:solidFill>
              </a:rPr>
              <a:t>nd</a:t>
            </a:r>
            <a:r>
              <a:rPr lang="en-US" sz="1300" dirty="0">
                <a:solidFill>
                  <a:schemeClr val="bg1"/>
                </a:solidFill>
              </a:rPr>
              <a:t> edition, MIT Press, Cambridge, MA, 2018</a:t>
            </a:r>
          </a:p>
        </p:txBody>
      </p:sp>
      <p:grpSp>
        <p:nvGrpSpPr>
          <p:cNvPr id="7" name="Group 6">
            <a:extLst>
              <a:ext uri="{FF2B5EF4-FFF2-40B4-BE49-F238E27FC236}">
                <a16:creationId xmlns:a16="http://schemas.microsoft.com/office/drawing/2014/main" id="{5D896AA8-AD22-FC37-BA81-9F43B070213A}"/>
              </a:ext>
              <a:ext uri="{C183D7F6-B498-43B3-948B-1728B52AA6E4}">
                <adec:decorative xmlns:adec="http://schemas.microsoft.com/office/drawing/2017/decorative" val="1"/>
              </a:ext>
            </a:extLst>
          </p:cNvPr>
          <p:cNvGrpSpPr/>
          <p:nvPr/>
        </p:nvGrpSpPr>
        <p:grpSpPr>
          <a:xfrm>
            <a:off x="10961015" y="4868822"/>
            <a:ext cx="1037459" cy="1303078"/>
            <a:chOff x="5248582" y="2401735"/>
            <a:chExt cx="1694835" cy="2054530"/>
          </a:xfrm>
        </p:grpSpPr>
        <p:pic>
          <p:nvPicPr>
            <p:cNvPr id="8" name="Picture 7">
              <a:extLst>
                <a:ext uri="{FF2B5EF4-FFF2-40B4-BE49-F238E27FC236}">
                  <a16:creationId xmlns:a16="http://schemas.microsoft.com/office/drawing/2014/main" id="{D01FE3A0-E973-B40B-8CFF-88FB30F7692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descr="QR code linking to the online course material.">
              <a:extLst>
                <a:ext uri="{FF2B5EF4-FFF2-40B4-BE49-F238E27FC236}">
                  <a16:creationId xmlns:a16="http://schemas.microsoft.com/office/drawing/2014/main" id="{D0BDFAA0-1BD7-3834-6A9A-98646B135505}"/>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85000" lnSpcReduction="20000"/>
          </a:bodyPr>
          <a:lstStyle/>
          <a:p>
            <a:r>
              <a:rPr lang="en-US" dirty="0"/>
              <a:t>Introduction to reinforcement learning</a:t>
            </a:r>
          </a:p>
          <a:p>
            <a:r>
              <a:rPr lang="en-US" dirty="0"/>
              <a:t>Markov decision processes</a:t>
            </a:r>
          </a:p>
          <a:p>
            <a:r>
              <a:rPr lang="en-US" dirty="0"/>
              <a:t>Part I: Tabular Methods</a:t>
            </a:r>
          </a:p>
          <a:p>
            <a:pPr lvl="1"/>
            <a:r>
              <a:rPr lang="en-US" dirty="0"/>
              <a:t>Dynamic programming</a:t>
            </a:r>
          </a:p>
          <a:p>
            <a:pPr lvl="1"/>
            <a:r>
              <a:rPr lang="en-US" dirty="0"/>
              <a:t>Monte Carlo methods</a:t>
            </a:r>
          </a:p>
          <a:p>
            <a:pPr lvl="1"/>
            <a:r>
              <a:rPr lang="en-US" dirty="0"/>
              <a:t>Temporal-difference learning</a:t>
            </a:r>
          </a:p>
          <a:p>
            <a:pPr lvl="1"/>
            <a:r>
              <a:rPr lang="en-US" dirty="0"/>
              <a:t>Multi-step bootstrapping</a:t>
            </a:r>
          </a:p>
          <a:p>
            <a:pPr lvl="1"/>
            <a:r>
              <a:rPr lang="en-US" dirty="0"/>
              <a:t>Planning and learning with tabular methods</a:t>
            </a:r>
          </a:p>
          <a:p>
            <a:r>
              <a:rPr lang="en-US" b="1" dirty="0"/>
              <a:t>Part II: Approximate Solution Methods</a:t>
            </a:r>
          </a:p>
          <a:p>
            <a:pPr lvl="1"/>
            <a:r>
              <a:rPr lang="en-US" dirty="0"/>
              <a:t>Prediction and Control using Approximation</a:t>
            </a:r>
          </a:p>
          <a:p>
            <a:pPr lvl="1"/>
            <a:r>
              <a:rPr lang="en-US" b="1" dirty="0"/>
              <a:t>Eligibility Traces</a:t>
            </a:r>
          </a:p>
          <a:p>
            <a:pPr lvl="1"/>
            <a:r>
              <a:rPr lang="en-US" dirty="0"/>
              <a:t>Policy Gradient Methods</a:t>
            </a:r>
          </a:p>
          <a:p>
            <a:r>
              <a:rPr lang="en-US" dirty="0"/>
              <a:t>Part III: Modern RL Methods</a:t>
            </a:r>
          </a:p>
          <a:p>
            <a:pPr lvl="1"/>
            <a:r>
              <a:rPr lang="en-US" dirty="0"/>
              <a:t>Deep Reinforcement Learning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1A2-75E3-3C9C-6C10-EE078C5AD54A}"/>
              </a:ext>
            </a:extLst>
          </p:cNvPr>
          <p:cNvSpPr>
            <a:spLocks noGrp="1"/>
          </p:cNvSpPr>
          <p:nvPr>
            <p:ph type="title"/>
          </p:nvPr>
        </p:nvSpPr>
        <p:spPr/>
        <p:txBody>
          <a:bodyPr/>
          <a:lstStyle/>
          <a:p>
            <a:r>
              <a:rPr lang="en-US" dirty="0"/>
              <a:t>Summary of Notation</a:t>
            </a:r>
          </a:p>
        </p:txBody>
      </p:sp>
      <mc:AlternateContent xmlns:mc="http://schemas.openxmlformats.org/markup-compatibility/2006" xmlns:a14="http://schemas.microsoft.com/office/drawing/2010/main">
        <mc:Choice Requires="a14">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p:nvPr/>
            </p:nvSpPr>
            <p:spPr>
              <a:xfrm>
                <a:off x="822820" y="1124198"/>
                <a:ext cx="5273179"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t>General</a:t>
                </a:r>
                <a:endParaRPr lang="en-US" sz="1200" dirty="0"/>
              </a:p>
              <a:p>
                <a14:m>
                  <m:oMath xmlns:m="http://schemas.openxmlformats.org/officeDocument/2006/math">
                    <m:r>
                      <a:rPr lang="en-US" sz="1200" i="1" dirty="0" smtClean="0">
                        <a:latin typeface="Cambria Math" panose="02040503050406030204" pitchFamily="18" charset="0"/>
                      </a:rPr>
                      <m:t>𝑋</m:t>
                    </m:r>
                  </m:oMath>
                </a14:m>
                <a:r>
                  <a:rPr lang="en-US" sz="1200" dirty="0"/>
                  <a:t>	capital letters: random variables</a:t>
                </a:r>
                <a:br>
                  <a:rPr lang="en-US" sz="1200" dirty="0"/>
                </a:b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r>
                      <a:rPr lang="en-US" sz="1200" b="0" i="1" smtClean="0">
                        <a:latin typeface="Cambria Math" panose="02040503050406030204" pitchFamily="18" charset="0"/>
                      </a:rPr>
                      <m:t>𝑝</m:t>
                    </m:r>
                  </m:oMath>
                </a14:m>
                <a:r>
                  <a:rPr lang="en-US" sz="1200" dirty="0"/>
                  <a:t>	lower-case letters: realizations of random variables </a:t>
                </a:r>
                <a:br>
                  <a:rPr lang="en-US" sz="1200" dirty="0"/>
                </a:br>
                <a:r>
                  <a:rPr lang="en-US" sz="1200" dirty="0"/>
                  <a:t>	or scalar functions</a:t>
                </a:r>
              </a:p>
              <a:p>
                <a14:m>
                  <m:oMath xmlns:m="http://schemas.openxmlformats.org/officeDocument/2006/math">
                    <m:r>
                      <a:rPr lang="en-US" sz="1200" b="1" i="1" smtClean="0">
                        <a:latin typeface="Cambria Math" panose="02040503050406030204" pitchFamily="18" charset="0"/>
                      </a:rPr>
                      <m:t>𝒘</m:t>
                    </m:r>
                  </m:oMath>
                </a14:m>
                <a:r>
                  <a:rPr lang="en-US" sz="1200" dirty="0"/>
                  <a:t> 	Bold lower-case letters: real-valued vectors </a:t>
                </a:r>
                <a:br>
                  <a:rPr lang="en-US" sz="1200" dirty="0"/>
                </a:br>
                <a:r>
                  <a:rPr lang="en-US" sz="1200" dirty="0"/>
                  <a:t>	(even if random variables)</a:t>
                </a:r>
              </a:p>
              <a:p>
                <a14:m>
                  <m:oMath xmlns:m="http://schemas.openxmlformats.org/officeDocument/2006/math">
                    <m:r>
                      <a:rPr lang="en-US" sz="1200" b="1" i="1" smtClean="0">
                        <a:latin typeface="Cambria Math" panose="02040503050406030204" pitchFamily="18" charset="0"/>
                      </a:rPr>
                      <m:t>𝑾</m:t>
                    </m:r>
                  </m:oMath>
                </a14:m>
                <a:r>
                  <a:rPr lang="en-US" sz="1200" dirty="0"/>
                  <a:t>	bold capitals: matrices</a:t>
                </a:r>
              </a:p>
              <a:p>
                <a14:m>
                  <m:oMath xmlns:m="http://schemas.openxmlformats.org/officeDocument/2006/math">
                    <m:r>
                      <a:rPr lang="en-US" sz="1200" b="0" i="1" smtClean="0">
                        <a:latin typeface="Cambria Math" panose="02040503050406030204" pitchFamily="18" charset="0"/>
                      </a:rPr>
                      <m:t>𝛼</m:t>
                    </m:r>
                  </m:oMath>
                </a14:m>
                <a:r>
                  <a:rPr lang="en-US" sz="1200" dirty="0"/>
                  <a:t>	Greek letters: parameters (vectors if in bolt)</a:t>
                </a:r>
              </a:p>
              <a:p>
                <a14:m>
                  <m:oMath xmlns:m="http://schemas.openxmlformats.org/officeDocument/2006/math">
                    <m:r>
                      <m:rPr>
                        <m:sty m:val="p"/>
                      </m:rPr>
                      <a:rPr lang="en-US" sz="1200" i="1" dirty="0">
                        <a:latin typeface="Cambria Math" panose="02040503050406030204" pitchFamily="18" charset="0"/>
                      </a:rPr>
                      <m:t>Pr</m:t>
                    </m:r>
                    <m:r>
                      <a:rPr lang="en-US" sz="1200" i="1" dirty="0">
                        <a:latin typeface="Cambria Math" panose="02040503050406030204" pitchFamily="18" charset="0"/>
                      </a:rPr>
                      <m:t>⁡{</m:t>
                    </m:r>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𝑥</m:t>
                    </m:r>
                    <m:r>
                      <a:rPr lang="en-US" sz="1200" i="1" dirty="0">
                        <a:latin typeface="Cambria Math" panose="02040503050406030204" pitchFamily="18" charset="0"/>
                      </a:rPr>
                      <m:t>}</m:t>
                    </m:r>
                  </m:oMath>
                </a14:m>
                <a:r>
                  <a:rPr lang="en-US" sz="1200" dirty="0"/>
                  <a:t>	probability that a random variable </a:t>
                </a:r>
                <a14:m>
                  <m:oMath xmlns:m="http://schemas.openxmlformats.org/officeDocument/2006/math">
                    <m:r>
                      <a:rPr lang="en-US" sz="1200" i="1" dirty="0">
                        <a:latin typeface="Cambria Math" panose="02040503050406030204" pitchFamily="18" charset="0"/>
                      </a:rPr>
                      <m:t>𝑋</m:t>
                    </m:r>
                  </m:oMath>
                </a14:m>
                <a:r>
                  <a:rPr lang="en-US" sz="1200" dirty="0"/>
                  <a:t> takes on the value </a:t>
                </a:r>
                <a14:m>
                  <m:oMath xmlns:m="http://schemas.openxmlformats.org/officeDocument/2006/math">
                    <m:r>
                      <a:rPr lang="en-US" sz="1200" i="1" dirty="0">
                        <a:latin typeface="Cambria Math" panose="02040503050406030204" pitchFamily="18" charset="0"/>
                      </a:rPr>
                      <m:t>𝑥</m:t>
                    </m:r>
                  </m:oMath>
                </a14:m>
                <a:endParaRPr lang="en-US" sz="1200" dirty="0"/>
              </a:p>
              <a:p>
                <a14:m>
                  <m:oMath xmlns:m="http://schemas.openxmlformats.org/officeDocument/2006/math">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𝑝</m:t>
                    </m:r>
                  </m:oMath>
                </a14:m>
                <a:r>
                  <a:rPr lang="en-US" sz="1200" dirty="0"/>
                  <a:t>	random variable </a:t>
                </a:r>
                <a14:m>
                  <m:oMath xmlns:m="http://schemas.openxmlformats.org/officeDocument/2006/math">
                    <m:r>
                      <a:rPr lang="en-US" sz="1200" i="1" dirty="0">
                        <a:latin typeface="Cambria Math" panose="02040503050406030204" pitchFamily="18" charset="0"/>
                      </a:rPr>
                      <m:t>𝑋</m:t>
                    </m:r>
                  </m:oMath>
                </a14:m>
                <a:r>
                  <a:rPr lang="en-US" sz="1200" dirty="0"/>
                  <a:t> selected from distribution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m:rPr>
                        <m:sty m:val="p"/>
                      </m:rPr>
                      <a:rPr lang="en-US" sz="1200">
                        <a:latin typeface="Cambria Math" panose="02040503050406030204" pitchFamily="18" charset="0"/>
                      </a:rPr>
                      <m:t>Pr</m:t>
                    </m:r>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𝑥</m:t>
                    </m:r>
                    <m:r>
                      <a:rPr lang="en-US" sz="1200" i="1">
                        <a:latin typeface="Cambria Math" panose="02040503050406030204" pitchFamily="18" charset="0"/>
                      </a:rPr>
                      <m:t>}</m:t>
                    </m:r>
                  </m:oMath>
                </a14:m>
                <a:endParaRPr lang="en-US" sz="1200" dirty="0"/>
              </a:p>
              <a:p>
                <a14:m>
                  <m:oMath xmlns:m="http://schemas.openxmlformats.org/officeDocument/2006/math">
                    <m:r>
                      <a:rPr lang="en-US" sz="1200" i="1">
                        <a:latin typeface="Cambria Math" panose="02040503050406030204" pitchFamily="18" charset="0"/>
                        <a:ea typeface="Cambria Math" panose="02040503050406030204" pitchFamily="18" charset="0"/>
                      </a:rPr>
                      <m:t>𝔼</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oMath>
                </a14:m>
                <a:r>
                  <a:rPr lang="en-US" sz="1200" dirty="0"/>
                  <a:t>	expectation of a random variable </a:t>
                </a:r>
                <a14:m>
                  <m:oMath xmlns:m="http://schemas.openxmlformats.org/officeDocument/2006/math">
                    <m:r>
                      <a:rPr lang="en-US" sz="1200" i="1" dirty="0">
                        <a:latin typeface="Cambria Math" panose="02040503050406030204" pitchFamily="18" charset="0"/>
                      </a:rPr>
                      <m:t>𝑋</m:t>
                    </m:r>
                  </m:oMath>
                </a14:m>
                <a:r>
                  <a:rPr lang="en-US" sz="1200" dirty="0"/>
                  <a:t>, i.e., </a:t>
                </a:r>
                <a14:m>
                  <m:oMath xmlns:m="http://schemas.openxmlformats.org/officeDocument/2006/math">
                    <m:r>
                      <a:rPr lang="en-US" sz="1200" i="1">
                        <a:latin typeface="Cambria Math" panose="02040503050406030204" pitchFamily="18" charset="0"/>
                        <a:ea typeface="Cambria Math" panose="02040503050406030204" pitchFamily="18" charset="0"/>
                      </a:rPr>
                      <m:t>𝔼</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𝑋</m:t>
                        </m:r>
                      </m:e>
                    </m:d>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𝑥</m:t>
                        </m:r>
                      </m:sub>
                      <m:sup/>
                      <m:e>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𝑥</m:t>
                        </m:r>
                      </m:e>
                    </m:nary>
                  </m:oMath>
                </a14:m>
                <a:endParaRPr lang="en-US" sz="1200" dirty="0">
                  <a:ea typeface="Cambria Math" panose="02040503050406030204" pitchFamily="18" charset="0"/>
                </a:endParaRPr>
              </a:p>
              <a:p>
                <a14:m>
                  <m:oMath xmlns:m="http://schemas.openxmlformats.org/officeDocument/2006/math">
                    <m:sSub>
                      <m:sSubPr>
                        <m:ctrlPr>
                          <a:rPr lang="en-US" sz="1200" dirty="0">
                            <a:latin typeface="Cambria Math" panose="02040503050406030204" pitchFamily="18" charset="0"/>
                          </a:rPr>
                        </m:ctrlPr>
                      </m:sSubPr>
                      <m:e>
                        <m:r>
                          <m:rPr>
                            <m:sty m:val="p"/>
                          </m:rPr>
                          <a:rPr lang="en-US" sz="1200" dirty="0">
                            <a:latin typeface="Cambria Math" panose="02040503050406030204" pitchFamily="18" charset="0"/>
                          </a:rPr>
                          <m:t>argmax</m:t>
                        </m:r>
                      </m:e>
                      <m:sub>
                        <m:r>
                          <m:rPr>
                            <m:sty m:val="p"/>
                          </m:rPr>
                          <a:rPr lang="en-US" sz="1200" dirty="0">
                            <a:latin typeface="Cambria Math" panose="02040503050406030204" pitchFamily="18" charset="0"/>
                          </a:rPr>
                          <m:t>a</m:t>
                        </m:r>
                      </m:sub>
                    </m:sSub>
                    <m:r>
                      <a:rPr lang="en-US" sz="1200" dirty="0">
                        <a:latin typeface="Cambria Math" panose="02040503050406030204" pitchFamily="18" charset="0"/>
                      </a:rPr>
                      <m:t> </m:t>
                    </m:r>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a value of action </a:t>
                </a:r>
                <a14:m>
                  <m:oMath xmlns:m="http://schemas.openxmlformats.org/officeDocument/2006/math">
                    <m:r>
                      <a:rPr lang="en-US" sz="1200" i="1" dirty="0">
                        <a:latin typeface="Cambria Math" panose="02040503050406030204" pitchFamily="18" charset="0"/>
                      </a:rPr>
                      <m:t>𝑎</m:t>
                    </m:r>
                  </m:oMath>
                </a14:m>
                <a:r>
                  <a:rPr lang="en-US" sz="1200" dirty="0"/>
                  <a:t> at which </a:t>
                </a:r>
                <a14:m>
                  <m:oMath xmlns:m="http://schemas.openxmlformats.org/officeDocument/2006/math">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takes its maximal value</a:t>
                </a:r>
              </a:p>
            </p:txBody>
          </p:sp>
        </mc:Choice>
        <mc:Fallback xmlns="">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a:spLocks noRot="1" noChangeAspect="1" noMove="1" noResize="1" noEditPoints="1" noAdjustHandles="1" noChangeArrowheads="1" noChangeShapeType="1" noTextEdit="1"/>
              </p:cNvSpPr>
              <p:nvPr/>
            </p:nvSpPr>
            <p:spPr>
              <a:xfrm>
                <a:off x="822820" y="1124198"/>
                <a:ext cx="5273179" cy="2308324"/>
              </a:xfrm>
              <a:prstGeom prst="rect">
                <a:avLst/>
              </a:prstGeom>
              <a:blipFill>
                <a:blip r:embed="rId3"/>
                <a:stretch>
                  <a:fillRect b="-9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p:cNvSpPr>
              <p:nvPr>
                <p:ph idx="1"/>
              </p:nvPr>
            </p:nvSpPr>
            <p:spPr>
              <a:xfrm>
                <a:off x="822819" y="3658891"/>
                <a:ext cx="5273179" cy="1902124"/>
              </a:xfrm>
            </p:spPr>
            <p:style>
              <a:lnRef idx="2">
                <a:schemeClr val="accent2"/>
              </a:lnRef>
              <a:fillRef idx="1">
                <a:schemeClr val="lt1"/>
              </a:fillRef>
              <a:effectRef idx="0">
                <a:schemeClr val="accent2"/>
              </a:effectRef>
              <a:fontRef idx="minor">
                <a:schemeClr val="dk1"/>
              </a:fontRef>
            </p:style>
            <p:txBody>
              <a:bodyPr>
                <a:spAutoFit/>
              </a:bodyPr>
              <a:lstStyle/>
              <a:p>
                <a:pPr marL="0" indent="0">
                  <a:lnSpc>
                    <a:spcPct val="100000"/>
                  </a:lnSpc>
                  <a:spcBef>
                    <a:spcPts val="0"/>
                  </a:spcBef>
                  <a:buNone/>
                </a:pPr>
                <a:r>
                  <a:rPr lang="en-US" sz="1200" b="1" dirty="0"/>
                  <a:t>Value Function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𝐺</m:t>
                        </m:r>
                      </m:e>
                      <m:sub>
                        <m:r>
                          <a:rPr lang="en-US" sz="1200" i="1" dirty="0">
                            <a:latin typeface="Cambria Math" panose="02040503050406030204" pitchFamily="18" charset="0"/>
                          </a:rPr>
                          <m:t>𝑡</m:t>
                        </m:r>
                      </m:sub>
                    </m:sSub>
                  </m:oMath>
                </a14:m>
                <a:r>
                  <a:rPr lang="en-US" sz="1200" dirty="0"/>
                  <a:t> 	return (cumulative reward) following time </a:t>
                </a:r>
                <a14:m>
                  <m:oMath xmlns:m="http://schemas.openxmlformats.org/officeDocument/2006/math">
                    <m:r>
                      <a:rPr lang="en-US" sz="1200" i="1" dirty="0">
                        <a:latin typeface="Cambria Math" panose="02040503050406030204" pitchFamily="18" charset="0"/>
                      </a:rPr>
                      <m:t>𝑡</m:t>
                    </m:r>
                  </m:oMath>
                </a14:m>
                <a:endParaRPr lang="en-US" sz="1200" dirty="0"/>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𝐺</m:t>
                        </m:r>
                      </m:e>
                      <m:sub>
                        <m:r>
                          <a:rPr lang="en-US" sz="1200" i="1" dirty="0">
                            <a:solidFill>
                              <a:schemeClr val="tx1"/>
                            </a:solidFill>
                            <a:latin typeface="Cambria Math" panose="02040503050406030204" pitchFamily="18" charset="0"/>
                          </a:rPr>
                          <m:t>𝑡</m:t>
                        </m:r>
                        <m:r>
                          <a:rPr lang="en-US" sz="1200" i="1" dirty="0">
                            <a:solidFill>
                              <a:schemeClr val="tx1"/>
                            </a:solidFill>
                            <a:latin typeface="Cambria Math" panose="02040503050406030204" pitchFamily="18" charset="0"/>
                          </a:rPr>
                          <m:t>:</m:t>
                        </m:r>
                        <m:r>
                          <a:rPr lang="en-US" sz="1200" i="1" dirty="0">
                            <a:solidFill>
                              <a:schemeClr val="tx1"/>
                            </a:solidFill>
                            <a:latin typeface="Cambria Math" panose="02040503050406030204" pitchFamily="18" charset="0"/>
                          </a:rPr>
                          <m:t>ℎ</m:t>
                        </m:r>
                      </m:sub>
                    </m:sSub>
                  </m:oMath>
                </a14:m>
                <a:r>
                  <a:rPr lang="en-US" sz="1200" dirty="0">
                    <a:solidFill>
                      <a:schemeClr val="tx1"/>
                    </a:solidFill>
                  </a:rPr>
                  <a:t>	return from </a:t>
                </a:r>
                <a14:m>
                  <m:oMath xmlns:m="http://schemas.openxmlformats.org/officeDocument/2006/math">
                    <m:r>
                      <a:rPr lang="en-US" sz="1200" i="1" dirty="0">
                        <a:solidFill>
                          <a:schemeClr val="tx1"/>
                        </a:solidFill>
                        <a:latin typeface="Cambria Math" panose="02040503050406030204" pitchFamily="18" charset="0"/>
                      </a:rPr>
                      <m:t>𝑡</m:t>
                    </m:r>
                  </m:oMath>
                </a14:m>
                <a:r>
                  <a:rPr lang="en-US" sz="1200" dirty="0">
                    <a:solidFill>
                      <a:schemeClr val="tx1"/>
                    </a:solidFill>
                  </a:rPr>
                  <a:t> to </a:t>
                </a:r>
                <a14:m>
                  <m:oMath xmlns:m="http://schemas.openxmlformats.org/officeDocument/2006/math">
                    <m:r>
                      <a:rPr lang="en-US" sz="1200" i="1" dirty="0">
                        <a:solidFill>
                          <a:schemeClr val="tx1"/>
                        </a:solidFill>
                        <a:latin typeface="Cambria Math" panose="02040503050406030204" pitchFamily="18" charset="0"/>
                      </a:rPr>
                      <m:t>ℎ</m:t>
                    </m:r>
                  </m:oMath>
                </a14:m>
                <a:r>
                  <a:rPr lang="en-US" sz="1200" dirty="0">
                    <a:solidFill>
                      <a:schemeClr val="tx1"/>
                    </a:solidFill>
                  </a:rPr>
                  <a:t> (discounted and corrected)</a:t>
                </a:r>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a:t>
                </a:r>
                <a14:m>
                  <m:oMath xmlns:m="http://schemas.openxmlformats.org/officeDocument/2006/math">
                    <m:r>
                      <a:rPr lang="en-US" sz="1200" i="1" dirty="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r>
                  <a:rPr lang="en-US" sz="1200" dirty="0"/>
                  <a:t> (expected return)</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s under the optimal policy</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endParaRPr lang="en-US" sz="1200" dirty="0"/>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the optimal policy</a:t>
                </a: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𝑉</m:t>
                    </m:r>
                    <m:r>
                      <a:rPr lang="en-US" sz="1200" i="1" dirty="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𝑉</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state-value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r>
                      <a:rPr lang="en-US" sz="1200" i="1" dirty="0">
                        <a:solidFill>
                          <a:schemeClr val="tx1"/>
                        </a:solidFill>
                        <a:latin typeface="Cambria Math" panose="02040503050406030204" pitchFamily="18" charset="0"/>
                      </a:rPr>
                      <m:t> </m:t>
                    </m:r>
                  </m:oMath>
                </a14:m>
                <a:endParaRPr lang="en-US" sz="1200" dirty="0">
                  <a:solidFill>
                    <a:schemeClr val="tx1"/>
                  </a:solidFill>
                </a:endParaRP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𝑄</m:t>
                    </m:r>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𝑄</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action-value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𝑞</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oMath>
                </a14:m>
                <a:endParaRPr lang="en-US" sz="1200" dirty="0">
                  <a:solidFill>
                    <a:schemeClr val="tx1"/>
                  </a:solidFill>
                </a:endParaRPr>
              </a:p>
            </p:txBody>
          </p:sp>
        </mc:Choice>
        <mc:Fallback xmlns="">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noRot="1" noChangeAspect="1" noMove="1" noResize="1" noEditPoints="1" noAdjustHandles="1" noChangeArrowheads="1" noChangeShapeType="1" noTextEdit="1"/>
              </p:cNvSpPr>
              <p:nvPr>
                <p:ph idx="1"/>
              </p:nvPr>
            </p:nvSpPr>
            <p:spPr>
              <a:xfrm>
                <a:off x="822819" y="3658891"/>
                <a:ext cx="5273179" cy="1902124"/>
              </a:xfrm>
              <a:blipFill>
                <a:blip r:embed="rId2"/>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p:cNvSpPr>
              <p:nvPr/>
            </p:nvSpPr>
            <p:spPr>
              <a:xfrm>
                <a:off x="6267338" y="1124198"/>
                <a:ext cx="5273179" cy="3693383"/>
              </a:xfrm>
              <a:prstGeom prst="rect">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t>MDP</a:t>
                </a:r>
              </a:p>
              <a:p>
                <a:pPr marL="0" indent="0">
                  <a:spcBef>
                    <a:spcPts val="0"/>
                  </a:spcBef>
                  <a:buNone/>
                </a:pPr>
                <a14:m>
                  <m:oMath xmlns:m="http://schemas.openxmlformats.org/officeDocument/2006/math">
                    <m:r>
                      <a:rPr lang="en-US" sz="1200" i="1" dirty="0" smtClean="0">
                        <a:latin typeface="Cambria Math" panose="02040503050406030204" pitchFamily="18" charset="0"/>
                      </a:rPr>
                      <m:t>𝑠</m:t>
                    </m:r>
                    <m:r>
                      <a:rPr lang="en-US" sz="1200" i="1" dirty="0" smtClean="0">
                        <a:latin typeface="Cambria Math" panose="02040503050406030204" pitchFamily="18" charset="0"/>
                      </a:rPr>
                      <m:t>, </m:t>
                    </m:r>
                    <m:r>
                      <a:rPr lang="en-US" sz="1200" i="1" dirty="0" smtClean="0">
                        <a:latin typeface="Cambria Math" panose="02040503050406030204" pitchFamily="18" charset="0"/>
                      </a:rPr>
                      <m:t>𝑠</m:t>
                    </m:r>
                    <m:r>
                      <a:rPr lang="en-US" sz="1200" b="0" i="1" dirty="0" smtClean="0">
                        <a:latin typeface="Cambria Math" panose="02040503050406030204" pitchFamily="18" charset="0"/>
                      </a:rPr>
                      <m:t>′</m:t>
                    </m:r>
                  </m:oMath>
                </a14:m>
                <a:r>
                  <a:rPr lang="en-US" sz="1200" dirty="0"/>
                  <a:t> 	states</a:t>
                </a:r>
              </a:p>
              <a:p>
                <a:pPr marL="0" indent="0">
                  <a:spcBef>
                    <a:spcPts val="0"/>
                  </a:spcBef>
                  <a:buNone/>
                </a:pPr>
                <a14:m>
                  <m:oMath xmlns:m="http://schemas.openxmlformats.org/officeDocument/2006/math">
                    <m:r>
                      <a:rPr lang="en-US" sz="1200" i="1" dirty="0" smtClean="0">
                        <a:latin typeface="Cambria Math" panose="02040503050406030204" pitchFamily="18" charset="0"/>
                      </a:rPr>
                      <m:t>𝑎</m:t>
                    </m:r>
                  </m:oMath>
                </a14:m>
                <a:r>
                  <a:rPr lang="en-US" sz="1200" dirty="0"/>
                  <a:t> 	an action</a:t>
                </a:r>
              </a:p>
              <a:p>
                <a:pPr marL="0" indent="0">
                  <a:spcBef>
                    <a:spcPts val="0"/>
                  </a:spcBef>
                  <a:buNone/>
                </a:pPr>
                <a14:m>
                  <m:oMath xmlns:m="http://schemas.openxmlformats.org/officeDocument/2006/math">
                    <m:r>
                      <a:rPr lang="en-US" sz="1200" i="1" dirty="0" smtClean="0">
                        <a:latin typeface="Cambria Math" panose="02040503050406030204" pitchFamily="18" charset="0"/>
                      </a:rPr>
                      <m:t>𝑟</m:t>
                    </m:r>
                  </m:oMath>
                </a14:m>
                <a:r>
                  <a:rPr lang="en-US" sz="1200" dirty="0"/>
                  <a:t> 	a reward</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𝒮</m:t>
                    </m:r>
                  </m:oMath>
                </a14:m>
                <a:r>
                  <a:rPr lang="en-US" sz="1200" dirty="0"/>
                  <a:t> 	set of all (nonterminal) states, </a:t>
                </a:r>
                <a14:m>
                  <m:oMath xmlns:m="http://schemas.openxmlformats.org/officeDocument/2006/math">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𝒮</m:t>
                        </m:r>
                      </m:e>
                      <m:sup>
                        <m:r>
                          <a:rPr lang="en-US" sz="1200" b="0" i="1" dirty="0" smtClean="0">
                            <a:latin typeface="Cambria Math" panose="02040503050406030204" pitchFamily="18" charset="0"/>
                            <a:ea typeface="Cambria Math" panose="02040503050406030204" pitchFamily="18" charset="0"/>
                          </a:rPr>
                          <m:t>+</m:t>
                        </m:r>
                      </m:sup>
                    </m:sSup>
                  </m:oMath>
                </a14:m>
                <a:r>
                  <a:rPr lang="en-US" sz="1200" dirty="0"/>
                  <a:t> are all states </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𝒜</m:t>
                    </m:r>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set of all actions available in state </a:t>
                </a:r>
                <a14:m>
                  <m:oMath xmlns:m="http://schemas.openxmlformats.org/officeDocument/2006/math">
                    <m:r>
                      <a:rPr lang="en-US" sz="1200" i="1" dirty="0" smtClean="0">
                        <a:latin typeface="Cambria Math" panose="02040503050406030204" pitchFamily="18" charset="0"/>
                      </a:rPr>
                      <m:t>𝑠</m:t>
                    </m:r>
                  </m:oMath>
                </a14:m>
                <a:endParaRPr lang="en-US" sz="1200" dirty="0"/>
              </a:p>
              <a:p>
                <a:pPr marL="0" indent="0">
                  <a:spcBef>
                    <a:spcPts val="0"/>
                  </a:spcBef>
                  <a:buNone/>
                </a:pPr>
                <a14:m>
                  <m:oMath xmlns:m="http://schemas.openxmlformats.org/officeDocument/2006/math">
                    <m:r>
                      <a:rPr lang="en-US" sz="1200" i="1">
                        <a:latin typeface="Cambria Math" panose="02040503050406030204" pitchFamily="18" charset="0"/>
                      </a:rPr>
                      <m:t>𝛾</m:t>
                    </m:r>
                  </m:oMath>
                </a14:m>
                <a:r>
                  <a:rPr lang="en-US" sz="1200" dirty="0"/>
                  <a:t> 	discount-rate parameter</a:t>
                </a: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𝑡</m:t>
                    </m:r>
                  </m:oMath>
                </a14:m>
                <a:r>
                  <a:rPr lang="en-US" sz="1200" dirty="0"/>
                  <a:t> 	discrete time step</a:t>
                </a:r>
              </a:p>
              <a:p>
                <a:pPr marL="0" indent="0">
                  <a:spcBef>
                    <a:spcPts val="0"/>
                  </a:spcBef>
                  <a:buNone/>
                </a:pPr>
                <a14:m>
                  <m:oMath xmlns:m="http://schemas.openxmlformats.org/officeDocument/2006/math">
                    <m:r>
                      <a:rPr lang="en-US" sz="1200" i="1" dirty="0" smtClean="0">
                        <a:latin typeface="Cambria Math" panose="02040503050406030204" pitchFamily="18" charset="0"/>
                      </a:rPr>
                      <m:t>𝑇</m:t>
                    </m:r>
                  </m:oMath>
                </a14:m>
                <a:r>
                  <a:rPr lang="en-US" sz="1200" dirty="0"/>
                  <a:t> 	final time step of an episode (a.k.a. horizon)</a:t>
                </a:r>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𝐴</m:t>
                        </m:r>
                      </m:e>
                      <m:sub>
                        <m:r>
                          <a:rPr lang="en-US" sz="1200" b="0" i="1" dirty="0" smtClean="0">
                            <a:latin typeface="Cambria Math" panose="02040503050406030204" pitchFamily="18" charset="0"/>
                          </a:rPr>
                          <m:t>𝑡</m:t>
                        </m:r>
                      </m:sub>
                    </m:sSub>
                  </m:oMath>
                </a14:m>
                <a:r>
                  <a:rPr lang="en-US" sz="1200" dirty="0"/>
                  <a:t> 	random variable for the action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𝑆</m:t>
                        </m:r>
                      </m:e>
                      <m:sub>
                        <m:r>
                          <a:rPr lang="en-US" sz="1200" b="0" i="1" dirty="0" smtClean="0">
                            <a:latin typeface="Cambria Math" panose="02040503050406030204" pitchFamily="18" charset="0"/>
                          </a:rPr>
                          <m:t>𝑡</m:t>
                        </m:r>
                      </m:sub>
                    </m:sSub>
                  </m:oMath>
                </a14:m>
                <a:r>
                  <a:rPr lang="en-US" sz="1200" dirty="0"/>
                  <a:t>	random variable for the state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𝑅</m:t>
                        </m:r>
                      </m:e>
                      <m:sub>
                        <m:r>
                          <a:rPr lang="en-US" sz="1200" b="0" i="1" dirty="0" smtClean="0">
                            <a:latin typeface="Cambria Math" panose="02040503050406030204" pitchFamily="18" charset="0"/>
                          </a:rPr>
                          <m:t>𝑡</m:t>
                        </m:r>
                      </m:sub>
                    </m:sSub>
                  </m:oMath>
                </a14:m>
                <a:r>
                  <a:rPr lang="en-US" sz="1200" dirty="0"/>
                  <a:t> 	random variable for the reward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r>
                          <a:rPr lang="en-US" sz="1200" b="0" i="1" dirty="0" smtClean="0">
                            <a:latin typeface="Cambria Math" panose="02040503050406030204" pitchFamily="18" charset="0"/>
                          </a:rPr>
                          <m:t>,</m:t>
                        </m:r>
                        <m:r>
                          <a:rPr lang="en-US" sz="1200" b="0" i="1" dirty="0" smtClean="0">
                            <a:latin typeface="Cambria Math" panose="02040503050406030204" pitchFamily="18" charset="0"/>
                          </a:rPr>
                          <m:t>𝑟</m:t>
                        </m:r>
                        <m:r>
                          <a:rPr lang="en-US" sz="1200" i="1" dirty="0">
                            <a:latin typeface="Cambria Math" panose="02040503050406030204" pitchFamily="18" charset="0"/>
                          </a:rPr>
                          <m:t> </m:t>
                        </m:r>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and receiving reward </a:t>
                </a:r>
                <a14:m>
                  <m:oMath xmlns:m="http://schemas.openxmlformats.org/officeDocument/2006/math">
                    <m:r>
                      <a:rPr lang="en-US" sz="1200" b="0" i="1" smtClean="0">
                        <a:latin typeface="Cambria Math" panose="02040503050406030204" pitchFamily="18" charset="0"/>
                      </a:rPr>
                      <m:t>𝑟</m:t>
                    </m:r>
                  </m:oMath>
                </a14:m>
                <a:r>
                  <a:rPr lang="en-US" sz="1200" dirty="0"/>
                  <a:t>, </a:t>
                </a:r>
                <a:br>
                  <a:rPr lang="en-US" sz="1200" dirty="0"/>
                </a:br>
                <a:r>
                  <a:rPr lang="en-US" sz="1200" dirty="0"/>
                  <a:t>	from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fom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after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b="0" dirty="0"/>
              </a:p>
              <a:p>
                <a:pPr marL="0" indent="0">
                  <a:lnSpc>
                    <a:spcPct val="100000"/>
                  </a:lnSpc>
                  <a:spcBef>
                    <a:spcPts val="0"/>
                  </a:spcBef>
                  <a:buNone/>
                </a:pPr>
                <a14:m>
                  <m:oMath xmlns:m="http://schemas.openxmlformats.org/officeDocument/2006/math">
                    <m:r>
                      <a:rPr lang="en-US" sz="1200" i="1">
                        <a:latin typeface="Cambria Math" panose="02040503050406030204" pitchFamily="18" charset="0"/>
                      </a:rPr>
                      <m:t>𝑟</m:t>
                    </m:r>
                    <m:r>
                      <a:rPr lang="en-US" sz="1200" i="1">
                        <a:latin typeface="Cambria Math" panose="02040503050406030204" pitchFamily="18" charset="0"/>
                      </a:rPr>
                      <m:t>(</m:t>
                    </m:r>
                    <m:r>
                      <a:rPr lang="en-US" sz="1200" i="1">
                        <a:latin typeface="Cambria Math" panose="02040503050406030204" pitchFamily="18" charset="0"/>
                      </a:rPr>
                      <m:t>𝑠</m:t>
                    </m:r>
                    <m:r>
                      <a:rPr lang="en-US" sz="1200" i="1">
                        <a:latin typeface="Cambria Math" panose="02040503050406030204" pitchFamily="18" charset="0"/>
                      </a:rPr>
                      <m:t>,</m:t>
                    </m:r>
                    <m:r>
                      <a:rPr lang="en-US" sz="1200" i="1">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to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m:t>
                        </m:r>
                      </m:sup>
                    </m:sSup>
                  </m:oMath>
                </a14:m>
                <a:r>
                  <a:rPr lang="en-US" sz="1200" dirty="0"/>
                  <a:t> with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i="1" dirty="0">
                  <a:latin typeface="Cambria Math" panose="02040503050406030204" pitchFamily="18" charset="0"/>
                </a:endParaRPr>
              </a:p>
              <a:p>
                <a:pPr marL="0" indent="0">
                  <a:spcBef>
                    <a:spcPts val="0"/>
                  </a:spcBef>
                  <a:buNone/>
                </a:pP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a:latin typeface="Cambria Math" panose="02040503050406030204" pitchFamily="18" charset="0"/>
                      </a:rPr>
                      <m:t>𝜋</m:t>
                    </m:r>
                    <m:r>
                      <a:rPr lang="en-US" sz="1200" i="1" dirty="0">
                        <a:latin typeface="Cambria Math" panose="02040503050406030204" pitchFamily="18" charset="0"/>
                      </a:rPr>
                      <m:t>(</m:t>
                    </m:r>
                    <m:r>
                      <a:rPr lang="en-US" sz="1200" i="1" dirty="0" err="1">
                        <a:latin typeface="Cambria Math" panose="02040503050406030204" pitchFamily="18" charset="0"/>
                      </a:rPr>
                      <m:t>𝑎</m:t>
                    </m:r>
                    <m:r>
                      <a:rPr lang="en-US" sz="1200" i="1" dirty="0" err="1">
                        <a:latin typeface="Cambria Math" panose="02040503050406030204" pitchFamily="18" charset="0"/>
                      </a:rPr>
                      <m:t>|</m:t>
                    </m:r>
                    <m:r>
                      <a:rPr lang="en-US" sz="1200" i="1" dirty="0" err="1">
                        <a:latin typeface="Cambria Math" panose="02040503050406030204" pitchFamily="18" charset="0"/>
                      </a:rPr>
                      <m:t>𝑠</m:t>
                    </m:r>
                    <m:r>
                      <a:rPr lang="en-US" sz="1200" i="1" dirty="0">
                        <a:latin typeface="Cambria Math" panose="02040503050406030204" pitchFamily="18" charset="0"/>
                      </a:rPr>
                      <m:t>)</m:t>
                    </m:r>
                  </m:oMath>
                </a14:m>
                <a:r>
                  <a:rPr lang="en-US" sz="1200" dirty="0"/>
                  <a:t>	probability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a:latin typeface="Cambria Math" panose="02040503050406030204" pitchFamily="18" charset="0"/>
                      </a:rPr>
                      <m:t>𝑠</m:t>
                    </m:r>
                  </m:oMath>
                </a14:m>
                <a:r>
                  <a:rPr lang="en-US" sz="1200" dirty="0"/>
                  <a:t> under stochastic policy </a:t>
                </a:r>
                <a14:m>
                  <m:oMath xmlns:m="http://schemas.openxmlformats.org/officeDocument/2006/math">
                    <m:r>
                      <a:rPr lang="en-US" sz="1200" i="1" dirty="0">
                        <a:latin typeface="Cambria Math" panose="02040503050406030204" pitchFamily="18" charset="0"/>
                      </a:rPr>
                      <m:t>𝜋</m:t>
                    </m:r>
                  </m:oMath>
                </a14:m>
                <a:endParaRPr lang="en-US" sz="1200" dirty="0">
                  <a:ea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𝜋</m:t>
                    </m:r>
                    <m:r>
                      <a:rPr lang="en-US" sz="1200" i="1" dirty="0" smtClean="0">
                        <a:latin typeface="Cambria Math" panose="02040503050406030204" pitchFamily="18" charset="0"/>
                      </a:rPr>
                      <m:t>(</m:t>
                    </m:r>
                    <m:r>
                      <a:rPr lang="en-US" sz="1200" i="1" dirty="0" smtClean="0">
                        <a:latin typeface="Cambria Math" panose="02040503050406030204" pitchFamily="18" charset="0"/>
                      </a:rPr>
                      <m:t>𝑠</m:t>
                    </m:r>
                    <m:r>
                      <a:rPr lang="en-US" sz="1200" i="1" dirty="0" smtClean="0">
                        <a:latin typeface="Cambria Math" panose="02040503050406030204" pitchFamily="18" charset="0"/>
                      </a:rPr>
                      <m:t>)</m:t>
                    </m:r>
                  </m:oMath>
                </a14:m>
                <a:r>
                  <a:rPr lang="en-US" sz="1200" dirty="0"/>
                  <a:t>	action taken in state </a:t>
                </a:r>
                <a14:m>
                  <m:oMath xmlns:m="http://schemas.openxmlformats.org/officeDocument/2006/math">
                    <m:r>
                      <a:rPr lang="en-US" sz="1200" i="1" dirty="0" smtClean="0">
                        <a:latin typeface="Cambria Math" panose="02040503050406030204" pitchFamily="18" charset="0"/>
                      </a:rPr>
                      <m:t>𝑠</m:t>
                    </m:r>
                  </m:oMath>
                </a14:m>
                <a:r>
                  <a:rPr lang="en-US" sz="1200" dirty="0"/>
                  <a:t> under deterministic policy </a:t>
                </a:r>
                <a14:m>
                  <m:oMath xmlns:m="http://schemas.openxmlformats.org/officeDocument/2006/math">
                    <m:r>
                      <a:rPr lang="en-US" sz="1200" b="0" i="1" dirty="0" smtClean="0">
                        <a:latin typeface="Cambria Math" panose="02040503050406030204" pitchFamily="18" charset="0"/>
                      </a:rPr>
                      <m:t>𝜋</m:t>
                    </m:r>
                  </m:oMath>
                </a14:m>
                <a:endParaRPr lang="en-US" sz="1200" dirty="0"/>
              </a:p>
            </p:txBody>
          </p:sp>
        </mc:Choice>
        <mc:Fallback xmlns="">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noRot="1" noChangeAspect="1" noMove="1" noResize="1" noEditPoints="1" noAdjustHandles="1" noChangeArrowheads="1" noChangeShapeType="1" noTextEdit="1"/>
              </p:cNvSpPr>
              <p:nvPr/>
            </p:nvSpPr>
            <p:spPr>
              <a:xfrm>
                <a:off x="6267338" y="1124198"/>
                <a:ext cx="5273179" cy="3693383"/>
              </a:xfrm>
              <a:prstGeom prst="rect">
                <a:avLst/>
              </a:prstGeom>
              <a:blipFill>
                <a:blip r:embed="rId4"/>
                <a:stretch>
                  <a:fillRect t="-328"/>
                </a:stretch>
              </a:blipFill>
            </p:spPr>
            <p:txBody>
              <a:bodyPr/>
              <a:lstStyle/>
              <a:p>
                <a:r>
                  <a:rPr lang="en-US">
                    <a:noFill/>
                  </a:rPr>
                  <a:t> </a:t>
                </a:r>
              </a:p>
            </p:txBody>
          </p:sp>
        </mc:Fallback>
      </mc:AlternateContent>
    </p:spTree>
    <p:extLst>
      <p:ext uri="{BB962C8B-B14F-4D97-AF65-F5344CB8AC3E}">
        <p14:creationId xmlns:p14="http://schemas.microsoft.com/office/powerpoint/2010/main" val="3945362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635E-AD98-14E6-86B7-6D189198F73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descr="The lambda -Return">
                <a:extLst>
                  <a:ext uri="{FF2B5EF4-FFF2-40B4-BE49-F238E27FC236}">
                    <a16:creationId xmlns:a16="http://schemas.microsoft.com/office/drawing/2014/main" id="{819E1014-11F3-5C77-4D51-18EDE91CBDDF}"/>
                  </a:ext>
                </a:extLst>
              </p:cNvPr>
              <p:cNvSpPr>
                <a:spLocks noGrp="1"/>
              </p:cNvSpPr>
              <p:nvPr>
                <p:ph type="title"/>
              </p:nvPr>
            </p:nvSpPr>
            <p:spPr/>
            <p:txBody>
              <a:bodyPr/>
              <a:lstStyle/>
              <a:p>
                <a:r>
                  <a:rPr lang="en-US" dirty="0"/>
                  <a:t>The </a:t>
                </a:r>
                <a14:m>
                  <m:oMath xmlns:m="http://schemas.openxmlformats.org/officeDocument/2006/math">
                    <m:r>
                      <a:rPr lang="en-US" i="1">
                        <a:latin typeface="Cambria Math" panose="02040503050406030204" pitchFamily="18" charset="0"/>
                      </a:rPr>
                      <m:t>𝜆</m:t>
                    </m:r>
                  </m:oMath>
                </a14:m>
                <a:r>
                  <a:rPr lang="en-US" dirty="0"/>
                  <a:t>-Return</a:t>
                </a:r>
              </a:p>
            </p:txBody>
          </p:sp>
        </mc:Choice>
        <mc:Fallback xmlns="">
          <p:sp>
            <p:nvSpPr>
              <p:cNvPr id="4" name="Title 3" descr="The lambda -Return">
                <a:extLst>
                  <a:ext uri="{FF2B5EF4-FFF2-40B4-BE49-F238E27FC236}">
                    <a16:creationId xmlns:a16="http://schemas.microsoft.com/office/drawing/2014/main" id="{819E1014-11F3-5C77-4D51-18EDE91CBDDF}"/>
                  </a:ext>
                </a:extLst>
              </p:cNvPr>
              <p:cNvSpPr>
                <a:spLocks noGrp="1" noRot="1" noChangeAspect="1" noMove="1" noResize="1" noEditPoints="1" noAdjustHandles="1" noChangeArrowheads="1" noChangeShapeType="1" noTextEdit="1"/>
              </p:cNvSpPr>
              <p:nvPr>
                <p:ph type="title"/>
              </p:nvPr>
            </p:nvSpPr>
            <p:spPr>
              <a:blipFill>
                <a:blip r:embed="rId2"/>
                <a:stretch>
                  <a:fillRect l="-3478" b="-14744"/>
                </a:stretch>
              </a:blipFill>
            </p:spPr>
            <p:txBody>
              <a:bodyPr/>
              <a:lstStyle/>
              <a:p>
                <a:r>
                  <a:rPr lang="en-US">
                    <a:noFill/>
                  </a:rPr>
                  <a:t> </a:t>
                </a:r>
              </a:p>
            </p:txBody>
          </p:sp>
        </mc:Fallback>
      </mc:AlternateContent>
      <p:sp>
        <p:nvSpPr>
          <p:cNvPr id="5" name="Text Placeholder 4">
            <a:extLst>
              <a:ext uri="{FF2B5EF4-FFF2-40B4-BE49-F238E27FC236}">
                <a16:creationId xmlns:a16="http://schemas.microsoft.com/office/drawing/2014/main" id="{8230DEA1-85A2-8128-AB1F-6A511F14B1FC}"/>
              </a:ext>
            </a:extLst>
          </p:cNvPr>
          <p:cNvSpPr>
            <a:spLocks noGrp="1"/>
          </p:cNvSpPr>
          <p:nvPr>
            <p:ph type="body" idx="1"/>
          </p:nvPr>
        </p:nvSpPr>
        <p:spPr/>
        <p:txBody>
          <a:bodyPr/>
          <a:lstStyle/>
          <a:p>
            <a:r>
              <a:rPr lang="en-US" dirty="0"/>
              <a:t>Performing updates with compound return targets</a:t>
            </a:r>
          </a:p>
        </p:txBody>
      </p:sp>
    </p:spTree>
    <p:extLst>
      <p:ext uri="{BB962C8B-B14F-4D97-AF65-F5344CB8AC3E}">
        <p14:creationId xmlns:p14="http://schemas.microsoft.com/office/powerpoint/2010/main" val="2459037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descr="Backup diagrams of n-step methods (Sutton and Barto Figure 7.1): a row of chains of alternating states (open circles) and actions (dots). 1-step TD and TD(0) goes one step; 2-step TD two steps; 3-step TD three steps; then n-step TD; and infinity-step TD and Monte Carlo runs all the way to the terminal state (a gray square). Labels: R sub t plus 1; V(S sub t plus 1); V(S sub t).">
            <a:extLst>
              <a:ext uri="{FF2B5EF4-FFF2-40B4-BE49-F238E27FC236}">
                <a16:creationId xmlns:a16="http://schemas.microsoft.com/office/drawing/2014/main" id="{E481D1FB-CB76-10B4-AAF2-565B474050E1}"/>
              </a:ext>
            </a:extLst>
          </p:cNvPr>
          <p:cNvGrpSpPr/>
          <p:nvPr/>
        </p:nvGrpSpPr>
        <p:grpSpPr>
          <a:xfrm>
            <a:off x="3318150" y="1038934"/>
            <a:ext cx="5200795" cy="4414234"/>
            <a:chOff x="3318150" y="1038934"/>
            <a:chExt cx="5200795" cy="4414234"/>
          </a:xfrm>
        </p:grpSpPr>
        <p:pic>
          <p:nvPicPr>
            <p:cNvPr id="17" name="Picture 16" descr="Backup diagrams of n-step methods (Sutton and Barto Figure 7.1): a row of chains of alternating states (open circles) and actions (dots). 1-step TD and TD(0) goes one step; 2-step TD two steps; 3-step TD three steps; then n-step TD; and infinity-step TD and Monte Carlo runs all the way to the terminal state (a gray square).">
              <a:extLst>
                <a:ext uri="{FF2B5EF4-FFF2-40B4-BE49-F238E27FC236}">
                  <a16:creationId xmlns:a16="http://schemas.microsoft.com/office/drawing/2014/main" id="{59C05D1A-35B9-726A-B9FB-4539015C1B53}"/>
                </a:ext>
              </a:extLst>
            </p:cNvPr>
            <p:cNvPicPr>
              <a:picLocks noChangeAspect="1"/>
            </p:cNvPicPr>
            <p:nvPr/>
          </p:nvPicPr>
          <p:blipFill>
            <a:blip r:embed="rId2"/>
            <a:stretch>
              <a:fillRect/>
            </a:stretch>
          </p:blipFill>
          <p:spPr>
            <a:xfrm>
              <a:off x="3318150" y="1038934"/>
              <a:ext cx="5200795" cy="4414234"/>
            </a:xfrm>
            <a:prstGeom prst="rect">
              <a:avLst/>
            </a:prstGeom>
          </p:spPr>
        </p:pic>
        <mc:AlternateContent xmlns:mc="http://schemas.openxmlformats.org/markup-compatibility/2006" xmlns:a14="http://schemas.microsoft.com/office/drawing/2010/main">
          <mc:Choice Requires="a14">
            <p:sp>
              <p:nvSpPr>
                <p:cNvPr id="22" name="TextBox 21" descr="Equation: R sub t plus 1">
                  <a:extLst>
                    <a:ext uri="{FF2B5EF4-FFF2-40B4-BE49-F238E27FC236}">
                      <a16:creationId xmlns:a16="http://schemas.microsoft.com/office/drawing/2014/main" id="{125A7302-8A22-B180-53C3-BC6CC6CD4173}"/>
                    </a:ext>
                  </a:extLst>
                </p:cNvPr>
                <p:cNvSpPr txBox="1"/>
                <p:nvPr/>
              </p:nvSpPr>
              <p:spPr>
                <a:xfrm>
                  <a:off x="3702638" y="1750393"/>
                  <a:ext cx="566687" cy="276999"/>
                </a:xfrm>
                <a:prstGeom prst="rect">
                  <a:avLst/>
                </a:prstGeom>
                <a:noFill/>
              </p:spPr>
              <p:txBody>
                <a:bodyPr wrap="square">
                  <a:spAutoFit/>
                </a:bodyPr>
                <a:lstStyle/>
                <a:p>
                  <a:pPr/>
                  <a14:m>
                    <m:oMathPara xmlns:m="http://schemas.openxmlformats.org/officeDocument/2006/math">
                      <m:o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𝑡</m:t>
                            </m:r>
                            <m:r>
                              <a:rPr lang="en-US" sz="1200" b="0" i="1" smtClean="0">
                                <a:latin typeface="Cambria Math" panose="02040503050406030204" pitchFamily="18" charset="0"/>
                              </a:rPr>
                              <m:t>+1</m:t>
                            </m:r>
                          </m:sub>
                        </m:sSub>
                      </m:oMath>
                    </m:oMathPara>
                  </a14:m>
                  <a:endParaRPr lang="en-US" dirty="0"/>
                </a:p>
              </p:txBody>
            </p:sp>
          </mc:Choice>
          <mc:Fallback xmlns="">
            <p:sp>
              <p:nvSpPr>
                <p:cNvPr id="22" name="TextBox 21" descr="Equation: R sub t plus 1">
                  <a:extLst>
                    <a:ext uri="{FF2B5EF4-FFF2-40B4-BE49-F238E27FC236}">
                      <a16:creationId xmlns:a16="http://schemas.microsoft.com/office/drawing/2014/main" id="{125A7302-8A22-B180-53C3-BC6CC6CD4173}"/>
                    </a:ext>
                  </a:extLst>
                </p:cNvPr>
                <p:cNvSpPr txBox="1">
                  <a:spLocks noRot="1" noChangeAspect="1" noMove="1" noResize="1" noEditPoints="1" noAdjustHandles="1" noChangeArrowheads="1" noChangeShapeType="1" noTextEdit="1"/>
                </p:cNvSpPr>
                <p:nvPr/>
              </p:nvSpPr>
              <p:spPr>
                <a:xfrm>
                  <a:off x="3702638" y="1750393"/>
                  <a:ext cx="566687" cy="2769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descr="Equation: V(S sub t plus 1)">
                  <a:extLst>
                    <a:ext uri="{FF2B5EF4-FFF2-40B4-BE49-F238E27FC236}">
                      <a16:creationId xmlns:a16="http://schemas.microsoft.com/office/drawing/2014/main" id="{823ACA19-7483-1ABC-2CD2-F35C437F894F}"/>
                    </a:ext>
                  </a:extLst>
                </p:cNvPr>
                <p:cNvSpPr txBox="1"/>
                <p:nvPr/>
              </p:nvSpPr>
              <p:spPr>
                <a:xfrm>
                  <a:off x="3813207" y="2286791"/>
                  <a:ext cx="566687" cy="276999"/>
                </a:xfrm>
                <a:prstGeom prst="rect">
                  <a:avLst/>
                </a:prstGeom>
                <a:noFill/>
              </p:spPr>
              <p:txBody>
                <a:bodyPr wrap="square">
                  <a:spAutoFit/>
                </a:bodyPr>
                <a:lstStyle/>
                <a:p>
                  <a:pPr/>
                  <a14:m>
                    <m:oMathPara xmlns:m="http://schemas.openxmlformats.org/officeDocument/2006/math">
                      <m:oMath>
                        <m:r>
                          <a:rPr lang="en-US" sz="1200" i="1">
                            <a:latin typeface="Cambria Math" panose="02040503050406030204" pitchFamily="18" charset="0"/>
                          </a:rPr>
                          <m:t>𝑉</m:t>
                        </m:r>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𝑡</m:t>
                            </m:r>
                            <m:r>
                              <a:rPr lang="en-US" sz="1200" i="1">
                                <a:latin typeface="Cambria Math" panose="02040503050406030204" pitchFamily="18" charset="0"/>
                              </a:rPr>
                              <m:t>+1</m:t>
                            </m:r>
                          </m:sub>
                        </m:sSub>
                        <m:r>
                          <a:rPr lang="en-US" sz="1200" i="1">
                            <a:latin typeface="Cambria Math" panose="02040503050406030204" pitchFamily="18" charset="0"/>
                          </a:rPr>
                          <m:t>)</m:t>
                        </m:r>
                      </m:oMath>
                    </m:oMathPara>
                  </a14:m>
                  <a:endParaRPr lang="en-US" dirty="0"/>
                </a:p>
              </p:txBody>
            </p:sp>
          </mc:Choice>
          <mc:Fallback xmlns="">
            <p:sp>
              <p:nvSpPr>
                <p:cNvPr id="23" name="TextBox 22" descr="Equation: V(S sub t plus 1)">
                  <a:extLst>
                    <a:ext uri="{FF2B5EF4-FFF2-40B4-BE49-F238E27FC236}">
                      <a16:creationId xmlns:a16="http://schemas.microsoft.com/office/drawing/2014/main" id="{823ACA19-7483-1ABC-2CD2-F35C437F894F}"/>
                    </a:ext>
                  </a:extLst>
                </p:cNvPr>
                <p:cNvSpPr txBox="1">
                  <a:spLocks noRot="1" noChangeAspect="1" noMove="1" noResize="1" noEditPoints="1" noAdjustHandles="1" noChangeArrowheads="1" noChangeShapeType="1" noTextEdit="1"/>
                </p:cNvSpPr>
                <p:nvPr/>
              </p:nvSpPr>
              <p:spPr>
                <a:xfrm>
                  <a:off x="3813207" y="2286791"/>
                  <a:ext cx="566687" cy="276999"/>
                </a:xfrm>
                <a:prstGeom prst="rect">
                  <a:avLst/>
                </a:prstGeom>
                <a:blipFill>
                  <a:blip r:embed="rId4"/>
                  <a:stretch>
                    <a:fillRect r="-19565"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descr="Equation: V(S sub t)">
                  <a:extLst>
                    <a:ext uri="{FF2B5EF4-FFF2-40B4-BE49-F238E27FC236}">
                      <a16:creationId xmlns:a16="http://schemas.microsoft.com/office/drawing/2014/main" id="{F9A7E01B-3795-04F8-3F68-4BF896CF1A1B}"/>
                    </a:ext>
                  </a:extLst>
                </p:cNvPr>
                <p:cNvSpPr txBox="1"/>
                <p:nvPr/>
              </p:nvSpPr>
              <p:spPr>
                <a:xfrm>
                  <a:off x="3825437" y="1566995"/>
                  <a:ext cx="566687" cy="276999"/>
                </a:xfrm>
                <a:prstGeom prst="rect">
                  <a:avLst/>
                </a:prstGeom>
                <a:noFill/>
              </p:spPr>
              <p:txBody>
                <a:bodyPr wrap="square">
                  <a:spAutoFit/>
                </a:bodyPr>
                <a:lstStyle/>
                <a:p>
                  <a:pPr/>
                  <a14:m>
                    <m:oMathPara xmlns:m="http://schemas.openxmlformats.org/officeDocument/2006/math">
                      <m:oMath>
                        <m:r>
                          <a:rPr lang="en-US" sz="1200" i="1" smtClean="0">
                            <a:latin typeface="Cambria Math" panose="02040503050406030204" pitchFamily="18" charset="0"/>
                          </a:rPr>
                          <m:t>𝑉</m:t>
                        </m:r>
                        <m:r>
                          <a:rPr lang="en-US" sz="120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𝑡</m:t>
                            </m:r>
                          </m:sub>
                        </m:sSub>
                        <m:r>
                          <a:rPr lang="en-US" sz="1200" i="1">
                            <a:latin typeface="Cambria Math" panose="02040503050406030204" pitchFamily="18" charset="0"/>
                          </a:rPr>
                          <m:t>)</m:t>
                        </m:r>
                      </m:oMath>
                    </m:oMathPara>
                  </a14:m>
                  <a:endParaRPr lang="en-US" dirty="0"/>
                </a:p>
              </p:txBody>
            </p:sp>
          </mc:Choice>
          <mc:Fallback xmlns="">
            <p:sp>
              <p:nvSpPr>
                <p:cNvPr id="28" name="TextBox 27" descr="Equation: V(S sub t)">
                  <a:extLst>
                    <a:ext uri="{FF2B5EF4-FFF2-40B4-BE49-F238E27FC236}">
                      <a16:creationId xmlns:a16="http://schemas.microsoft.com/office/drawing/2014/main" id="{F9A7E01B-3795-04F8-3F68-4BF896CF1A1B}"/>
                    </a:ext>
                  </a:extLst>
                </p:cNvPr>
                <p:cNvSpPr txBox="1">
                  <a:spLocks noRot="1" noChangeAspect="1" noMove="1" noResize="1" noEditPoints="1" noAdjustHandles="1" noChangeArrowheads="1" noChangeShapeType="1" noTextEdit="1"/>
                </p:cNvSpPr>
                <p:nvPr/>
              </p:nvSpPr>
              <p:spPr>
                <a:xfrm>
                  <a:off x="3825437" y="1566995"/>
                  <a:ext cx="566687" cy="276999"/>
                </a:xfrm>
                <a:prstGeom prst="rect">
                  <a:avLst/>
                </a:prstGeom>
                <a:blipFill>
                  <a:blip r:embed="rId5"/>
                  <a:stretch>
                    <a:fillRect b="-888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 name="Title 1" descr="Remember Chapter 7: n -step TD Prediction">
                <a:extLst>
                  <a:ext uri="{FF2B5EF4-FFF2-40B4-BE49-F238E27FC236}">
                    <a16:creationId xmlns:a16="http://schemas.microsoft.com/office/drawing/2014/main" id="{AD3C032F-6175-705F-FE89-1EF9E650E71F}"/>
                  </a:ext>
                </a:extLst>
              </p:cNvPr>
              <p:cNvSpPr>
                <a:spLocks noGrp="1"/>
              </p:cNvSpPr>
              <p:nvPr>
                <p:ph type="title"/>
              </p:nvPr>
            </p:nvSpPr>
            <p:spPr/>
            <p:txBody>
              <a:bodyPr/>
              <a:lstStyle/>
              <a:p>
                <a:r>
                  <a:rPr lang="en-US" dirty="0"/>
                  <a:t>Remember Chapter 7: </a:t>
                </a:r>
                <a14:m>
                  <m:oMath xmlns:m="http://schemas.openxmlformats.org/officeDocument/2006/math">
                    <m:r>
                      <a:rPr lang="en-US" i="1" dirty="0">
                        <a:latin typeface="Cambria Math" panose="02040503050406030204" pitchFamily="18" charset="0"/>
                      </a:rPr>
                      <m:t>𝑛</m:t>
                    </m:r>
                  </m:oMath>
                </a14:m>
                <a:r>
                  <a:rPr lang="en-US" dirty="0"/>
                  <a:t>-step TD Prediction</a:t>
                </a:r>
              </a:p>
            </p:txBody>
          </p:sp>
        </mc:Choice>
        <mc:Fallback xmlns="">
          <p:sp>
            <p:nvSpPr>
              <p:cNvPr id="2" name="Title 1" descr="Remember Chapter 7: n -step TD Prediction">
                <a:extLst>
                  <a:ext uri="{FF2B5EF4-FFF2-40B4-BE49-F238E27FC236}">
                    <a16:creationId xmlns:a16="http://schemas.microsoft.com/office/drawing/2014/main" id="{AD3C032F-6175-705F-FE89-1EF9E650E71F}"/>
                  </a:ext>
                </a:extLst>
              </p:cNvPr>
              <p:cNvSpPr>
                <a:spLocks noGrp="1" noRot="1" noChangeAspect="1" noMove="1" noResize="1" noEditPoints="1" noAdjustHandles="1" noChangeArrowheads="1" noChangeShapeType="1" noTextEdit="1"/>
              </p:cNvSpPr>
              <p:nvPr>
                <p:ph type="title"/>
              </p:nvPr>
            </p:nvSpPr>
            <p:spPr>
              <a:blipFill>
                <a:blip r:embed="rId6"/>
                <a:stretch>
                  <a:fillRect l="-2377" t="-20161" b="-354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Speech Bubble: Rectangle with Corners Rounded 13" descr="Update target is the reward R sub t plus 1 + bootstrap the remaining return by the value of the next state V(S sub t plus 1)">
                <a:extLst>
                  <a:ext uri="{FF2B5EF4-FFF2-40B4-BE49-F238E27FC236}">
                    <a16:creationId xmlns:a16="http://schemas.microsoft.com/office/drawing/2014/main" id="{E5A035D4-82B1-F750-0FDC-9E3D1661FF92}"/>
                  </a:ext>
                </a:extLst>
              </p:cNvPr>
              <p:cNvSpPr/>
              <p:nvPr/>
            </p:nvSpPr>
            <p:spPr>
              <a:xfrm>
                <a:off x="754287" y="1755096"/>
                <a:ext cx="2157589" cy="1130593"/>
              </a:xfrm>
              <a:prstGeom prst="wedgeRoundRectCallout">
                <a:avLst>
                  <a:gd name="adj1" fmla="val 84571"/>
                  <a:gd name="adj2" fmla="val -2248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Update target is the reward </a:t>
                </a: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𝑅</m:t>
                        </m:r>
                      </m:e>
                      <m:sub>
                        <m:r>
                          <a:rPr lang="en-US" sz="1400" b="0" i="1" smtClean="0">
                            <a:latin typeface="Cambria Math" panose="02040503050406030204" pitchFamily="18" charset="0"/>
                          </a:rPr>
                          <m:t>𝑡</m:t>
                        </m:r>
                        <m:r>
                          <a:rPr lang="en-US" sz="1400" b="0" i="1" smtClean="0">
                            <a:latin typeface="Cambria Math" panose="02040503050406030204" pitchFamily="18" charset="0"/>
                          </a:rPr>
                          <m:t>+1</m:t>
                        </m:r>
                      </m:sub>
                    </m:sSub>
                  </m:oMath>
                </a14:m>
                <a:r>
                  <a:rPr lang="en-US" sz="1400" dirty="0"/>
                  <a:t> + bootstrap the remaining return by the value of the next state </a:t>
                </a:r>
                <a14:m>
                  <m:oMath xmlns:m="http://schemas.openxmlformats.org/officeDocument/2006/math">
                    <m:r>
                      <a:rPr lang="en-US" sz="1400" b="0" i="1" smtClean="0">
                        <a:latin typeface="Cambria Math" panose="02040503050406030204" pitchFamily="18" charset="0"/>
                      </a:rPr>
                      <m:t>𝑉</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𝑆</m:t>
                        </m:r>
                      </m:e>
                      <m:sub>
                        <m:r>
                          <a:rPr lang="en-US" sz="1400" b="0" i="1" smtClean="0">
                            <a:latin typeface="Cambria Math" panose="02040503050406030204" pitchFamily="18" charset="0"/>
                          </a:rPr>
                          <m:t>𝑡</m:t>
                        </m:r>
                        <m:r>
                          <a:rPr lang="en-US" sz="1400" b="0" i="1" smtClean="0">
                            <a:latin typeface="Cambria Math" panose="02040503050406030204" pitchFamily="18" charset="0"/>
                          </a:rPr>
                          <m:t>+1</m:t>
                        </m:r>
                      </m:sub>
                    </m:sSub>
                    <m:r>
                      <a:rPr lang="en-US" sz="1400" b="0" i="1" smtClean="0">
                        <a:latin typeface="Cambria Math" panose="02040503050406030204" pitchFamily="18" charset="0"/>
                      </a:rPr>
                      <m:t>)</m:t>
                    </m:r>
                  </m:oMath>
                </a14:m>
                <a:r>
                  <a:rPr lang="en-US" sz="1400" dirty="0"/>
                  <a:t>.</a:t>
                </a:r>
              </a:p>
            </p:txBody>
          </p:sp>
        </mc:Choice>
        <mc:Fallback xmlns="">
          <p:sp>
            <p:nvSpPr>
              <p:cNvPr id="14" name="Speech Bubble: Rectangle with Corners Rounded 13" descr="Update target is the reward R sub t plus 1 + bootstrap the remaining return by the value of the next state V(S sub t plus 1)">
                <a:extLst>
                  <a:ext uri="{FF2B5EF4-FFF2-40B4-BE49-F238E27FC236}">
                    <a16:creationId xmlns:a16="http://schemas.microsoft.com/office/drawing/2014/main" id="{E5A035D4-82B1-F750-0FDC-9E3D1661FF92}"/>
                  </a:ext>
                </a:extLst>
              </p:cNvPr>
              <p:cNvSpPr>
                <a:spLocks noRot="1" noChangeAspect="1" noMove="1" noResize="1" noEditPoints="1" noAdjustHandles="1" noChangeArrowheads="1" noChangeShapeType="1" noTextEdit="1"/>
              </p:cNvSpPr>
              <p:nvPr/>
            </p:nvSpPr>
            <p:spPr>
              <a:xfrm>
                <a:off x="754287" y="1755096"/>
                <a:ext cx="2157589" cy="1130593"/>
              </a:xfrm>
              <a:prstGeom prst="wedgeRoundRectCallout">
                <a:avLst>
                  <a:gd name="adj1" fmla="val 84571"/>
                  <a:gd name="adj2" fmla="val -22481"/>
                  <a:gd name="adj3" fmla="val 16667"/>
                </a:avLst>
              </a:prstGeom>
              <a:blipFill>
                <a:blip r:embed="rId7"/>
                <a:stretch>
                  <a:fillRect t="-1596" b="-58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Speech Bubble: Rectangle with Corners Rounded 14" descr="Update with the whole sequence of observed rewards to no bootstrapping">
                <a:extLst>
                  <a:ext uri="{FF2B5EF4-FFF2-40B4-BE49-F238E27FC236}">
                    <a16:creationId xmlns:a16="http://schemas.microsoft.com/office/drawing/2014/main" id="{28550480-EEED-F900-3E4A-FF07C3F8AB94}"/>
                  </a:ext>
                </a:extLst>
              </p:cNvPr>
              <p:cNvSpPr/>
              <p:nvPr/>
            </p:nvSpPr>
            <p:spPr>
              <a:xfrm>
                <a:off x="8721949" y="2299895"/>
                <a:ext cx="2536077" cy="894587"/>
              </a:xfrm>
              <a:prstGeom prst="wedgeRoundRectCallout">
                <a:avLst>
                  <a:gd name="adj1" fmla="val -68504"/>
                  <a:gd name="adj2" fmla="val 7971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Update with the whole sequence of observed rewards </a:t>
                </a:r>
                <a14:m>
                  <m:oMath xmlns:m="http://schemas.openxmlformats.org/officeDocument/2006/math">
                    <m:r>
                      <a:rPr lang="en-US" sz="1400" b="0" i="1" smtClean="0">
                        <a:latin typeface="Cambria Math" panose="02040503050406030204" pitchFamily="18" charset="0"/>
                      </a:rPr>
                      <m:t>→</m:t>
                    </m:r>
                  </m:oMath>
                </a14:m>
                <a:r>
                  <a:rPr lang="en-US" sz="1400" dirty="0"/>
                  <a:t> no bootstrapping.</a:t>
                </a:r>
              </a:p>
            </p:txBody>
          </p:sp>
        </mc:Choice>
        <mc:Fallback xmlns="">
          <p:sp>
            <p:nvSpPr>
              <p:cNvPr id="15" name="Speech Bubble: Rectangle with Corners Rounded 14" descr="Update with the whole sequence of observed rewards to no bootstrapping">
                <a:extLst>
                  <a:ext uri="{FF2B5EF4-FFF2-40B4-BE49-F238E27FC236}">
                    <a16:creationId xmlns:a16="http://schemas.microsoft.com/office/drawing/2014/main" id="{28550480-EEED-F900-3E4A-FF07C3F8AB94}"/>
                  </a:ext>
                </a:extLst>
              </p:cNvPr>
              <p:cNvSpPr>
                <a:spLocks noRot="1" noChangeAspect="1" noMove="1" noResize="1" noEditPoints="1" noAdjustHandles="1" noChangeArrowheads="1" noChangeShapeType="1" noTextEdit="1"/>
              </p:cNvSpPr>
              <p:nvPr/>
            </p:nvSpPr>
            <p:spPr>
              <a:xfrm>
                <a:off x="8721949" y="2299895"/>
                <a:ext cx="2536077" cy="894587"/>
              </a:xfrm>
              <a:prstGeom prst="wedgeRoundRectCallout">
                <a:avLst>
                  <a:gd name="adj1" fmla="val -68504"/>
                  <a:gd name="adj2" fmla="val 79718"/>
                  <a:gd name="adj3" fmla="val 16667"/>
                </a:avLst>
              </a:prstGeom>
              <a:blipFill>
                <a:blip r:embed="rId8"/>
                <a:stretch>
                  <a:fillRect/>
                </a:stretch>
              </a:blipFill>
            </p:spPr>
            <p:txBody>
              <a:bodyPr/>
              <a:lstStyle/>
              <a:p>
                <a:r>
                  <a:rPr lang="en-US">
                    <a:noFill/>
                  </a:rPr>
                  <a:t> </a:t>
                </a:r>
              </a:p>
            </p:txBody>
          </p:sp>
        </mc:Fallback>
      </mc:AlternateContent>
      <p:sp>
        <p:nvSpPr>
          <p:cNvPr id="18" name="Right Brace 17">
            <a:extLst>
              <a:ext uri="{FF2B5EF4-FFF2-40B4-BE49-F238E27FC236}">
                <a16:creationId xmlns:a16="http://schemas.microsoft.com/office/drawing/2014/main" id="{E3545678-D718-8AC1-2DDE-65A2B43393C2}"/>
              </a:ext>
              <a:ext uri="{C183D7F6-B498-43B3-948B-1728B52AA6E4}">
                <adec:decorative xmlns:adec="http://schemas.microsoft.com/office/drawing/2017/decorative" val="1"/>
              </a:ext>
            </a:extLst>
          </p:cNvPr>
          <p:cNvSpPr/>
          <p:nvPr/>
        </p:nvSpPr>
        <p:spPr>
          <a:xfrm>
            <a:off x="7967513" y="1750393"/>
            <a:ext cx="199063" cy="346007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TextBox 23" descr="Return. 1-step TD: G sub t:t plus 1, equals R sub t plus 1, plus gamma V sub t (S sub t plus 1). 2-step TD: G sub t:t plus 2, equals R sub t plus 1, plus gamma R sub t plus 2, plus gamma squared V sub t plus 1, (S sub t plus 2). …. n -step TD: G sub t:t plus n, equals R sub t plus 1, plus gamma R sub t plus 2, plus dot dot dot plus gamma to the power n minus 1, R sub t plus n, plus gamma to the power n V sub t plus n minus 1, (S sub t plus n). MC: G sub t equals R sub t plus 1, plus gamma R sub t plus 2, plus dot dot dot plus gamma to the power T minus t minus 1, R sub T. Update: V (S sub t) gets V (S sub t) plus alpha [G sub t:t plus n, minus V(S sub t)]">
                <a:extLst>
                  <a:ext uri="{FF2B5EF4-FFF2-40B4-BE49-F238E27FC236}">
                    <a16:creationId xmlns:a16="http://schemas.microsoft.com/office/drawing/2014/main" id="{E90DE811-595E-8CBB-4AEB-304DB735AFA9}"/>
                  </a:ext>
                </a:extLst>
              </p:cNvPr>
              <p:cNvSpPr txBox="1"/>
              <p:nvPr/>
            </p:nvSpPr>
            <p:spPr>
              <a:xfrm>
                <a:off x="637041" y="3868550"/>
                <a:ext cx="6376791" cy="2062103"/>
              </a:xfrm>
              <a:prstGeom prst="rect">
                <a:avLst/>
              </a:prstGeom>
              <a:noFill/>
            </p:spPr>
            <p:txBody>
              <a:bodyPr wrap="square" rtlCol="0">
                <a:spAutoFit/>
              </a:bodyPr>
              <a:lstStyle/>
              <a:p>
                <a:r>
                  <a:rPr lang="en-US" sz="1600" b="1" dirty="0"/>
                  <a:t>Return</a:t>
                </a:r>
              </a:p>
              <a:p>
                <a:r>
                  <a:rPr lang="en-US" sz="1600" b="0" dirty="0"/>
                  <a:t>1-step TD: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𝐺</m:t>
                        </m:r>
                      </m:e>
                      <m:sub>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r>
                      <a:rPr lang="en-US" sz="1600" b="0" i="1" smtClean="0">
                        <a:latin typeface="Cambria Math" panose="02040503050406030204" pitchFamily="18" charset="0"/>
                      </a:rPr>
                      <m:t>𝛾</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oMath>
                </a14:m>
                <a:endParaRPr lang="en-US" sz="1600" dirty="0"/>
              </a:p>
              <a:p>
                <a:r>
                  <a:rPr lang="en-US" sz="1600" dirty="0"/>
                  <a:t>2-step TD: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𝐺</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+2</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m:t>
                    </m:r>
                    <m:r>
                      <a:rPr lang="en-US" sz="1600" i="1">
                        <a:latin typeface="Cambria Math" panose="02040503050406030204" pitchFamily="18" charset="0"/>
                      </a:rPr>
                      <m:t>𝛾</m:t>
                    </m:r>
                    <m:sSub>
                      <m:sSubPr>
                        <m:ctrlPr>
                          <a:rPr lang="en-US" sz="1600" b="0" i="1" smtClean="0">
                            <a:latin typeface="Cambria Math" panose="02040503050406030204" pitchFamily="18" charset="0"/>
                          </a:rPr>
                        </m:ctrlPr>
                      </m:sSub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𝑡</m:t>
                            </m:r>
                            <m:r>
                              <a:rPr lang="en-US" sz="1600" b="0" i="1" smtClean="0">
                                <a:latin typeface="Cambria Math" panose="02040503050406030204" pitchFamily="18" charset="0"/>
                              </a:rPr>
                              <m:t>+2</m:t>
                            </m:r>
                          </m:sub>
                        </m:sSub>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𝛾</m:t>
                            </m:r>
                          </m:e>
                          <m:sup>
                            <m:r>
                              <a:rPr lang="en-US" sz="1600" b="0" i="1" smtClean="0">
                                <a:latin typeface="Cambria Math" panose="02040503050406030204" pitchFamily="18" charset="0"/>
                              </a:rPr>
                              <m:t>2</m:t>
                            </m:r>
                          </m:sup>
                        </m:sSup>
                        <m:r>
                          <a:rPr lang="en-US" sz="1600" i="1">
                            <a:latin typeface="Cambria Math" panose="02040503050406030204" pitchFamily="18" charset="0"/>
                          </a:rPr>
                          <m:t>𝑉</m:t>
                        </m:r>
                      </m:e>
                      <m:sub>
                        <m:r>
                          <a:rPr lang="en-US" sz="1600" i="1">
                            <a:latin typeface="Cambria Math" panose="02040503050406030204" pitchFamily="18" charset="0"/>
                          </a:rPr>
                          <m:t>𝑡</m:t>
                        </m:r>
                        <m:r>
                          <a:rPr lang="en-US" sz="1600" b="0" i="1" smtClean="0">
                            <a:latin typeface="Cambria Math" panose="02040503050406030204" pitchFamily="18" charset="0"/>
                          </a:rPr>
                          <m:t>+1</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r>
                          <a:rPr lang="en-US" sz="1600" i="1">
                            <a:latin typeface="Cambria Math" panose="02040503050406030204" pitchFamily="18" charset="0"/>
                          </a:rPr>
                          <m:t>+2</m:t>
                        </m:r>
                      </m:sub>
                    </m:sSub>
                    <m:r>
                      <a:rPr lang="en-US" sz="1600" i="1">
                        <a:latin typeface="Cambria Math" panose="02040503050406030204" pitchFamily="18" charset="0"/>
                      </a:rPr>
                      <m:t>)</m:t>
                    </m:r>
                  </m:oMath>
                </a14:m>
                <a:endParaRPr lang="en-US" sz="1600" dirty="0"/>
              </a:p>
              <a:p>
                <a:r>
                  <a:rPr lang="en-US" sz="1600" dirty="0"/>
                  <a:t>…</a:t>
                </a:r>
              </a:p>
              <a:p>
                <a14:m>
                  <m:oMath xmlns:m="http://schemas.openxmlformats.org/officeDocument/2006/math">
                    <m:r>
                      <a:rPr lang="en-US" sz="1600" b="0" i="1" dirty="0" smtClean="0">
                        <a:latin typeface="Cambria Math" panose="02040503050406030204" pitchFamily="18" charset="0"/>
                      </a:rPr>
                      <m:t>𝑛</m:t>
                    </m:r>
                  </m:oMath>
                </a14:m>
                <a:r>
                  <a:rPr lang="en-US" sz="1600" dirty="0"/>
                  <a:t>-step TD: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𝐺</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𝑡</m:t>
                        </m:r>
                        <m:r>
                          <a:rPr lang="en-US" sz="1600" i="1">
                            <a:latin typeface="Cambria Math" panose="02040503050406030204" pitchFamily="18" charset="0"/>
                          </a:rPr>
                          <m:t>+</m:t>
                        </m:r>
                        <m:r>
                          <a:rPr lang="en-US" sz="1600" b="0" i="1" smtClean="0">
                            <a:latin typeface="Cambria Math" panose="02040503050406030204" pitchFamily="18" charset="0"/>
                          </a:rPr>
                          <m:t>𝑛</m:t>
                        </m:r>
                      </m:sub>
                    </m:sSub>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m:t>
                    </m:r>
                    <m:r>
                      <a:rPr lang="en-US" sz="1600" i="1">
                        <a:latin typeface="Cambria Math" panose="02040503050406030204" pitchFamily="18" charset="0"/>
                      </a:rPr>
                      <m:t>𝛾</m:t>
                    </m:r>
                    <m:sSub>
                      <m:sSubPr>
                        <m:ctrlPr>
                          <a:rPr lang="en-US" sz="1600" i="1">
                            <a:latin typeface="Cambria Math" panose="02040503050406030204" pitchFamily="18" charset="0"/>
                          </a:rPr>
                        </m:ctrlPr>
                      </m:sSubPr>
                      <m:e>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𝑡</m:t>
                            </m:r>
                            <m:r>
                              <a:rPr lang="en-US" sz="1600" i="1">
                                <a:latin typeface="Cambria Math" panose="02040503050406030204" pitchFamily="18" charset="0"/>
                              </a:rPr>
                              <m:t>+2</m:t>
                            </m:r>
                          </m:sub>
                        </m:sSub>
                        <m:r>
                          <a:rPr lang="en-US" sz="1600" i="1">
                            <a:latin typeface="Cambria Math" panose="02040503050406030204" pitchFamily="18" charset="0"/>
                          </a:rPr>
                          <m:t>+</m:t>
                        </m:r>
                        <m:r>
                          <a:rPr lang="en-US" sz="1600" b="0" i="1" smtClean="0">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𝛾</m:t>
                            </m:r>
                          </m:e>
                          <m:sup>
                            <m:r>
                              <a:rPr lang="en-US" sz="1600" b="0" i="1" smtClean="0">
                                <a:latin typeface="Cambria Math" panose="02040503050406030204" pitchFamily="18" charset="0"/>
                              </a:rPr>
                              <m:t>𝑛</m:t>
                            </m:r>
                            <m:r>
                              <a:rPr lang="en-US" sz="1600" b="0" i="1" smtClean="0">
                                <a:latin typeface="Cambria Math" panose="02040503050406030204" pitchFamily="18" charset="0"/>
                              </a:rPr>
                              <m:t>−1</m:t>
                            </m:r>
                          </m:sup>
                        </m:sSup>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𝑅</m:t>
                            </m:r>
                          </m:e>
                          <m:sub>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𝑛</m:t>
                            </m:r>
                          </m:sub>
                        </m:sSub>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𝛾</m:t>
                            </m:r>
                          </m:e>
                          <m:sup>
                            <m:r>
                              <a:rPr lang="en-US" sz="1600" b="0" i="1" smtClean="0">
                                <a:latin typeface="Cambria Math" panose="02040503050406030204" pitchFamily="18" charset="0"/>
                              </a:rPr>
                              <m:t>𝑛</m:t>
                            </m:r>
                          </m:sup>
                        </m:sSup>
                        <m:r>
                          <a:rPr lang="en-US" sz="1600" i="1">
                            <a:latin typeface="Cambria Math" panose="02040503050406030204" pitchFamily="18" charset="0"/>
                          </a:rPr>
                          <m:t>𝑉</m:t>
                        </m:r>
                      </m:e>
                      <m:sub>
                        <m:r>
                          <a:rPr lang="en-US" sz="1600" i="1">
                            <a:latin typeface="Cambria Math" panose="02040503050406030204" pitchFamily="18" charset="0"/>
                          </a:rPr>
                          <m:t>𝑡</m:t>
                        </m:r>
                        <m:r>
                          <a:rPr lang="en-US" sz="1600" i="1">
                            <a:latin typeface="Cambria Math" panose="02040503050406030204" pitchFamily="18" charset="0"/>
                          </a:rPr>
                          <m:t>+</m:t>
                        </m:r>
                        <m:r>
                          <a:rPr lang="en-US" sz="1600" b="0" i="1" smtClean="0">
                            <a:latin typeface="Cambria Math" panose="02040503050406030204" pitchFamily="18" charset="0"/>
                          </a:rPr>
                          <m:t>𝑛</m:t>
                        </m:r>
                        <m:r>
                          <a:rPr lang="en-US" sz="1600" b="0" i="1" smtClean="0">
                            <a:latin typeface="Cambria Math" panose="02040503050406030204" pitchFamily="18" charset="0"/>
                          </a:rPr>
                          <m:t>−1</m:t>
                        </m:r>
                      </m:sub>
                    </m:sSub>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𝑡</m:t>
                            </m:r>
                            <m:r>
                              <a:rPr lang="en-US" sz="1600" i="1">
                                <a:latin typeface="Cambria Math" panose="02040503050406030204" pitchFamily="18" charset="0"/>
                              </a:rPr>
                              <m:t>+</m:t>
                            </m:r>
                            <m:r>
                              <a:rPr lang="en-US" sz="1600" b="0" i="1" smtClean="0">
                                <a:latin typeface="Cambria Math" panose="02040503050406030204" pitchFamily="18" charset="0"/>
                              </a:rPr>
                              <m:t>𝑛</m:t>
                            </m:r>
                          </m:sub>
                        </m:sSub>
                      </m:e>
                    </m:d>
                  </m:oMath>
                </a14:m>
                <a:endParaRPr lang="en-US" sz="1600" dirty="0"/>
              </a:p>
              <a:p>
                <a:r>
                  <a:rPr lang="en-US" sz="1600" dirty="0"/>
                  <a:t>MC: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𝐺</m:t>
                        </m:r>
                      </m:e>
                      <m:sub>
                        <m:r>
                          <a:rPr lang="en-US" sz="1600" i="1">
                            <a:latin typeface="Cambria Math" panose="02040503050406030204" pitchFamily="18" charset="0"/>
                          </a:rPr>
                          <m:t>𝑡</m:t>
                        </m:r>
                      </m:sub>
                    </m:sSub>
                    <m:r>
                      <a:rPr lang="en-US" sz="1600" b="0" i="1" smtClean="0">
                        <a:latin typeface="Cambria Math" panose="02040503050406030204" pitchFamily="18" charset="0"/>
                      </a:rPr>
                      <m:t>       </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m:t>
                    </m:r>
                    <m:r>
                      <a:rPr lang="en-US" sz="1600" i="1">
                        <a:latin typeface="Cambria Math" panose="02040503050406030204" pitchFamily="18" charset="0"/>
                      </a:rPr>
                      <m:t>𝛾</m:t>
                    </m:r>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i="1">
                            <a:latin typeface="Cambria Math" panose="02040503050406030204" pitchFamily="18" charset="0"/>
                          </a:rPr>
                          <m:t>𝑡</m:t>
                        </m:r>
                        <m:r>
                          <a:rPr lang="en-US" sz="1600" i="1">
                            <a:latin typeface="Cambria Math" panose="02040503050406030204" pitchFamily="18" charset="0"/>
                          </a:rPr>
                          <m:t>+2</m:t>
                        </m:r>
                      </m:sub>
                    </m:sSub>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𝛾</m:t>
                        </m:r>
                      </m:e>
                      <m:sup>
                        <m:r>
                          <a:rPr lang="en-US" sz="1600" b="0" i="1" smtClean="0">
                            <a:latin typeface="Cambria Math" panose="02040503050406030204" pitchFamily="18" charset="0"/>
                          </a:rPr>
                          <m:t>𝑇</m:t>
                        </m:r>
                        <m:r>
                          <a:rPr lang="en-US" sz="1600" i="1">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−1</m:t>
                        </m:r>
                      </m:sup>
                    </m:sSup>
                    <m:sSub>
                      <m:sSubPr>
                        <m:ctrlPr>
                          <a:rPr lang="en-US" sz="1600" i="1">
                            <a:latin typeface="Cambria Math" panose="02040503050406030204" pitchFamily="18" charset="0"/>
                          </a:rPr>
                        </m:ctrlPr>
                      </m:sSubPr>
                      <m:e>
                        <m:r>
                          <a:rPr lang="en-US" sz="1600" i="1">
                            <a:latin typeface="Cambria Math" panose="02040503050406030204" pitchFamily="18" charset="0"/>
                          </a:rPr>
                          <m:t>𝑅</m:t>
                        </m:r>
                      </m:e>
                      <m:sub>
                        <m:r>
                          <a:rPr lang="en-US" sz="1600" b="0" i="1" smtClean="0">
                            <a:latin typeface="Cambria Math" panose="02040503050406030204" pitchFamily="18" charset="0"/>
                          </a:rPr>
                          <m:t>𝑇</m:t>
                        </m:r>
                      </m:sub>
                    </m:sSub>
                  </m:oMath>
                </a14:m>
                <a:endParaRPr lang="en-US" sz="1600" dirty="0"/>
              </a:p>
              <a:p>
                <a:endParaRPr lang="en-US" sz="1600" dirty="0"/>
              </a:p>
              <a:p>
                <a:r>
                  <a:rPr lang="en-US" sz="1600" b="1" dirty="0"/>
                  <a:t>Update</a:t>
                </a:r>
                <a:r>
                  <a:rPr lang="en-US" sz="1600" dirty="0"/>
                  <a:t>: </a:t>
                </a:r>
                <a14:m>
                  <m:oMath xmlns:m="http://schemas.openxmlformats.org/officeDocument/2006/math">
                    <m:r>
                      <a:rPr lang="en-US" sz="1600" b="0" i="1" smtClean="0">
                        <a:latin typeface="Cambria Math" panose="02040503050406030204" pitchFamily="18" charset="0"/>
                      </a:rPr>
                      <m:t>𝑉</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sub>
                        </m:sSub>
                      </m:e>
                    </m:d>
                    <m:r>
                      <a:rPr lang="en-US" sz="1600" b="0" i="1" smtClean="0">
                        <a:latin typeface="Cambria Math" panose="02040503050406030204" pitchFamily="18" charset="0"/>
                      </a:rPr>
                      <m:t>←</m:t>
                    </m:r>
                  </m:oMath>
                </a14:m>
                <a:r>
                  <a:rPr lang="en-US" sz="1600" dirty="0"/>
                  <a:t> </a:t>
                </a:r>
                <a14:m>
                  <m:oMath xmlns:m="http://schemas.openxmlformats.org/officeDocument/2006/math">
                    <m:r>
                      <a:rPr lang="en-US" sz="1600" b="0" i="1" smtClean="0">
                        <a:latin typeface="Cambria Math" panose="02040503050406030204" pitchFamily="18" charset="0"/>
                      </a:rPr>
                      <m:t>𝑉</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sub>
                        </m:sSub>
                      </m:e>
                    </m:d>
                    <m:r>
                      <a:rPr lang="en-US" sz="1600" b="0" i="1" smtClean="0">
                        <a:latin typeface="Cambria Math" panose="02040503050406030204" pitchFamily="18" charset="0"/>
                      </a:rPr>
                      <m:t>+</m:t>
                    </m:r>
                    <m:r>
                      <a:rPr lang="en-US" sz="1600" b="0" i="1" smtClean="0">
                        <a:latin typeface="Cambria Math" panose="02040503050406030204" pitchFamily="18" charset="0"/>
                      </a:rPr>
                      <m:t>𝛼</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𝐺</m:t>
                        </m:r>
                      </m:e>
                      <m:sub>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𝑛</m:t>
                        </m:r>
                      </m:sub>
                    </m:sSub>
                    <m:r>
                      <a:rPr lang="en-US" sz="1600" b="0" i="1" smtClean="0">
                        <a:latin typeface="Cambria Math" panose="02040503050406030204" pitchFamily="18" charset="0"/>
                      </a:rPr>
                      <m:t>−</m:t>
                    </m:r>
                    <m:r>
                      <a:rPr lang="en-US" sz="1600" b="0" i="1" smtClean="0">
                        <a:latin typeface="Cambria Math" panose="02040503050406030204" pitchFamily="18" charset="0"/>
                      </a:rPr>
                      <m:t>𝑉</m:t>
                    </m:r>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𝑆</m:t>
                        </m:r>
                      </m:e>
                      <m:sub>
                        <m:r>
                          <a:rPr lang="en-US" sz="1600" b="0" i="1" smtClean="0">
                            <a:latin typeface="Cambria Math" panose="02040503050406030204" pitchFamily="18" charset="0"/>
                          </a:rPr>
                          <m:t>𝑡</m:t>
                        </m:r>
                      </m:sub>
                    </m:sSub>
                    <m:r>
                      <a:rPr lang="en-US" sz="1600" b="0" i="1" smtClean="0">
                        <a:latin typeface="Cambria Math" panose="02040503050406030204" pitchFamily="18" charset="0"/>
                      </a:rPr>
                      <m:t>)]</m:t>
                    </m:r>
                  </m:oMath>
                </a14:m>
                <a:endParaRPr lang="en-US" sz="1600" dirty="0"/>
              </a:p>
            </p:txBody>
          </p:sp>
        </mc:Choice>
        <mc:Fallback xmlns="">
          <p:sp>
            <p:nvSpPr>
              <p:cNvPr id="24" name="TextBox 23" descr="Return. 1-step TD: G sub t:t plus 1, equals R sub t plus 1, plus gamma V sub t (S sub t plus 1). 2-step TD: G sub t:t plus 2, equals R sub t plus 1, plus gamma R sub t plus 2, plus gamma squared V sub t plus 1, (S sub t plus 2). …. n -step TD: G sub t:t plus n, equals R sub t plus 1, plus gamma R sub t plus 2, plus dot dot dot plus gamma to the power n minus 1, R sub t plus n, plus gamma to the power n V sub t plus n minus 1, (S sub t plus n). MC: G sub t equals R sub t plus 1, plus gamma R sub t plus 2, plus dot dot dot plus gamma to the power T minus t minus 1, R sub T. Update: V (S sub t) gets V (S sub t) plus alpha [G sub t:t plus n, minus V(S sub t)]">
                <a:extLst>
                  <a:ext uri="{FF2B5EF4-FFF2-40B4-BE49-F238E27FC236}">
                    <a16:creationId xmlns:a16="http://schemas.microsoft.com/office/drawing/2014/main" id="{E90DE811-595E-8CBB-4AEB-304DB735AFA9}"/>
                  </a:ext>
                </a:extLst>
              </p:cNvPr>
              <p:cNvSpPr txBox="1">
                <a:spLocks noRot="1" noChangeAspect="1" noMove="1" noResize="1" noEditPoints="1" noAdjustHandles="1" noChangeArrowheads="1" noChangeShapeType="1" noTextEdit="1"/>
              </p:cNvSpPr>
              <p:nvPr/>
            </p:nvSpPr>
            <p:spPr>
              <a:xfrm>
                <a:off x="637041" y="3868550"/>
                <a:ext cx="6376791" cy="2062103"/>
              </a:xfrm>
              <a:prstGeom prst="rect">
                <a:avLst/>
              </a:prstGeom>
              <a:blipFill>
                <a:blip r:embed="rId9"/>
                <a:stretch>
                  <a:fillRect l="-574" t="-888" b="-29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descr="Notation. G sub t:t plus n … the return is calculated from the rewards up to t plus n and the rest is bootstrapped using the value function estimate">
                <a:extLst>
                  <a:ext uri="{FF2B5EF4-FFF2-40B4-BE49-F238E27FC236}">
                    <a16:creationId xmlns:a16="http://schemas.microsoft.com/office/drawing/2014/main" id="{9804826F-9AE8-BB0B-FA2E-3E36076ACC01}"/>
                  </a:ext>
                </a:extLst>
              </p:cNvPr>
              <p:cNvSpPr txBox="1"/>
              <p:nvPr/>
            </p:nvSpPr>
            <p:spPr>
              <a:xfrm>
                <a:off x="9192610" y="4517965"/>
                <a:ext cx="2362349" cy="138499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400" b="1" dirty="0"/>
                  <a:t>Notation</a:t>
                </a:r>
                <a:endParaRPr lang="en-US" sz="1400" b="1" i="1" dirty="0">
                  <a:latin typeface="Cambria Math" panose="02040503050406030204" pitchFamily="18" charset="0"/>
                </a:endParaRPr>
              </a:p>
              <a:p>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𝐺</m:t>
                        </m:r>
                      </m:e>
                      <m:sub>
                        <m:r>
                          <a:rPr lang="en-US" sz="1400" i="1">
                            <a:latin typeface="Cambria Math" panose="02040503050406030204" pitchFamily="18" charset="0"/>
                          </a:rPr>
                          <m:t>𝑡</m:t>
                        </m:r>
                        <m:r>
                          <a:rPr lang="en-US" sz="1400" i="1">
                            <a:latin typeface="Cambria Math" panose="02040503050406030204" pitchFamily="18" charset="0"/>
                          </a:rPr>
                          <m:t>:</m:t>
                        </m:r>
                        <m:r>
                          <a:rPr lang="en-US" sz="1400" i="1">
                            <a:latin typeface="Cambria Math" panose="02040503050406030204" pitchFamily="18" charset="0"/>
                          </a:rPr>
                          <m:t>𝑡</m:t>
                        </m:r>
                        <m:r>
                          <a:rPr lang="en-US" sz="1400" i="1">
                            <a:latin typeface="Cambria Math" panose="02040503050406030204" pitchFamily="18" charset="0"/>
                          </a:rPr>
                          <m:t>+</m:t>
                        </m:r>
                        <m:r>
                          <a:rPr lang="en-US" sz="1400" b="0" i="1" smtClean="0">
                            <a:latin typeface="Cambria Math" panose="02040503050406030204" pitchFamily="18" charset="0"/>
                          </a:rPr>
                          <m:t>𝑛</m:t>
                        </m:r>
                      </m:sub>
                    </m:sSub>
                  </m:oMath>
                </a14:m>
                <a:r>
                  <a:rPr lang="en-US" sz="1400" dirty="0"/>
                  <a:t>  … the return is calculated from the rewards up to </a:t>
                </a:r>
                <a14:m>
                  <m:oMath xmlns:m="http://schemas.openxmlformats.org/officeDocument/2006/math">
                    <m:r>
                      <a:rPr lang="en-US" sz="1400" b="0" i="1" smtClean="0">
                        <a:latin typeface="Cambria Math" panose="02040503050406030204" pitchFamily="18" charset="0"/>
                      </a:rPr>
                      <m:t>𝑡</m:t>
                    </m:r>
                    <m:r>
                      <a:rPr lang="en-US" sz="1400" b="0" i="1" smtClean="0">
                        <a:latin typeface="Cambria Math" panose="02040503050406030204" pitchFamily="18" charset="0"/>
                      </a:rPr>
                      <m:t>+</m:t>
                    </m:r>
                    <m:r>
                      <a:rPr lang="en-US" sz="1400" b="0" i="1" smtClean="0">
                        <a:latin typeface="Cambria Math" panose="02040503050406030204" pitchFamily="18" charset="0"/>
                      </a:rPr>
                      <m:t>𝑛</m:t>
                    </m:r>
                  </m:oMath>
                </a14:m>
                <a:r>
                  <a:rPr lang="en-US" sz="1400" dirty="0"/>
                  <a:t> and the rest is bootstrapped using the value function estimate.</a:t>
                </a:r>
              </a:p>
            </p:txBody>
          </p:sp>
        </mc:Choice>
        <mc:Fallback xmlns="">
          <p:sp>
            <p:nvSpPr>
              <p:cNvPr id="26" name="TextBox 25" descr="Notation. G sub t:t plus n … the return is calculated from the rewards up to t plus n and the rest is bootstrapped using the value function estimate">
                <a:extLst>
                  <a:ext uri="{FF2B5EF4-FFF2-40B4-BE49-F238E27FC236}">
                    <a16:creationId xmlns:a16="http://schemas.microsoft.com/office/drawing/2014/main" id="{9804826F-9AE8-BB0B-FA2E-3E36076ACC01}"/>
                  </a:ext>
                </a:extLst>
              </p:cNvPr>
              <p:cNvSpPr txBox="1">
                <a:spLocks noRot="1" noChangeAspect="1" noMove="1" noResize="1" noEditPoints="1" noAdjustHandles="1" noChangeArrowheads="1" noChangeShapeType="1" noTextEdit="1"/>
              </p:cNvSpPr>
              <p:nvPr/>
            </p:nvSpPr>
            <p:spPr>
              <a:xfrm>
                <a:off x="9192610" y="4517965"/>
                <a:ext cx="2362349" cy="1384995"/>
              </a:xfrm>
              <a:prstGeom prst="rect">
                <a:avLst/>
              </a:prstGeom>
              <a:blipFill>
                <a:blip r:embed="rId10"/>
                <a:stretch>
                  <a:fillRect l="-513" t="-435" r="-769" b="-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Speech Bubble: Rectangle with Corners Rounded 26" descr="The update target G sub t:t plus n is only available with a n -steps delay!">
                <a:extLst>
                  <a:ext uri="{FF2B5EF4-FFF2-40B4-BE49-F238E27FC236}">
                    <a16:creationId xmlns:a16="http://schemas.microsoft.com/office/drawing/2014/main" id="{3E3ADA8B-8A4F-3382-9E61-2CE86283C2FB}"/>
                  </a:ext>
                </a:extLst>
              </p:cNvPr>
              <p:cNvSpPr/>
              <p:nvPr/>
            </p:nvSpPr>
            <p:spPr>
              <a:xfrm>
                <a:off x="2680283" y="6126976"/>
                <a:ext cx="5062756" cy="319673"/>
              </a:xfrm>
              <a:prstGeom prst="wedgeRoundRectCallout">
                <a:avLst>
                  <a:gd name="adj1" fmla="val -34086"/>
                  <a:gd name="adj2" fmla="val -11041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The update target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𝐺</m:t>
                        </m:r>
                      </m:e>
                      <m:sub>
                        <m:r>
                          <a:rPr lang="en-US" sz="1400" i="1">
                            <a:latin typeface="Cambria Math" panose="02040503050406030204" pitchFamily="18" charset="0"/>
                          </a:rPr>
                          <m:t>𝑡</m:t>
                        </m:r>
                        <m:r>
                          <a:rPr lang="en-US" sz="1400" i="1">
                            <a:latin typeface="Cambria Math" panose="02040503050406030204" pitchFamily="18" charset="0"/>
                          </a:rPr>
                          <m:t>:</m:t>
                        </m:r>
                        <m:r>
                          <a:rPr lang="en-US" sz="1400" i="1">
                            <a:latin typeface="Cambria Math" panose="02040503050406030204" pitchFamily="18" charset="0"/>
                          </a:rPr>
                          <m:t>𝑡</m:t>
                        </m:r>
                        <m:r>
                          <a:rPr lang="en-US" sz="1400" i="1">
                            <a:latin typeface="Cambria Math" panose="02040503050406030204" pitchFamily="18" charset="0"/>
                          </a:rPr>
                          <m:t>+</m:t>
                        </m:r>
                        <m:r>
                          <a:rPr lang="en-US" sz="1400" i="1">
                            <a:latin typeface="Cambria Math" panose="02040503050406030204" pitchFamily="18" charset="0"/>
                          </a:rPr>
                          <m:t>𝑛</m:t>
                        </m:r>
                      </m:sub>
                    </m:sSub>
                    <m:r>
                      <a:rPr lang="en-US" sz="1400" i="1">
                        <a:latin typeface="Cambria Math" panose="02040503050406030204" pitchFamily="18" charset="0"/>
                      </a:rPr>
                      <m:t> </m:t>
                    </m:r>
                  </m:oMath>
                </a14:m>
                <a:r>
                  <a:rPr lang="en-US" sz="1400" dirty="0"/>
                  <a:t> is only available with a </a:t>
                </a:r>
                <a14:m>
                  <m:oMath xmlns:m="http://schemas.openxmlformats.org/officeDocument/2006/math">
                    <m:r>
                      <a:rPr lang="en-US" sz="1400" i="1" dirty="0" smtClean="0">
                        <a:latin typeface="Cambria Math" panose="02040503050406030204" pitchFamily="18" charset="0"/>
                      </a:rPr>
                      <m:t>𝑛</m:t>
                    </m:r>
                  </m:oMath>
                </a14:m>
                <a:r>
                  <a:rPr lang="en-US" sz="1400" dirty="0"/>
                  <a:t>-steps delay!</a:t>
                </a:r>
              </a:p>
            </p:txBody>
          </p:sp>
        </mc:Choice>
        <mc:Fallback xmlns="">
          <p:sp>
            <p:nvSpPr>
              <p:cNvPr id="27" name="Speech Bubble: Rectangle with Corners Rounded 26" descr="The update target G sub t:t plus n is only available with a n -steps delay!">
                <a:extLst>
                  <a:ext uri="{FF2B5EF4-FFF2-40B4-BE49-F238E27FC236}">
                    <a16:creationId xmlns:a16="http://schemas.microsoft.com/office/drawing/2014/main" id="{3E3ADA8B-8A4F-3382-9E61-2CE86283C2FB}"/>
                  </a:ext>
                </a:extLst>
              </p:cNvPr>
              <p:cNvSpPr>
                <a:spLocks noRot="1" noChangeAspect="1" noMove="1" noResize="1" noEditPoints="1" noAdjustHandles="1" noChangeArrowheads="1" noChangeShapeType="1" noTextEdit="1"/>
              </p:cNvSpPr>
              <p:nvPr/>
            </p:nvSpPr>
            <p:spPr>
              <a:xfrm>
                <a:off x="2680283" y="6126976"/>
                <a:ext cx="5062756" cy="319673"/>
              </a:xfrm>
              <a:prstGeom prst="wedgeRoundRectCallout">
                <a:avLst>
                  <a:gd name="adj1" fmla="val -34086"/>
                  <a:gd name="adj2" fmla="val -110415"/>
                  <a:gd name="adj3" fmla="val 16667"/>
                </a:avLst>
              </a:prstGeom>
              <a:blipFill>
                <a:blip r:embed="rId11"/>
                <a:stretch>
                  <a:fillRect b="-7865"/>
                </a:stretch>
              </a:blipFill>
            </p:spPr>
            <p:txBody>
              <a:bodyPr/>
              <a:lstStyle/>
              <a:p>
                <a:r>
                  <a:rPr lang="en-US">
                    <a:noFill/>
                  </a:rPr>
                  <a:t> </a:t>
                </a:r>
              </a:p>
            </p:txBody>
          </p:sp>
        </mc:Fallback>
      </mc:AlternateContent>
    </p:spTree>
    <p:extLst>
      <p:ext uri="{BB962C8B-B14F-4D97-AF65-F5344CB8AC3E}">
        <p14:creationId xmlns:p14="http://schemas.microsoft.com/office/powerpoint/2010/main" val="1241682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Valid n -step Update Targets and Compound Updates">
                <a:extLst>
                  <a:ext uri="{FF2B5EF4-FFF2-40B4-BE49-F238E27FC236}">
                    <a16:creationId xmlns:a16="http://schemas.microsoft.com/office/drawing/2014/main" id="{1A9B2958-7AFF-5E40-85A0-3BB1EB5E593F}"/>
                  </a:ext>
                </a:extLst>
              </p:cNvPr>
              <p:cNvSpPr>
                <a:spLocks noGrp="1"/>
              </p:cNvSpPr>
              <p:nvPr>
                <p:ph type="title"/>
              </p:nvPr>
            </p:nvSpPr>
            <p:spPr/>
            <p:txBody>
              <a:bodyPr>
                <a:normAutofit/>
              </a:bodyPr>
              <a:lstStyle/>
              <a:p>
                <a:r>
                  <a:rPr lang="en-US" sz="3600" dirty="0"/>
                  <a:t>Valid </a:t>
                </a:r>
                <a14:m>
                  <m:oMath xmlns:m="http://schemas.openxmlformats.org/officeDocument/2006/math">
                    <m:r>
                      <a:rPr lang="en-US" sz="3600" i="1" dirty="0" smtClean="0">
                        <a:latin typeface="Cambria Math" panose="02040503050406030204" pitchFamily="18" charset="0"/>
                      </a:rPr>
                      <m:t>𝑛</m:t>
                    </m:r>
                  </m:oMath>
                </a14:m>
                <a:r>
                  <a:rPr lang="en-US" sz="3600" dirty="0"/>
                  <a:t>-step Update Targets and Compound Updates</a:t>
                </a:r>
              </a:p>
            </p:txBody>
          </p:sp>
        </mc:Choice>
        <mc:Fallback xmlns="">
          <p:sp>
            <p:nvSpPr>
              <p:cNvPr id="2" name="Title 1" descr="Valid n -step Update Targets and Compound Updates">
                <a:extLst>
                  <a:ext uri="{FF2B5EF4-FFF2-40B4-BE49-F238E27FC236}">
                    <a16:creationId xmlns:a16="http://schemas.microsoft.com/office/drawing/2014/main" id="{1A9B2958-7AFF-5E40-85A0-3BB1EB5E593F}"/>
                  </a:ext>
                </a:extLst>
              </p:cNvPr>
              <p:cNvSpPr>
                <a:spLocks noGrp="1" noRot="1" noChangeAspect="1" noMove="1" noResize="1" noEditPoints="1" noAdjustHandles="1" noChangeArrowheads="1" noChangeShapeType="1" noTextEdit="1"/>
              </p:cNvSpPr>
              <p:nvPr>
                <p:ph type="title"/>
              </p:nvPr>
            </p:nvSpPr>
            <p:spPr>
              <a:blipFill>
                <a:blip r:embed="rId2"/>
                <a:stretch>
                  <a:fillRect l="-1797" t="-7258" b="-201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n -step return from Chapter 7 with approximation: G sub t:t plus n, equals R sub t plus 1, plus gamma R sub t plus 2, plus dot dot dot plus gamma to the power n minus 1, R sub t plus n, plus gamma to the power n v hat (S sub t plus n, w sub t plus n minus 1), 0 is less than or equal to t is less than or equal to T minus n. Any n -step return G sub t:t plus n is a valid update target for tabular learning and approx. SGD since it has the error reduction property. Observation: Any average of different n -step return is also valid. E.g., average 2-step and 4 -step returns: 1 over 2 G sub t:t plus 2, plus 1 over 2 G sub t:t plus 4 Updating with an average of n -step returns is called a compound update">
                <a:extLst>
                  <a:ext uri="{FF2B5EF4-FFF2-40B4-BE49-F238E27FC236}">
                    <a16:creationId xmlns:a16="http://schemas.microsoft.com/office/drawing/2014/main" id="{3650FC49-244D-8E90-3182-5F8109FFE28D}"/>
                  </a:ext>
                </a:extLst>
              </p:cNvPr>
              <p:cNvSpPr>
                <a:spLocks noGrp="1"/>
              </p:cNvSpPr>
              <p:nvPr>
                <p:ph idx="1"/>
              </p:nvPr>
            </p:nvSpPr>
            <p:spPr/>
            <p:txBody>
              <a:bodyPr>
                <a:normAutofit fontScale="92500" lnSpcReduction="10000"/>
              </a:bodyPr>
              <a:lstStyle/>
              <a:p>
                <a14:m>
                  <m:oMath xmlns:m="http://schemas.openxmlformats.org/officeDocument/2006/math">
                    <m:r>
                      <a:rPr lang="en-US" b="0" i="1" dirty="0" smtClean="0">
                        <a:latin typeface="Cambria Math" panose="02040503050406030204" pitchFamily="18" charset="0"/>
                      </a:rPr>
                      <m:t>𝑛</m:t>
                    </m:r>
                  </m:oMath>
                </a14:m>
                <a:r>
                  <a:rPr lang="en-US" dirty="0"/>
                  <a:t>-step return from Chapter 7 with approximation:</a:t>
                </a:r>
                <a:br>
                  <a:rPr lang="en-US" dirty="0"/>
                </a:br>
                <a:br>
                  <a:rPr lang="en-US" dirty="0"/>
                </a:b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𝐺</m:t>
                        </m:r>
                      </m:e>
                      <m:sub>
                        <m:r>
                          <a:rPr lang="en-US" sz="2000" i="1">
                            <a:latin typeface="Cambria Math" panose="02040503050406030204" pitchFamily="18" charset="0"/>
                          </a:rPr>
                          <m:t>𝑡</m:t>
                        </m:r>
                        <m:r>
                          <a:rPr lang="en-US" sz="2000" i="1">
                            <a:latin typeface="Cambria Math" panose="02040503050406030204" pitchFamily="18" charset="0"/>
                          </a:rPr>
                          <m:t>:</m:t>
                        </m:r>
                        <m:r>
                          <a:rPr lang="en-US" sz="2000" i="1">
                            <a:latin typeface="Cambria Math" panose="02040503050406030204" pitchFamily="18" charset="0"/>
                          </a:rPr>
                          <m:t>𝑡</m:t>
                        </m:r>
                        <m:r>
                          <a:rPr lang="en-US" sz="2000" i="1">
                            <a:latin typeface="Cambria Math" panose="02040503050406030204" pitchFamily="18" charset="0"/>
                          </a:rPr>
                          <m:t>+</m:t>
                        </m:r>
                        <m:r>
                          <a:rPr lang="en-US" sz="2000" i="1">
                            <a:latin typeface="Cambria Math" panose="02040503050406030204" pitchFamily="18" charset="0"/>
                          </a:rPr>
                          <m:t>𝑛</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i="1">
                        <a:latin typeface="Cambria Math" panose="02040503050406030204" pitchFamily="18" charset="0"/>
                      </a:rPr>
                      <m:t>+</m:t>
                    </m:r>
                    <m:r>
                      <a:rPr lang="en-US" sz="2000" i="1">
                        <a:latin typeface="Cambria Math" panose="02040503050406030204" pitchFamily="18" charset="0"/>
                      </a:rPr>
                      <m:t>𝛾</m:t>
                    </m:r>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𝑡</m:t>
                        </m:r>
                        <m:r>
                          <a:rPr lang="en-US" sz="2000" i="1">
                            <a:latin typeface="Cambria Math" panose="02040503050406030204" pitchFamily="18" charset="0"/>
                          </a:rPr>
                          <m:t>+2</m:t>
                        </m:r>
                      </m:sub>
                    </m:sSub>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𝛾</m:t>
                        </m:r>
                      </m:e>
                      <m:sup>
                        <m:r>
                          <a:rPr lang="en-US" sz="2000" i="1">
                            <a:latin typeface="Cambria Math" panose="02040503050406030204" pitchFamily="18" charset="0"/>
                          </a:rPr>
                          <m:t>𝑛</m:t>
                        </m:r>
                        <m:r>
                          <a:rPr lang="en-US" sz="2000" i="1">
                            <a:latin typeface="Cambria Math" panose="02040503050406030204" pitchFamily="18" charset="0"/>
                          </a:rPr>
                          <m:t>−1</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𝑡</m:t>
                        </m:r>
                        <m:r>
                          <a:rPr lang="en-US" sz="2000" i="1">
                            <a:latin typeface="Cambria Math" panose="02040503050406030204" pitchFamily="18" charset="0"/>
                          </a:rPr>
                          <m:t>+</m:t>
                        </m:r>
                        <m:r>
                          <a:rPr lang="en-US" sz="2000" i="1">
                            <a:latin typeface="Cambria Math" panose="02040503050406030204" pitchFamily="18" charset="0"/>
                          </a:rPr>
                          <m:t>𝑛</m:t>
                        </m:r>
                      </m:sub>
                    </m:sSub>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𝛾</m:t>
                        </m:r>
                      </m:e>
                      <m:sup>
                        <m:r>
                          <a:rPr lang="en-US" sz="2000" i="1">
                            <a:latin typeface="Cambria Math" panose="02040503050406030204" pitchFamily="18" charset="0"/>
                          </a:rPr>
                          <m:t>𝑛</m:t>
                        </m:r>
                      </m:sup>
                    </m:sSup>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𝑣</m:t>
                        </m:r>
                      </m:e>
                    </m:acc>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r>
                              <a:rPr lang="en-US" sz="2000" i="1">
                                <a:latin typeface="Cambria Math" panose="02040503050406030204" pitchFamily="18" charset="0"/>
                              </a:rPr>
                              <m:t>+</m:t>
                            </m:r>
                            <m:r>
                              <a:rPr lang="en-US" sz="2000" i="1">
                                <a:latin typeface="Cambria Math" panose="02040503050406030204" pitchFamily="18" charset="0"/>
                              </a:rPr>
                              <m:t>𝑛</m:t>
                            </m:r>
                          </m:sub>
                        </m:sSub>
                        <m:r>
                          <a:rPr lang="en-US" sz="2000" b="0" i="1"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𝒘</m:t>
                            </m:r>
                          </m:e>
                          <m:sub>
                            <m:r>
                              <a:rPr lang="en-US" sz="2000" b="0" i="1" smtClean="0">
                                <a:latin typeface="Cambria Math" panose="02040503050406030204" pitchFamily="18" charset="0"/>
                              </a:rPr>
                              <m:t>𝑡</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−1</m:t>
                            </m:r>
                          </m:sub>
                        </m:sSub>
                      </m:e>
                    </m:d>
                    <m:r>
                      <a:rPr lang="en-US" sz="2000" b="0" i="1" smtClean="0">
                        <a:latin typeface="Cambria Math" panose="02040503050406030204" pitchFamily="18" charset="0"/>
                      </a:rPr>
                      <m:t>,   0≤</m:t>
                    </m:r>
                    <m:r>
                      <a:rPr lang="en-US" sz="2000" b="0" i="1" smtClean="0">
                        <a:latin typeface="Cambria Math" panose="02040503050406030204" pitchFamily="18" charset="0"/>
                      </a:rPr>
                      <m:t>𝑡</m:t>
                    </m:r>
                    <m:r>
                      <a:rPr lang="en-US" sz="2000" b="0" i="1" smtClean="0">
                        <a:latin typeface="Cambria Math" panose="02040503050406030204" pitchFamily="18" charset="0"/>
                      </a:rPr>
                      <m:t>≤</m:t>
                    </m:r>
                    <m:r>
                      <a:rPr lang="en-US" sz="2000" b="0" i="1" smtClean="0">
                        <a:latin typeface="Cambria Math" panose="02040503050406030204" pitchFamily="18" charset="0"/>
                      </a:rPr>
                      <m:t>𝑇</m:t>
                    </m:r>
                    <m:r>
                      <a:rPr lang="en-US" sz="2000" b="0" i="1" smtClean="0">
                        <a:latin typeface="Cambria Math" panose="02040503050406030204" pitchFamily="18" charset="0"/>
                      </a:rPr>
                      <m:t>−</m:t>
                    </m:r>
                    <m:r>
                      <a:rPr lang="en-US" sz="2000" b="0" i="1" smtClean="0">
                        <a:latin typeface="Cambria Math" panose="02040503050406030204" pitchFamily="18" charset="0"/>
                      </a:rPr>
                      <m:t>𝑛</m:t>
                    </m:r>
                  </m:oMath>
                </a14:m>
                <a:endParaRPr lang="en-US" dirty="0"/>
              </a:p>
              <a:p>
                <a:endParaRPr lang="en-US" dirty="0"/>
              </a:p>
              <a:p>
                <a:endParaRPr lang="en-US" dirty="0"/>
              </a:p>
              <a:p>
                <a:r>
                  <a:rPr lang="en-US" dirty="0"/>
                  <a:t>Any </a:t>
                </a:r>
                <a14:m>
                  <m:oMath xmlns:m="http://schemas.openxmlformats.org/officeDocument/2006/math">
                    <m:r>
                      <a:rPr lang="en-US" b="0" i="1" smtClean="0">
                        <a:latin typeface="Cambria Math" panose="02040503050406030204" pitchFamily="18" charset="0"/>
                      </a:rPr>
                      <m:t>𝑛</m:t>
                    </m:r>
                  </m:oMath>
                </a14:m>
                <a:r>
                  <a:rPr lang="en-US" dirty="0"/>
                  <a:t>-step return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Sub>
                  </m:oMath>
                </a14:m>
                <a:r>
                  <a:rPr lang="en-US" dirty="0"/>
                  <a:t> is a valid update target for tabular learning and approx. SGD since it has the </a:t>
                </a:r>
                <a:r>
                  <a:rPr lang="en-US" b="1" dirty="0"/>
                  <a:t>error reduction property</a:t>
                </a:r>
                <a:r>
                  <a:rPr lang="en-US" dirty="0"/>
                  <a:t>.</a:t>
                </a:r>
              </a:p>
              <a:p>
                <a:endParaRPr lang="en-US" b="1" dirty="0"/>
              </a:p>
              <a:p>
                <a:r>
                  <a:rPr lang="en-US" b="1" dirty="0"/>
                  <a:t>Observation: </a:t>
                </a:r>
                <a:r>
                  <a:rPr lang="en-US" dirty="0"/>
                  <a:t>Any average of different </a:t>
                </a:r>
                <a14:m>
                  <m:oMath xmlns:m="http://schemas.openxmlformats.org/officeDocument/2006/math">
                    <m:r>
                      <a:rPr lang="en-US" i="1">
                        <a:latin typeface="Cambria Math" panose="02040503050406030204" pitchFamily="18" charset="0"/>
                      </a:rPr>
                      <m:t>𝑛</m:t>
                    </m:r>
                  </m:oMath>
                </a14:m>
                <a:r>
                  <a:rPr lang="en-US" dirty="0"/>
                  <a:t>-step return is also valid. </a:t>
                </a:r>
                <a:br>
                  <a:rPr lang="en-US" dirty="0"/>
                </a:br>
                <a:r>
                  <a:rPr lang="en-US" dirty="0"/>
                  <a:t>E.g., average 2-step and </a:t>
                </a:r>
                <a14:m>
                  <m:oMath xmlns:m="http://schemas.openxmlformats.org/officeDocument/2006/math">
                    <m:r>
                      <a:rPr lang="en-US" b="0" i="1" smtClean="0">
                        <a:latin typeface="Cambria Math" panose="02040503050406030204" pitchFamily="18" charset="0"/>
                      </a:rPr>
                      <m:t>4</m:t>
                    </m:r>
                  </m:oMath>
                </a14:m>
                <a:r>
                  <a:rPr lang="en-US" dirty="0"/>
                  <a:t>-step returns: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+2</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+4</m:t>
                        </m:r>
                      </m:sub>
                    </m:sSub>
                  </m:oMath>
                </a14:m>
                <a:br>
                  <a:rPr lang="en-US" dirty="0"/>
                </a:br>
                <a:r>
                  <a:rPr lang="en-US" dirty="0"/>
                  <a:t>Updating with an average of </a:t>
                </a:r>
                <a14:m>
                  <m:oMath xmlns:m="http://schemas.openxmlformats.org/officeDocument/2006/math">
                    <m:r>
                      <a:rPr lang="en-US" i="1">
                        <a:latin typeface="Cambria Math" panose="02040503050406030204" pitchFamily="18" charset="0"/>
                      </a:rPr>
                      <m:t>𝑛</m:t>
                    </m:r>
                  </m:oMath>
                </a14:m>
                <a:r>
                  <a:rPr lang="en-US" dirty="0"/>
                  <a:t>-step returns is called a </a:t>
                </a:r>
                <a:r>
                  <a:rPr lang="en-US" b="1" dirty="0"/>
                  <a:t>compound update</a:t>
                </a:r>
                <a:r>
                  <a:rPr lang="en-US" dirty="0"/>
                  <a:t>.</a:t>
                </a:r>
              </a:p>
              <a:p>
                <a:pPr marL="0" indent="0">
                  <a:buNone/>
                </a:pPr>
                <a:endParaRPr lang="en-US" dirty="0"/>
              </a:p>
            </p:txBody>
          </p:sp>
        </mc:Choice>
        <mc:Fallback xmlns="">
          <p:sp>
            <p:nvSpPr>
              <p:cNvPr id="3" name="Content Placeholder 2" descr="n -step return from Chapter 7 with approximation: G sub t:t plus n, equals R sub t plus 1, plus gamma R sub t plus 2, plus dot dot dot plus gamma to the power n minus 1, R sub t plus n, plus gamma to the power n v hat (S sub t plus n, w sub t plus n minus 1), 0 is less than or equal to t is less than or equal to T minus n. Any n -step return G sub t:t plus n is a valid update target for tabular learning and approx. SGD since it has the error reduction property. Observation: Any average of different n -step return is also valid. E.g., average 2-step and 4 -step returns: 1 over 2 G sub t:t plus 2, plus 1 over 2 G sub t:t plus 4 Updating with an average of n -step returns is called a compound update">
                <a:extLst>
                  <a:ext uri="{FF2B5EF4-FFF2-40B4-BE49-F238E27FC236}">
                    <a16:creationId xmlns:a16="http://schemas.microsoft.com/office/drawing/2014/main" id="{3650FC49-244D-8E90-3182-5F8109FFE28D}"/>
                  </a:ext>
                </a:extLst>
              </p:cNvPr>
              <p:cNvSpPr>
                <a:spLocks noGrp="1" noRot="1" noChangeAspect="1" noMove="1" noResize="1" noEditPoints="1" noAdjustHandles="1" noChangeArrowheads="1" noChangeShapeType="1" noTextEdit="1"/>
              </p:cNvSpPr>
              <p:nvPr>
                <p:ph idx="1"/>
              </p:nvPr>
            </p:nvSpPr>
            <p:spPr>
              <a:blipFill>
                <a:blip r:embed="rId3"/>
                <a:stretch>
                  <a:fillRect l="-928" t="-2551" r="-580"/>
                </a:stretch>
              </a:blipFill>
            </p:spPr>
            <p:txBody>
              <a:bodyPr/>
              <a:lstStyle/>
              <a:p>
                <a:r>
                  <a:rPr lang="en-US">
                    <a:noFill/>
                  </a:rPr>
                  <a:t> </a:t>
                </a:r>
              </a:p>
            </p:txBody>
          </p:sp>
        </mc:Fallback>
      </mc:AlternateContent>
      <p:grpSp>
        <p:nvGrpSpPr>
          <p:cNvPr id="9" name="Group 8" descr="Brace annotation: n next rewards; approx. value.">
            <a:extLst>
              <a:ext uri="{FF2B5EF4-FFF2-40B4-BE49-F238E27FC236}">
                <a16:creationId xmlns:a16="http://schemas.microsoft.com/office/drawing/2014/main" id="{62280A73-E815-5EC4-E332-85E7CB4B0E14}"/>
              </a:ext>
            </a:extLst>
          </p:cNvPr>
          <p:cNvGrpSpPr/>
          <p:nvPr/>
        </p:nvGrpSpPr>
        <p:grpSpPr>
          <a:xfrm>
            <a:off x="2607084" y="2561716"/>
            <a:ext cx="5600745" cy="578738"/>
            <a:chOff x="2607084" y="2561716"/>
            <a:chExt cx="5600745" cy="578738"/>
          </a:xfrm>
        </p:grpSpPr>
        <p:sp>
          <p:nvSpPr>
            <p:cNvPr id="4" name="Right Brace 3">
              <a:extLst>
                <a:ext uri="{FF2B5EF4-FFF2-40B4-BE49-F238E27FC236}">
                  <a16:creationId xmlns:a16="http://schemas.microsoft.com/office/drawing/2014/main" id="{0838CA07-8D9C-E50E-6F8F-7B0B2A21F028}"/>
                </a:ext>
                <a:ext uri="{C183D7F6-B498-43B3-948B-1728B52AA6E4}">
                  <adec:decorative xmlns:adec="http://schemas.microsoft.com/office/drawing/2017/decorative" val="1"/>
                </a:ext>
              </a:extLst>
            </p:cNvPr>
            <p:cNvSpPr/>
            <p:nvPr/>
          </p:nvSpPr>
          <p:spPr>
            <a:xfrm rot="5400000">
              <a:off x="4158423" y="1010377"/>
              <a:ext cx="209405" cy="331208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Right Brace 4">
              <a:extLst>
                <a:ext uri="{FF2B5EF4-FFF2-40B4-BE49-F238E27FC236}">
                  <a16:creationId xmlns:a16="http://schemas.microsoft.com/office/drawing/2014/main" id="{EA991AC5-8DC3-21D6-372F-530168B34C9C}"/>
                </a:ext>
                <a:ext uri="{C183D7F6-B498-43B3-948B-1728B52AA6E4}">
                  <adec:decorative xmlns:adec="http://schemas.microsoft.com/office/drawing/2017/decorative" val="1"/>
                </a:ext>
              </a:extLst>
            </p:cNvPr>
            <p:cNvSpPr/>
            <p:nvPr/>
          </p:nvSpPr>
          <p:spPr>
            <a:xfrm rot="5400000">
              <a:off x="7047213" y="1610507"/>
              <a:ext cx="209405" cy="211182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descr="n next rewards">
                  <a:extLst>
                    <a:ext uri="{FF2B5EF4-FFF2-40B4-BE49-F238E27FC236}">
                      <a16:creationId xmlns:a16="http://schemas.microsoft.com/office/drawing/2014/main" id="{C8206752-6D3F-BA03-3608-0B3B18B353C8}"/>
                    </a:ext>
                  </a:extLst>
                </p:cNvPr>
                <p:cNvSpPr txBox="1"/>
                <p:nvPr/>
              </p:nvSpPr>
              <p:spPr>
                <a:xfrm>
                  <a:off x="3420236" y="2748244"/>
                  <a:ext cx="1811985" cy="369332"/>
                </a:xfrm>
                <a:prstGeom prst="rect">
                  <a:avLst/>
                </a:prstGeom>
                <a:noFill/>
              </p:spPr>
              <p:txBody>
                <a:bodyPr wrap="square" rtlCol="0">
                  <a:spAutoFit/>
                </a:bodyPr>
                <a:lstStyle/>
                <a:p>
                  <a:pPr algn="ctr"/>
                  <a14:m>
                    <m:oMath xmlns:m="http://schemas.openxmlformats.org/officeDocument/2006/math">
                      <m:r>
                        <a:rPr lang="en-US" i="1" dirty="0" smtClean="0">
                          <a:latin typeface="Cambria Math" panose="02040503050406030204" pitchFamily="18" charset="0"/>
                        </a:rPr>
                        <m:t>𝑛</m:t>
                      </m:r>
                    </m:oMath>
                  </a14:m>
                  <a:r>
                    <a:rPr lang="en-US" dirty="0"/>
                    <a:t> next rewards</a:t>
                  </a:r>
                </a:p>
              </p:txBody>
            </p:sp>
          </mc:Choice>
          <mc:Fallback xmlns="">
            <p:sp>
              <p:nvSpPr>
                <p:cNvPr id="6" name="TextBox 5" descr="n next rewards">
                  <a:extLst>
                    <a:ext uri="{FF2B5EF4-FFF2-40B4-BE49-F238E27FC236}">
                      <a16:creationId xmlns:a16="http://schemas.microsoft.com/office/drawing/2014/main" id="{C8206752-6D3F-BA03-3608-0B3B18B353C8}"/>
                    </a:ext>
                  </a:extLst>
                </p:cNvPr>
                <p:cNvSpPr txBox="1">
                  <a:spLocks noRot="1" noChangeAspect="1" noMove="1" noResize="1" noEditPoints="1" noAdjustHandles="1" noChangeArrowheads="1" noChangeShapeType="1" noTextEdit="1"/>
                </p:cNvSpPr>
                <p:nvPr/>
              </p:nvSpPr>
              <p:spPr>
                <a:xfrm>
                  <a:off x="3420236" y="2748244"/>
                  <a:ext cx="1811985" cy="369332"/>
                </a:xfrm>
                <a:prstGeom prst="rect">
                  <a:avLst/>
                </a:prstGeom>
                <a:blipFill>
                  <a:blip r:embed="rId4"/>
                  <a:stretch>
                    <a:fillRect t="-8333" b="-2833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8C7C27E4-3F83-062A-3A1B-1C45AE75D4C7}"/>
                </a:ext>
              </a:extLst>
            </p:cNvPr>
            <p:cNvSpPr txBox="1"/>
            <p:nvPr/>
          </p:nvSpPr>
          <p:spPr>
            <a:xfrm>
              <a:off x="6357258" y="2771122"/>
              <a:ext cx="1589314" cy="369332"/>
            </a:xfrm>
            <a:prstGeom prst="rect">
              <a:avLst/>
            </a:prstGeom>
            <a:noFill/>
          </p:spPr>
          <p:txBody>
            <a:bodyPr wrap="square" rtlCol="0">
              <a:spAutoFit/>
            </a:bodyPr>
            <a:lstStyle/>
            <a:p>
              <a:pPr algn="ctr"/>
              <a:r>
                <a:rPr lang="en-US" dirty="0"/>
                <a:t>approx. value</a:t>
              </a:r>
            </a:p>
          </p:txBody>
        </p:sp>
      </p:grpSp>
      <p:sp>
        <p:nvSpPr>
          <p:cNvPr id="8" name="Speech Bubble: Rectangle with Corners Rounded 7">
            <a:extLst>
              <a:ext uri="{FF2B5EF4-FFF2-40B4-BE49-F238E27FC236}">
                <a16:creationId xmlns:a16="http://schemas.microsoft.com/office/drawing/2014/main" id="{D8340783-1B5F-1A3D-DAB9-CD0A6FA964A0}"/>
              </a:ext>
            </a:extLst>
          </p:cNvPr>
          <p:cNvSpPr/>
          <p:nvPr/>
        </p:nvSpPr>
        <p:spPr>
          <a:xfrm>
            <a:off x="9608576" y="1205016"/>
            <a:ext cx="1103086" cy="384628"/>
          </a:xfrm>
          <a:prstGeom prst="wedgeRoundRectCallout">
            <a:avLst>
              <a:gd name="adj1" fmla="val -50438"/>
              <a:gd name="adj2" fmla="val 15495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Episode termination</a:t>
            </a:r>
          </a:p>
        </p:txBody>
      </p:sp>
    </p:spTree>
    <p:extLst>
      <p:ext uri="{BB962C8B-B14F-4D97-AF65-F5344CB8AC3E}">
        <p14:creationId xmlns:p14="http://schemas.microsoft.com/office/powerpoint/2010/main" val="1355704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FA916-1D32-343A-582D-ECAC6FEC9A5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TD (lambda) and the lambda -Return">
                <a:extLst>
                  <a:ext uri="{FF2B5EF4-FFF2-40B4-BE49-F238E27FC236}">
                    <a16:creationId xmlns:a16="http://schemas.microsoft.com/office/drawing/2014/main" id="{3C4C0661-25D7-529D-34D2-975FBEC1732F}"/>
                  </a:ext>
                </a:extLst>
              </p:cNvPr>
              <p:cNvSpPr>
                <a:spLocks noGrp="1"/>
              </p:cNvSpPr>
              <p:nvPr>
                <p:ph type="title"/>
              </p:nvPr>
            </p:nvSpPr>
            <p:spPr/>
            <p:txBody>
              <a:bodyPr/>
              <a:lstStyle/>
              <a:p>
                <a:r>
                  <a:rPr lang="en-US" dirty="0"/>
                  <a:t>TD</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a14:m>
                <a:r>
                  <a:rPr lang="en-US" dirty="0"/>
                  <a:t> and the </a:t>
                </a:r>
                <a14:m>
                  <m:oMath xmlns:m="http://schemas.openxmlformats.org/officeDocument/2006/math">
                    <m:r>
                      <a:rPr lang="en-US" b="0" i="1" smtClean="0">
                        <a:latin typeface="Cambria Math" panose="02040503050406030204" pitchFamily="18" charset="0"/>
                      </a:rPr>
                      <m:t>𝜆</m:t>
                    </m:r>
                  </m:oMath>
                </a14:m>
                <a:r>
                  <a:rPr lang="en-US" dirty="0"/>
                  <a:t>-Return</a:t>
                </a:r>
              </a:p>
            </p:txBody>
          </p:sp>
        </mc:Choice>
        <mc:Fallback xmlns="">
          <p:sp>
            <p:nvSpPr>
              <p:cNvPr id="2" name="Title 1" descr="TD (lambda) and the lambda -Return">
                <a:extLst>
                  <a:ext uri="{FF2B5EF4-FFF2-40B4-BE49-F238E27FC236}">
                    <a16:creationId xmlns:a16="http://schemas.microsoft.com/office/drawing/2014/main" id="{3C4C0661-25D7-529D-34D2-975FBEC1732F}"/>
                  </a:ext>
                </a:extLst>
              </p:cNvPr>
              <p:cNvSpPr>
                <a:spLocks noGrp="1" noRot="1" noChangeAspect="1" noMove="1" noResize="1" noEditPoints="1" noAdjustHandles="1" noChangeArrowheads="1" noChangeShapeType="1" noTextEdit="1"/>
              </p:cNvSpPr>
              <p:nvPr>
                <p:ph type="title"/>
              </p:nvPr>
            </p:nvSpPr>
            <p:spPr>
              <a:blipFill>
                <a:blip r:embed="rId2"/>
                <a:stretch>
                  <a:fillRect l="-2377" t="-20161" b="-35484"/>
                </a:stretch>
              </a:blipFill>
            </p:spPr>
            <p:txBody>
              <a:bodyPr/>
              <a:lstStyle/>
              <a:p>
                <a:r>
                  <a:rPr lang="en-US">
                    <a:noFill/>
                  </a:rPr>
                  <a:t> </a:t>
                </a:r>
              </a:p>
            </p:txBody>
          </p:sp>
        </mc:Fallback>
      </mc:AlternateContent>
      <p:grpSp>
        <p:nvGrpSpPr>
          <p:cNvPr id="15" name="Group 14" descr="Backup diagram for TD(lambda) (Sutton and Barto Figure 12.1): a row of n-step backups, each a chain from S_t through actions and states. The 1-step backup is weighted 1 − lambda, the 2-step backup (1 − lambda) lambda, the 3-step backup (1 − lambda) lambda squared, and so on; the final chain runs all the way to the terminal state S_T with reward R_T and gets weight lambda to the power T − t − 1. The weights sum to 1. Labels: Backup diagram Weighting of the components of the lambda -return; Weight fades with lambda with each step.">
            <a:extLst>
              <a:ext uri="{FF2B5EF4-FFF2-40B4-BE49-F238E27FC236}">
                <a16:creationId xmlns:a16="http://schemas.microsoft.com/office/drawing/2014/main" id="{2BAD5742-C377-3B82-A3AC-29EC678FF371}"/>
              </a:ext>
            </a:extLst>
          </p:cNvPr>
          <p:cNvGrpSpPr/>
          <p:nvPr/>
        </p:nvGrpSpPr>
        <p:grpSpPr>
          <a:xfrm>
            <a:off x="7245518" y="732971"/>
            <a:ext cx="4870635" cy="5834743"/>
            <a:chOff x="7245518" y="732971"/>
            <a:chExt cx="4870635" cy="5834743"/>
          </a:xfrm>
        </p:grpSpPr>
        <p:pic>
          <p:nvPicPr>
            <p:cNvPr id="10" name="Picture 9" descr="Backup diagram for TD(lambda) (Sutton and Barto Figure 12.1): a row of n-step backups, each a chain from S_t through actions and states. The 1-step backup is weighted 1 − lambda, the 2-step backup (1 − lambda) lambda, the 3-step backup (1 − lambda) lambda squared, and so on; the final chain runs all the way to the terminal state S_T with reward R_T and gets weight lambda to the power T − t − 1. The weights sum to 1.">
              <a:extLst>
                <a:ext uri="{FF2B5EF4-FFF2-40B4-BE49-F238E27FC236}">
                  <a16:creationId xmlns:a16="http://schemas.microsoft.com/office/drawing/2014/main" id="{A2BA8CB2-8F90-3E45-6200-8B998E60AAC9}"/>
                </a:ext>
              </a:extLst>
            </p:cNvPr>
            <p:cNvPicPr>
              <a:picLocks noChangeAspect="1"/>
            </p:cNvPicPr>
            <p:nvPr/>
          </p:nvPicPr>
          <p:blipFill>
            <a:blip r:embed="rId3"/>
            <a:stretch>
              <a:fillRect/>
            </a:stretch>
          </p:blipFill>
          <p:spPr>
            <a:xfrm>
              <a:off x="7245518" y="1661230"/>
              <a:ext cx="4870635" cy="4054445"/>
            </a:xfrm>
            <a:prstGeom prst="rect">
              <a:avLst/>
            </a:prstGeom>
          </p:spPr>
        </p:pic>
        <mc:AlternateContent xmlns:mc="http://schemas.openxmlformats.org/markup-compatibility/2006" xmlns:a14="http://schemas.microsoft.com/office/drawing/2010/main">
          <mc:Choice Requires="a14">
            <p:sp>
              <p:nvSpPr>
                <p:cNvPr id="11" name="TextBox 10" descr="Backup diagram Weighting of the components of the lambda -return">
                  <a:extLst>
                    <a:ext uri="{FF2B5EF4-FFF2-40B4-BE49-F238E27FC236}">
                      <a16:creationId xmlns:a16="http://schemas.microsoft.com/office/drawing/2014/main" id="{F36D5C95-CDA2-3FED-304E-0891AAB3D20A}"/>
                    </a:ext>
                  </a:extLst>
                </p:cNvPr>
                <p:cNvSpPr txBox="1"/>
                <p:nvPr/>
              </p:nvSpPr>
              <p:spPr>
                <a:xfrm>
                  <a:off x="7721599" y="732971"/>
                  <a:ext cx="4209143" cy="923330"/>
                </a:xfrm>
                <a:prstGeom prst="rect">
                  <a:avLst/>
                </a:prstGeom>
                <a:noFill/>
              </p:spPr>
              <p:txBody>
                <a:bodyPr wrap="square" rtlCol="0">
                  <a:spAutoFit/>
                </a:bodyPr>
                <a:lstStyle/>
                <a:p>
                  <a:pPr algn="ctr"/>
                  <a:r>
                    <a:rPr lang="en-US" b="1" dirty="0"/>
                    <a:t>Backup diagram </a:t>
                  </a:r>
                  <a:br>
                    <a:rPr lang="en-US" b="1" dirty="0"/>
                  </a:br>
                  <a:r>
                    <a:rPr lang="en-US" dirty="0"/>
                    <a:t>Weighting of the components </a:t>
                  </a:r>
                  <a:br>
                    <a:rPr lang="en-US" dirty="0"/>
                  </a:br>
                  <a:r>
                    <a:rPr lang="en-US" dirty="0"/>
                    <a:t>of the </a:t>
                  </a:r>
                  <a14:m>
                    <m:oMath xmlns:m="http://schemas.openxmlformats.org/officeDocument/2006/math">
                      <m:r>
                        <a:rPr lang="en-US" b="0" i="1">
                          <a:latin typeface="Cambria Math" panose="02040503050406030204" pitchFamily="18" charset="0"/>
                        </a:rPr>
                        <m:t>𝜆</m:t>
                      </m:r>
                    </m:oMath>
                  </a14:m>
                  <a:r>
                    <a:rPr lang="en-US" dirty="0"/>
                    <a:t>-return </a:t>
                  </a:r>
                </a:p>
              </p:txBody>
            </p:sp>
          </mc:Choice>
          <mc:Fallback xmlns="">
            <p:sp>
              <p:nvSpPr>
                <p:cNvPr id="11" name="TextBox 10" descr="Backup diagram Weighting of the components of the lambda -return">
                  <a:extLst>
                    <a:ext uri="{FF2B5EF4-FFF2-40B4-BE49-F238E27FC236}">
                      <a16:creationId xmlns:a16="http://schemas.microsoft.com/office/drawing/2014/main" id="{F36D5C95-CDA2-3FED-304E-0891AAB3D20A}"/>
                    </a:ext>
                  </a:extLst>
                </p:cNvPr>
                <p:cNvSpPr txBox="1">
                  <a:spLocks noRot="1" noChangeAspect="1" noMove="1" noResize="1" noEditPoints="1" noAdjustHandles="1" noChangeArrowheads="1" noChangeShapeType="1" noTextEdit="1"/>
                </p:cNvSpPr>
                <p:nvPr/>
              </p:nvSpPr>
              <p:spPr>
                <a:xfrm>
                  <a:off x="7721599" y="732971"/>
                  <a:ext cx="4209143" cy="923330"/>
                </a:xfrm>
                <a:prstGeom prst="rect">
                  <a:avLst/>
                </a:prstGeom>
                <a:blipFill>
                  <a:blip r:embed="rId5"/>
                  <a:stretch>
                    <a:fillRect t="-2632" b="-98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Arrow: Right 12" descr="Weight fades with lambda with each step">
                  <a:extLst>
                    <a:ext uri="{FF2B5EF4-FFF2-40B4-BE49-F238E27FC236}">
                      <a16:creationId xmlns:a16="http://schemas.microsoft.com/office/drawing/2014/main" id="{605B1D84-449D-CDE7-389B-CE7D4BCCFA75}"/>
                    </a:ext>
                  </a:extLst>
                </p:cNvPr>
                <p:cNvSpPr/>
                <p:nvPr/>
              </p:nvSpPr>
              <p:spPr>
                <a:xfrm>
                  <a:off x="7721599" y="5762171"/>
                  <a:ext cx="3468915" cy="5950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Weight fades with </a:t>
                  </a:r>
                  <a14:m>
                    <m:oMath xmlns:m="http://schemas.openxmlformats.org/officeDocument/2006/math">
                      <m:r>
                        <a:rPr lang="en-US" sz="1600" b="0" i="1" smtClean="0">
                          <a:latin typeface="Cambria Math" panose="02040503050406030204" pitchFamily="18" charset="0"/>
                        </a:rPr>
                        <m:t>𝜆</m:t>
                      </m:r>
                    </m:oMath>
                  </a14:m>
                  <a:r>
                    <a:rPr lang="en-US" sz="1600" dirty="0"/>
                    <a:t> with each step</a:t>
                  </a:r>
                </a:p>
              </p:txBody>
            </p:sp>
          </mc:Choice>
          <mc:Fallback xmlns="">
            <p:sp>
              <p:nvSpPr>
                <p:cNvPr id="13" name="Arrow: Right 12" descr="Weight fades with lambda with each step">
                  <a:extLst>
                    <a:ext uri="{FF2B5EF4-FFF2-40B4-BE49-F238E27FC236}">
                      <a16:creationId xmlns:a16="http://schemas.microsoft.com/office/drawing/2014/main" id="{605B1D84-449D-CDE7-389B-CE7D4BCCFA75}"/>
                    </a:ext>
                  </a:extLst>
                </p:cNvPr>
                <p:cNvSpPr>
                  <a:spLocks noRot="1" noChangeAspect="1" noMove="1" noResize="1" noEditPoints="1" noAdjustHandles="1" noChangeArrowheads="1" noChangeShapeType="1" noTextEdit="1"/>
                </p:cNvSpPr>
                <p:nvPr/>
              </p:nvSpPr>
              <p:spPr>
                <a:xfrm>
                  <a:off x="7721599" y="5762171"/>
                  <a:ext cx="3468915" cy="595085"/>
                </a:xfrm>
                <a:prstGeom prst="rightArrow">
                  <a:avLst/>
                </a:prstGeom>
                <a:blipFill>
                  <a:blip r:embed="rId6"/>
                  <a:stretch>
                    <a:fillRect/>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1BD9B5C7-FCFF-D5C7-EA13-2E6FEC687214}"/>
                </a:ext>
                <a:ext uri="{C183D7F6-B498-43B3-948B-1728B52AA6E4}">
                  <adec:decorative xmlns:adec="http://schemas.microsoft.com/office/drawing/2017/decorative" val="1"/>
                </a:ext>
              </a:extLst>
            </p:cNvPr>
            <p:cNvSpPr/>
            <p:nvPr/>
          </p:nvSpPr>
          <p:spPr>
            <a:xfrm>
              <a:off x="7467600" y="732971"/>
              <a:ext cx="4572000" cy="5834743"/>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3" name="Content Placeholder 2" descr="TD (lambda) uses a compound return called the lambda -return as the update target: G sub t, to the power lambda, equals (1 minus lambda) the sum over n equals 1 to infinity, of lambda to the power n minus 1, G sub t:t plus n. Special cases:. TD(0) with lambda equals 0 uses only first component. One-step TD update. TD(1) with lambda equals 1 uses only the last component. MC update">
                <a:extLst>
                  <a:ext uri="{FF2B5EF4-FFF2-40B4-BE49-F238E27FC236}">
                    <a16:creationId xmlns:a16="http://schemas.microsoft.com/office/drawing/2014/main" id="{7228D6DE-1398-3B3A-B0C9-B83074E88D85}"/>
                  </a:ext>
                </a:extLst>
              </p:cNvPr>
              <p:cNvSpPr>
                <a:spLocks noGrp="1"/>
              </p:cNvSpPr>
              <p:nvPr>
                <p:ph idx="1"/>
              </p:nvPr>
            </p:nvSpPr>
            <p:spPr>
              <a:xfrm>
                <a:off x="838200" y="1458491"/>
                <a:ext cx="6176853" cy="4779633"/>
              </a:xfrm>
            </p:spPr>
            <p:txBody>
              <a:bodyPr/>
              <a:lstStyle/>
              <a:p>
                <a:r>
                  <a:rPr lang="en-US" dirty="0"/>
                  <a:t>TD</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m:t>
                    </m:r>
                  </m:oMath>
                </a14:m>
                <a:r>
                  <a:rPr lang="en-US" b="1" i="1" dirty="0">
                    <a:latin typeface="Cambria Math" panose="02040503050406030204" pitchFamily="18" charset="0"/>
                  </a:rPr>
                  <a:t> </a:t>
                </a:r>
                <a:r>
                  <a:rPr lang="en-US" dirty="0"/>
                  <a:t>uses a compound return called the </a:t>
                </a:r>
                <a14:m>
                  <m:oMath xmlns:m="http://schemas.openxmlformats.org/officeDocument/2006/math">
                    <m:r>
                      <a:rPr lang="en-US" b="1" i="1">
                        <a:latin typeface="Cambria Math" panose="02040503050406030204" pitchFamily="18" charset="0"/>
                      </a:rPr>
                      <m:t>𝝀</m:t>
                    </m:r>
                  </m:oMath>
                </a14:m>
                <a:r>
                  <a:rPr lang="en-US" b="1" dirty="0"/>
                  <a:t>-return </a:t>
                </a:r>
                <a:r>
                  <a:rPr lang="en-US" dirty="0"/>
                  <a:t>as the update target: </a:t>
                </a:r>
                <a:br>
                  <a:rPr lang="en-US" b="0" i="1" dirty="0">
                    <a:latin typeface="Cambria Math" panose="02040503050406030204" pitchFamily="18" charset="0"/>
                  </a:rPr>
                </a:b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𝐺</m:t>
                        </m:r>
                      </m:e>
                      <m:sub>
                        <m:r>
                          <a:rPr lang="en-US" b="0" i="1" smtClean="0">
                            <a:latin typeface="Cambria Math" panose="02040503050406030204" pitchFamily="18" charset="0"/>
                          </a:rPr>
                          <m:t>𝑡</m:t>
                        </m:r>
                      </m:sub>
                      <m:sup>
                        <m:r>
                          <a:rPr lang="en-US" b="0" i="1" smtClean="0">
                            <a:latin typeface="Cambria Math" panose="02040503050406030204" pitchFamily="18" charset="0"/>
                          </a:rPr>
                          <m:t>𝜆</m:t>
                        </m:r>
                      </m:sup>
                    </m:sSubSup>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𝜆</m:t>
                        </m:r>
                      </m:e>
                    </m:d>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𝑛</m:t>
                        </m:r>
                        <m:r>
                          <a:rPr lang="en-US" b="0" i="1" smtClean="0">
                            <a:latin typeface="Cambria Math" panose="02040503050406030204" pitchFamily="18" charset="0"/>
                          </a:rPr>
                          <m:t>=1</m:t>
                        </m:r>
                      </m:sub>
                      <m:sup>
                        <m:r>
                          <a:rPr lang="en-US" b="0" i="1" smtClean="0">
                            <a:latin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𝑛</m:t>
                            </m:r>
                            <m:r>
                              <a:rPr lang="en-US" b="0" i="1" smtClean="0">
                                <a:latin typeface="Cambria Math" panose="02040503050406030204" pitchFamily="18" charset="0"/>
                              </a:rPr>
                              <m:t>−1</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𝑛</m:t>
                            </m:r>
                          </m:sub>
                        </m:sSub>
                      </m:e>
                    </m:nary>
                  </m:oMath>
                </a14:m>
                <a:endParaRPr lang="en-US" dirty="0"/>
              </a:p>
              <a:p>
                <a:endParaRPr lang="en-US" dirty="0"/>
              </a:p>
              <a:p>
                <a:r>
                  <a:rPr lang="en-US" dirty="0"/>
                  <a:t>Special cases:</a:t>
                </a:r>
              </a:p>
              <a:p>
                <a:pPr lvl="1"/>
                <a:r>
                  <a:rPr lang="en-US" b="1" dirty="0"/>
                  <a:t>TD(0) </a:t>
                </a:r>
                <a:r>
                  <a:rPr lang="en-US" dirty="0"/>
                  <a:t>with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=0</m:t>
                    </m:r>
                  </m:oMath>
                </a14:m>
                <a:r>
                  <a:rPr lang="en-US" dirty="0"/>
                  <a:t> uses only first component. One-step TD update.</a:t>
                </a:r>
              </a:p>
              <a:p>
                <a:pPr lvl="1"/>
                <a:r>
                  <a:rPr lang="en-US" b="1" dirty="0"/>
                  <a:t>TD(1) </a:t>
                </a:r>
                <a:r>
                  <a:rPr lang="en-US" dirty="0"/>
                  <a:t>with </a:t>
                </a:r>
                <a14:m>
                  <m:oMath xmlns:m="http://schemas.openxmlformats.org/officeDocument/2006/math">
                    <m:r>
                      <a:rPr lang="en-US" i="1">
                        <a:latin typeface="Cambria Math" panose="02040503050406030204" pitchFamily="18" charset="0"/>
                      </a:rPr>
                      <m:t>𝜆</m:t>
                    </m:r>
                    <m:r>
                      <a:rPr lang="en-US" i="1">
                        <a:latin typeface="Cambria Math" panose="02040503050406030204" pitchFamily="18" charset="0"/>
                      </a:rPr>
                      <m:t>=1</m:t>
                    </m:r>
                  </m:oMath>
                </a14:m>
                <a:r>
                  <a:rPr lang="en-US" dirty="0"/>
                  <a:t> uses only the last component. MC update.</a:t>
                </a:r>
              </a:p>
              <a:p>
                <a:pPr lvl="1"/>
                <a:endParaRPr lang="en-US" dirty="0"/>
              </a:p>
            </p:txBody>
          </p:sp>
        </mc:Choice>
        <mc:Fallback xmlns="">
          <p:sp>
            <p:nvSpPr>
              <p:cNvPr id="3" name="Content Placeholder 2" descr="TD (lambda) uses a compound return called the lambda -return as the update target: G sub t, to the power lambda, equals (1 minus lambda) the sum over n equals 1 to infinity, of lambda to the power n minus 1, G sub t:t plus n. Special cases:. TD(0) with lambda equals 0 uses only first component. One-step TD update. TD(1) with lambda equals 1 uses only the last component. MC update">
                <a:extLst>
                  <a:ext uri="{FF2B5EF4-FFF2-40B4-BE49-F238E27FC236}">
                    <a16:creationId xmlns:a16="http://schemas.microsoft.com/office/drawing/2014/main" id="{7228D6DE-1398-3B3A-B0C9-B83074E88D85}"/>
                  </a:ext>
                </a:extLst>
              </p:cNvPr>
              <p:cNvSpPr>
                <a:spLocks noGrp="1" noRot="1" noChangeAspect="1" noMove="1" noResize="1" noEditPoints="1" noAdjustHandles="1" noChangeArrowheads="1" noChangeShapeType="1" noTextEdit="1"/>
              </p:cNvSpPr>
              <p:nvPr>
                <p:ph idx="1"/>
              </p:nvPr>
            </p:nvSpPr>
            <p:spPr>
              <a:xfrm>
                <a:off x="838200" y="1458491"/>
                <a:ext cx="6176853" cy="4779633"/>
              </a:xfrm>
              <a:blipFill>
                <a:blip r:embed="rId7"/>
                <a:stretch>
                  <a:fillRect l="-1777" t="-2168" r="-2863"/>
                </a:stretch>
              </a:blipFill>
            </p:spPr>
            <p:txBody>
              <a:bodyPr/>
              <a:lstStyle/>
              <a:p>
                <a:r>
                  <a:rPr lang="en-US">
                    <a:noFill/>
                  </a:rPr>
                  <a:t> </a:t>
                </a:r>
              </a:p>
            </p:txBody>
          </p:sp>
        </mc:Fallback>
      </mc:AlternateContent>
      <p:sp>
        <p:nvSpPr>
          <p:cNvPr id="20" name="Speech Bubble: Rectangle with Corners Rounded 19">
            <a:extLst>
              <a:ext uri="{FF2B5EF4-FFF2-40B4-BE49-F238E27FC236}">
                <a16:creationId xmlns:a16="http://schemas.microsoft.com/office/drawing/2014/main" id="{4C434FD8-8A11-6911-301B-29866AEE6CE0}"/>
              </a:ext>
            </a:extLst>
          </p:cNvPr>
          <p:cNvSpPr/>
          <p:nvPr/>
        </p:nvSpPr>
        <p:spPr>
          <a:xfrm>
            <a:off x="7535959" y="1458491"/>
            <a:ext cx="1369771" cy="488611"/>
          </a:xfrm>
          <a:prstGeom prst="wedgeRoundRectCallout">
            <a:avLst>
              <a:gd name="adj1" fmla="val -28539"/>
              <a:gd name="adj2" fmla="val 82500"/>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One-step TD update</a:t>
            </a:r>
          </a:p>
        </p:txBody>
      </p:sp>
      <p:sp>
        <p:nvSpPr>
          <p:cNvPr id="21" name="Speech Bubble: Rectangle with Corners Rounded 20">
            <a:extLst>
              <a:ext uri="{FF2B5EF4-FFF2-40B4-BE49-F238E27FC236}">
                <a16:creationId xmlns:a16="http://schemas.microsoft.com/office/drawing/2014/main" id="{2F87CCE9-8FC0-3D6F-A5B8-9DC3C4AB13A2}"/>
              </a:ext>
            </a:extLst>
          </p:cNvPr>
          <p:cNvSpPr/>
          <p:nvPr/>
        </p:nvSpPr>
        <p:spPr>
          <a:xfrm>
            <a:off x="10714534" y="1656301"/>
            <a:ext cx="1216208" cy="267554"/>
          </a:xfrm>
          <a:prstGeom prst="wedgeRoundRectCallout">
            <a:avLst>
              <a:gd name="adj1" fmla="val -25937"/>
              <a:gd name="adj2" fmla="val 119520"/>
              <a:gd name="adj3" fmla="val 16667"/>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MC update</a:t>
            </a:r>
          </a:p>
        </p:txBody>
      </p:sp>
    </p:spTree>
    <p:extLst>
      <p:ext uri="{BB962C8B-B14F-4D97-AF65-F5344CB8AC3E}">
        <p14:creationId xmlns:p14="http://schemas.microsoft.com/office/powerpoint/2010/main" val="1584353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7493F-084F-943F-45CA-5A04C19F13C5}"/>
              </a:ext>
            </a:extLst>
          </p:cNvPr>
          <p:cNvSpPr>
            <a:spLocks noGrp="1"/>
          </p:cNvSpPr>
          <p:nvPr>
            <p:ph type="title"/>
          </p:nvPr>
        </p:nvSpPr>
        <p:spPr>
          <a:xfrm>
            <a:off x="838200" y="365126"/>
            <a:ext cx="7056977" cy="759072"/>
          </a:xfrm>
        </p:spPr>
        <p:txBody>
          <a:bodyPr>
            <a:normAutofit fontScale="90000"/>
          </a:bodyPr>
          <a:lstStyle/>
          <a:p>
            <a:r>
              <a:rPr lang="en-US" dirty="0"/>
              <a:t>Exponential Weighting Scheme</a:t>
            </a:r>
          </a:p>
        </p:txBody>
      </p:sp>
      <mc:AlternateContent xmlns:mc="http://schemas.openxmlformats.org/markup-compatibility/2006" xmlns:a14="http://schemas.microsoft.com/office/drawing/2010/main">
        <mc:Choice Requires="a14">
          <p:sp>
            <p:nvSpPr>
              <p:cNvPr id="3" name="Content Placeholder 2" descr="Equation: G sub t, to the power lambda, equals (1 minus lambda) the sum over n equals 1 to T minus t minus 1, of lambda to the power n minus 1, G sub t:t plus n, plus lambda to the power T minus t minus 1, G sub t">
                <a:extLst>
                  <a:ext uri="{FF2B5EF4-FFF2-40B4-BE49-F238E27FC236}">
                    <a16:creationId xmlns:a16="http://schemas.microsoft.com/office/drawing/2014/main" id="{04AAA2C3-60F6-CDD1-D386-D7D3B48F8E60}"/>
                  </a:ext>
                </a:extLst>
              </p:cNvPr>
              <p:cNvSpPr>
                <a:spLocks noGrp="1"/>
              </p:cNvSpPr>
              <p:nvPr>
                <p:ph idx="1"/>
              </p:nvPr>
            </p:nvSpPr>
            <p:spPr>
              <a:xfrm>
                <a:off x="994484" y="1283363"/>
                <a:ext cx="6566941" cy="1106026"/>
              </a:xfrm>
            </p:spPr>
            <p:txBody>
              <a:bodyPr>
                <a:normAutofit fontScale="92500"/>
              </a:bodyPr>
              <a:lstStyle/>
              <a:p>
                <a:pPr marL="0" indent="0">
                  <a:buNone/>
                </a:pPr>
                <a14:m>
                  <m:oMathPara xmlns:m="http://schemas.openxmlformats.org/officeDocument/2006/math">
                    <m:oMath>
                      <m:sSubSup>
                        <m:sSubSupPr>
                          <m:ctrlPr>
                            <a:rPr lang="en-US" i="1">
                              <a:latin typeface="Cambria Math" panose="02040503050406030204" pitchFamily="18" charset="0"/>
                            </a:rPr>
                          </m:ctrlPr>
                        </m:sSubSupPr>
                        <m:e>
                          <m:r>
                            <a:rPr lang="en-US" i="1">
                              <a:latin typeface="Cambria Math" panose="02040503050406030204" pitchFamily="18" charset="0"/>
                            </a:rPr>
                            <m:t>𝐺</m:t>
                          </m:r>
                        </m:e>
                        <m:sub>
                          <m:r>
                            <a:rPr lang="en-US" i="1">
                              <a:latin typeface="Cambria Math" panose="02040503050406030204" pitchFamily="18" charset="0"/>
                            </a:rPr>
                            <m:t>𝑡</m:t>
                          </m:r>
                        </m:sub>
                        <m:sup>
                          <m:r>
                            <a:rPr lang="en-US" i="1">
                              <a:latin typeface="Cambria Math" panose="02040503050406030204" pitchFamily="18" charset="0"/>
                            </a:rPr>
                            <m:t>𝜆</m:t>
                          </m:r>
                        </m:sup>
                      </m:sSubSup>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𝜆</m:t>
                          </m:r>
                        </m:e>
                      </m:d>
                      <m:nary>
                        <m:naryPr>
                          <m:chr m:val="∑"/>
                          <m:ctrlPr>
                            <a:rPr lang="en-US" i="1">
                              <a:latin typeface="Cambria Math" panose="02040503050406030204" pitchFamily="18" charset="0"/>
                            </a:rPr>
                          </m:ctrlPr>
                        </m:naryPr>
                        <m:sub>
                          <m:r>
                            <a:rPr lang="en-US" i="1">
                              <a:latin typeface="Cambria Math" panose="02040503050406030204" pitchFamily="18" charset="0"/>
                            </a:rPr>
                            <m:t>𝑛</m:t>
                          </m:r>
                          <m:r>
                            <a:rPr lang="en-US" i="1">
                              <a:latin typeface="Cambria Math" panose="02040503050406030204" pitchFamily="18" charset="0"/>
                            </a:rPr>
                            <m:t>=1</m:t>
                          </m:r>
                        </m:sub>
                        <m:sup>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sup>
                        <m:e>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𝑛</m:t>
                              </m:r>
                              <m:r>
                                <a:rPr lang="en-US" i="1">
                                  <a:latin typeface="Cambria Math" panose="02040503050406030204" pitchFamily="18" charset="0"/>
                                </a:rPr>
                                <m:t>−1</m:t>
                              </m:r>
                            </m:sup>
                          </m:sSup>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Sub>
                        </m:e>
                      </m:nary>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𝜆</m:t>
                          </m:r>
                        </m:e>
                        <m:sup>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m:oMathPara>
                </a14:m>
                <a:endParaRPr lang="en-US" dirty="0"/>
              </a:p>
            </p:txBody>
          </p:sp>
        </mc:Choice>
        <mc:Fallback xmlns="">
          <p:sp>
            <p:nvSpPr>
              <p:cNvPr id="3" name="Content Placeholder 2" descr="Equation: G sub t, to the power lambda, equals (1 minus lambda) the sum over n equals 1 to T minus t minus 1, of lambda to the power n minus 1, G sub t:t plus n, plus lambda to the power T minus t minus 1, G sub t">
                <a:extLst>
                  <a:ext uri="{FF2B5EF4-FFF2-40B4-BE49-F238E27FC236}">
                    <a16:creationId xmlns:a16="http://schemas.microsoft.com/office/drawing/2014/main" id="{04AAA2C3-60F6-CDD1-D386-D7D3B48F8E60}"/>
                  </a:ext>
                </a:extLst>
              </p:cNvPr>
              <p:cNvSpPr>
                <a:spLocks noGrp="1" noRot="1" noChangeAspect="1" noMove="1" noResize="1" noEditPoints="1" noAdjustHandles="1" noChangeArrowheads="1" noChangeShapeType="1" noTextEdit="1"/>
              </p:cNvSpPr>
              <p:nvPr>
                <p:ph idx="1"/>
              </p:nvPr>
            </p:nvSpPr>
            <p:spPr>
              <a:xfrm>
                <a:off x="994484" y="1283363"/>
                <a:ext cx="6566941" cy="1106026"/>
              </a:xfrm>
              <a:blipFill>
                <a:blip r:embed="rId2"/>
                <a:stretch>
                  <a:fillRect/>
                </a:stretch>
              </a:blipFill>
            </p:spPr>
            <p:txBody>
              <a:bodyPr/>
              <a:lstStyle/>
              <a:p>
                <a:r>
                  <a:rPr lang="en-US">
                    <a:noFill/>
                  </a:rPr>
                  <a:t> </a:t>
                </a:r>
              </a:p>
            </p:txBody>
          </p:sp>
        </mc:Fallback>
      </mc:AlternateContent>
      <p:grpSp>
        <p:nvGrpSpPr>
          <p:cNvPr id="4" name="Group 3" descr="Backup diagram for TD(lambda) (Sutton and Barto Figure 12.1): a row of n-step backups, each a chain from S_t through actions and states. The 1-step backup is weighted 1 − lambda, the 2-step backup (1 − lambda) lambda, the 3-step backup (1 − lambda) lambda squared, and so on; the final chain runs all the way to the terminal state S_T with reward R_T and gets weight lambda to the power T − t − 1. The weights sum to 1. Labels: Backup diagram Weighting of the components of the lambda -return.">
            <a:extLst>
              <a:ext uri="{FF2B5EF4-FFF2-40B4-BE49-F238E27FC236}">
                <a16:creationId xmlns:a16="http://schemas.microsoft.com/office/drawing/2014/main" id="{8504A251-7A4B-B5D1-0D08-FD48C5DDB09E}"/>
              </a:ext>
            </a:extLst>
          </p:cNvPr>
          <p:cNvGrpSpPr/>
          <p:nvPr/>
        </p:nvGrpSpPr>
        <p:grpSpPr>
          <a:xfrm>
            <a:off x="7717709" y="350727"/>
            <a:ext cx="3892174" cy="4077325"/>
            <a:chOff x="7245518" y="732971"/>
            <a:chExt cx="4870635" cy="5144409"/>
          </a:xfrm>
        </p:grpSpPr>
        <p:pic>
          <p:nvPicPr>
            <p:cNvPr id="5" name="Picture 4" descr="Backup diagram for TD(lambda) (Sutton and Barto Figure 12.1): a row of n-step backups, each a chain from S_t through actions and states. The 1-step backup is weighted 1 − lambda, the 2-step backup (1 − lambda) lambda, the 3-step backup (1 − lambda) lambda squared, and so on; the final chain runs all the way to the terminal state S_T with reward R_T and gets weight lambda to the power T − t − 1. The weights sum to 1.">
              <a:extLst>
                <a:ext uri="{FF2B5EF4-FFF2-40B4-BE49-F238E27FC236}">
                  <a16:creationId xmlns:a16="http://schemas.microsoft.com/office/drawing/2014/main" id="{18174B41-EE6C-E138-A680-C04898DE2B31}"/>
                </a:ext>
              </a:extLst>
            </p:cNvPr>
            <p:cNvPicPr>
              <a:picLocks noChangeAspect="1"/>
            </p:cNvPicPr>
            <p:nvPr/>
          </p:nvPicPr>
          <p:blipFill>
            <a:blip r:embed="rId3"/>
            <a:stretch>
              <a:fillRect/>
            </a:stretch>
          </p:blipFill>
          <p:spPr>
            <a:xfrm>
              <a:off x="7245518" y="1661230"/>
              <a:ext cx="4870635" cy="4054445"/>
            </a:xfrm>
            <a:prstGeom prst="rect">
              <a:avLst/>
            </a:prstGeom>
          </p:spPr>
        </p:pic>
        <mc:AlternateContent xmlns:mc="http://schemas.openxmlformats.org/markup-compatibility/2006" xmlns:a14="http://schemas.microsoft.com/office/drawing/2010/main">
          <mc:Choice Requires="a14">
            <p:sp>
              <p:nvSpPr>
                <p:cNvPr id="6" name="TextBox 5" descr="Backup diagram Weighting of the components of the lambda -return">
                  <a:extLst>
                    <a:ext uri="{FF2B5EF4-FFF2-40B4-BE49-F238E27FC236}">
                      <a16:creationId xmlns:a16="http://schemas.microsoft.com/office/drawing/2014/main" id="{5D4BDE7A-2510-E893-AFB7-8D27DACA9354}"/>
                    </a:ext>
                  </a:extLst>
                </p:cNvPr>
                <p:cNvSpPr txBox="1"/>
                <p:nvPr/>
              </p:nvSpPr>
              <p:spPr>
                <a:xfrm>
                  <a:off x="7721599" y="732971"/>
                  <a:ext cx="4209143" cy="923330"/>
                </a:xfrm>
                <a:prstGeom prst="rect">
                  <a:avLst/>
                </a:prstGeom>
                <a:noFill/>
              </p:spPr>
              <p:txBody>
                <a:bodyPr wrap="square" rtlCol="0">
                  <a:spAutoFit/>
                </a:bodyPr>
                <a:lstStyle/>
                <a:p>
                  <a:pPr algn="ctr"/>
                  <a:r>
                    <a:rPr lang="en-US" b="1" dirty="0"/>
                    <a:t>Backup diagram </a:t>
                  </a:r>
                  <a:br>
                    <a:rPr lang="en-US" b="1" dirty="0"/>
                  </a:br>
                  <a:r>
                    <a:rPr lang="en-US" dirty="0"/>
                    <a:t>Weighting of the components </a:t>
                  </a:r>
                  <a:br>
                    <a:rPr lang="en-US" dirty="0"/>
                  </a:br>
                  <a:r>
                    <a:rPr lang="en-US" dirty="0"/>
                    <a:t>of the </a:t>
                  </a:r>
                  <a14:m>
                    <m:oMath xmlns:m="http://schemas.openxmlformats.org/officeDocument/2006/math">
                      <m:r>
                        <a:rPr lang="en-US" b="0" i="1">
                          <a:latin typeface="Cambria Math" panose="02040503050406030204" pitchFamily="18" charset="0"/>
                        </a:rPr>
                        <m:t>𝜆</m:t>
                      </m:r>
                    </m:oMath>
                  </a14:m>
                  <a:r>
                    <a:rPr lang="en-US" dirty="0"/>
                    <a:t>-return </a:t>
                  </a:r>
                </a:p>
              </p:txBody>
            </p:sp>
          </mc:Choice>
          <mc:Fallback xmlns="">
            <p:sp>
              <p:nvSpPr>
                <p:cNvPr id="6" name="TextBox 5" descr="Backup diagram Weighting of the components of the lambda -return">
                  <a:extLst>
                    <a:ext uri="{FF2B5EF4-FFF2-40B4-BE49-F238E27FC236}">
                      <a16:creationId xmlns:a16="http://schemas.microsoft.com/office/drawing/2014/main" id="{5D4BDE7A-2510-E893-AFB7-8D27DACA9354}"/>
                    </a:ext>
                  </a:extLst>
                </p:cNvPr>
                <p:cNvSpPr txBox="1">
                  <a:spLocks noRot="1" noChangeAspect="1" noMove="1" noResize="1" noEditPoints="1" noAdjustHandles="1" noChangeArrowheads="1" noChangeShapeType="1" noTextEdit="1"/>
                </p:cNvSpPr>
                <p:nvPr/>
              </p:nvSpPr>
              <p:spPr>
                <a:xfrm>
                  <a:off x="7721599" y="732971"/>
                  <a:ext cx="4209143" cy="923330"/>
                </a:xfrm>
                <a:prstGeom prst="rect">
                  <a:avLst/>
                </a:prstGeom>
                <a:blipFill>
                  <a:blip r:embed="rId5"/>
                  <a:stretch>
                    <a:fillRect t="-4167" b="-39167"/>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029A43E5-8E1D-3156-AA65-CF4343161354}"/>
                </a:ext>
                <a:ext uri="{C183D7F6-B498-43B3-948B-1728B52AA6E4}">
                  <adec:decorative xmlns:adec="http://schemas.microsoft.com/office/drawing/2017/decorative" val="1"/>
                </a:ext>
              </a:extLst>
            </p:cNvPr>
            <p:cNvSpPr/>
            <p:nvPr/>
          </p:nvSpPr>
          <p:spPr>
            <a:xfrm>
              <a:off x="7467600" y="732971"/>
              <a:ext cx="4572000" cy="514440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pic>
        <p:nvPicPr>
          <p:cNvPr id="19" name="Picture 18" descr="Weighting of n-step returns in the lambda-return (Sutton and Barto Figure 12.2): a curve over time from t to T that starts at height 1 − lambda and decays by a factor of lambda at each step, dividing the area under it into vertical strips with total area 1. One hatched strip is labelled: weight given to the 3-step return is (1 − lambda) lambda squared. All the remaining weight after the episode ends at T, a hatched tail, is labelled: weight given to actual, final return is lambda to the power T − t − 1.">
            <a:extLst>
              <a:ext uri="{FF2B5EF4-FFF2-40B4-BE49-F238E27FC236}">
                <a16:creationId xmlns:a16="http://schemas.microsoft.com/office/drawing/2014/main" id="{C1A5070E-8687-C3E9-A4FA-E23EB540871C}"/>
              </a:ext>
            </a:extLst>
          </p:cNvPr>
          <p:cNvPicPr>
            <a:picLocks noChangeAspect="1"/>
          </p:cNvPicPr>
          <p:nvPr/>
        </p:nvPicPr>
        <p:blipFill>
          <a:blip r:embed="rId6"/>
          <a:stretch>
            <a:fillRect/>
          </a:stretch>
        </p:blipFill>
        <p:spPr>
          <a:xfrm>
            <a:off x="0" y="3180942"/>
            <a:ext cx="8910169" cy="3382170"/>
          </a:xfrm>
          <a:prstGeom prst="rect">
            <a:avLst/>
          </a:prstGeom>
        </p:spPr>
      </p:pic>
      <p:sp>
        <p:nvSpPr>
          <p:cNvPr id="14" name="Rectangle 13">
            <a:extLst>
              <a:ext uri="{FF2B5EF4-FFF2-40B4-BE49-F238E27FC236}">
                <a16:creationId xmlns:a16="http://schemas.microsoft.com/office/drawing/2014/main" id="{48B37684-C8C2-C840-CC19-2BA080EE3D18}"/>
              </a:ext>
              <a:ext uri="{C183D7F6-B498-43B3-948B-1728B52AA6E4}">
                <adec:decorative xmlns:adec="http://schemas.microsoft.com/office/drawing/2017/decorative" val="1"/>
              </a:ext>
            </a:extLst>
          </p:cNvPr>
          <p:cNvSpPr/>
          <p:nvPr/>
        </p:nvSpPr>
        <p:spPr>
          <a:xfrm>
            <a:off x="8027234" y="1409075"/>
            <a:ext cx="2372924" cy="2890814"/>
          </a:xfrm>
          <a:prstGeom prst="rect">
            <a:avLst/>
          </a:prstGeom>
          <a:solidFill>
            <a:srgbClr val="196B24">
              <a:alpha val="20000"/>
            </a:srgb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A504A16-EAD0-6655-A5AD-7A2BCDE89836}"/>
              </a:ext>
              <a:ext uri="{C183D7F6-B498-43B3-948B-1728B52AA6E4}">
                <adec:decorative xmlns:adec="http://schemas.microsoft.com/office/drawing/2017/decorative" val="1"/>
              </a:ext>
            </a:extLst>
          </p:cNvPr>
          <p:cNvSpPr/>
          <p:nvPr/>
        </p:nvSpPr>
        <p:spPr>
          <a:xfrm>
            <a:off x="10545580" y="1410779"/>
            <a:ext cx="916139" cy="2889110"/>
          </a:xfrm>
          <a:prstGeom prst="rect">
            <a:avLst/>
          </a:prstGeom>
          <a:solidFill>
            <a:srgbClr val="E97132">
              <a:alpha val="20000"/>
            </a:srgb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E16ACD39-94C7-E93B-CFA7-78B554F7210E}"/>
              </a:ext>
              <a:ext uri="{C183D7F6-B498-43B3-948B-1728B52AA6E4}">
                <adec:decorative xmlns:adec="http://schemas.microsoft.com/office/drawing/2017/decorative" val="1"/>
              </a:ext>
            </a:extLst>
          </p:cNvPr>
          <p:cNvGrpSpPr/>
          <p:nvPr/>
        </p:nvGrpSpPr>
        <p:grpSpPr>
          <a:xfrm>
            <a:off x="3295627" y="2195680"/>
            <a:ext cx="4521408" cy="769809"/>
            <a:chOff x="2607084" y="2310989"/>
            <a:chExt cx="4521408" cy="769809"/>
          </a:xfrm>
        </p:grpSpPr>
        <p:sp>
          <p:nvSpPr>
            <p:cNvPr id="10" name="Right Brace 9">
              <a:extLst>
                <a:ext uri="{FF2B5EF4-FFF2-40B4-BE49-F238E27FC236}">
                  <a16:creationId xmlns:a16="http://schemas.microsoft.com/office/drawing/2014/main" id="{9BF4B60D-FCB5-2B25-ED94-390F8DFFBC66}"/>
                </a:ext>
                <a:ext uri="{C183D7F6-B498-43B3-948B-1728B52AA6E4}">
                  <adec:decorative xmlns:adec="http://schemas.microsoft.com/office/drawing/2017/decorative" val="1"/>
                </a:ext>
              </a:extLst>
            </p:cNvPr>
            <p:cNvSpPr/>
            <p:nvPr/>
          </p:nvSpPr>
          <p:spPr>
            <a:xfrm rot="5400000">
              <a:off x="3627441" y="1541360"/>
              <a:ext cx="186529" cy="222724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Right Brace 10">
              <a:extLst>
                <a:ext uri="{FF2B5EF4-FFF2-40B4-BE49-F238E27FC236}">
                  <a16:creationId xmlns:a16="http://schemas.microsoft.com/office/drawing/2014/main" id="{7BF2A84D-DF47-76B2-0747-3E42761FF1AF}"/>
                </a:ext>
                <a:ext uri="{C183D7F6-B498-43B3-948B-1728B52AA6E4}">
                  <adec:decorative xmlns:adec="http://schemas.microsoft.com/office/drawing/2017/decorative" val="1"/>
                </a:ext>
              </a:extLst>
            </p:cNvPr>
            <p:cNvSpPr/>
            <p:nvPr/>
          </p:nvSpPr>
          <p:spPr>
            <a:xfrm rot="5400000">
              <a:off x="6205043" y="2098366"/>
              <a:ext cx="206761" cy="63200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descr="n -step return">
                  <a:extLst>
                    <a:ext uri="{FF2B5EF4-FFF2-40B4-BE49-F238E27FC236}">
                      <a16:creationId xmlns:a16="http://schemas.microsoft.com/office/drawing/2014/main" id="{853037F1-6566-4F45-221C-AA040D294CB4}"/>
                    </a:ext>
                  </a:extLst>
                </p:cNvPr>
                <p:cNvSpPr txBox="1"/>
                <p:nvPr/>
              </p:nvSpPr>
              <p:spPr>
                <a:xfrm>
                  <a:off x="2864128" y="2711466"/>
                  <a:ext cx="1811985"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14:m>
                    <m:oMath xmlns:m="http://schemas.openxmlformats.org/officeDocument/2006/math">
                      <m:r>
                        <a:rPr lang="en-US" i="1" dirty="0" smtClean="0">
                          <a:latin typeface="Cambria Math" panose="02040503050406030204" pitchFamily="18" charset="0"/>
                        </a:rPr>
                        <m:t>𝑛</m:t>
                      </m:r>
                    </m:oMath>
                  </a14:m>
                  <a:r>
                    <a:rPr lang="en-US" dirty="0"/>
                    <a:t>-step return</a:t>
                  </a:r>
                </a:p>
              </p:txBody>
            </p:sp>
          </mc:Choice>
          <mc:Fallback xmlns="">
            <p:sp>
              <p:nvSpPr>
                <p:cNvPr id="12" name="TextBox 11" descr="n -step return">
                  <a:extLst>
                    <a:ext uri="{FF2B5EF4-FFF2-40B4-BE49-F238E27FC236}">
                      <a16:creationId xmlns:a16="http://schemas.microsoft.com/office/drawing/2014/main" id="{853037F1-6566-4F45-221C-AA040D294CB4}"/>
                    </a:ext>
                  </a:extLst>
                </p:cNvPr>
                <p:cNvSpPr txBox="1">
                  <a:spLocks noRot="1" noChangeAspect="1" noMove="1" noResize="1" noEditPoints="1" noAdjustHandles="1" noChangeArrowheads="1" noChangeShapeType="1" noTextEdit="1"/>
                </p:cNvSpPr>
                <p:nvPr/>
              </p:nvSpPr>
              <p:spPr>
                <a:xfrm>
                  <a:off x="2864128" y="2711466"/>
                  <a:ext cx="1811985" cy="369332"/>
                </a:xfrm>
                <a:prstGeom prst="rect">
                  <a:avLst/>
                </a:prstGeom>
                <a:blipFill>
                  <a:blip r:embed="rId7"/>
                  <a:stretch>
                    <a:fillRect t="-6349" b="-2381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7E8F60A7-9A6C-71A9-7242-F0B87582D6E7}"/>
                </a:ext>
              </a:extLst>
            </p:cNvPr>
            <p:cNvSpPr txBox="1"/>
            <p:nvPr/>
          </p:nvSpPr>
          <p:spPr>
            <a:xfrm>
              <a:off x="5539178" y="2563581"/>
              <a:ext cx="1589314"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MC return</a:t>
              </a:r>
            </a:p>
          </p:txBody>
        </p:sp>
      </p:grpSp>
      <p:sp>
        <p:nvSpPr>
          <p:cNvPr id="17" name="Rectangle 16">
            <a:extLst>
              <a:ext uri="{FF2B5EF4-FFF2-40B4-BE49-F238E27FC236}">
                <a16:creationId xmlns:a16="http://schemas.microsoft.com/office/drawing/2014/main" id="{349B6BEA-7DC1-B2E5-B3DC-E8D31183EC84}"/>
              </a:ext>
              <a:ext uri="{C183D7F6-B498-43B3-948B-1728B52AA6E4}">
                <adec:decorative xmlns:adec="http://schemas.microsoft.com/office/drawing/2017/decorative" val="1"/>
              </a:ext>
            </a:extLst>
          </p:cNvPr>
          <p:cNvSpPr/>
          <p:nvPr/>
        </p:nvSpPr>
        <p:spPr>
          <a:xfrm>
            <a:off x="2144237" y="3325098"/>
            <a:ext cx="3625414" cy="2656321"/>
          </a:xfrm>
          <a:prstGeom prst="rect">
            <a:avLst/>
          </a:prstGeom>
          <a:solidFill>
            <a:srgbClr val="196B24">
              <a:alpha val="20000"/>
            </a:srgb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B7AB2C4-AE24-FF40-E02E-F57FC7FF3A8F}"/>
              </a:ext>
              <a:ext uri="{C183D7F6-B498-43B3-948B-1728B52AA6E4}">
                <adec:decorative xmlns:adec="http://schemas.microsoft.com/office/drawing/2017/decorative" val="1"/>
              </a:ext>
            </a:extLst>
          </p:cNvPr>
          <p:cNvSpPr/>
          <p:nvPr/>
        </p:nvSpPr>
        <p:spPr>
          <a:xfrm>
            <a:off x="5769651" y="4589471"/>
            <a:ext cx="2804723" cy="1391948"/>
          </a:xfrm>
          <a:prstGeom prst="rect">
            <a:avLst/>
          </a:prstGeom>
          <a:solidFill>
            <a:srgbClr val="E97132">
              <a:alpha val="20000"/>
            </a:srgbClr>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1377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The Off-Line lambda -Return Algorithm">
                <a:extLst>
                  <a:ext uri="{FF2B5EF4-FFF2-40B4-BE49-F238E27FC236}">
                    <a16:creationId xmlns:a16="http://schemas.microsoft.com/office/drawing/2014/main" id="{3212F43B-E560-FE20-4625-A99C59D900BB}"/>
                  </a:ext>
                </a:extLst>
              </p:cNvPr>
              <p:cNvSpPr>
                <a:spLocks noGrp="1"/>
              </p:cNvSpPr>
              <p:nvPr>
                <p:ph type="title"/>
              </p:nvPr>
            </p:nvSpPr>
            <p:spPr/>
            <p:txBody>
              <a:bodyPr/>
              <a:lstStyle/>
              <a:p>
                <a:r>
                  <a:rPr lang="en-US" dirty="0"/>
                  <a:t>The Off-Line </a:t>
                </a:r>
                <a14:m>
                  <m:oMath xmlns:m="http://schemas.openxmlformats.org/officeDocument/2006/math">
                    <m:r>
                      <a:rPr lang="en-US" b="0" i="1" smtClean="0">
                        <a:latin typeface="Cambria Math" panose="02040503050406030204" pitchFamily="18" charset="0"/>
                      </a:rPr>
                      <m:t>𝜆</m:t>
                    </m:r>
                  </m:oMath>
                </a14:m>
                <a:r>
                  <a:rPr lang="en-US" dirty="0"/>
                  <a:t>-Return Algorithm</a:t>
                </a:r>
              </a:p>
            </p:txBody>
          </p:sp>
        </mc:Choice>
        <mc:Fallback xmlns="">
          <p:sp>
            <p:nvSpPr>
              <p:cNvPr id="2" name="Title 1" descr="The Off-Line lambda -Return Algorithm">
                <a:extLst>
                  <a:ext uri="{FF2B5EF4-FFF2-40B4-BE49-F238E27FC236}">
                    <a16:creationId xmlns:a16="http://schemas.microsoft.com/office/drawing/2014/main" id="{3212F43B-E560-FE20-4625-A99C59D900BB}"/>
                  </a:ext>
                </a:extLst>
              </p:cNvPr>
              <p:cNvSpPr>
                <a:spLocks noGrp="1" noRot="1" noChangeAspect="1" noMove="1" noResize="1" noEditPoints="1" noAdjustHandles="1" noChangeArrowheads="1" noChangeShapeType="1" noTextEdit="1"/>
              </p:cNvSpPr>
              <p:nvPr>
                <p:ph type="title"/>
              </p:nvPr>
            </p:nvSpPr>
            <p:spPr>
              <a:blipFill>
                <a:blip r:embed="rId2"/>
                <a:stretch>
                  <a:fillRect l="-2377" t="-20161" b="-354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A simplistic algorithm is to use the lambda -return as the update target for semi-gradient descent with approximation. Update: Use U sub t equals G sub t, to the power lambda as the target w sub t plus 1, equals w sub t plus alpha [G sub t, to the power lambda, minus v hat (S sub t,w sub t)] gradient of v hat (S sub t,w sub t), t equals 0, dot dot dot,T minus 1">
                <a:extLst>
                  <a:ext uri="{FF2B5EF4-FFF2-40B4-BE49-F238E27FC236}">
                    <a16:creationId xmlns:a16="http://schemas.microsoft.com/office/drawing/2014/main" id="{AC26E1ED-4D34-BE1E-1FD1-E2DAD55EE25D}"/>
                  </a:ext>
                </a:extLst>
              </p:cNvPr>
              <p:cNvSpPr>
                <a:spLocks noGrp="1"/>
              </p:cNvSpPr>
              <p:nvPr>
                <p:ph idx="1"/>
              </p:nvPr>
            </p:nvSpPr>
            <p:spPr>
              <a:xfrm>
                <a:off x="838200" y="1397332"/>
                <a:ext cx="10515600" cy="1319520"/>
              </a:xfrm>
            </p:spPr>
            <p:txBody>
              <a:bodyPr>
                <a:normAutofit fontScale="62500" lnSpcReduction="20000"/>
              </a:bodyPr>
              <a:lstStyle/>
              <a:p>
                <a:r>
                  <a:rPr lang="en-US" dirty="0"/>
                  <a:t>A simplistic algorithm is to use the </a:t>
                </a:r>
                <a14:m>
                  <m:oMath xmlns:m="http://schemas.openxmlformats.org/officeDocument/2006/math">
                    <m:r>
                      <a:rPr lang="en-US" i="1">
                        <a:latin typeface="Cambria Math" panose="02040503050406030204" pitchFamily="18" charset="0"/>
                      </a:rPr>
                      <m:t>𝜆</m:t>
                    </m:r>
                  </m:oMath>
                </a14:m>
                <a:r>
                  <a:rPr lang="en-US" dirty="0"/>
                  <a:t>-return as the update target for </a:t>
                </a:r>
                <a:r>
                  <a:rPr lang="en-US" b="1" dirty="0"/>
                  <a:t>semi-gradient descent with approximation</a:t>
                </a:r>
                <a:r>
                  <a:rPr lang="en-US" dirty="0"/>
                  <a:t>.</a:t>
                </a:r>
              </a:p>
              <a:p>
                <a:r>
                  <a:rPr lang="en-US" b="1" dirty="0"/>
                  <a:t>Update</a:t>
                </a:r>
                <a:r>
                  <a:rPr lang="en-US" dirty="0"/>
                  <a:t>: Use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𝐺</m:t>
                        </m:r>
                      </m:e>
                      <m:sub>
                        <m:r>
                          <a:rPr lang="en-US" b="0" i="1" smtClean="0">
                            <a:latin typeface="Cambria Math" panose="02040503050406030204" pitchFamily="18" charset="0"/>
                          </a:rPr>
                          <m:t>𝑡</m:t>
                        </m:r>
                      </m:sub>
                      <m:sup>
                        <m:r>
                          <a:rPr lang="en-US" b="0" i="1" smtClean="0">
                            <a:latin typeface="Cambria Math" panose="02040503050406030204" pitchFamily="18" charset="0"/>
                          </a:rPr>
                          <m:t>𝜆</m:t>
                        </m:r>
                      </m:sup>
                    </m:sSubSup>
                    <m:r>
                      <a:rPr lang="en-US" b="0" i="1" smtClean="0">
                        <a:latin typeface="Cambria Math" panose="02040503050406030204" pitchFamily="18" charset="0"/>
                      </a:rPr>
                      <m:t> </m:t>
                    </m:r>
                  </m:oMath>
                </a14:m>
                <a:r>
                  <a:rPr lang="en-US" dirty="0"/>
                  <a:t>as the target</a:t>
                </a:r>
                <a:br>
                  <a:rPr lang="en-US" dirty="0"/>
                </a:br>
                <a:br>
                  <a:rPr lang="en-US" i="1" dirty="0">
                    <a:latin typeface="Cambria Math" panose="02040503050406030204" pitchFamily="18" charset="0"/>
                  </a:rPr>
                </a:b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 </m:t>
                    </m:r>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𝛼</m:t>
                    </m:r>
                    <m:d>
                      <m:dPr>
                        <m:begChr m:val="["/>
                        <m:endChr m:val="]"/>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𝐺</m:t>
                            </m:r>
                          </m:e>
                          <m:sub>
                            <m:r>
                              <a:rPr lang="en-US" i="1">
                                <a:latin typeface="Cambria Math" panose="02040503050406030204" pitchFamily="18" charset="0"/>
                              </a:rPr>
                              <m:t>𝑡</m:t>
                            </m:r>
                          </m:sub>
                          <m:sup>
                            <m:r>
                              <a:rPr lang="en-US" i="1">
                                <a:latin typeface="Cambria Math" panose="02040503050406030204" pitchFamily="18" charset="0"/>
                              </a:rPr>
                              <m:t>𝜆</m:t>
                            </m:r>
                          </m:sup>
                        </m:sSubSup>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e>
                    </m:d>
                    <m:r>
                      <m:rPr>
                        <m:sty m:val="p"/>
                      </m:rP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𝒘</m:t>
                            </m:r>
                          </m:e>
                          <m:sub>
                            <m:r>
                              <a:rPr lang="en-US" i="1">
                                <a:latin typeface="Cambria Math" panose="02040503050406030204" pitchFamily="18" charset="0"/>
                                <a:ea typeface="Cambria Math" panose="02040503050406030204" pitchFamily="18" charset="0"/>
                              </a:rPr>
                              <m:t>𝑡</m:t>
                            </m:r>
                          </m:sub>
                        </m:sSub>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𝑇</m:t>
                    </m:r>
                    <m:r>
                      <a:rPr lang="en-US" b="0" i="1" smtClean="0">
                        <a:latin typeface="Cambria Math" panose="02040503050406030204" pitchFamily="18" charset="0"/>
                        <a:ea typeface="Cambria Math" panose="02040503050406030204" pitchFamily="18" charset="0"/>
                      </a:rPr>
                      <m:t>−1</m:t>
                    </m:r>
                  </m:oMath>
                </a14:m>
                <a:endParaRPr lang="en-US" dirty="0"/>
              </a:p>
            </p:txBody>
          </p:sp>
        </mc:Choice>
        <mc:Fallback xmlns="">
          <p:sp>
            <p:nvSpPr>
              <p:cNvPr id="3" name="Content Placeholder 2" descr="A simplistic algorithm is to use the lambda -return as the update target for semi-gradient descent with approximation. Update: Use U sub t equals G sub t, to the power lambda as the target w sub t plus 1, equals w sub t plus alpha [G sub t, to the power lambda, minus v hat (S sub t,w sub t)] gradient of v hat (S sub t,w sub t), t equals 0, dot dot dot,T minus 1">
                <a:extLst>
                  <a:ext uri="{FF2B5EF4-FFF2-40B4-BE49-F238E27FC236}">
                    <a16:creationId xmlns:a16="http://schemas.microsoft.com/office/drawing/2014/main" id="{AC26E1ED-4D34-BE1E-1FD1-E2DAD55EE25D}"/>
                  </a:ext>
                </a:extLst>
              </p:cNvPr>
              <p:cNvSpPr>
                <a:spLocks noGrp="1" noRot="1" noChangeAspect="1" noMove="1" noResize="1" noEditPoints="1" noAdjustHandles="1" noChangeArrowheads="1" noChangeShapeType="1" noTextEdit="1"/>
              </p:cNvSpPr>
              <p:nvPr>
                <p:ph idx="1"/>
              </p:nvPr>
            </p:nvSpPr>
            <p:spPr>
              <a:xfrm>
                <a:off x="838200" y="1397332"/>
                <a:ext cx="10515600" cy="1319520"/>
              </a:xfrm>
              <a:blipFill>
                <a:blip r:embed="rId3"/>
                <a:stretch>
                  <a:fillRect l="-406" t="-6912"/>
                </a:stretch>
              </a:blipFill>
            </p:spPr>
            <p:txBody>
              <a:bodyPr/>
              <a:lstStyle/>
              <a:p>
                <a:r>
                  <a:rPr lang="en-US">
                    <a:noFill/>
                  </a:rPr>
                  <a:t> </a:t>
                </a:r>
              </a:p>
            </p:txBody>
          </p:sp>
        </mc:Fallback>
      </mc:AlternateContent>
      <p:grpSp>
        <p:nvGrpSpPr>
          <p:cNvPr id="7" name="Group 6" descr="Two side-by-side line charts (Sutton and Barto Figure 12.3) of RMS error at the end of the episode over the first 10 episodes (0.25 to 0.55) against step size alpha (0 to 1) on the 19-state random walk. Left, the off-line lambda-return algorithm, one curve per lambda: lambda = 0, 0.4, 0.8, 0.9, 0.95, 0.975, 0.99 and 1; each curve is U-shaped, and the lowest error, about 0.26, is reached by lambda = 0.8 near alpha = 0.35. Larger lambda values have their minimum at smaller alpha and rise steeply. Right, n-step TD methods from Chapter 7, with n = 1, 2, 4, 8, 16, 32, 64, 128, 256 and 512; the curves look very similar, with the best error, about 0.26, for n = 4. The two families of methods perform comparably. Labels: Example: 19-state random walk value estimation task. lambda -return algorithm mimics n -step methods.">
            <a:extLst>
              <a:ext uri="{FF2B5EF4-FFF2-40B4-BE49-F238E27FC236}">
                <a16:creationId xmlns:a16="http://schemas.microsoft.com/office/drawing/2014/main" id="{06B6541E-4F61-7898-94D2-0C6B57C3A0DC}"/>
              </a:ext>
            </a:extLst>
          </p:cNvPr>
          <p:cNvGrpSpPr/>
          <p:nvPr/>
        </p:nvGrpSpPr>
        <p:grpSpPr>
          <a:xfrm>
            <a:off x="1152460" y="2765735"/>
            <a:ext cx="9669185" cy="3962956"/>
            <a:chOff x="1406047" y="2529918"/>
            <a:chExt cx="9669185" cy="3962956"/>
          </a:xfrm>
        </p:grpSpPr>
        <p:pic>
          <p:nvPicPr>
            <p:cNvPr id="5" name="Picture 4" descr="Two side-by-side line charts (Sutton and Barto Figure 12.3) of RMS error at the end of the episode over the first 10 episodes (0.25 to 0.55) against step size alpha (0 to 1) on the 19-state random walk. Left, the off-line lambda-return algorithm, one curve per lambda: lambda = 0, 0.4, 0.8, 0.9, 0.95, 0.975, 0.99 and 1; each curve is U-shaped, and the lowest error, about 0.26, is reached by lambda = 0.8 near alpha = 0.35. Larger lambda values have their minimum at smaller alpha and rise steeply. Right, n-step TD methods from Chapter 7, with n = 1, 2, 4, 8, 16, 32, 64, 128, 256 and 512; the curves look very similar, with the best error, about 0.26, for n = 4. The two families of methods perform comparably.">
              <a:extLst>
                <a:ext uri="{FF2B5EF4-FFF2-40B4-BE49-F238E27FC236}">
                  <a16:creationId xmlns:a16="http://schemas.microsoft.com/office/drawing/2014/main" id="{C4C18844-D839-BB6E-0FE0-040203E5BF2C}"/>
                </a:ext>
              </a:extLst>
            </p:cNvPr>
            <p:cNvPicPr>
              <a:picLocks noChangeAspect="1"/>
            </p:cNvPicPr>
            <p:nvPr/>
          </p:nvPicPr>
          <p:blipFill>
            <a:blip r:embed="rId4"/>
            <a:stretch>
              <a:fillRect/>
            </a:stretch>
          </p:blipFill>
          <p:spPr>
            <a:xfrm>
              <a:off x="3717561" y="3385750"/>
              <a:ext cx="7357671" cy="3107124"/>
            </a:xfrm>
            <a:prstGeom prst="rect">
              <a:avLst/>
            </a:prstGeom>
          </p:spPr>
        </p:pic>
        <mc:AlternateContent xmlns:mc="http://schemas.openxmlformats.org/markup-compatibility/2006" xmlns:a14="http://schemas.microsoft.com/office/drawing/2010/main">
          <mc:Choice Requires="a14">
            <p:sp>
              <p:nvSpPr>
                <p:cNvPr id="6" name="TextBox 5" descr="Example: 19-state random walk value estimation task. lambda -return algorithm mimics n -step methods">
                  <a:extLst>
                    <a:ext uri="{FF2B5EF4-FFF2-40B4-BE49-F238E27FC236}">
                      <a16:creationId xmlns:a16="http://schemas.microsoft.com/office/drawing/2014/main" id="{96F77465-318F-82C3-634A-02A393AFCEAC}"/>
                    </a:ext>
                  </a:extLst>
                </p:cNvPr>
                <p:cNvSpPr txBox="1"/>
                <p:nvPr/>
              </p:nvSpPr>
              <p:spPr>
                <a:xfrm>
                  <a:off x="1406047" y="2529918"/>
                  <a:ext cx="2158583" cy="2031325"/>
                </a:xfrm>
                <a:prstGeom prst="rect">
                  <a:avLst/>
                </a:prstGeom>
                <a:noFill/>
              </p:spPr>
              <p:txBody>
                <a:bodyPr wrap="square" rtlCol="0">
                  <a:spAutoFit/>
                </a:bodyPr>
                <a:lstStyle/>
                <a:p>
                  <a:r>
                    <a:rPr lang="en-US" b="1" dirty="0"/>
                    <a:t>Example</a:t>
                  </a:r>
                  <a:r>
                    <a:rPr lang="en-US" dirty="0"/>
                    <a:t>: 19-state random walk value estimation task.</a:t>
                  </a:r>
                  <a:br>
                    <a:rPr lang="en-US" dirty="0"/>
                  </a:br>
                  <a:br>
                    <a:rPr lang="en-US" dirty="0"/>
                  </a:br>
                  <a14:m>
                    <m:oMath xmlns:m="http://schemas.openxmlformats.org/officeDocument/2006/math">
                      <m:r>
                        <a:rPr lang="en-US" i="1">
                          <a:latin typeface="Cambria Math" panose="02040503050406030204" pitchFamily="18" charset="0"/>
                        </a:rPr>
                        <m:t>𝜆</m:t>
                      </m:r>
                    </m:oMath>
                  </a14:m>
                  <a:r>
                    <a:rPr lang="en-US" dirty="0"/>
                    <a:t>-return algorithm mimics </a:t>
                  </a:r>
                  <a14:m>
                    <m:oMath xmlns:m="http://schemas.openxmlformats.org/officeDocument/2006/math">
                      <m:r>
                        <a:rPr lang="en-US" b="0" i="1" smtClean="0">
                          <a:latin typeface="Cambria Math" panose="02040503050406030204" pitchFamily="18" charset="0"/>
                        </a:rPr>
                        <m:t>𝑛</m:t>
                      </m:r>
                    </m:oMath>
                  </a14:m>
                  <a:r>
                    <a:rPr lang="en-US" dirty="0"/>
                    <a:t>-step methods.</a:t>
                  </a:r>
                </a:p>
              </p:txBody>
            </p:sp>
          </mc:Choice>
          <mc:Fallback xmlns="">
            <p:sp>
              <p:nvSpPr>
                <p:cNvPr id="6" name="TextBox 5" descr="Example: 19-state random walk value estimation task. lambda -return algorithm mimics n -step methods">
                  <a:extLst>
                    <a:ext uri="{FF2B5EF4-FFF2-40B4-BE49-F238E27FC236}">
                      <a16:creationId xmlns:a16="http://schemas.microsoft.com/office/drawing/2014/main" id="{96F77465-318F-82C3-634A-02A393AFCEAC}"/>
                    </a:ext>
                  </a:extLst>
                </p:cNvPr>
                <p:cNvSpPr txBox="1">
                  <a:spLocks noRot="1" noChangeAspect="1" noMove="1" noResize="1" noEditPoints="1" noAdjustHandles="1" noChangeArrowheads="1" noChangeShapeType="1" noTextEdit="1"/>
                </p:cNvSpPr>
                <p:nvPr/>
              </p:nvSpPr>
              <p:spPr>
                <a:xfrm>
                  <a:off x="1406047" y="2529918"/>
                  <a:ext cx="2158583" cy="2031325"/>
                </a:xfrm>
                <a:prstGeom prst="rect">
                  <a:avLst/>
                </a:prstGeom>
                <a:blipFill>
                  <a:blip r:embed="rId5"/>
                  <a:stretch>
                    <a:fillRect l="-2260" t="-1502" b="-4204"/>
                  </a:stretch>
                </a:blipFill>
              </p:spPr>
              <p:txBody>
                <a:bodyPr/>
                <a:lstStyle/>
                <a:p>
                  <a:r>
                    <a:rPr lang="en-US">
                      <a:noFill/>
                    </a:rPr>
                    <a:t> </a:t>
                  </a:r>
                </a:p>
              </p:txBody>
            </p:sp>
          </mc:Fallback>
        </mc:AlternateContent>
      </p:grpSp>
      <p:grpSp>
        <p:nvGrpSpPr>
          <p:cNvPr id="95" name="Group 94" descr="19-state random walk: a row of 19 states between two terminal squares, with the start in the middle. Moving into the right terminal gives reward 1; all other rewards are 0.">
            <a:extLst>
              <a:ext uri="{FF2B5EF4-FFF2-40B4-BE49-F238E27FC236}">
                <a16:creationId xmlns:a16="http://schemas.microsoft.com/office/drawing/2014/main" id="{12A65E2A-F699-E5C1-C264-E0BC7D75A8D7}"/>
              </a:ext>
            </a:extLst>
          </p:cNvPr>
          <p:cNvGrpSpPr/>
          <p:nvPr/>
        </p:nvGrpSpPr>
        <p:grpSpPr>
          <a:xfrm>
            <a:off x="3403550" y="2923409"/>
            <a:ext cx="7659148" cy="661675"/>
            <a:chOff x="2214694" y="6167346"/>
            <a:chExt cx="7659148" cy="661675"/>
          </a:xfrm>
        </p:grpSpPr>
        <p:grpSp>
          <p:nvGrpSpPr>
            <p:cNvPr id="93" name="Group 92" descr="Diagram with labels: start; 1; All other reward is 0.">
              <a:extLst>
                <a:ext uri="{FF2B5EF4-FFF2-40B4-BE49-F238E27FC236}">
                  <a16:creationId xmlns:a16="http://schemas.microsoft.com/office/drawing/2014/main" id="{97D967B2-B348-0E40-0BB3-84B7D0B3F934}"/>
                </a:ext>
              </a:extLst>
            </p:cNvPr>
            <p:cNvGrpSpPr/>
            <p:nvPr/>
          </p:nvGrpSpPr>
          <p:grpSpPr>
            <a:xfrm>
              <a:off x="2461790" y="6167346"/>
              <a:ext cx="7165118" cy="661675"/>
              <a:chOff x="2461790" y="6167346"/>
              <a:chExt cx="7165118" cy="661675"/>
            </a:xfrm>
          </p:grpSpPr>
          <p:sp>
            <p:nvSpPr>
              <p:cNvPr id="9" name="Rectangle 8">
                <a:extLst>
                  <a:ext uri="{FF2B5EF4-FFF2-40B4-BE49-F238E27FC236}">
                    <a16:creationId xmlns:a16="http://schemas.microsoft.com/office/drawing/2014/main" id="{32619BE9-C484-A416-98A4-8AE733AC04D1}"/>
                  </a:ext>
                  <a:ext uri="{C183D7F6-B498-43B3-948B-1728B52AA6E4}">
                    <adec:decorative xmlns:adec="http://schemas.microsoft.com/office/drawing/2017/decorative" val="1"/>
                  </a:ext>
                </a:extLst>
              </p:cNvPr>
              <p:cNvSpPr/>
              <p:nvPr/>
            </p:nvSpPr>
            <p:spPr>
              <a:xfrm>
                <a:off x="2461790" y="6372200"/>
                <a:ext cx="117424" cy="119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CB1DB2A-CAD7-37A1-3BAA-EC2AEDB53E27}"/>
                  </a:ext>
                  <a:ext uri="{C183D7F6-B498-43B3-948B-1728B52AA6E4}">
                    <adec:decorative xmlns:adec="http://schemas.microsoft.com/office/drawing/2017/decorative" val="1"/>
                  </a:ext>
                </a:extLst>
              </p:cNvPr>
              <p:cNvSpPr/>
              <p:nvPr/>
            </p:nvSpPr>
            <p:spPr>
              <a:xfrm>
                <a:off x="9440989" y="6372200"/>
                <a:ext cx="117424" cy="1190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F1689B6-1017-4B3A-8792-CA3EEBC41DC8}"/>
                  </a:ext>
                  <a:ext uri="{C183D7F6-B498-43B3-948B-1728B52AA6E4}">
                    <adec:decorative xmlns:adec="http://schemas.microsoft.com/office/drawing/2017/decorative" val="1"/>
                  </a:ext>
                </a:extLst>
              </p:cNvPr>
              <p:cNvSpPr/>
              <p:nvPr/>
            </p:nvSpPr>
            <p:spPr>
              <a:xfrm>
                <a:off x="2801105"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2" name="Oval 11">
                <a:extLst>
                  <a:ext uri="{FF2B5EF4-FFF2-40B4-BE49-F238E27FC236}">
                    <a16:creationId xmlns:a16="http://schemas.microsoft.com/office/drawing/2014/main" id="{7630ABE6-10AF-4F05-9562-8CF14AF760F7}"/>
                  </a:ext>
                  <a:ext uri="{C183D7F6-B498-43B3-948B-1728B52AA6E4}">
                    <adec:decorative xmlns:adec="http://schemas.microsoft.com/office/drawing/2017/decorative" val="1"/>
                  </a:ext>
                </a:extLst>
              </p:cNvPr>
              <p:cNvSpPr/>
              <p:nvPr/>
            </p:nvSpPr>
            <p:spPr>
              <a:xfrm>
                <a:off x="6295785" y="6363887"/>
                <a:ext cx="127577" cy="135683"/>
              </a:xfrm>
              <a:prstGeom prst="ellipse">
                <a:avLst/>
              </a:prstGeom>
              <a:ln>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34CBCC4-8E16-081B-E4B3-06EC788C2930}"/>
                  </a:ext>
                  <a:ext uri="{C183D7F6-B498-43B3-948B-1728B52AA6E4}">
                    <adec:decorative xmlns:adec="http://schemas.microsoft.com/office/drawing/2017/decorative" val="1"/>
                  </a:ext>
                </a:extLst>
              </p:cNvPr>
              <p:cNvSpPr/>
              <p:nvPr/>
            </p:nvSpPr>
            <p:spPr>
              <a:xfrm>
                <a:off x="8043125"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4" name="Oval 13">
                <a:extLst>
                  <a:ext uri="{FF2B5EF4-FFF2-40B4-BE49-F238E27FC236}">
                    <a16:creationId xmlns:a16="http://schemas.microsoft.com/office/drawing/2014/main" id="{289AA893-5A37-4C2B-270B-FFF9ECEC7666}"/>
                  </a:ext>
                  <a:ext uri="{C183D7F6-B498-43B3-948B-1728B52AA6E4}">
                    <adec:decorative xmlns:adec="http://schemas.microsoft.com/office/drawing/2017/decorative" val="1"/>
                  </a:ext>
                </a:extLst>
              </p:cNvPr>
              <p:cNvSpPr/>
              <p:nvPr/>
            </p:nvSpPr>
            <p:spPr>
              <a:xfrm>
                <a:off x="8742061"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5" name="Oval 14">
                <a:extLst>
                  <a:ext uri="{FF2B5EF4-FFF2-40B4-BE49-F238E27FC236}">
                    <a16:creationId xmlns:a16="http://schemas.microsoft.com/office/drawing/2014/main" id="{D3C910E0-52B9-557F-9E40-121901F79C22}"/>
                  </a:ext>
                  <a:ext uri="{C183D7F6-B498-43B3-948B-1728B52AA6E4}">
                    <adec:decorative xmlns:adec="http://schemas.microsoft.com/office/drawing/2017/decorative" val="1"/>
                  </a:ext>
                </a:extLst>
              </p:cNvPr>
              <p:cNvSpPr/>
              <p:nvPr/>
            </p:nvSpPr>
            <p:spPr>
              <a:xfrm>
                <a:off x="9091529"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6" name="Oval 15">
                <a:extLst>
                  <a:ext uri="{FF2B5EF4-FFF2-40B4-BE49-F238E27FC236}">
                    <a16:creationId xmlns:a16="http://schemas.microsoft.com/office/drawing/2014/main" id="{51BEBD32-299F-2311-0411-C2DC5F42B7AA}"/>
                  </a:ext>
                  <a:ext uri="{C183D7F6-B498-43B3-948B-1728B52AA6E4}">
                    <adec:decorative xmlns:adec="http://schemas.microsoft.com/office/drawing/2017/decorative" val="1"/>
                  </a:ext>
                </a:extLst>
              </p:cNvPr>
              <p:cNvSpPr/>
              <p:nvPr/>
            </p:nvSpPr>
            <p:spPr>
              <a:xfrm>
                <a:off x="3849509"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7" name="Oval 16">
                <a:extLst>
                  <a:ext uri="{FF2B5EF4-FFF2-40B4-BE49-F238E27FC236}">
                    <a16:creationId xmlns:a16="http://schemas.microsoft.com/office/drawing/2014/main" id="{E09C797B-9A54-933C-8553-FAE16E6AFCF7}"/>
                  </a:ext>
                  <a:ext uri="{C183D7F6-B498-43B3-948B-1728B52AA6E4}">
                    <adec:decorative xmlns:adec="http://schemas.microsoft.com/office/drawing/2017/decorative" val="1"/>
                  </a:ext>
                </a:extLst>
              </p:cNvPr>
              <p:cNvSpPr/>
              <p:nvPr/>
            </p:nvSpPr>
            <p:spPr>
              <a:xfrm>
                <a:off x="4897913"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8" name="Oval 17">
                <a:extLst>
                  <a:ext uri="{FF2B5EF4-FFF2-40B4-BE49-F238E27FC236}">
                    <a16:creationId xmlns:a16="http://schemas.microsoft.com/office/drawing/2014/main" id="{59BB7535-0223-79FE-D220-16A1A6AFB38E}"/>
                  </a:ext>
                  <a:ext uri="{C183D7F6-B498-43B3-948B-1728B52AA6E4}">
                    <adec:decorative xmlns:adec="http://schemas.microsoft.com/office/drawing/2017/decorative" val="1"/>
                  </a:ext>
                </a:extLst>
              </p:cNvPr>
              <p:cNvSpPr/>
              <p:nvPr/>
            </p:nvSpPr>
            <p:spPr>
              <a:xfrm>
                <a:off x="5946317"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9" name="Oval 18">
                <a:extLst>
                  <a:ext uri="{FF2B5EF4-FFF2-40B4-BE49-F238E27FC236}">
                    <a16:creationId xmlns:a16="http://schemas.microsoft.com/office/drawing/2014/main" id="{D9079AEA-6821-8B89-1FD2-B0E52F0EA999}"/>
                  </a:ext>
                  <a:ext uri="{C183D7F6-B498-43B3-948B-1728B52AA6E4}">
                    <adec:decorative xmlns:adec="http://schemas.microsoft.com/office/drawing/2017/decorative" val="1"/>
                  </a:ext>
                </a:extLst>
              </p:cNvPr>
              <p:cNvSpPr/>
              <p:nvPr/>
            </p:nvSpPr>
            <p:spPr>
              <a:xfrm>
                <a:off x="6645253"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0" name="Oval 19">
                <a:extLst>
                  <a:ext uri="{FF2B5EF4-FFF2-40B4-BE49-F238E27FC236}">
                    <a16:creationId xmlns:a16="http://schemas.microsoft.com/office/drawing/2014/main" id="{7FD6F763-B9D3-4E4F-755F-844788DE5356}"/>
                  </a:ext>
                  <a:ext uri="{C183D7F6-B498-43B3-948B-1728B52AA6E4}">
                    <adec:decorative xmlns:adec="http://schemas.microsoft.com/office/drawing/2017/decorative" val="1"/>
                  </a:ext>
                </a:extLst>
              </p:cNvPr>
              <p:cNvSpPr/>
              <p:nvPr/>
            </p:nvSpPr>
            <p:spPr>
              <a:xfrm>
                <a:off x="6994721"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1" name="Oval 20">
                <a:extLst>
                  <a:ext uri="{FF2B5EF4-FFF2-40B4-BE49-F238E27FC236}">
                    <a16:creationId xmlns:a16="http://schemas.microsoft.com/office/drawing/2014/main" id="{589546C9-D7ED-D52D-9595-374828E87B2E}"/>
                  </a:ext>
                  <a:ext uri="{C183D7F6-B498-43B3-948B-1728B52AA6E4}">
                    <adec:decorative xmlns:adec="http://schemas.microsoft.com/office/drawing/2017/decorative" val="1"/>
                  </a:ext>
                </a:extLst>
              </p:cNvPr>
              <p:cNvSpPr/>
              <p:nvPr/>
            </p:nvSpPr>
            <p:spPr>
              <a:xfrm>
                <a:off x="7344189"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2" name="Oval 21">
                <a:extLst>
                  <a:ext uri="{FF2B5EF4-FFF2-40B4-BE49-F238E27FC236}">
                    <a16:creationId xmlns:a16="http://schemas.microsoft.com/office/drawing/2014/main" id="{12A0E120-120F-CCDE-C82B-2B47426D7FE5}"/>
                  </a:ext>
                  <a:ext uri="{C183D7F6-B498-43B3-948B-1728B52AA6E4}">
                    <adec:decorative xmlns:adec="http://schemas.microsoft.com/office/drawing/2017/decorative" val="1"/>
                  </a:ext>
                </a:extLst>
              </p:cNvPr>
              <p:cNvSpPr/>
              <p:nvPr/>
            </p:nvSpPr>
            <p:spPr>
              <a:xfrm>
                <a:off x="7693657"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3" name="Oval 22">
                <a:extLst>
                  <a:ext uri="{FF2B5EF4-FFF2-40B4-BE49-F238E27FC236}">
                    <a16:creationId xmlns:a16="http://schemas.microsoft.com/office/drawing/2014/main" id="{889C76DA-D890-CBDA-2CD8-996545D98B33}"/>
                  </a:ext>
                  <a:ext uri="{C183D7F6-B498-43B3-948B-1728B52AA6E4}">
                    <adec:decorative xmlns:adec="http://schemas.microsoft.com/office/drawing/2017/decorative" val="1"/>
                  </a:ext>
                </a:extLst>
              </p:cNvPr>
              <p:cNvSpPr/>
              <p:nvPr/>
            </p:nvSpPr>
            <p:spPr>
              <a:xfrm>
                <a:off x="8392593"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4" name="Oval 23">
                <a:extLst>
                  <a:ext uri="{FF2B5EF4-FFF2-40B4-BE49-F238E27FC236}">
                    <a16:creationId xmlns:a16="http://schemas.microsoft.com/office/drawing/2014/main" id="{805A342E-E93C-D36F-1D12-19597437B810}"/>
                  </a:ext>
                  <a:ext uri="{C183D7F6-B498-43B3-948B-1728B52AA6E4}">
                    <adec:decorative xmlns:adec="http://schemas.microsoft.com/office/drawing/2017/decorative" val="1"/>
                  </a:ext>
                </a:extLst>
              </p:cNvPr>
              <p:cNvSpPr/>
              <p:nvPr/>
            </p:nvSpPr>
            <p:spPr>
              <a:xfrm>
                <a:off x="3150573"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5" name="Oval 24">
                <a:extLst>
                  <a:ext uri="{FF2B5EF4-FFF2-40B4-BE49-F238E27FC236}">
                    <a16:creationId xmlns:a16="http://schemas.microsoft.com/office/drawing/2014/main" id="{FEF2C0E5-30A4-64B5-81CC-A967EB22B1F6}"/>
                  </a:ext>
                  <a:ext uri="{C183D7F6-B498-43B3-948B-1728B52AA6E4}">
                    <adec:decorative xmlns:adec="http://schemas.microsoft.com/office/drawing/2017/decorative" val="1"/>
                  </a:ext>
                </a:extLst>
              </p:cNvPr>
              <p:cNvSpPr/>
              <p:nvPr/>
            </p:nvSpPr>
            <p:spPr>
              <a:xfrm>
                <a:off x="3500041"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6" name="Oval 25">
                <a:extLst>
                  <a:ext uri="{FF2B5EF4-FFF2-40B4-BE49-F238E27FC236}">
                    <a16:creationId xmlns:a16="http://schemas.microsoft.com/office/drawing/2014/main" id="{3CA23BFD-8168-E566-5BE5-CCBF51E6CB93}"/>
                  </a:ext>
                  <a:ext uri="{C183D7F6-B498-43B3-948B-1728B52AA6E4}">
                    <adec:decorative xmlns:adec="http://schemas.microsoft.com/office/drawing/2017/decorative" val="1"/>
                  </a:ext>
                </a:extLst>
              </p:cNvPr>
              <p:cNvSpPr/>
              <p:nvPr/>
            </p:nvSpPr>
            <p:spPr>
              <a:xfrm>
                <a:off x="4198977"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7" name="Oval 26">
                <a:extLst>
                  <a:ext uri="{FF2B5EF4-FFF2-40B4-BE49-F238E27FC236}">
                    <a16:creationId xmlns:a16="http://schemas.microsoft.com/office/drawing/2014/main" id="{358C67C3-C806-A948-3344-82D69E657CC5}"/>
                  </a:ext>
                  <a:ext uri="{C183D7F6-B498-43B3-948B-1728B52AA6E4}">
                    <adec:decorative xmlns:adec="http://schemas.microsoft.com/office/drawing/2017/decorative" val="1"/>
                  </a:ext>
                </a:extLst>
              </p:cNvPr>
              <p:cNvSpPr/>
              <p:nvPr/>
            </p:nvSpPr>
            <p:spPr>
              <a:xfrm>
                <a:off x="4548445"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8" name="Oval 27">
                <a:extLst>
                  <a:ext uri="{FF2B5EF4-FFF2-40B4-BE49-F238E27FC236}">
                    <a16:creationId xmlns:a16="http://schemas.microsoft.com/office/drawing/2014/main" id="{EEB601CA-3FA5-F6F3-E5E0-E10135ABCF00}"/>
                  </a:ext>
                  <a:ext uri="{C183D7F6-B498-43B3-948B-1728B52AA6E4}">
                    <adec:decorative xmlns:adec="http://schemas.microsoft.com/office/drawing/2017/decorative" val="1"/>
                  </a:ext>
                </a:extLst>
              </p:cNvPr>
              <p:cNvSpPr/>
              <p:nvPr/>
            </p:nvSpPr>
            <p:spPr>
              <a:xfrm>
                <a:off x="5247381"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29" name="Oval 28">
                <a:extLst>
                  <a:ext uri="{FF2B5EF4-FFF2-40B4-BE49-F238E27FC236}">
                    <a16:creationId xmlns:a16="http://schemas.microsoft.com/office/drawing/2014/main" id="{830AB825-0669-506A-FB89-A2380820FAA5}"/>
                  </a:ext>
                  <a:ext uri="{C183D7F6-B498-43B3-948B-1728B52AA6E4}">
                    <adec:decorative xmlns:adec="http://schemas.microsoft.com/office/drawing/2017/decorative" val="1"/>
                  </a:ext>
                </a:extLst>
              </p:cNvPr>
              <p:cNvSpPr/>
              <p:nvPr/>
            </p:nvSpPr>
            <p:spPr>
              <a:xfrm>
                <a:off x="5596849" y="6363887"/>
                <a:ext cx="127577" cy="135683"/>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BE8C6C8A-6679-5775-AB35-1ECF87C8B844}"/>
                  </a:ext>
                </a:extLst>
              </p:cNvPr>
              <p:cNvSpPr txBox="1"/>
              <p:nvPr/>
            </p:nvSpPr>
            <p:spPr>
              <a:xfrm>
                <a:off x="6096000" y="6499570"/>
                <a:ext cx="540404" cy="307777"/>
              </a:xfrm>
              <a:prstGeom prst="rect">
                <a:avLst/>
              </a:prstGeom>
              <a:noFill/>
            </p:spPr>
            <p:txBody>
              <a:bodyPr wrap="none" rtlCol="0">
                <a:spAutoFit/>
              </a:bodyPr>
              <a:lstStyle/>
              <a:p>
                <a:r>
                  <a:rPr lang="en-US" sz="1400" dirty="0"/>
                  <a:t>start</a:t>
                </a:r>
              </a:p>
            </p:txBody>
          </p:sp>
          <p:cxnSp>
            <p:nvCxnSpPr>
              <p:cNvPr id="32" name="Straight Arrow Connector 31">
                <a:extLst>
                  <a:ext uri="{FF2B5EF4-FFF2-40B4-BE49-F238E27FC236}">
                    <a16:creationId xmlns:a16="http://schemas.microsoft.com/office/drawing/2014/main" id="{0C70CA7B-55C5-9430-3357-3B3F162D64EE}"/>
                  </a:ext>
                  <a:ext uri="{C183D7F6-B498-43B3-948B-1728B52AA6E4}">
                    <adec:decorative xmlns:adec="http://schemas.microsoft.com/office/drawing/2017/decorative" val="1"/>
                  </a:ext>
                </a:extLst>
              </p:cNvPr>
              <p:cNvCxnSpPr>
                <a:stCxn id="12" idx="6"/>
                <a:endCxn id="19" idx="2"/>
              </p:cNvCxnSpPr>
              <p:nvPr/>
            </p:nvCxnSpPr>
            <p:spPr>
              <a:xfrm>
                <a:off x="6423362"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10E0A17-7211-8B1D-09E3-ED1D8FFA0A9B}"/>
                  </a:ext>
                  <a:ext uri="{C183D7F6-B498-43B3-948B-1728B52AA6E4}">
                    <adec:decorative xmlns:adec="http://schemas.microsoft.com/office/drawing/2017/decorative" val="1"/>
                  </a:ext>
                </a:extLst>
              </p:cNvPr>
              <p:cNvCxnSpPr>
                <a:cxnSpLocks/>
                <a:stCxn id="19" idx="6"/>
                <a:endCxn id="20" idx="2"/>
              </p:cNvCxnSpPr>
              <p:nvPr/>
            </p:nvCxnSpPr>
            <p:spPr>
              <a:xfrm>
                <a:off x="6772830"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3D538BDB-09FC-E391-18F1-F952E72A0CE0}"/>
                  </a:ext>
                  <a:ext uri="{C183D7F6-B498-43B3-948B-1728B52AA6E4}">
                    <adec:decorative xmlns:adec="http://schemas.microsoft.com/office/drawing/2017/decorative" val="1"/>
                  </a:ext>
                </a:extLst>
              </p:cNvPr>
              <p:cNvCxnSpPr>
                <a:cxnSpLocks/>
                <a:stCxn id="20" idx="6"/>
                <a:endCxn id="21" idx="2"/>
              </p:cNvCxnSpPr>
              <p:nvPr/>
            </p:nvCxnSpPr>
            <p:spPr>
              <a:xfrm>
                <a:off x="7122298"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14953F8-2D0E-1927-8FAE-5D59D36E12D4}"/>
                  </a:ext>
                  <a:ext uri="{C183D7F6-B498-43B3-948B-1728B52AA6E4}">
                    <adec:decorative xmlns:adec="http://schemas.microsoft.com/office/drawing/2017/decorative" val="1"/>
                  </a:ext>
                </a:extLst>
              </p:cNvPr>
              <p:cNvCxnSpPr>
                <a:cxnSpLocks/>
                <a:stCxn id="21" idx="6"/>
                <a:endCxn id="22" idx="2"/>
              </p:cNvCxnSpPr>
              <p:nvPr/>
            </p:nvCxnSpPr>
            <p:spPr>
              <a:xfrm>
                <a:off x="7471766"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68AC4A9-3DBC-DE88-8FFA-9CC171FE6EB0}"/>
                  </a:ext>
                  <a:ext uri="{C183D7F6-B498-43B3-948B-1728B52AA6E4}">
                    <adec:decorative xmlns:adec="http://schemas.microsoft.com/office/drawing/2017/decorative" val="1"/>
                  </a:ext>
                </a:extLst>
              </p:cNvPr>
              <p:cNvCxnSpPr>
                <a:cxnSpLocks/>
                <a:stCxn id="22" idx="6"/>
                <a:endCxn id="13" idx="2"/>
              </p:cNvCxnSpPr>
              <p:nvPr/>
            </p:nvCxnSpPr>
            <p:spPr>
              <a:xfrm>
                <a:off x="7821234"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F173D8E0-7638-0657-ECFD-973A570B6C40}"/>
                  </a:ext>
                  <a:ext uri="{C183D7F6-B498-43B3-948B-1728B52AA6E4}">
                    <adec:decorative xmlns:adec="http://schemas.microsoft.com/office/drawing/2017/decorative" val="1"/>
                  </a:ext>
                </a:extLst>
              </p:cNvPr>
              <p:cNvCxnSpPr>
                <a:cxnSpLocks/>
                <a:stCxn id="13" idx="6"/>
                <a:endCxn id="23" idx="2"/>
              </p:cNvCxnSpPr>
              <p:nvPr/>
            </p:nvCxnSpPr>
            <p:spPr>
              <a:xfrm>
                <a:off x="8170702"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C49BA629-D5B2-BEDE-7BA3-85920105A7B4}"/>
                  </a:ext>
                  <a:ext uri="{C183D7F6-B498-43B3-948B-1728B52AA6E4}">
                    <adec:decorative xmlns:adec="http://schemas.microsoft.com/office/drawing/2017/decorative" val="1"/>
                  </a:ext>
                </a:extLst>
              </p:cNvPr>
              <p:cNvCxnSpPr>
                <a:cxnSpLocks/>
                <a:stCxn id="23" idx="6"/>
                <a:endCxn id="14" idx="2"/>
              </p:cNvCxnSpPr>
              <p:nvPr/>
            </p:nvCxnSpPr>
            <p:spPr>
              <a:xfrm>
                <a:off x="8520170"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73249D8A-234C-D0EC-35F0-9851F00DB3FB}"/>
                  </a:ext>
                  <a:ext uri="{C183D7F6-B498-43B3-948B-1728B52AA6E4}">
                    <adec:decorative xmlns:adec="http://schemas.microsoft.com/office/drawing/2017/decorative" val="1"/>
                  </a:ext>
                </a:extLst>
              </p:cNvPr>
              <p:cNvCxnSpPr>
                <a:cxnSpLocks/>
                <a:stCxn id="14" idx="6"/>
                <a:endCxn id="15" idx="2"/>
              </p:cNvCxnSpPr>
              <p:nvPr/>
            </p:nvCxnSpPr>
            <p:spPr>
              <a:xfrm>
                <a:off x="8869638"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3A6A30CB-9F74-302F-BDAA-838507EE6658}"/>
                  </a:ext>
                  <a:ext uri="{C183D7F6-B498-43B3-948B-1728B52AA6E4}">
                    <adec:decorative xmlns:adec="http://schemas.microsoft.com/office/drawing/2017/decorative" val="1"/>
                  </a:ext>
                </a:extLst>
              </p:cNvPr>
              <p:cNvCxnSpPr>
                <a:cxnSpLocks/>
                <a:stCxn id="15" idx="6"/>
                <a:endCxn id="10" idx="1"/>
              </p:cNvCxnSpPr>
              <p:nvPr/>
            </p:nvCxnSpPr>
            <p:spPr>
              <a:xfrm flipV="1">
                <a:off x="9219106" y="6431728"/>
                <a:ext cx="221883" cy="1"/>
              </a:xfrm>
              <a:prstGeom prst="straightConnector1">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DDB88DF1-91ED-4C9F-7FC4-392EDFF8BC8C}"/>
                  </a:ext>
                </a:extLst>
              </p:cNvPr>
              <p:cNvSpPr txBox="1"/>
              <p:nvPr/>
            </p:nvSpPr>
            <p:spPr>
              <a:xfrm>
                <a:off x="9146739" y="6167346"/>
                <a:ext cx="280846" cy="307777"/>
              </a:xfrm>
              <a:prstGeom prst="rect">
                <a:avLst/>
              </a:prstGeom>
              <a:noFill/>
            </p:spPr>
            <p:txBody>
              <a:bodyPr wrap="none" rtlCol="0">
                <a:spAutoFit/>
              </a:bodyPr>
              <a:lstStyle/>
              <a:p>
                <a:r>
                  <a:rPr lang="en-US" sz="1400" dirty="0"/>
                  <a:t>1</a:t>
                </a:r>
              </a:p>
            </p:txBody>
          </p:sp>
          <p:cxnSp>
            <p:nvCxnSpPr>
              <p:cNvPr id="58" name="Straight Arrow Connector 57">
                <a:extLst>
                  <a:ext uri="{FF2B5EF4-FFF2-40B4-BE49-F238E27FC236}">
                    <a16:creationId xmlns:a16="http://schemas.microsoft.com/office/drawing/2014/main" id="{3C708411-13CA-3938-9960-AF0276035451}"/>
                  </a:ext>
                  <a:ext uri="{C183D7F6-B498-43B3-948B-1728B52AA6E4}">
                    <adec:decorative xmlns:adec="http://schemas.microsoft.com/office/drawing/2017/decorative" val="1"/>
                  </a:ext>
                </a:extLst>
              </p:cNvPr>
              <p:cNvCxnSpPr>
                <a:cxnSpLocks/>
                <a:stCxn id="11" idx="6"/>
                <a:endCxn id="24" idx="2"/>
              </p:cNvCxnSpPr>
              <p:nvPr/>
            </p:nvCxnSpPr>
            <p:spPr>
              <a:xfrm>
                <a:off x="2928682"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AC1A75C6-70EC-4B7A-A5B0-1BA5335000AF}"/>
                  </a:ext>
                  <a:ext uri="{C183D7F6-B498-43B3-948B-1728B52AA6E4}">
                    <adec:decorative xmlns:adec="http://schemas.microsoft.com/office/drawing/2017/decorative" val="1"/>
                  </a:ext>
                </a:extLst>
              </p:cNvPr>
              <p:cNvCxnSpPr>
                <a:cxnSpLocks/>
                <a:stCxn id="24" idx="6"/>
                <a:endCxn id="25" idx="2"/>
              </p:cNvCxnSpPr>
              <p:nvPr/>
            </p:nvCxnSpPr>
            <p:spPr>
              <a:xfrm>
                <a:off x="3278150"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5B4BD555-83D5-3B59-C23E-13F48857A492}"/>
                  </a:ext>
                  <a:ext uri="{C183D7F6-B498-43B3-948B-1728B52AA6E4}">
                    <adec:decorative xmlns:adec="http://schemas.microsoft.com/office/drawing/2017/decorative" val="1"/>
                  </a:ext>
                </a:extLst>
              </p:cNvPr>
              <p:cNvCxnSpPr>
                <a:cxnSpLocks/>
                <a:stCxn id="25" idx="6"/>
                <a:endCxn id="16" idx="2"/>
              </p:cNvCxnSpPr>
              <p:nvPr/>
            </p:nvCxnSpPr>
            <p:spPr>
              <a:xfrm>
                <a:off x="3627618"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A9271A34-B6BE-E33B-C643-F3B5597E0CA7}"/>
                  </a:ext>
                  <a:ext uri="{C183D7F6-B498-43B3-948B-1728B52AA6E4}">
                    <adec:decorative xmlns:adec="http://schemas.microsoft.com/office/drawing/2017/decorative" val="1"/>
                  </a:ext>
                </a:extLst>
              </p:cNvPr>
              <p:cNvCxnSpPr>
                <a:cxnSpLocks/>
                <a:stCxn id="16" idx="6"/>
                <a:endCxn id="26" idx="2"/>
              </p:cNvCxnSpPr>
              <p:nvPr/>
            </p:nvCxnSpPr>
            <p:spPr>
              <a:xfrm>
                <a:off x="3977086"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0C11D0BD-BB06-F0C0-0AEE-41A1ABA464B2}"/>
                  </a:ext>
                  <a:ext uri="{C183D7F6-B498-43B3-948B-1728B52AA6E4}">
                    <adec:decorative xmlns:adec="http://schemas.microsoft.com/office/drawing/2017/decorative" val="1"/>
                  </a:ext>
                </a:extLst>
              </p:cNvPr>
              <p:cNvCxnSpPr>
                <a:cxnSpLocks/>
                <a:stCxn id="26" idx="6"/>
                <a:endCxn id="27" idx="2"/>
              </p:cNvCxnSpPr>
              <p:nvPr/>
            </p:nvCxnSpPr>
            <p:spPr>
              <a:xfrm>
                <a:off x="4326554"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F93D429D-1C0A-6EEC-9B3D-430DF89DC51F}"/>
                  </a:ext>
                  <a:ext uri="{C183D7F6-B498-43B3-948B-1728B52AA6E4}">
                    <adec:decorative xmlns:adec="http://schemas.microsoft.com/office/drawing/2017/decorative" val="1"/>
                  </a:ext>
                </a:extLst>
              </p:cNvPr>
              <p:cNvCxnSpPr>
                <a:cxnSpLocks/>
                <a:stCxn id="27" idx="6"/>
                <a:endCxn id="17" idx="2"/>
              </p:cNvCxnSpPr>
              <p:nvPr/>
            </p:nvCxnSpPr>
            <p:spPr>
              <a:xfrm>
                <a:off x="4676022"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DE24DF03-5C88-B36C-274D-BD029FE5CA35}"/>
                  </a:ext>
                  <a:ext uri="{C183D7F6-B498-43B3-948B-1728B52AA6E4}">
                    <adec:decorative xmlns:adec="http://schemas.microsoft.com/office/drawing/2017/decorative" val="1"/>
                  </a:ext>
                </a:extLst>
              </p:cNvPr>
              <p:cNvCxnSpPr>
                <a:cxnSpLocks/>
                <a:stCxn id="17" idx="6"/>
                <a:endCxn id="28" idx="2"/>
              </p:cNvCxnSpPr>
              <p:nvPr/>
            </p:nvCxnSpPr>
            <p:spPr>
              <a:xfrm>
                <a:off x="5025490"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B5609BB2-1E49-DFEB-F8E9-C624995B02B7}"/>
                  </a:ext>
                  <a:ext uri="{C183D7F6-B498-43B3-948B-1728B52AA6E4}">
                    <adec:decorative xmlns:adec="http://schemas.microsoft.com/office/drawing/2017/decorative" val="1"/>
                  </a:ext>
                </a:extLst>
              </p:cNvPr>
              <p:cNvCxnSpPr>
                <a:cxnSpLocks/>
                <a:stCxn id="28" idx="6"/>
                <a:endCxn id="29" idx="2"/>
              </p:cNvCxnSpPr>
              <p:nvPr/>
            </p:nvCxnSpPr>
            <p:spPr>
              <a:xfrm>
                <a:off x="5374958"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14AAD3C5-70CE-686C-85C2-34767DF131FC}"/>
                  </a:ext>
                  <a:ext uri="{C183D7F6-B498-43B3-948B-1728B52AA6E4}">
                    <adec:decorative xmlns:adec="http://schemas.microsoft.com/office/drawing/2017/decorative" val="1"/>
                  </a:ext>
                </a:extLst>
              </p:cNvPr>
              <p:cNvCxnSpPr>
                <a:cxnSpLocks/>
                <a:stCxn id="29" idx="6"/>
                <a:endCxn id="18" idx="2"/>
              </p:cNvCxnSpPr>
              <p:nvPr/>
            </p:nvCxnSpPr>
            <p:spPr>
              <a:xfrm>
                <a:off x="5724426"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5B9F4920-AAF3-A1F4-42A5-8A01574E22EB}"/>
                  </a:ext>
                  <a:ext uri="{C183D7F6-B498-43B3-948B-1728B52AA6E4}">
                    <adec:decorative xmlns:adec="http://schemas.microsoft.com/office/drawing/2017/decorative" val="1"/>
                  </a:ext>
                </a:extLst>
              </p:cNvPr>
              <p:cNvCxnSpPr>
                <a:cxnSpLocks/>
                <a:stCxn id="18" idx="6"/>
                <a:endCxn id="12" idx="2"/>
              </p:cNvCxnSpPr>
              <p:nvPr/>
            </p:nvCxnSpPr>
            <p:spPr>
              <a:xfrm>
                <a:off x="6073894" y="6431729"/>
                <a:ext cx="22189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FB4FE02B-54EB-011C-82F2-386C18847A92}"/>
                  </a:ext>
                  <a:ext uri="{C183D7F6-B498-43B3-948B-1728B52AA6E4}">
                    <adec:decorative xmlns:adec="http://schemas.microsoft.com/office/drawing/2017/decorative" val="1"/>
                  </a:ext>
                </a:extLst>
              </p:cNvPr>
              <p:cNvCxnSpPr>
                <a:cxnSpLocks/>
                <a:stCxn id="9" idx="3"/>
                <a:endCxn id="11" idx="2"/>
              </p:cNvCxnSpPr>
              <p:nvPr/>
            </p:nvCxnSpPr>
            <p:spPr>
              <a:xfrm>
                <a:off x="2579214" y="6431728"/>
                <a:ext cx="221891" cy="1"/>
              </a:xfrm>
              <a:prstGeom prst="straightConnector1">
                <a:avLst/>
              </a:prstGeom>
              <a:ln>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7326ECA9-2FA8-60C8-3A75-C4C6324598BA}"/>
                  </a:ext>
                </a:extLst>
              </p:cNvPr>
              <p:cNvSpPr txBox="1"/>
              <p:nvPr/>
            </p:nvSpPr>
            <p:spPr>
              <a:xfrm>
                <a:off x="8248004" y="6567411"/>
                <a:ext cx="1378904" cy="261610"/>
              </a:xfrm>
              <a:prstGeom prst="rect">
                <a:avLst/>
              </a:prstGeom>
              <a:noFill/>
            </p:spPr>
            <p:txBody>
              <a:bodyPr wrap="none" rtlCol="0">
                <a:spAutoFit/>
              </a:bodyPr>
              <a:lstStyle/>
              <a:p>
                <a:r>
                  <a:rPr lang="en-US" sz="1100" dirty="0"/>
                  <a:t>All other reward is 0</a:t>
                </a:r>
              </a:p>
            </p:txBody>
          </p:sp>
        </p:grpSp>
        <p:sp>
          <p:nvSpPr>
            <p:cNvPr id="94" name="Rectangle 93">
              <a:extLst>
                <a:ext uri="{FF2B5EF4-FFF2-40B4-BE49-F238E27FC236}">
                  <a16:creationId xmlns:a16="http://schemas.microsoft.com/office/drawing/2014/main" id="{24CD6081-8E7C-5373-C274-98350E0DB050}"/>
                </a:ext>
                <a:ext uri="{C183D7F6-B498-43B3-948B-1728B52AA6E4}">
                  <adec:decorative xmlns:adec="http://schemas.microsoft.com/office/drawing/2017/decorative" val="1"/>
                </a:ext>
              </a:extLst>
            </p:cNvPr>
            <p:cNvSpPr/>
            <p:nvPr/>
          </p:nvSpPr>
          <p:spPr>
            <a:xfrm>
              <a:off x="2214694" y="6171467"/>
              <a:ext cx="7659148" cy="63813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401826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The Forward View Issue with the Off-Line lambda -Return Algorithm">
                <a:extLst>
                  <a:ext uri="{FF2B5EF4-FFF2-40B4-BE49-F238E27FC236}">
                    <a16:creationId xmlns:a16="http://schemas.microsoft.com/office/drawing/2014/main" id="{38385F1E-6465-1645-CA42-6BA88334F8C2}"/>
                  </a:ext>
                </a:extLst>
              </p:cNvPr>
              <p:cNvSpPr>
                <a:spLocks noGrp="1"/>
              </p:cNvSpPr>
              <p:nvPr>
                <p:ph type="title"/>
              </p:nvPr>
            </p:nvSpPr>
            <p:spPr>
              <a:xfrm>
                <a:off x="838200" y="365126"/>
                <a:ext cx="7099092" cy="759072"/>
              </a:xfrm>
            </p:spPr>
            <p:txBody>
              <a:bodyPr>
                <a:normAutofit fontScale="90000"/>
              </a:bodyPr>
              <a:lstStyle/>
              <a:p>
                <a:r>
                  <a:rPr lang="en-US" dirty="0"/>
                  <a:t>The Forward View Issue with </a:t>
                </a:r>
                <a:br>
                  <a:rPr lang="en-US" dirty="0"/>
                </a:br>
                <a:r>
                  <a:rPr lang="en-US" dirty="0"/>
                  <a:t>the Off-Line </a:t>
                </a:r>
                <a14:m>
                  <m:oMath xmlns:m="http://schemas.openxmlformats.org/officeDocument/2006/math">
                    <m:r>
                      <a:rPr lang="en-US" i="1">
                        <a:latin typeface="Cambria Math" panose="02040503050406030204" pitchFamily="18" charset="0"/>
                      </a:rPr>
                      <m:t>𝜆</m:t>
                    </m:r>
                  </m:oMath>
                </a14:m>
                <a:r>
                  <a:rPr lang="en-US" dirty="0"/>
                  <a:t>-Return Algorithm </a:t>
                </a:r>
              </a:p>
            </p:txBody>
          </p:sp>
        </mc:Choice>
        <mc:Fallback xmlns="">
          <p:sp>
            <p:nvSpPr>
              <p:cNvPr id="2" name="Title 1" descr="The Forward View Issue with the Off-Line lambda -Return Algorithm">
                <a:extLst>
                  <a:ext uri="{FF2B5EF4-FFF2-40B4-BE49-F238E27FC236}">
                    <a16:creationId xmlns:a16="http://schemas.microsoft.com/office/drawing/2014/main" id="{38385F1E-6465-1645-CA42-6BA88334F8C2}"/>
                  </a:ext>
                </a:extLst>
              </p:cNvPr>
              <p:cNvSpPr>
                <a:spLocks noGrp="1" noRot="1" noChangeAspect="1" noMove="1" noResize="1" noEditPoints="1" noAdjustHandles="1" noChangeArrowheads="1" noChangeShapeType="1" noTextEdit="1"/>
              </p:cNvSpPr>
              <p:nvPr>
                <p:ph type="title"/>
              </p:nvPr>
            </p:nvSpPr>
            <p:spPr>
              <a:xfrm>
                <a:off x="838200" y="365126"/>
                <a:ext cx="7099092" cy="759072"/>
              </a:xfrm>
              <a:blipFill>
                <a:blip r:embed="rId2"/>
                <a:stretch>
                  <a:fillRect l="-3093" t="-50000" b="-645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Uses the “forward view.”. Updating S sub t requires the calculation of G sub t, to the power lambda, which requires all future rewards: The update is delayed till the whole episode is observed (like for MC)">
                <a:extLst>
                  <a:ext uri="{FF2B5EF4-FFF2-40B4-BE49-F238E27FC236}">
                    <a16:creationId xmlns:a16="http://schemas.microsoft.com/office/drawing/2014/main" id="{060FE59A-5A07-2A07-3158-4CE63E7481B5}"/>
                  </a:ext>
                </a:extLst>
              </p:cNvPr>
              <p:cNvSpPr>
                <a:spLocks noGrp="1"/>
              </p:cNvSpPr>
              <p:nvPr>
                <p:ph idx="1"/>
              </p:nvPr>
            </p:nvSpPr>
            <p:spPr>
              <a:xfrm>
                <a:off x="838200" y="1464786"/>
                <a:ext cx="7201798" cy="1428316"/>
              </a:xfrm>
            </p:spPr>
            <p:txBody>
              <a:bodyPr>
                <a:normAutofit fontScale="85000" lnSpcReduction="10000"/>
              </a:bodyPr>
              <a:lstStyle/>
              <a:p>
                <a:r>
                  <a:rPr lang="en-US" dirty="0"/>
                  <a:t>Uses the </a:t>
                </a:r>
                <a:r>
                  <a:rPr lang="en-US" b="1" dirty="0"/>
                  <a:t>“forward view.” </a:t>
                </a:r>
              </a:p>
              <a:p>
                <a:r>
                  <a:rPr lang="en-US" dirty="0"/>
                  <a:t>Updating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requires the calculation of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𝐺</m:t>
                        </m:r>
                      </m:e>
                      <m:sub>
                        <m:r>
                          <a:rPr lang="en-US" i="1">
                            <a:latin typeface="Cambria Math" panose="02040503050406030204" pitchFamily="18" charset="0"/>
                          </a:rPr>
                          <m:t>𝑡</m:t>
                        </m:r>
                      </m:sub>
                      <m:sup>
                        <m:r>
                          <a:rPr lang="en-US" i="1">
                            <a:latin typeface="Cambria Math" panose="02040503050406030204" pitchFamily="18" charset="0"/>
                          </a:rPr>
                          <m:t>𝜆</m:t>
                        </m:r>
                      </m:sup>
                    </m:sSubSup>
                  </m:oMath>
                </a14:m>
                <a:r>
                  <a:rPr lang="en-US" dirty="0"/>
                  <a:t>, which requires all future rewards: The </a:t>
                </a:r>
                <a:r>
                  <a:rPr lang="en-US" b="1" dirty="0"/>
                  <a:t>update is delayed </a:t>
                </a:r>
                <a:r>
                  <a:rPr lang="en-US" dirty="0"/>
                  <a:t>till the whole episode is observed (like for MC).</a:t>
                </a:r>
              </a:p>
              <a:p>
                <a:endParaRPr lang="en-US" dirty="0"/>
              </a:p>
            </p:txBody>
          </p:sp>
        </mc:Choice>
        <mc:Fallback xmlns="">
          <p:sp>
            <p:nvSpPr>
              <p:cNvPr id="3" name="Content Placeholder 2" descr="Uses the “forward view.”. Updating S sub t requires the calculation of G sub t, to the power lambda, which requires all future rewards: The update is delayed till the whole episode is observed (like for MC)">
                <a:extLst>
                  <a:ext uri="{FF2B5EF4-FFF2-40B4-BE49-F238E27FC236}">
                    <a16:creationId xmlns:a16="http://schemas.microsoft.com/office/drawing/2014/main" id="{060FE59A-5A07-2A07-3158-4CE63E7481B5}"/>
                  </a:ext>
                </a:extLst>
              </p:cNvPr>
              <p:cNvSpPr>
                <a:spLocks noGrp="1" noRot="1" noChangeAspect="1" noMove="1" noResize="1" noEditPoints="1" noAdjustHandles="1" noChangeArrowheads="1" noChangeShapeType="1" noTextEdit="1"/>
              </p:cNvSpPr>
              <p:nvPr>
                <p:ph idx="1"/>
              </p:nvPr>
            </p:nvSpPr>
            <p:spPr>
              <a:xfrm>
                <a:off x="838200" y="1464786"/>
                <a:ext cx="7201798" cy="1428316"/>
              </a:xfrm>
              <a:blipFill>
                <a:blip r:embed="rId3"/>
                <a:stretch>
                  <a:fillRect l="-1185" t="-7660" b="-8936"/>
                </a:stretch>
              </a:blipFill>
            </p:spPr>
            <p:txBody>
              <a:bodyPr/>
              <a:lstStyle/>
              <a:p>
                <a:r>
                  <a:rPr lang="en-US">
                    <a:noFill/>
                  </a:rPr>
                  <a:t> </a:t>
                </a:r>
              </a:p>
            </p:txBody>
          </p:sp>
        </mc:Fallback>
      </mc:AlternateContent>
      <p:grpSp>
        <p:nvGrpSpPr>
          <p:cNvPr id="17" name="Group 16" descr="The forward view (Sutton and Barto Figure 12.4): a stick figure standing on state S_t looks through a telescope along a line of future states S_t+1, S_t+2, S_t+3 and rewards R_t+1, R_t+2, R_t+3, up to the final reward R_T, with an arrow labelled Time pointing forward. Each update looks ahead to future rewards and states. Labels: w sub t; w sub t plus 1; update.">
            <a:extLst>
              <a:ext uri="{FF2B5EF4-FFF2-40B4-BE49-F238E27FC236}">
                <a16:creationId xmlns:a16="http://schemas.microsoft.com/office/drawing/2014/main" id="{206F3215-3084-94A5-D9BC-4EF0F1E6626F}"/>
              </a:ext>
            </a:extLst>
          </p:cNvPr>
          <p:cNvGrpSpPr/>
          <p:nvPr/>
        </p:nvGrpSpPr>
        <p:grpSpPr>
          <a:xfrm>
            <a:off x="482272" y="3098780"/>
            <a:ext cx="7339461" cy="2279359"/>
            <a:chOff x="482272" y="3098780"/>
            <a:chExt cx="7339461" cy="2279359"/>
          </a:xfrm>
        </p:grpSpPr>
        <p:pic>
          <p:nvPicPr>
            <p:cNvPr id="9" name="Picture 8" descr="The forward view (Sutton and Barto Figure 12.4): a stick figure standing on state S_t looks through a telescope along a line of future states S_t+1, S_t+2, S_t+3 and rewards R_t+1, R_t+2, R_t+3, up to the final reward R_T, with an arrow labelled Time pointing forward. Each update looks ahead to future rewards and states.">
              <a:extLst>
                <a:ext uri="{FF2B5EF4-FFF2-40B4-BE49-F238E27FC236}">
                  <a16:creationId xmlns:a16="http://schemas.microsoft.com/office/drawing/2014/main" id="{AB6695FD-E75E-33FA-BCC4-B93D4EA61FD4}"/>
                </a:ext>
              </a:extLst>
            </p:cNvPr>
            <p:cNvPicPr>
              <a:picLocks noChangeAspect="1"/>
            </p:cNvPicPr>
            <p:nvPr/>
          </p:nvPicPr>
          <p:blipFill>
            <a:blip r:embed="rId4"/>
            <a:stretch>
              <a:fillRect/>
            </a:stretch>
          </p:blipFill>
          <p:spPr>
            <a:xfrm>
              <a:off x="482272" y="3098780"/>
              <a:ext cx="7339461" cy="2094693"/>
            </a:xfrm>
            <a:prstGeom prst="rect">
              <a:avLst/>
            </a:prstGeom>
          </p:spPr>
        </p:pic>
        <mc:AlternateContent xmlns:mc="http://schemas.openxmlformats.org/markup-compatibility/2006" xmlns:a14="http://schemas.microsoft.com/office/drawing/2010/main">
          <mc:Choice Requires="a14">
            <p:sp>
              <p:nvSpPr>
                <p:cNvPr id="8" name="TextBox 7" descr="Equation: w sub t">
                  <a:extLst>
                    <a:ext uri="{FF2B5EF4-FFF2-40B4-BE49-F238E27FC236}">
                      <a16:creationId xmlns:a16="http://schemas.microsoft.com/office/drawing/2014/main" id="{06462DD3-AC57-AC6E-DB58-8C4AA8C5F1B3}"/>
                    </a:ext>
                  </a:extLst>
                </p:cNvPr>
                <p:cNvSpPr txBox="1"/>
                <p:nvPr/>
              </p:nvSpPr>
              <p:spPr>
                <a:xfrm>
                  <a:off x="1187644" y="5008807"/>
                  <a:ext cx="538393" cy="369332"/>
                </a:xfrm>
                <a:prstGeom prst="rect">
                  <a:avLst/>
                </a:prstGeom>
                <a:noFill/>
              </p:spPr>
              <p:txBody>
                <a:bodyPr wrap="square">
                  <a:spAutoFit/>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0" i="1" smtClean="0">
                                <a:latin typeface="Cambria Math" panose="02040503050406030204" pitchFamily="18" charset="0"/>
                              </a:rPr>
                              <m:t>𝑡</m:t>
                            </m:r>
                          </m:sub>
                        </m:sSub>
                      </m:oMath>
                    </m:oMathPara>
                  </a14:m>
                  <a:endParaRPr lang="en-US" dirty="0"/>
                </a:p>
              </p:txBody>
            </p:sp>
          </mc:Choice>
          <mc:Fallback xmlns="">
            <p:sp>
              <p:nvSpPr>
                <p:cNvPr id="8" name="TextBox 7" descr="Equation: w sub t">
                  <a:extLst>
                    <a:ext uri="{FF2B5EF4-FFF2-40B4-BE49-F238E27FC236}">
                      <a16:creationId xmlns:a16="http://schemas.microsoft.com/office/drawing/2014/main" id="{06462DD3-AC57-AC6E-DB58-8C4AA8C5F1B3}"/>
                    </a:ext>
                  </a:extLst>
                </p:cNvPr>
                <p:cNvSpPr txBox="1">
                  <a:spLocks noRot="1" noChangeAspect="1" noMove="1" noResize="1" noEditPoints="1" noAdjustHandles="1" noChangeArrowheads="1" noChangeShapeType="1" noTextEdit="1"/>
                </p:cNvSpPr>
                <p:nvPr/>
              </p:nvSpPr>
              <p:spPr>
                <a:xfrm>
                  <a:off x="1187644" y="5008807"/>
                  <a:ext cx="538393"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descr="Equation: w sub t plus 1">
                  <a:extLst>
                    <a:ext uri="{FF2B5EF4-FFF2-40B4-BE49-F238E27FC236}">
                      <a16:creationId xmlns:a16="http://schemas.microsoft.com/office/drawing/2014/main" id="{D4C21A98-A3F2-1D38-E686-25CC785EEF09}"/>
                    </a:ext>
                  </a:extLst>
                </p:cNvPr>
                <p:cNvSpPr txBox="1"/>
                <p:nvPr/>
              </p:nvSpPr>
              <p:spPr>
                <a:xfrm>
                  <a:off x="2515386" y="4762408"/>
                  <a:ext cx="616470" cy="369332"/>
                </a:xfrm>
                <a:prstGeom prst="rect">
                  <a:avLst/>
                </a:prstGeom>
                <a:noFill/>
              </p:spPr>
              <p:txBody>
                <a:bodyPr wrap="square">
                  <a:spAutoFit/>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US" dirty="0"/>
                </a:p>
              </p:txBody>
            </p:sp>
          </mc:Choice>
          <mc:Fallback xmlns="">
            <p:sp>
              <p:nvSpPr>
                <p:cNvPr id="11" name="TextBox 10" descr="Equation: w sub t plus 1">
                  <a:extLst>
                    <a:ext uri="{FF2B5EF4-FFF2-40B4-BE49-F238E27FC236}">
                      <a16:creationId xmlns:a16="http://schemas.microsoft.com/office/drawing/2014/main" id="{D4C21A98-A3F2-1D38-E686-25CC785EEF09}"/>
                    </a:ext>
                  </a:extLst>
                </p:cNvPr>
                <p:cNvSpPr txBox="1">
                  <a:spLocks noRot="1" noChangeAspect="1" noMove="1" noResize="1" noEditPoints="1" noAdjustHandles="1" noChangeArrowheads="1" noChangeShapeType="1" noTextEdit="1"/>
                </p:cNvSpPr>
                <p:nvPr/>
              </p:nvSpPr>
              <p:spPr>
                <a:xfrm>
                  <a:off x="2515386" y="4762408"/>
                  <a:ext cx="616470" cy="369332"/>
                </a:xfrm>
                <a:prstGeom prst="rect">
                  <a:avLst/>
                </a:prstGeom>
                <a:blipFill>
                  <a:blip r:embed="rId8"/>
                  <a:stretch>
                    <a:fillRect r="-99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3841847C-870A-6AAB-5DFF-B9B9859364C8}"/>
                </a:ext>
              </a:extLst>
            </p:cNvPr>
            <p:cNvSpPr txBox="1"/>
            <p:nvPr/>
          </p:nvSpPr>
          <p:spPr>
            <a:xfrm rot="20955581">
              <a:off x="1541594" y="4605447"/>
              <a:ext cx="889987" cy="369332"/>
            </a:xfrm>
            <a:prstGeom prst="rect">
              <a:avLst/>
            </a:prstGeom>
            <a:noFill/>
          </p:spPr>
          <p:txBody>
            <a:bodyPr wrap="none" rtlCol="0">
              <a:spAutoFit/>
            </a:bodyPr>
            <a:lstStyle/>
            <a:p>
              <a:r>
                <a:rPr lang="en-US" dirty="0">
                  <a:solidFill>
                    <a:schemeClr val="accent2"/>
                  </a:solidFill>
                </a:rPr>
                <a:t>update</a:t>
              </a:r>
            </a:p>
          </p:txBody>
        </p:sp>
        <p:cxnSp>
          <p:nvCxnSpPr>
            <p:cNvPr id="13" name="Straight Arrow Connector 12">
              <a:extLst>
                <a:ext uri="{FF2B5EF4-FFF2-40B4-BE49-F238E27FC236}">
                  <a16:creationId xmlns:a16="http://schemas.microsoft.com/office/drawing/2014/main" id="{9AFA192E-5DA0-E399-780F-3564BE21E543}"/>
                </a:ext>
                <a:ext uri="{C183D7F6-B498-43B3-948B-1728B52AA6E4}">
                  <adec:decorative xmlns:adec="http://schemas.microsoft.com/office/drawing/2017/decorative" val="1"/>
                </a:ext>
              </a:extLst>
            </p:cNvPr>
            <p:cNvCxnSpPr>
              <a:cxnSpLocks/>
            </p:cNvCxnSpPr>
            <p:nvPr/>
          </p:nvCxnSpPr>
          <p:spPr>
            <a:xfrm flipV="1">
              <a:off x="1510018" y="4790114"/>
              <a:ext cx="1115736" cy="26005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mc:AlternateContent xmlns:mc="http://schemas.openxmlformats.org/markup-compatibility/2006">
        <mc:Choice xmlns:a14="http://schemas.microsoft.com/office/drawing/2010/main" Requires="a14">
          <p:sp>
            <p:nvSpPr>
              <p:cNvPr id="10" name="Speech Bubble: Rectangle with Corners Rounded 9">
                <a:extLst>
                  <a:ext uri="{FF2B5EF4-FFF2-40B4-BE49-F238E27FC236}">
                    <a16:creationId xmlns:a16="http://schemas.microsoft.com/office/drawing/2014/main" id="{211F70B4-8AFD-C643-01D4-C8A539A11926}"/>
                  </a:ext>
                  <a:ext uri="{C183D7F6-B498-43B3-948B-1728B52AA6E4}">
                    <adec:decorative xmlns:adec="http://schemas.microsoft.com/office/drawing/2017/decorative" val="1"/>
                  </a:ext>
                </a:extLst>
              </p:cNvPr>
              <p:cNvSpPr/>
              <p:nvPr/>
            </p:nvSpPr>
            <p:spPr>
              <a:xfrm>
                <a:off x="5254052" y="5495935"/>
                <a:ext cx="3065488" cy="626278"/>
              </a:xfrm>
              <a:prstGeom prst="wedgeRoundRectCallout">
                <a:avLst>
                  <a:gd name="adj1" fmla="val 15220"/>
                  <a:gd name="adj2" fmla="val -35339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Agent can only update the value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when it is here!</a:t>
                </a:r>
              </a:p>
            </p:txBody>
          </p:sp>
        </mc:Choice>
        <mc:Fallback>
          <p:sp>
            <p:nvSpPr>
              <p:cNvPr id="10" name="Speech Bubble: Rectangle with Corners Rounded 9">
                <a:extLst>
                  <a:ext uri="{FF2B5EF4-FFF2-40B4-BE49-F238E27FC236}">
                    <a16:creationId xmlns:a16="http://schemas.microsoft.com/office/drawing/2014/main" id="{211F70B4-8AFD-C643-01D4-C8A539A11926}"/>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5254052" y="5495935"/>
                <a:ext cx="3065488" cy="626278"/>
              </a:xfrm>
              <a:prstGeom prst="wedgeRoundRectCallout">
                <a:avLst>
                  <a:gd name="adj1" fmla="val 15220"/>
                  <a:gd name="adj2" fmla="val -353391"/>
                  <a:gd name="adj3" fmla="val 16667"/>
                </a:avLst>
              </a:prstGeom>
              <a:blipFill>
                <a:blip r:embed="rId9"/>
                <a:stretch>
                  <a:fillRect b="-3941"/>
                </a:stretch>
              </a:blipFill>
            </p:spPr>
            <p:txBody>
              <a:bodyPr/>
              <a:lstStyle/>
              <a:p>
                <a:r>
                  <a:rPr lang="en-US">
                    <a:noFill/>
                  </a:rPr>
                  <a:t> </a:t>
                </a:r>
              </a:p>
            </p:txBody>
          </p:sp>
        </mc:Fallback>
      </mc:AlternateContent>
      <p:grpSp>
        <p:nvGrpSpPr>
          <p:cNvPr id="4" name="Group 3" descr="Backup diagram for TD(lambda) (Sutton and Barto Figure 12.1): a row of n-step backups, each a chain from S_t through actions and states. The 1-step backup is weighted 1 − lambda, the 2-step backup (1 − lambda) lambda, the 3-step backup (1 − lambda) lambda squared, and so on; the final chain runs all the way to the terminal state S_T with reward R_T and gets weight lambda to the power T − t − 1. The weights sum to 1. Labels: Backup diagram Weighting of the components of the lambda -return.">
            <a:extLst>
              <a:ext uri="{FF2B5EF4-FFF2-40B4-BE49-F238E27FC236}">
                <a16:creationId xmlns:a16="http://schemas.microsoft.com/office/drawing/2014/main" id="{14F066E0-14B9-ED12-6A95-7A9B8E5FEA05}"/>
              </a:ext>
            </a:extLst>
          </p:cNvPr>
          <p:cNvGrpSpPr/>
          <p:nvPr/>
        </p:nvGrpSpPr>
        <p:grpSpPr>
          <a:xfrm>
            <a:off x="8098145" y="374690"/>
            <a:ext cx="3892174" cy="4077325"/>
            <a:chOff x="7318283" y="732971"/>
            <a:chExt cx="4870635" cy="5144409"/>
          </a:xfrm>
        </p:grpSpPr>
        <p:pic>
          <p:nvPicPr>
            <p:cNvPr id="5" name="Picture 4" descr="Backup diagram for TD(lambda) (Sutton and Barto Figure 12.1): a row of n-step backups, each a chain from S_t through actions and states. The 1-step backup is weighted 1 − lambda, the 2-step backup (1 − lambda) lambda, the 3-step backup (1 − lambda) lambda squared, and so on; the final chain runs all the way to the terminal state S_T with reward R_T and gets weight lambda to the power T − t − 1. The weights sum to 1.">
              <a:extLst>
                <a:ext uri="{FF2B5EF4-FFF2-40B4-BE49-F238E27FC236}">
                  <a16:creationId xmlns:a16="http://schemas.microsoft.com/office/drawing/2014/main" id="{4FBF0173-A454-9854-1EB8-24853BE78A3E}"/>
                </a:ext>
              </a:extLst>
            </p:cNvPr>
            <p:cNvPicPr>
              <a:picLocks noChangeAspect="1"/>
            </p:cNvPicPr>
            <p:nvPr/>
          </p:nvPicPr>
          <p:blipFill>
            <a:blip r:embed="rId10"/>
            <a:stretch>
              <a:fillRect/>
            </a:stretch>
          </p:blipFill>
          <p:spPr>
            <a:xfrm>
              <a:off x="7318283" y="1739618"/>
              <a:ext cx="4870635" cy="4054445"/>
            </a:xfrm>
            <a:prstGeom prst="rect">
              <a:avLst/>
            </a:prstGeom>
          </p:spPr>
        </p:pic>
        <mc:AlternateContent xmlns:mc="http://schemas.openxmlformats.org/markup-compatibility/2006" xmlns:a14="http://schemas.microsoft.com/office/drawing/2010/main">
          <mc:Choice Requires="a14">
            <p:sp>
              <p:nvSpPr>
                <p:cNvPr id="6" name="TextBox 5" descr="Backup diagram Weighting of the components of the lambda -return">
                  <a:extLst>
                    <a:ext uri="{FF2B5EF4-FFF2-40B4-BE49-F238E27FC236}">
                      <a16:creationId xmlns:a16="http://schemas.microsoft.com/office/drawing/2014/main" id="{083FA437-6AA3-E563-8318-88ED17E056FB}"/>
                    </a:ext>
                  </a:extLst>
                </p:cNvPr>
                <p:cNvSpPr txBox="1"/>
                <p:nvPr/>
              </p:nvSpPr>
              <p:spPr>
                <a:xfrm>
                  <a:off x="7721599" y="732971"/>
                  <a:ext cx="4209143" cy="923330"/>
                </a:xfrm>
                <a:prstGeom prst="rect">
                  <a:avLst/>
                </a:prstGeom>
                <a:noFill/>
              </p:spPr>
              <p:txBody>
                <a:bodyPr wrap="square" rtlCol="0">
                  <a:spAutoFit/>
                </a:bodyPr>
                <a:lstStyle/>
                <a:p>
                  <a:pPr algn="ctr"/>
                  <a:r>
                    <a:rPr lang="en-US" b="1" dirty="0"/>
                    <a:t>Backup diagram </a:t>
                  </a:r>
                  <a:br>
                    <a:rPr lang="en-US" b="1" dirty="0"/>
                  </a:br>
                  <a:r>
                    <a:rPr lang="en-US" dirty="0"/>
                    <a:t>Weighting of the components </a:t>
                  </a:r>
                  <a:br>
                    <a:rPr lang="en-US" dirty="0"/>
                  </a:br>
                  <a:r>
                    <a:rPr lang="en-US" dirty="0"/>
                    <a:t>of the </a:t>
                  </a:r>
                  <a14:m>
                    <m:oMath xmlns:m="http://schemas.openxmlformats.org/officeDocument/2006/math">
                      <m:r>
                        <a:rPr lang="en-US" b="0" i="1">
                          <a:latin typeface="Cambria Math" panose="02040503050406030204" pitchFamily="18" charset="0"/>
                        </a:rPr>
                        <m:t>𝜆</m:t>
                      </m:r>
                    </m:oMath>
                  </a14:m>
                  <a:r>
                    <a:rPr lang="en-US" dirty="0"/>
                    <a:t>-return </a:t>
                  </a:r>
                </a:p>
              </p:txBody>
            </p:sp>
          </mc:Choice>
          <mc:Fallback xmlns="">
            <p:sp>
              <p:nvSpPr>
                <p:cNvPr id="6" name="TextBox 5" descr="Backup diagram Weighting of the components of the lambda -return">
                  <a:extLst>
                    <a:ext uri="{FF2B5EF4-FFF2-40B4-BE49-F238E27FC236}">
                      <a16:creationId xmlns:a16="http://schemas.microsoft.com/office/drawing/2014/main" id="{083FA437-6AA3-E563-8318-88ED17E056FB}"/>
                    </a:ext>
                  </a:extLst>
                </p:cNvPr>
                <p:cNvSpPr txBox="1">
                  <a:spLocks noRot="1" noChangeAspect="1" noMove="1" noResize="1" noEditPoints="1" noAdjustHandles="1" noChangeArrowheads="1" noChangeShapeType="1" noTextEdit="1"/>
                </p:cNvSpPr>
                <p:nvPr/>
              </p:nvSpPr>
              <p:spPr>
                <a:xfrm>
                  <a:off x="7721599" y="732971"/>
                  <a:ext cx="4209143" cy="923330"/>
                </a:xfrm>
                <a:prstGeom prst="rect">
                  <a:avLst/>
                </a:prstGeom>
                <a:blipFill>
                  <a:blip r:embed="rId5"/>
                  <a:stretch>
                    <a:fillRect t="-3306" b="-38017"/>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08FE606E-7390-123A-8006-FFCF34E5BBA2}"/>
                </a:ext>
                <a:ext uri="{C183D7F6-B498-43B3-948B-1728B52AA6E4}">
                  <adec:decorative xmlns:adec="http://schemas.microsoft.com/office/drawing/2017/decorative" val="1"/>
                </a:ext>
              </a:extLst>
            </p:cNvPr>
            <p:cNvSpPr/>
            <p:nvPr/>
          </p:nvSpPr>
          <p:spPr>
            <a:xfrm>
              <a:off x="7467600" y="732971"/>
              <a:ext cx="4572000" cy="514440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3998512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5C35685-52DA-F194-570C-066411476734}"/>
              </a:ext>
            </a:extLst>
          </p:cNvPr>
          <p:cNvSpPr>
            <a:spLocks noGrp="1"/>
          </p:cNvSpPr>
          <p:nvPr>
            <p:ph type="title"/>
          </p:nvPr>
        </p:nvSpPr>
        <p:spPr/>
        <p:txBody>
          <a:bodyPr/>
          <a:lstStyle/>
          <a:p>
            <a:r>
              <a:rPr lang="en-US" dirty="0"/>
              <a:t>The Backward View</a:t>
            </a:r>
          </a:p>
        </p:txBody>
      </p:sp>
      <p:sp>
        <p:nvSpPr>
          <p:cNvPr id="5" name="Text Placeholder 4">
            <a:extLst>
              <a:ext uri="{FF2B5EF4-FFF2-40B4-BE49-F238E27FC236}">
                <a16:creationId xmlns:a16="http://schemas.microsoft.com/office/drawing/2014/main" id="{6D7DF6FB-C5F0-A5AF-1E34-8255944277EB}"/>
              </a:ext>
            </a:extLst>
          </p:cNvPr>
          <p:cNvSpPr>
            <a:spLocks noGrp="1"/>
          </p:cNvSpPr>
          <p:nvPr>
            <p:ph type="body" idx="1"/>
          </p:nvPr>
        </p:nvSpPr>
        <p:spPr/>
        <p:txBody>
          <a:bodyPr/>
          <a:lstStyle/>
          <a:p>
            <a:r>
              <a:rPr lang="en-US" dirty="0"/>
              <a:t>Using eligibility traces</a:t>
            </a:r>
          </a:p>
        </p:txBody>
      </p:sp>
    </p:spTree>
    <p:extLst>
      <p:ext uri="{BB962C8B-B14F-4D97-AF65-F5344CB8AC3E}">
        <p14:creationId xmlns:p14="http://schemas.microsoft.com/office/powerpoint/2010/main" val="333874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33E540-9847-9C21-C9F0-CFBE8C995D02}"/>
              </a:ext>
            </a:extLst>
          </p:cNvPr>
          <p:cNvSpPr>
            <a:spLocks noGrp="1"/>
          </p:cNvSpPr>
          <p:nvPr>
            <p:ph type="title"/>
          </p:nvPr>
        </p:nvSpPr>
        <p:spPr/>
        <p:txBody>
          <a:bodyPr/>
          <a:lstStyle/>
          <a:p>
            <a:r>
              <a:rPr lang="en-US" dirty="0"/>
              <a:t>The Backward View </a:t>
            </a:r>
          </a:p>
        </p:txBody>
      </p:sp>
      <p:grpSp>
        <p:nvGrpSpPr>
          <p:cNvPr id="2" name="Group 1" descr="The backward view (Sutton and Barto Figure 12.5): a stick figure on state S_t+1 shouts the TD error delta_t through a megaphone back along the line of earlier states S_t, S_t−1, S_t−2, S_t−3, each labelled with its eligibility trace z_t; sound waves fade as they reach older states. Each TD error is broadcast back to recently visited states in proportion to their traces. Labels: w sub t; w sub t plus 1; update.">
            <a:extLst>
              <a:ext uri="{FF2B5EF4-FFF2-40B4-BE49-F238E27FC236}">
                <a16:creationId xmlns:a16="http://schemas.microsoft.com/office/drawing/2014/main" id="{24CA70D1-B1C8-66B6-2B70-B39889CCE8CA}"/>
              </a:ext>
            </a:extLst>
          </p:cNvPr>
          <p:cNvGrpSpPr/>
          <p:nvPr/>
        </p:nvGrpSpPr>
        <p:grpSpPr>
          <a:xfrm>
            <a:off x="1988161" y="1124198"/>
            <a:ext cx="7075799" cy="3327793"/>
            <a:chOff x="2000745" y="1095253"/>
            <a:chExt cx="7075799" cy="3327793"/>
          </a:xfrm>
        </p:grpSpPr>
        <p:pic>
          <p:nvPicPr>
            <p:cNvPr id="7" name="Picture 6" descr="The backward view (Sutton and Barto Figure 12.5): a stick figure on state S_t+1 shouts the TD error delta_t through a megaphone back along the line of earlier states S_t, S_t−1, S_t−2, S_t−3, each labelled with its eligibility trace z_t; sound waves fade as they reach older states. Each TD error is broadcast back to recently visited states in proportion to their traces.">
              <a:extLst>
                <a:ext uri="{FF2B5EF4-FFF2-40B4-BE49-F238E27FC236}">
                  <a16:creationId xmlns:a16="http://schemas.microsoft.com/office/drawing/2014/main" id="{AF2107B3-4130-2F4D-8348-C8D01145A672}"/>
                </a:ext>
              </a:extLst>
            </p:cNvPr>
            <p:cNvPicPr>
              <a:picLocks noChangeAspect="1"/>
            </p:cNvPicPr>
            <p:nvPr/>
          </p:nvPicPr>
          <p:blipFill>
            <a:blip r:embed="rId2"/>
            <a:stretch>
              <a:fillRect/>
            </a:stretch>
          </p:blipFill>
          <p:spPr>
            <a:xfrm>
              <a:off x="2000745" y="1095253"/>
              <a:ext cx="7075799" cy="3142324"/>
            </a:xfrm>
            <a:prstGeom prst="rect">
              <a:avLst/>
            </a:prstGeom>
          </p:spPr>
        </p:pic>
        <mc:AlternateContent xmlns:mc="http://schemas.openxmlformats.org/markup-compatibility/2006" xmlns:a14="http://schemas.microsoft.com/office/drawing/2010/main">
          <mc:Choice Requires="a14">
            <p:sp>
              <p:nvSpPr>
                <p:cNvPr id="11" name="TextBox 10" descr="Equation: w sub t">
                  <a:extLst>
                    <a:ext uri="{FF2B5EF4-FFF2-40B4-BE49-F238E27FC236}">
                      <a16:creationId xmlns:a16="http://schemas.microsoft.com/office/drawing/2014/main" id="{99931218-62BE-9701-43DE-FF542624DDB6}"/>
                    </a:ext>
                  </a:extLst>
                </p:cNvPr>
                <p:cNvSpPr txBox="1"/>
                <p:nvPr/>
              </p:nvSpPr>
              <p:spPr>
                <a:xfrm>
                  <a:off x="6518848" y="3619087"/>
                  <a:ext cx="538393" cy="369332"/>
                </a:xfrm>
                <a:prstGeom prst="rect">
                  <a:avLst/>
                </a:prstGeom>
                <a:noFill/>
              </p:spPr>
              <p:txBody>
                <a:bodyPr wrap="square">
                  <a:spAutoFit/>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0" i="1" smtClean="0">
                                <a:latin typeface="Cambria Math" panose="02040503050406030204" pitchFamily="18" charset="0"/>
                              </a:rPr>
                              <m:t>𝑡</m:t>
                            </m:r>
                          </m:sub>
                        </m:sSub>
                      </m:oMath>
                    </m:oMathPara>
                  </a14:m>
                  <a:endParaRPr lang="en-US" dirty="0"/>
                </a:p>
              </p:txBody>
            </p:sp>
          </mc:Choice>
          <mc:Fallback xmlns="">
            <p:sp>
              <p:nvSpPr>
                <p:cNvPr id="11" name="TextBox 10" descr="Equation: w sub t">
                  <a:extLst>
                    <a:ext uri="{FF2B5EF4-FFF2-40B4-BE49-F238E27FC236}">
                      <a16:creationId xmlns:a16="http://schemas.microsoft.com/office/drawing/2014/main" id="{99931218-62BE-9701-43DE-FF542624DDB6}"/>
                    </a:ext>
                  </a:extLst>
                </p:cNvPr>
                <p:cNvSpPr txBox="1">
                  <a:spLocks noRot="1" noChangeAspect="1" noMove="1" noResize="1" noEditPoints="1" noAdjustHandles="1" noChangeArrowheads="1" noChangeShapeType="1" noTextEdit="1"/>
                </p:cNvSpPr>
                <p:nvPr/>
              </p:nvSpPr>
              <p:spPr>
                <a:xfrm>
                  <a:off x="6518848" y="3619087"/>
                  <a:ext cx="538393"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descr="Equation: w sub t plus 1">
                  <a:extLst>
                    <a:ext uri="{FF2B5EF4-FFF2-40B4-BE49-F238E27FC236}">
                      <a16:creationId xmlns:a16="http://schemas.microsoft.com/office/drawing/2014/main" id="{9BEF2B6F-A91F-6A73-BE9B-2007F6B1995C}"/>
                    </a:ext>
                  </a:extLst>
                </p:cNvPr>
                <p:cNvSpPr txBox="1"/>
                <p:nvPr/>
              </p:nvSpPr>
              <p:spPr>
                <a:xfrm>
                  <a:off x="8012868" y="4053714"/>
                  <a:ext cx="616470" cy="369332"/>
                </a:xfrm>
                <a:prstGeom prst="rect">
                  <a:avLst/>
                </a:prstGeom>
                <a:noFill/>
              </p:spPr>
              <p:txBody>
                <a:bodyPr wrap="square">
                  <a:spAutoFit/>
                </a:bodyPr>
                <a:lstStyle/>
                <a:p>
                  <a:pPr/>
                  <a14:m>
                    <m:oMathPara xmlns:m="http://schemas.openxmlformats.org/officeDocument/2006/math">
                      <m:o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𝒘</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US" dirty="0"/>
                </a:p>
              </p:txBody>
            </p:sp>
          </mc:Choice>
          <mc:Fallback xmlns="">
            <p:sp>
              <p:nvSpPr>
                <p:cNvPr id="12" name="TextBox 11" descr="Equation: w sub t plus 1">
                  <a:extLst>
                    <a:ext uri="{FF2B5EF4-FFF2-40B4-BE49-F238E27FC236}">
                      <a16:creationId xmlns:a16="http://schemas.microsoft.com/office/drawing/2014/main" id="{9BEF2B6F-A91F-6A73-BE9B-2007F6B1995C}"/>
                    </a:ext>
                  </a:extLst>
                </p:cNvPr>
                <p:cNvSpPr txBox="1">
                  <a:spLocks noRot="1" noChangeAspect="1" noMove="1" noResize="1" noEditPoints="1" noAdjustHandles="1" noChangeArrowheads="1" noChangeShapeType="1" noTextEdit="1"/>
                </p:cNvSpPr>
                <p:nvPr/>
              </p:nvSpPr>
              <p:spPr>
                <a:xfrm>
                  <a:off x="8012868" y="4053714"/>
                  <a:ext cx="616470" cy="369332"/>
                </a:xfrm>
                <a:prstGeom prst="rect">
                  <a:avLst/>
                </a:prstGeom>
                <a:blipFill>
                  <a:blip r:embed="rId5"/>
                  <a:stretch>
                    <a:fillRect/>
                  </a:stretch>
                </a:blipFill>
              </p:spPr>
              <p:txBody>
                <a:bodyPr/>
                <a:lstStyle/>
                <a:p>
                  <a:r>
                    <a:rPr lang="en-US">
                      <a:noFill/>
                    </a:rPr>
                    <a:t> </a:t>
                  </a:r>
                </a:p>
              </p:txBody>
            </p:sp>
          </mc:Fallback>
        </mc:AlternateContent>
        <p:grpSp>
          <p:nvGrpSpPr>
            <p:cNvPr id="19" name="Group 18" descr="Diagram with labels: update.">
              <a:extLst>
                <a:ext uri="{FF2B5EF4-FFF2-40B4-BE49-F238E27FC236}">
                  <a16:creationId xmlns:a16="http://schemas.microsoft.com/office/drawing/2014/main" id="{F2CEEC33-42F0-CF71-67E5-0E3B29769461}"/>
                </a:ext>
              </a:extLst>
            </p:cNvPr>
            <p:cNvGrpSpPr/>
            <p:nvPr/>
          </p:nvGrpSpPr>
          <p:grpSpPr>
            <a:xfrm>
              <a:off x="6932951" y="3768495"/>
              <a:ext cx="1079917" cy="469885"/>
              <a:chOff x="6932951" y="3768495"/>
              <a:chExt cx="1079917" cy="469885"/>
            </a:xfrm>
          </p:grpSpPr>
          <p:cxnSp>
            <p:nvCxnSpPr>
              <p:cNvPr id="14" name="Straight Arrow Connector 13">
                <a:extLst>
                  <a:ext uri="{FF2B5EF4-FFF2-40B4-BE49-F238E27FC236}">
                    <a16:creationId xmlns:a16="http://schemas.microsoft.com/office/drawing/2014/main" id="{B5453FED-9076-E5A4-2B94-9A032A9FD338}"/>
                  </a:ext>
                  <a:ext uri="{C183D7F6-B498-43B3-948B-1728B52AA6E4}">
                    <adec:decorative xmlns:adec="http://schemas.microsoft.com/office/drawing/2017/decorative" val="1"/>
                  </a:ext>
                </a:extLst>
              </p:cNvPr>
              <p:cNvCxnSpPr>
                <a:cxnSpLocks/>
                <a:endCxn id="12" idx="1"/>
              </p:cNvCxnSpPr>
              <p:nvPr/>
            </p:nvCxnSpPr>
            <p:spPr>
              <a:xfrm>
                <a:off x="6932951" y="3895685"/>
                <a:ext cx="1079917" cy="34269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8" name="TextBox 17">
                <a:extLst>
                  <a:ext uri="{FF2B5EF4-FFF2-40B4-BE49-F238E27FC236}">
                    <a16:creationId xmlns:a16="http://schemas.microsoft.com/office/drawing/2014/main" id="{3FF7A9AF-DCD8-97D1-286D-51D9A1170DA3}"/>
                  </a:ext>
                </a:extLst>
              </p:cNvPr>
              <p:cNvSpPr txBox="1"/>
              <p:nvPr/>
            </p:nvSpPr>
            <p:spPr>
              <a:xfrm rot="1135729">
                <a:off x="7090062" y="3768495"/>
                <a:ext cx="889987" cy="369332"/>
              </a:xfrm>
              <a:prstGeom prst="rect">
                <a:avLst/>
              </a:prstGeom>
              <a:noFill/>
            </p:spPr>
            <p:txBody>
              <a:bodyPr wrap="none" rtlCol="0">
                <a:spAutoFit/>
              </a:bodyPr>
              <a:lstStyle/>
              <a:p>
                <a:r>
                  <a:rPr lang="en-US" dirty="0">
                    <a:solidFill>
                      <a:schemeClr val="accent2"/>
                    </a:solidFill>
                  </a:rPr>
                  <a:t>update</a:t>
                </a:r>
              </a:p>
            </p:txBody>
          </p:sp>
        </p:grpSp>
      </p:grpSp>
      <mc:AlternateContent xmlns:mc="http://schemas.openxmlformats.org/markup-compatibility/2006" xmlns:a14="http://schemas.microsoft.com/office/drawing/2010/main">
        <mc:Choice Requires="a14">
          <p:sp>
            <p:nvSpPr>
              <p:cNvPr id="3" name="TextBox 2" descr="delta sub t is the TD-error. z sub t remembers how much to blame state for delta sub t">
                <a:extLst>
                  <a:ext uri="{FF2B5EF4-FFF2-40B4-BE49-F238E27FC236}">
                    <a16:creationId xmlns:a16="http://schemas.microsoft.com/office/drawing/2014/main" id="{7F2DE156-8CD9-6258-1FAA-DB9C5CBF9ACF}"/>
                  </a:ext>
                </a:extLst>
              </p:cNvPr>
              <p:cNvSpPr txBox="1"/>
              <p:nvPr/>
            </p:nvSpPr>
            <p:spPr>
              <a:xfrm>
                <a:off x="8699383" y="1402630"/>
                <a:ext cx="2722227"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a:rPr lang="en-US" b="0" i="1" smtClean="0">
                            <a:latin typeface="Cambria Math" panose="02040503050406030204" pitchFamily="18" charset="0"/>
                          </a:rPr>
                          <m:t>𝑡</m:t>
                        </m:r>
                      </m:sub>
                    </m:sSub>
                  </m:oMath>
                </a14:m>
                <a:r>
                  <a:rPr lang="en-US" dirty="0"/>
                  <a:t> is the TD-error</a:t>
                </a:r>
              </a:p>
              <a:p>
                <a:endParaRPr lang="en-US" b="0" i="1" dirty="0">
                  <a:latin typeface="Cambria Math" panose="02040503050406030204" pitchFamily="18" charset="0"/>
                </a:endParaRP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𝑡</m:t>
                        </m:r>
                      </m:sub>
                    </m:sSub>
                  </m:oMath>
                </a14:m>
                <a:r>
                  <a:rPr lang="en-US" dirty="0"/>
                  <a:t>remembers how much to blame state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𝑡</m:t>
                        </m:r>
                      </m:sub>
                    </m:sSub>
                  </m:oMath>
                </a14:m>
                <a:r>
                  <a:rPr lang="en-US" dirty="0"/>
                  <a:t>.</a:t>
                </a:r>
              </a:p>
            </p:txBody>
          </p:sp>
        </mc:Choice>
        <mc:Fallback xmlns="">
          <p:sp>
            <p:nvSpPr>
              <p:cNvPr id="3" name="TextBox 2" descr="delta sub t is the TD-error. z sub t remembers how much to blame state for delta sub t">
                <a:extLst>
                  <a:ext uri="{FF2B5EF4-FFF2-40B4-BE49-F238E27FC236}">
                    <a16:creationId xmlns:a16="http://schemas.microsoft.com/office/drawing/2014/main" id="{7F2DE156-8CD9-6258-1FAA-DB9C5CBF9ACF}"/>
                  </a:ext>
                </a:extLst>
              </p:cNvPr>
              <p:cNvSpPr txBox="1">
                <a:spLocks noRot="1" noChangeAspect="1" noMove="1" noResize="1" noEditPoints="1" noAdjustHandles="1" noChangeArrowheads="1" noChangeShapeType="1" noTextEdit="1"/>
              </p:cNvSpPr>
              <p:nvPr/>
            </p:nvSpPr>
            <p:spPr>
              <a:xfrm>
                <a:off x="8699383" y="1402630"/>
                <a:ext cx="2722227" cy="1200329"/>
              </a:xfrm>
              <a:prstGeom prst="rect">
                <a:avLst/>
              </a:prstGeom>
              <a:blipFill>
                <a:blip r:embed="rId6"/>
                <a:stretch>
                  <a:fillRect l="-1556" t="-1500" b="-6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4" descr="If we can update the value function for all previous states depending on the current observed TD-error:. Approximate the behavior of the forward-looking Off-Line 𝜆-Return Algorithm. Online update of w at every time step. Computations are equally spread over time (not just the end of the episode). Works for continuing problems with no episode structure">
                <a:extLst>
                  <a:ext uri="{FF2B5EF4-FFF2-40B4-BE49-F238E27FC236}">
                    <a16:creationId xmlns:a16="http://schemas.microsoft.com/office/drawing/2014/main" id="{22E6FDC9-6D3E-B7E6-3EA4-F58FDCD127D7}"/>
                  </a:ext>
                </a:extLst>
              </p:cNvPr>
              <p:cNvSpPr>
                <a:spLocks noGrp="1"/>
              </p:cNvSpPr>
              <p:nvPr>
                <p:ph idx="1"/>
              </p:nvPr>
            </p:nvSpPr>
            <p:spPr>
              <a:xfrm>
                <a:off x="838200" y="4579571"/>
                <a:ext cx="10515600" cy="1720562"/>
              </a:xfrm>
            </p:spPr>
            <p:txBody>
              <a:bodyPr>
                <a:normAutofit fontScale="77500" lnSpcReduction="20000"/>
              </a:bodyPr>
              <a:lstStyle/>
              <a:p>
                <a:pPr marL="0" indent="0">
                  <a:buNone/>
                </a:pPr>
                <a:r>
                  <a:rPr lang="en-US" dirty="0"/>
                  <a:t>If we can </a:t>
                </a:r>
                <a:r>
                  <a:rPr lang="en-US" b="1" dirty="0"/>
                  <a:t>update the value function for all previous states </a:t>
                </a:r>
                <a:r>
                  <a:rPr lang="en-US" dirty="0"/>
                  <a:t>depending on the current observed TD-error:</a:t>
                </a:r>
              </a:p>
              <a:p>
                <a:pPr lvl="1"/>
                <a:r>
                  <a:rPr lang="en-US" dirty="0"/>
                  <a:t>Approximate the behavior of the forward-looking Off-Line 𝜆-Return Algorithm.</a:t>
                </a:r>
              </a:p>
              <a:p>
                <a:pPr lvl="1"/>
                <a:r>
                  <a:rPr lang="en-US" dirty="0"/>
                  <a:t>Online update of </a:t>
                </a:r>
                <a14:m>
                  <m:oMath xmlns:m="http://schemas.openxmlformats.org/officeDocument/2006/math">
                    <m:r>
                      <a:rPr lang="en-US" b="1" i="1" smtClean="0">
                        <a:latin typeface="Cambria Math" panose="02040503050406030204" pitchFamily="18" charset="0"/>
                      </a:rPr>
                      <m:t>𝒘</m:t>
                    </m:r>
                  </m:oMath>
                </a14:m>
                <a:r>
                  <a:rPr lang="en-US" b="1" dirty="0"/>
                  <a:t> </a:t>
                </a:r>
                <a:r>
                  <a:rPr lang="en-US" dirty="0"/>
                  <a:t>at every time step.</a:t>
                </a:r>
              </a:p>
              <a:p>
                <a:pPr lvl="1"/>
                <a:r>
                  <a:rPr lang="en-US" dirty="0"/>
                  <a:t>Computations are equally spread over time (not just the end of the episode).</a:t>
                </a:r>
              </a:p>
              <a:p>
                <a:pPr lvl="1"/>
                <a:r>
                  <a:rPr lang="en-US" dirty="0"/>
                  <a:t>Works for continuing problems with no episode structure.</a:t>
                </a:r>
              </a:p>
            </p:txBody>
          </p:sp>
        </mc:Choice>
        <mc:Fallback xmlns="">
          <p:sp>
            <p:nvSpPr>
              <p:cNvPr id="5" name="Content Placeholder 4" descr="If we can update the value function for all previous states depending on the current observed TD-error:. Approximate the behavior of the forward-looking Off-Line 𝜆-Return Algorithm. Online update of w at every time step. Computations are equally spread over time (not just the end of the episode). Works for continuing problems with no episode structure">
                <a:extLst>
                  <a:ext uri="{FF2B5EF4-FFF2-40B4-BE49-F238E27FC236}">
                    <a16:creationId xmlns:a16="http://schemas.microsoft.com/office/drawing/2014/main" id="{22E6FDC9-6D3E-B7E6-3EA4-F58FDCD127D7}"/>
                  </a:ext>
                </a:extLst>
              </p:cNvPr>
              <p:cNvSpPr>
                <a:spLocks noGrp="1" noRot="1" noChangeAspect="1" noMove="1" noResize="1" noEditPoints="1" noAdjustHandles="1" noChangeArrowheads="1" noChangeShapeType="1" noTextEdit="1"/>
              </p:cNvSpPr>
              <p:nvPr>
                <p:ph idx="1"/>
              </p:nvPr>
            </p:nvSpPr>
            <p:spPr>
              <a:xfrm>
                <a:off x="838200" y="4579571"/>
                <a:ext cx="10515600" cy="1720562"/>
              </a:xfrm>
              <a:blipFill>
                <a:blip r:embed="rId7"/>
                <a:stretch>
                  <a:fillRect l="-754" t="-7092" r="-348" b="-1418"/>
                </a:stretch>
              </a:blipFill>
            </p:spPr>
            <p:txBody>
              <a:bodyPr/>
              <a:lstStyle/>
              <a:p>
                <a:r>
                  <a:rPr lang="en-US">
                    <a:noFill/>
                  </a:rPr>
                  <a:t> </a:t>
                </a:r>
              </a:p>
            </p:txBody>
          </p:sp>
        </mc:Fallback>
      </mc:AlternateContent>
    </p:spTree>
    <p:extLst>
      <p:ext uri="{BB962C8B-B14F-4D97-AF65-F5344CB8AC3E}">
        <p14:creationId xmlns:p14="http://schemas.microsoft.com/office/powerpoint/2010/main" val="2738090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3B73B-EDBC-685B-D81B-51742C84C328}"/>
              </a:ext>
            </a:extLst>
          </p:cNvPr>
          <p:cNvSpPr>
            <a:spLocks noGrp="1"/>
          </p:cNvSpPr>
          <p:nvPr>
            <p:ph type="title"/>
          </p:nvPr>
        </p:nvSpPr>
        <p:spPr/>
        <p:txBody>
          <a:bodyPr/>
          <a:lstStyle/>
          <a:p>
            <a:r>
              <a:rPr lang="en-US" dirty="0"/>
              <a:t>Eligibility Traces</a:t>
            </a:r>
          </a:p>
        </p:txBody>
      </p:sp>
      <mc:AlternateContent xmlns:mc="http://schemas.openxmlformats.org/markup-compatibility/2006" xmlns:a14="http://schemas.microsoft.com/office/drawing/2010/main">
        <mc:Choice Requires="a14">
          <p:sp>
            <p:nvSpPr>
              <p:cNvPr id="3" name="Content Placeholder 2" descr="The approximation weights w sub t in the real numbers to the power d represent what we have learned about the value function so far = long-term memory. Eligibility trace: a vector z sub t in the real numbers to the power d. Update: z sub t equals gamma lambda z sub t minus 1, plus gradient of v hat (S sub t,w sub t) w sub t plus 1, equals w sub t plus alpha delta sub t z sub t. Each component in z sub t keeps track of how much each component in w sub t contributed to the recent state valuation (sum of gradients). This is a short-term memory. In other words, z sub t shows the eligibility of each component of w sub t to undergo learning changes when a reinforcement event happens. It is a weighted sum of past gradients">
                <a:extLst>
                  <a:ext uri="{FF2B5EF4-FFF2-40B4-BE49-F238E27FC236}">
                    <a16:creationId xmlns:a16="http://schemas.microsoft.com/office/drawing/2014/main" id="{3757AC5A-7551-2464-A73F-00AD7C56E7E1}"/>
                  </a:ext>
                </a:extLst>
              </p:cNvPr>
              <p:cNvSpPr>
                <a:spLocks noGrp="1"/>
              </p:cNvSpPr>
              <p:nvPr>
                <p:ph idx="1"/>
              </p:nvPr>
            </p:nvSpPr>
            <p:spPr>
              <a:xfrm>
                <a:off x="838199" y="1397330"/>
                <a:ext cx="5562601" cy="4921023"/>
              </a:xfrm>
            </p:spPr>
            <p:txBody>
              <a:bodyPr>
                <a:normAutofit fontScale="55000" lnSpcReduction="20000"/>
              </a:bodyPr>
              <a:lstStyle/>
              <a:p>
                <a:r>
                  <a:rPr lang="en-US" dirty="0"/>
                  <a:t>The approximation weights </a:t>
                </a:r>
                <a:br>
                  <a:rPr lang="en-US" dirty="0"/>
                </a:br>
                <a:br>
                  <a:rPr lang="en-US" dirty="0"/>
                </a:b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sub>
                    </m:sSub>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𝑑</m:t>
                        </m:r>
                      </m:sup>
                    </m:sSup>
                  </m:oMath>
                </a14:m>
                <a:br>
                  <a:rPr lang="en-US" dirty="0">
                    <a:ea typeface="Cambria Math" panose="02040503050406030204" pitchFamily="18" charset="0"/>
                  </a:rPr>
                </a:br>
                <a:br>
                  <a:rPr lang="en-US" dirty="0">
                    <a:ea typeface="Cambria Math" panose="02040503050406030204" pitchFamily="18" charset="0"/>
                  </a:rPr>
                </a:br>
                <a:r>
                  <a:rPr lang="en-US" dirty="0"/>
                  <a:t>represent what we have learned about the value function so far = </a:t>
                </a:r>
                <a:r>
                  <a:rPr lang="en-US" b="1" dirty="0"/>
                  <a:t>long-term memory</a:t>
                </a:r>
                <a:r>
                  <a:rPr lang="en-US" dirty="0"/>
                  <a:t>.</a:t>
                </a:r>
              </a:p>
              <a:p>
                <a:endParaRPr lang="en-US" dirty="0"/>
              </a:p>
              <a:p>
                <a:r>
                  <a:rPr lang="en-US" b="1" dirty="0"/>
                  <a:t>Eligibility trace:</a:t>
                </a:r>
                <a:r>
                  <a:rPr lang="en-US" dirty="0"/>
                  <a:t> a vector </a:t>
                </a:r>
                <a:br>
                  <a:rPr lang="en-US" dirty="0"/>
                </a:br>
                <a:br>
                  <a:rPr lang="en-US" dirty="0"/>
                </a:b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𝒛</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𝑑</m:t>
                        </m:r>
                      </m:sup>
                    </m:sSup>
                  </m:oMath>
                </a14:m>
                <a:br>
                  <a:rPr lang="en-US" b="1" dirty="0"/>
                </a:br>
                <a:br>
                  <a:rPr lang="en-US" b="1" dirty="0"/>
                </a:br>
                <a:endParaRPr lang="en-US" b="1" dirty="0"/>
              </a:p>
              <a:p>
                <a:r>
                  <a:rPr lang="en-US" b="1" dirty="0"/>
                  <a:t>Update</a:t>
                </a:r>
                <a:r>
                  <a:rPr lang="en-US" dirty="0"/>
                  <a:t>: </a:t>
                </a:r>
                <a:br>
                  <a:rPr lang="en-US" dirty="0"/>
                </a:b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𝒛</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𝛾𝜆</m:t>
                    </m:r>
                    <m:sSub>
                      <m:sSubPr>
                        <m:ctrlPr>
                          <a:rPr lang="en-US" b="1" i="1">
                            <a:latin typeface="Cambria Math" panose="02040503050406030204" pitchFamily="18" charset="0"/>
                          </a:rPr>
                        </m:ctrlPr>
                      </m:sSubPr>
                      <m:e>
                        <m:r>
                          <a:rPr lang="en-US" b="1" i="1">
                            <a:latin typeface="Cambria Math" panose="02040503050406030204" pitchFamily="18" charset="0"/>
                          </a:rPr>
                          <m:t>𝒛</m:t>
                        </m:r>
                      </m:e>
                      <m:sub>
                        <m:r>
                          <a:rPr lang="en-US" i="1">
                            <a:latin typeface="Cambria Math" panose="02040503050406030204" pitchFamily="18" charset="0"/>
                          </a:rPr>
                          <m:t>𝑡</m:t>
                        </m:r>
                        <m:r>
                          <a:rPr lang="en-US" i="1">
                            <a:latin typeface="Cambria Math" panose="02040503050406030204" pitchFamily="18" charset="0"/>
                          </a:rPr>
                          <m:t>−1</m:t>
                        </m:r>
                      </m:sub>
                    </m:sSub>
                    <m:r>
                      <a:rPr lang="en-US" b="1" i="1">
                        <a:latin typeface="Cambria Math" panose="02040503050406030204" pitchFamily="18" charset="0"/>
                      </a:rPr>
                      <m:t>+</m:t>
                    </m:r>
                    <m:r>
                      <a:rPr lang="en-US" i="1">
                        <a:latin typeface="Cambria Math" panose="02040503050406030204" pitchFamily="18" charset="0"/>
                        <a:ea typeface="Cambria Math" panose="02040503050406030204" pitchFamily="18" charset="0"/>
                      </a:rPr>
                      <m:t>𝛻</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𝑣</m:t>
                        </m:r>
                      </m:e>
                    </m:acc>
                    <m:d>
                      <m:dPr>
                        <m:ctrlPr>
                          <a:rPr lang="en-US" i="1" dirty="0">
                            <a:latin typeface="Cambria Math" panose="02040503050406030204" pitchFamily="18" charset="0"/>
                            <a:ea typeface="Cambria Math" panose="02040503050406030204" pitchFamily="18" charset="0"/>
                          </a:rPr>
                        </m:ctrlPr>
                      </m:dPr>
                      <m:e>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𝑆</m:t>
                            </m:r>
                          </m:e>
                          <m:sub>
                            <m:r>
                              <a:rPr lang="en-US" i="1" dirty="0">
                                <a:latin typeface="Cambria Math" panose="02040503050406030204" pitchFamily="18" charset="0"/>
                                <a:ea typeface="Cambria Math" panose="02040503050406030204" pitchFamily="18" charset="0"/>
                              </a:rPr>
                              <m:t>𝑡</m:t>
                            </m:r>
                          </m:sub>
                        </m:sSub>
                        <m:r>
                          <a:rPr lang="en-US" i="1" dirty="0">
                            <a:latin typeface="Cambria Math" panose="02040503050406030204" pitchFamily="18" charset="0"/>
                            <a:ea typeface="Cambria Math" panose="02040503050406030204" pitchFamily="18" charset="0"/>
                          </a:rPr>
                          <m:t>,</m:t>
                        </m:r>
                        <m:sSub>
                          <m:sSubPr>
                            <m:ctrlPr>
                              <a:rPr lang="en-US" b="1" i="1" dirty="0">
                                <a:latin typeface="Cambria Math" panose="02040503050406030204" pitchFamily="18" charset="0"/>
                                <a:ea typeface="Cambria Math" panose="02040503050406030204" pitchFamily="18" charset="0"/>
                              </a:rPr>
                            </m:ctrlPr>
                          </m:sSubPr>
                          <m:e>
                            <m:r>
                              <a:rPr lang="en-US" b="1" i="1" dirty="0">
                                <a:latin typeface="Cambria Math" panose="02040503050406030204" pitchFamily="18" charset="0"/>
                                <a:ea typeface="Cambria Math" panose="02040503050406030204" pitchFamily="18" charset="0"/>
                              </a:rPr>
                              <m:t>𝒘</m:t>
                            </m:r>
                          </m:e>
                          <m:sub>
                            <m:r>
                              <a:rPr lang="en-US" i="1" dirty="0">
                                <a:latin typeface="Cambria Math" panose="02040503050406030204" pitchFamily="18" charset="0"/>
                                <a:ea typeface="Cambria Math" panose="02040503050406030204" pitchFamily="18" charset="0"/>
                              </a:rPr>
                              <m:t>𝑡</m:t>
                            </m:r>
                          </m:sub>
                        </m:sSub>
                      </m:e>
                    </m:d>
                  </m:oMath>
                </a14:m>
                <a:br>
                  <a:rPr lang="en-US" dirty="0">
                    <a:ea typeface="Cambria Math" panose="02040503050406030204" pitchFamily="18" charset="0"/>
                  </a:rPr>
                </a:br>
                <a14:m>
                  <m:oMath xmlns:m="http://schemas.openxmlformats.org/officeDocument/2006/math">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𝒘</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𝒘</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𝑡</m:t>
                        </m:r>
                      </m:sub>
                    </m:sSub>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𝒛</m:t>
                        </m:r>
                      </m:e>
                      <m:sub>
                        <m:r>
                          <a:rPr lang="en-US" b="0" i="1" smtClean="0">
                            <a:latin typeface="Cambria Math" panose="02040503050406030204" pitchFamily="18" charset="0"/>
                            <a:ea typeface="Cambria Math" panose="02040503050406030204" pitchFamily="18" charset="0"/>
                          </a:rPr>
                          <m:t>𝑡</m:t>
                        </m:r>
                      </m:sub>
                    </m:sSub>
                  </m:oMath>
                </a14:m>
                <a:endParaRPr lang="en-US" dirty="0">
                  <a:ea typeface="Cambria Math" panose="02040503050406030204" pitchFamily="18" charset="0"/>
                </a:endParaRPr>
              </a:p>
              <a:p>
                <a:endParaRPr lang="en-US" dirty="0"/>
              </a:p>
              <a:p>
                <a:r>
                  <a:rPr lang="en-US" dirty="0"/>
                  <a:t>Each component in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𝒛</m:t>
                        </m:r>
                      </m:e>
                      <m:sub>
                        <m:r>
                          <a:rPr lang="en-US" i="1">
                            <a:latin typeface="Cambria Math" panose="02040503050406030204" pitchFamily="18" charset="0"/>
                          </a:rPr>
                          <m:t>𝑡</m:t>
                        </m:r>
                      </m:sub>
                    </m:sSub>
                  </m:oMath>
                </a14:m>
                <a:r>
                  <a:rPr lang="en-US" dirty="0"/>
                  <a:t> keeps track of how much each component in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sub>
                    </m:sSub>
                  </m:oMath>
                </a14:m>
                <a:r>
                  <a:rPr lang="en-US" dirty="0"/>
                  <a:t> contributed to the recent state valuation (sum of gradients). This is a </a:t>
                </a:r>
                <a:r>
                  <a:rPr lang="en-US" b="1" dirty="0"/>
                  <a:t>short-term memory</a:t>
                </a:r>
                <a:r>
                  <a:rPr lang="en-US" dirty="0"/>
                  <a:t>.</a:t>
                </a:r>
              </a:p>
              <a:p>
                <a:r>
                  <a:rPr lang="en-US" dirty="0"/>
                  <a:t>In other words,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𝒛</m:t>
                        </m:r>
                      </m:e>
                      <m:sub>
                        <m:r>
                          <a:rPr lang="en-US" i="1">
                            <a:latin typeface="Cambria Math" panose="02040503050406030204" pitchFamily="18" charset="0"/>
                          </a:rPr>
                          <m:t>𝑡</m:t>
                        </m:r>
                      </m:sub>
                    </m:sSub>
                  </m:oMath>
                </a14:m>
                <a:r>
                  <a:rPr lang="en-US" dirty="0"/>
                  <a:t> shows the </a:t>
                </a:r>
                <a:r>
                  <a:rPr lang="en-US" b="1" dirty="0"/>
                  <a:t>eligibility</a:t>
                </a:r>
                <a:r>
                  <a:rPr lang="en-US" dirty="0"/>
                  <a:t> of each component of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𝒘</m:t>
                        </m:r>
                      </m:e>
                      <m:sub>
                        <m:r>
                          <a:rPr lang="en-US" i="1">
                            <a:latin typeface="Cambria Math" panose="02040503050406030204" pitchFamily="18" charset="0"/>
                          </a:rPr>
                          <m:t>𝑡</m:t>
                        </m:r>
                      </m:sub>
                    </m:sSub>
                  </m:oMath>
                </a14:m>
                <a:r>
                  <a:rPr lang="en-US" b="1" dirty="0"/>
                  <a:t> </a:t>
                </a:r>
                <a:r>
                  <a:rPr lang="en-US" dirty="0"/>
                  <a:t>to undergo learning changes when a reinforcement event happens. It is a weighted sum of past gradients.</a:t>
                </a:r>
              </a:p>
              <a:p>
                <a:endParaRPr lang="en-US" dirty="0"/>
              </a:p>
            </p:txBody>
          </p:sp>
        </mc:Choice>
        <mc:Fallback xmlns="">
          <p:sp>
            <p:nvSpPr>
              <p:cNvPr id="3" name="Content Placeholder 2" descr="The approximation weights w sub t in the real numbers to the power d represent what we have learned about the value function so far = long-term memory. Eligibility trace: a vector z sub t in the real numbers to the power d. Update: z sub t equals gamma lambda z sub t minus 1, plus gradient of v hat (S sub t,w sub t) w sub t plus 1, equals w sub t plus alpha delta sub t z sub t. Each component in z sub t keeps track of how much each component in w sub t contributed to the recent state valuation (sum of gradients). This is a short-term memory. In other words, z sub t shows the eligibility of each component of w sub t to undergo learning changes when a reinforcement event happens. It is a weighted sum of past gradients">
                <a:extLst>
                  <a:ext uri="{FF2B5EF4-FFF2-40B4-BE49-F238E27FC236}">
                    <a16:creationId xmlns:a16="http://schemas.microsoft.com/office/drawing/2014/main" id="{3757AC5A-7551-2464-A73F-00AD7C56E7E1}"/>
                  </a:ext>
                </a:extLst>
              </p:cNvPr>
              <p:cNvSpPr>
                <a:spLocks noGrp="1" noRot="1" noChangeAspect="1" noMove="1" noResize="1" noEditPoints="1" noAdjustHandles="1" noChangeArrowheads="1" noChangeShapeType="1" noTextEdit="1"/>
              </p:cNvSpPr>
              <p:nvPr>
                <p:ph idx="1"/>
              </p:nvPr>
            </p:nvSpPr>
            <p:spPr>
              <a:xfrm>
                <a:off x="838199" y="1397330"/>
                <a:ext cx="5562601" cy="4921023"/>
              </a:xfrm>
              <a:blipFill>
                <a:blip r:embed="rId2"/>
                <a:stretch>
                  <a:fillRect l="-219" t="-1239" r="-438"/>
                </a:stretch>
              </a:blipFill>
            </p:spPr>
            <p:txBody>
              <a:bodyPr/>
              <a:lstStyle/>
              <a:p>
                <a:r>
                  <a:rPr lang="en-US">
                    <a:noFill/>
                  </a:rPr>
                  <a:t> </a:t>
                </a:r>
              </a:p>
            </p:txBody>
          </p:sp>
        </mc:Fallback>
      </mc:AlternateContent>
      <p:grpSp>
        <p:nvGrpSpPr>
          <p:cNvPr id="18" name="Group 17" descr="The backward view (Sutton and Barto Figure 12.5): a stick figure on state S_t+1 shouts the TD error delta_t through a megaphone back along the line of earlier states S_t, S_t−1, S_t−2, S_t−3, each labelled with its eligibility trace z_t; sound waves fade as they reach older states. Each TD error is broadcast back to recently visited states in proportion to their traces. Labels: w sub t; w sub t plus 1; update.">
            <a:extLst>
              <a:ext uri="{FF2B5EF4-FFF2-40B4-BE49-F238E27FC236}">
                <a16:creationId xmlns:a16="http://schemas.microsoft.com/office/drawing/2014/main" id="{86273108-0757-82D9-3CC1-E6ED941AE347}"/>
              </a:ext>
            </a:extLst>
          </p:cNvPr>
          <p:cNvGrpSpPr/>
          <p:nvPr/>
        </p:nvGrpSpPr>
        <p:grpSpPr>
          <a:xfrm>
            <a:off x="6400800" y="1434518"/>
            <a:ext cx="5364787" cy="2490088"/>
            <a:chOff x="6400800" y="1434518"/>
            <a:chExt cx="5364787" cy="2490088"/>
          </a:xfrm>
        </p:grpSpPr>
        <p:pic>
          <p:nvPicPr>
            <p:cNvPr id="7" name="Picture 6" descr="The backward view (Sutton and Barto Figure 12.5): a stick figure on state S_t+1 shouts the TD error delta_t through a megaphone back along the line of earlier states S_t, S_t−1, S_t−2, S_t−3, each labelled with its eligibility trace z_t; sound waves fade as they reach older states. Each TD error is broadcast back to recently visited states in proportion to their traces.">
              <a:extLst>
                <a:ext uri="{FF2B5EF4-FFF2-40B4-BE49-F238E27FC236}">
                  <a16:creationId xmlns:a16="http://schemas.microsoft.com/office/drawing/2014/main" id="{C2D0E44C-6361-FF1D-4C5B-1D96D2497C06}"/>
                </a:ext>
              </a:extLst>
            </p:cNvPr>
            <p:cNvPicPr>
              <a:picLocks noChangeAspect="1"/>
            </p:cNvPicPr>
            <p:nvPr/>
          </p:nvPicPr>
          <p:blipFill>
            <a:blip r:embed="rId3"/>
            <a:stretch>
              <a:fillRect/>
            </a:stretch>
          </p:blipFill>
          <p:spPr>
            <a:xfrm>
              <a:off x="6400800" y="1434518"/>
              <a:ext cx="5364787" cy="2382473"/>
            </a:xfrm>
            <a:prstGeom prst="rect">
              <a:avLst/>
            </a:prstGeom>
          </p:spPr>
        </p:pic>
        <mc:AlternateContent xmlns:mc="http://schemas.openxmlformats.org/markup-compatibility/2006" xmlns:a14="http://schemas.microsoft.com/office/drawing/2010/main">
          <mc:Choice Requires="a14">
            <p:sp>
              <p:nvSpPr>
                <p:cNvPr id="13" name="TextBox 12" descr="Equation: w sub t">
                  <a:extLst>
                    <a:ext uri="{FF2B5EF4-FFF2-40B4-BE49-F238E27FC236}">
                      <a16:creationId xmlns:a16="http://schemas.microsoft.com/office/drawing/2014/main" id="{17E1B7AD-D5E2-146D-698D-E658F9A14FE8}"/>
                    </a:ext>
                  </a:extLst>
                </p:cNvPr>
                <p:cNvSpPr txBox="1"/>
                <p:nvPr/>
              </p:nvSpPr>
              <p:spPr>
                <a:xfrm>
                  <a:off x="9725586" y="3385530"/>
                  <a:ext cx="538393" cy="276999"/>
                </a:xfrm>
                <a:prstGeom prst="rect">
                  <a:avLst/>
                </a:prstGeom>
                <a:noFill/>
              </p:spPr>
              <p:txBody>
                <a:bodyPr wrap="square">
                  <a:spAutoFit/>
                </a:bodyPr>
                <a:lstStyle/>
                <a:p>
                  <a:pPr/>
                  <a14:m>
                    <m:oMathPara xmlns:m="http://schemas.openxmlformats.org/officeDocument/2006/math">
                      <m:oMath>
                        <m:sSub>
                          <m:sSubPr>
                            <m:ctrlPr>
                              <a:rPr lang="en-US" sz="1200" b="1" i="1" smtClean="0">
                                <a:latin typeface="Cambria Math" panose="02040503050406030204" pitchFamily="18" charset="0"/>
                              </a:rPr>
                            </m:ctrlPr>
                          </m:sSubPr>
                          <m:e>
                            <m:r>
                              <a:rPr lang="en-US" sz="1200" b="1" i="1" smtClean="0">
                                <a:latin typeface="Cambria Math" panose="02040503050406030204" pitchFamily="18" charset="0"/>
                              </a:rPr>
                              <m:t>𝒘</m:t>
                            </m:r>
                          </m:e>
                          <m:sub>
                            <m:r>
                              <a:rPr lang="en-US" sz="1200" b="0" i="1" smtClean="0">
                                <a:latin typeface="Cambria Math" panose="02040503050406030204" pitchFamily="18" charset="0"/>
                              </a:rPr>
                              <m:t>𝑡</m:t>
                            </m:r>
                          </m:sub>
                        </m:sSub>
                      </m:oMath>
                    </m:oMathPara>
                  </a14:m>
                  <a:endParaRPr lang="en-US" sz="1200" dirty="0"/>
                </a:p>
              </p:txBody>
            </p:sp>
          </mc:Choice>
          <mc:Fallback xmlns="">
            <p:sp>
              <p:nvSpPr>
                <p:cNvPr id="13" name="TextBox 12" descr="Equation: w sub t">
                  <a:extLst>
                    <a:ext uri="{FF2B5EF4-FFF2-40B4-BE49-F238E27FC236}">
                      <a16:creationId xmlns:a16="http://schemas.microsoft.com/office/drawing/2014/main" id="{17E1B7AD-D5E2-146D-698D-E658F9A14FE8}"/>
                    </a:ext>
                  </a:extLst>
                </p:cNvPr>
                <p:cNvSpPr txBox="1">
                  <a:spLocks noRot="1" noChangeAspect="1" noMove="1" noResize="1" noEditPoints="1" noAdjustHandles="1" noChangeArrowheads="1" noChangeShapeType="1" noTextEdit="1"/>
                </p:cNvSpPr>
                <p:nvPr/>
              </p:nvSpPr>
              <p:spPr>
                <a:xfrm>
                  <a:off x="9725586" y="3385530"/>
                  <a:ext cx="538393"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descr="Equation: w sub t plus 1">
                  <a:extLst>
                    <a:ext uri="{FF2B5EF4-FFF2-40B4-BE49-F238E27FC236}">
                      <a16:creationId xmlns:a16="http://schemas.microsoft.com/office/drawing/2014/main" id="{6E4BDAC7-11A9-01B8-0CE4-EB6BD229A090}"/>
                    </a:ext>
                  </a:extLst>
                </p:cNvPr>
                <p:cNvSpPr txBox="1"/>
                <p:nvPr/>
              </p:nvSpPr>
              <p:spPr>
                <a:xfrm>
                  <a:off x="10877249" y="3647607"/>
                  <a:ext cx="616470" cy="276999"/>
                </a:xfrm>
                <a:prstGeom prst="rect">
                  <a:avLst/>
                </a:prstGeom>
                <a:noFill/>
              </p:spPr>
              <p:txBody>
                <a:bodyPr wrap="square">
                  <a:spAutoFit/>
                </a:bodyPr>
                <a:lstStyle/>
                <a:p>
                  <a:pPr/>
                  <a14:m>
                    <m:oMathPara xmlns:m="http://schemas.openxmlformats.org/officeDocument/2006/math">
                      <m:oMath>
                        <m:sSub>
                          <m:sSubPr>
                            <m:ctrlPr>
                              <a:rPr lang="en-US" sz="1200" b="1" i="1" smtClean="0">
                                <a:latin typeface="Cambria Math" panose="02040503050406030204" pitchFamily="18" charset="0"/>
                              </a:rPr>
                            </m:ctrlPr>
                          </m:sSubPr>
                          <m:e>
                            <m:r>
                              <a:rPr lang="en-US" sz="1200" b="1" i="1" smtClean="0">
                                <a:latin typeface="Cambria Math" panose="02040503050406030204" pitchFamily="18" charset="0"/>
                              </a:rPr>
                              <m:t>𝒘</m:t>
                            </m:r>
                          </m:e>
                          <m:sub>
                            <m:r>
                              <a:rPr lang="en-US" sz="1200" b="0" i="1" smtClean="0">
                                <a:latin typeface="Cambria Math" panose="02040503050406030204" pitchFamily="18" charset="0"/>
                              </a:rPr>
                              <m:t>𝑡</m:t>
                            </m:r>
                            <m:r>
                              <a:rPr lang="en-US" sz="1200" b="0" i="1" smtClean="0">
                                <a:latin typeface="Cambria Math" panose="02040503050406030204" pitchFamily="18" charset="0"/>
                              </a:rPr>
                              <m:t>+1</m:t>
                            </m:r>
                          </m:sub>
                        </m:sSub>
                      </m:oMath>
                    </m:oMathPara>
                  </a14:m>
                  <a:endParaRPr lang="en-US" sz="1200" dirty="0"/>
                </a:p>
              </p:txBody>
            </p:sp>
          </mc:Choice>
          <mc:Fallback xmlns="">
            <p:sp>
              <p:nvSpPr>
                <p:cNvPr id="14" name="TextBox 13" descr="Equation: w sub t plus 1">
                  <a:extLst>
                    <a:ext uri="{FF2B5EF4-FFF2-40B4-BE49-F238E27FC236}">
                      <a16:creationId xmlns:a16="http://schemas.microsoft.com/office/drawing/2014/main" id="{6E4BDAC7-11A9-01B8-0CE4-EB6BD229A090}"/>
                    </a:ext>
                  </a:extLst>
                </p:cNvPr>
                <p:cNvSpPr txBox="1">
                  <a:spLocks noRot="1" noChangeAspect="1" noMove="1" noResize="1" noEditPoints="1" noAdjustHandles="1" noChangeArrowheads="1" noChangeShapeType="1" noTextEdit="1"/>
                </p:cNvSpPr>
                <p:nvPr/>
              </p:nvSpPr>
              <p:spPr>
                <a:xfrm>
                  <a:off x="10877249" y="3647607"/>
                  <a:ext cx="616470" cy="276999"/>
                </a:xfrm>
                <a:prstGeom prst="rect">
                  <a:avLst/>
                </a:prstGeom>
                <a:blipFill>
                  <a:blip r:embed="rId5"/>
                  <a:stretch>
                    <a:fillRect/>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F20C3EF6-45C9-CEA4-CAF4-7DC4E8295964}"/>
                </a:ext>
                <a:ext uri="{C183D7F6-B498-43B3-948B-1728B52AA6E4}">
                  <adec:decorative xmlns:adec="http://schemas.microsoft.com/office/drawing/2017/decorative" val="1"/>
                </a:ext>
              </a:extLst>
            </p:cNvPr>
            <p:cNvCxnSpPr>
              <a:cxnSpLocks/>
            </p:cNvCxnSpPr>
            <p:nvPr/>
          </p:nvCxnSpPr>
          <p:spPr>
            <a:xfrm>
              <a:off x="10189101" y="3599950"/>
              <a:ext cx="709850" cy="15802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6" name="TextBox 15">
              <a:extLst>
                <a:ext uri="{FF2B5EF4-FFF2-40B4-BE49-F238E27FC236}">
                  <a16:creationId xmlns:a16="http://schemas.microsoft.com/office/drawing/2014/main" id="{071B9E28-149A-64C8-F045-86A88F3B55A6}"/>
                </a:ext>
              </a:extLst>
            </p:cNvPr>
            <p:cNvSpPr txBox="1"/>
            <p:nvPr/>
          </p:nvSpPr>
          <p:spPr>
            <a:xfrm rot="677913">
              <a:off x="10216309" y="3419458"/>
              <a:ext cx="655436" cy="276999"/>
            </a:xfrm>
            <a:prstGeom prst="rect">
              <a:avLst/>
            </a:prstGeom>
            <a:noFill/>
          </p:spPr>
          <p:txBody>
            <a:bodyPr wrap="square" rtlCol="0">
              <a:spAutoFit/>
            </a:bodyPr>
            <a:lstStyle/>
            <a:p>
              <a:r>
                <a:rPr lang="en-US" sz="1200" dirty="0">
                  <a:solidFill>
                    <a:schemeClr val="accent2"/>
                  </a:solidFill>
                </a:rPr>
                <a:t>update</a:t>
              </a:r>
            </a:p>
          </p:txBody>
        </p:sp>
      </p:grpSp>
      <mc:AlternateContent xmlns:mc="http://schemas.openxmlformats.org/markup-compatibility/2006" xmlns:a14="http://schemas.microsoft.com/office/drawing/2010/main">
        <mc:Choice Requires="a14">
          <p:sp>
            <p:nvSpPr>
              <p:cNvPr id="5" name="Arrow: Right 4" descr="The effect of z fades with the discount factor gamma and the trace-decay factor lambda">
                <a:extLst>
                  <a:ext uri="{FF2B5EF4-FFF2-40B4-BE49-F238E27FC236}">
                    <a16:creationId xmlns:a16="http://schemas.microsoft.com/office/drawing/2014/main" id="{0AEC5751-BCCC-30CA-BC6E-BFEBE788E1F9}"/>
                  </a:ext>
                </a:extLst>
              </p:cNvPr>
              <p:cNvSpPr/>
              <p:nvPr/>
            </p:nvSpPr>
            <p:spPr>
              <a:xfrm rot="693574" flipH="1">
                <a:off x="6720188" y="3390653"/>
                <a:ext cx="4164873" cy="12861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The effect of </a:t>
                </a:r>
                <a14:m>
                  <m:oMath xmlns:m="http://schemas.openxmlformats.org/officeDocument/2006/math">
                    <m:r>
                      <a:rPr lang="en-US" sz="1600" b="1" i="1" smtClean="0">
                        <a:latin typeface="Cambria Math" panose="02040503050406030204" pitchFamily="18" charset="0"/>
                      </a:rPr>
                      <m:t>𝒛</m:t>
                    </m:r>
                  </m:oMath>
                </a14:m>
                <a:r>
                  <a:rPr lang="en-US" sz="1600" dirty="0"/>
                  <a:t> fades with the discount factor </a:t>
                </a:r>
                <a14:m>
                  <m:oMath xmlns:m="http://schemas.openxmlformats.org/officeDocument/2006/math">
                    <m:r>
                      <a:rPr lang="en-US" sz="1600" b="0" i="1" smtClean="0">
                        <a:latin typeface="Cambria Math" panose="02040503050406030204" pitchFamily="18" charset="0"/>
                      </a:rPr>
                      <m:t>𝛾</m:t>
                    </m:r>
                  </m:oMath>
                </a14:m>
                <a:r>
                  <a:rPr lang="en-US" sz="1600" b="1" dirty="0"/>
                  <a:t> and </a:t>
                </a:r>
                <a:r>
                  <a:rPr lang="en-US" sz="1600" dirty="0"/>
                  <a:t>the trace-decay factor </a:t>
                </a:r>
                <a14:m>
                  <m:oMath xmlns:m="http://schemas.openxmlformats.org/officeDocument/2006/math">
                    <m:r>
                      <a:rPr lang="en-US" sz="1600" i="1">
                        <a:latin typeface="Cambria Math" panose="02040503050406030204" pitchFamily="18" charset="0"/>
                      </a:rPr>
                      <m:t>𝜆</m:t>
                    </m:r>
                  </m:oMath>
                </a14:m>
                <a:r>
                  <a:rPr lang="en-US" sz="1600" b="1" dirty="0"/>
                  <a:t>.</a:t>
                </a:r>
              </a:p>
            </p:txBody>
          </p:sp>
        </mc:Choice>
        <mc:Fallback xmlns="">
          <p:sp>
            <p:nvSpPr>
              <p:cNvPr id="5" name="Arrow: Right 4" descr="The effect of z fades with the discount factor gamma and the trace-decay factor lambda">
                <a:extLst>
                  <a:ext uri="{FF2B5EF4-FFF2-40B4-BE49-F238E27FC236}">
                    <a16:creationId xmlns:a16="http://schemas.microsoft.com/office/drawing/2014/main" id="{0AEC5751-BCCC-30CA-BC6E-BFEBE788E1F9}"/>
                  </a:ext>
                </a:extLst>
              </p:cNvPr>
              <p:cNvSpPr>
                <a:spLocks noRot="1" noChangeAspect="1" noMove="1" noResize="1" noEditPoints="1" noAdjustHandles="1" noChangeArrowheads="1" noChangeShapeType="1" noTextEdit="1"/>
              </p:cNvSpPr>
              <p:nvPr/>
            </p:nvSpPr>
            <p:spPr>
              <a:xfrm rot="693574" flipH="1">
                <a:off x="6720188" y="3390653"/>
                <a:ext cx="4164873" cy="1286126"/>
              </a:xfrm>
              <a:prstGeom prst="rightArrow">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55558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Semi-gradient TD (lambda) for Estimation">
                <a:extLst>
                  <a:ext uri="{FF2B5EF4-FFF2-40B4-BE49-F238E27FC236}">
                    <a16:creationId xmlns:a16="http://schemas.microsoft.com/office/drawing/2014/main" id="{9F0C2D05-B324-3331-AE93-B7A14090860C}"/>
                  </a:ext>
                </a:extLst>
              </p:cNvPr>
              <p:cNvSpPr>
                <a:spLocks noGrp="1"/>
              </p:cNvSpPr>
              <p:nvPr>
                <p:ph type="title"/>
              </p:nvPr>
            </p:nvSpPr>
            <p:spPr/>
            <p:txBody>
              <a:bodyPr/>
              <a:lstStyle/>
              <a:p>
                <a:r>
                  <a:rPr lang="en-US" dirty="0"/>
                  <a:t>Semi-gradient TD</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a14:m>
                <a:r>
                  <a:rPr lang="en-US" dirty="0"/>
                  <a:t> for Estimation</a:t>
                </a:r>
              </a:p>
            </p:txBody>
          </p:sp>
        </mc:Choice>
        <mc:Fallback xmlns="">
          <p:sp>
            <p:nvSpPr>
              <p:cNvPr id="2" name="Title 1" descr="Semi-gradient TD (lambda) for Estimation">
                <a:extLst>
                  <a:ext uri="{FF2B5EF4-FFF2-40B4-BE49-F238E27FC236}">
                    <a16:creationId xmlns:a16="http://schemas.microsoft.com/office/drawing/2014/main" id="{9F0C2D05-B324-3331-AE93-B7A14090860C}"/>
                  </a:ext>
                </a:extLst>
              </p:cNvPr>
              <p:cNvSpPr>
                <a:spLocks noGrp="1" noRot="1" noChangeAspect="1" noMove="1" noResize="1" noEditPoints="1" noAdjustHandles="1" noChangeArrowheads="1" noChangeShapeType="1" noTextEdit="1"/>
              </p:cNvSpPr>
              <p:nvPr>
                <p:ph type="title"/>
              </p:nvPr>
            </p:nvSpPr>
            <p:spPr>
              <a:blipFill>
                <a:blip r:embed="rId2"/>
                <a:stretch>
                  <a:fillRect l="-2377" t="-20161" b="-35484"/>
                </a:stretch>
              </a:blipFill>
            </p:spPr>
            <p:txBody>
              <a:bodyPr/>
              <a:lstStyle/>
              <a:p>
                <a:r>
                  <a:rPr lang="en-US">
                    <a:noFill/>
                  </a:rPr>
                  <a:t> </a:t>
                </a:r>
              </a:p>
            </p:txBody>
          </p:sp>
        </mc:Fallback>
      </mc:AlternateContent>
      <p:pic>
        <p:nvPicPr>
          <p:cNvPr id="5" name="Picture 4" descr="Algorithm box: Semi-gradient TD(lambda) for estimating v hat ≈ v pi. Input: the policy pi to be evaluated. Input: a differentiable function v hat: S plus × R^d → R such that v hat(terminal, ·) = 0. Algorithm parameters: step size alpha &gt; 0, trace decay rate lambda in [0, 1]. Initialize value-function weights w arbitrarily (e.g., w = 0). Loop for each episode: Initialize S; z ← 0 (a d-dimensional vector); Loop for each step of episode: Choose A ~ pi(· | S); Take action A, observe R, S′; z ← gamma lambda z + the gradient of v hat(S, w); delta ← R + gamma v hat(S′, w) − v hat(S, w); w ← w + alpha delta z; S ← S′; until S′ is terminal.">
            <a:extLst>
              <a:ext uri="{FF2B5EF4-FFF2-40B4-BE49-F238E27FC236}">
                <a16:creationId xmlns:a16="http://schemas.microsoft.com/office/drawing/2014/main" id="{9CAB6C74-2CF6-0DB5-D124-C52B90B707E0}"/>
              </a:ext>
            </a:extLst>
          </p:cNvPr>
          <p:cNvPicPr>
            <a:picLocks noChangeAspect="1"/>
          </p:cNvPicPr>
          <p:nvPr/>
        </p:nvPicPr>
        <p:blipFill>
          <a:blip r:embed="rId3"/>
          <a:stretch>
            <a:fillRect/>
          </a:stretch>
        </p:blipFill>
        <p:spPr>
          <a:xfrm>
            <a:off x="1719743" y="1124198"/>
            <a:ext cx="8978063" cy="5186584"/>
          </a:xfrm>
          <a:prstGeom prst="rect">
            <a:avLst/>
          </a:prstGeom>
        </p:spPr>
      </p:pic>
      <p:sp>
        <p:nvSpPr>
          <p:cNvPr id="3" name="Rectangle 2">
            <a:extLst>
              <a:ext uri="{FF2B5EF4-FFF2-40B4-BE49-F238E27FC236}">
                <a16:creationId xmlns:a16="http://schemas.microsoft.com/office/drawing/2014/main" id="{1F8D7FF5-595D-B2A3-1001-46E92156EC05}"/>
              </a:ext>
              <a:ext uri="{C183D7F6-B498-43B3-948B-1728B52AA6E4}">
                <adec:decorative xmlns:adec="http://schemas.microsoft.com/office/drawing/2017/decorative" val="1"/>
              </a:ext>
            </a:extLst>
          </p:cNvPr>
          <p:cNvSpPr/>
          <p:nvPr/>
        </p:nvSpPr>
        <p:spPr>
          <a:xfrm>
            <a:off x="2611902" y="4642338"/>
            <a:ext cx="3094892" cy="848751"/>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1008389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True Online TD (lambda) for Estimation">
                <a:extLst>
                  <a:ext uri="{FF2B5EF4-FFF2-40B4-BE49-F238E27FC236}">
                    <a16:creationId xmlns:a16="http://schemas.microsoft.com/office/drawing/2014/main" id="{88BE3ADF-E39B-FE62-2C36-25A40A47A56E}"/>
                  </a:ext>
                </a:extLst>
              </p:cNvPr>
              <p:cNvSpPr>
                <a:spLocks noGrp="1"/>
              </p:cNvSpPr>
              <p:nvPr>
                <p:ph type="title"/>
              </p:nvPr>
            </p:nvSpPr>
            <p:spPr/>
            <p:txBody>
              <a:bodyPr/>
              <a:lstStyle/>
              <a:p>
                <a:r>
                  <a:rPr lang="en-US" dirty="0"/>
                  <a:t>True Online TD</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m:t>
                    </m:r>
                  </m:oMath>
                </a14:m>
                <a:r>
                  <a:rPr lang="en-US" dirty="0"/>
                  <a:t> for Estimation</a:t>
                </a:r>
              </a:p>
            </p:txBody>
          </p:sp>
        </mc:Choice>
        <mc:Fallback xmlns="">
          <p:sp>
            <p:nvSpPr>
              <p:cNvPr id="2" name="Title 1" descr="True Online TD (lambda) for Estimation">
                <a:extLst>
                  <a:ext uri="{FF2B5EF4-FFF2-40B4-BE49-F238E27FC236}">
                    <a16:creationId xmlns:a16="http://schemas.microsoft.com/office/drawing/2014/main" id="{88BE3ADF-E39B-FE62-2C36-25A40A47A56E}"/>
                  </a:ext>
                </a:extLst>
              </p:cNvPr>
              <p:cNvSpPr>
                <a:spLocks noGrp="1" noRot="1" noChangeAspect="1" noMove="1" noResize="1" noEditPoints="1" noAdjustHandles="1" noChangeArrowheads="1" noChangeShapeType="1" noTextEdit="1"/>
              </p:cNvSpPr>
              <p:nvPr>
                <p:ph type="title"/>
              </p:nvPr>
            </p:nvSpPr>
            <p:spPr>
              <a:blipFill>
                <a:blip r:embed="rId2"/>
                <a:stretch>
                  <a:fillRect l="-2377" t="-20161" b="-35484"/>
                </a:stretch>
              </a:blipFill>
            </p:spPr>
            <p:txBody>
              <a:bodyPr/>
              <a:lstStyle/>
              <a:p>
                <a:r>
                  <a:rPr lang="en-US">
                    <a:noFill/>
                  </a:rPr>
                  <a:t> </a:t>
                </a:r>
              </a:p>
            </p:txBody>
          </p:sp>
        </mc:Fallback>
      </mc:AlternateContent>
      <p:pic>
        <p:nvPicPr>
          <p:cNvPr id="8" name="Picture 7" descr="Algorithm box: Semi-gradient TD(lambda) for estimating v hat ≈ v pi. Input: the policy pi to be evaluated. Input: a differentiable function v hat: S plus × R^d → R such that v hat(terminal, ·) = 0. Algorithm parameters: step size alpha &gt; 0, trace decay rate lambda in [0, 1]. Initialize value-function weights w arbitrarily (e.g., w = 0). Loop for each episode: Initialize S; z ← 0 (a d-dimensional vector); Loop for each step of episode: Choose A ~ pi(· | S); Take action A, observe R, S′; z ← gamma lambda z + the gradient of v hat(S, w); delta ← R + gamma v hat(S′, w) − v hat(S, w); w ← w + alpha delta z; S ← S′; until S′ is terminal.">
            <a:extLst>
              <a:ext uri="{FF2B5EF4-FFF2-40B4-BE49-F238E27FC236}">
                <a16:creationId xmlns:a16="http://schemas.microsoft.com/office/drawing/2014/main" id="{237A5CC5-C193-35AF-5BA4-449015E206B5}"/>
              </a:ext>
            </a:extLst>
          </p:cNvPr>
          <p:cNvPicPr>
            <a:picLocks noChangeAspect="1"/>
          </p:cNvPicPr>
          <p:nvPr/>
        </p:nvPicPr>
        <p:blipFill>
          <a:blip r:embed="rId3"/>
          <a:stretch>
            <a:fillRect/>
          </a:stretch>
        </p:blipFill>
        <p:spPr>
          <a:xfrm>
            <a:off x="253270" y="1291903"/>
            <a:ext cx="7139448" cy="4124425"/>
          </a:xfrm>
          <a:prstGeom prst="rect">
            <a:avLst/>
          </a:prstGeom>
        </p:spPr>
      </p:pic>
      <p:pic>
        <p:nvPicPr>
          <p:cNvPr id="5" name="Picture 4" descr="Algorithm box: True online TD(lambda) for estimating w transpose x ≈ v pi. Input: the policy pi to be evaluated. Input: a feature function x: S plus → R^d such that x(terminal, ·) = 0. Algorithm parameters: step size alpha &gt; 0, trace decay rate lambda in [0, 1]. Initialize value-function weights w in R^d (e.g., w = 0). Loop for each episode: Initialize state and obtain initial feature vector x; z ← 0 (a d-dimensional vector); V_old ← 0 (a temporary scalar variable); Loop for each step of episode: Choose A ~ pi; Take action A, observe R, x′ (feature vector of the next state); V ← w transpose x; V′ ← w transpose x′; delta ← R + gamma V′ − V; z ← gamma lambda z + (1 − alpha gamma lambda z transpose x) x; w ← w + alpha (delta + V − V_old) z − alpha (V − V_old) x; V_old ← V′; x ← x′; until x′ = 0 (signaling arrival at a terminal state).">
            <a:extLst>
              <a:ext uri="{FF2B5EF4-FFF2-40B4-BE49-F238E27FC236}">
                <a16:creationId xmlns:a16="http://schemas.microsoft.com/office/drawing/2014/main" id="{A5239F2A-6304-0820-08BC-891D48A4DC47}"/>
              </a:ext>
            </a:extLst>
          </p:cNvPr>
          <p:cNvPicPr>
            <a:picLocks noChangeAspect="1"/>
          </p:cNvPicPr>
          <p:nvPr/>
        </p:nvPicPr>
        <p:blipFill>
          <a:blip r:embed="rId4"/>
          <a:stretch>
            <a:fillRect/>
          </a:stretch>
        </p:blipFill>
        <p:spPr>
          <a:xfrm>
            <a:off x="3654801" y="1012060"/>
            <a:ext cx="8490238" cy="5845940"/>
          </a:xfrm>
          <a:prstGeom prst="rect">
            <a:avLst/>
          </a:prstGeom>
        </p:spPr>
      </p:pic>
      <mc:AlternateContent xmlns:mc="http://schemas.openxmlformats.org/markup-compatibility/2006">
        <mc:Choice xmlns:a14="http://schemas.microsoft.com/office/drawing/2010/main" Requires="a14">
          <p:sp>
            <p:nvSpPr>
              <p:cNvPr id="9" name="Speech Bubble: Rectangle with Corners Rounded 8">
                <a:extLst>
                  <a:ext uri="{FF2B5EF4-FFF2-40B4-BE49-F238E27FC236}">
                    <a16:creationId xmlns:a16="http://schemas.microsoft.com/office/drawing/2014/main" id="{9CD7242A-C359-83D7-3070-A18C3EEB885B}"/>
                  </a:ext>
                  <a:ext uri="{C183D7F6-B498-43B3-948B-1728B52AA6E4}">
                    <adec:decorative xmlns:adec="http://schemas.microsoft.com/office/drawing/2017/decorative" val="1"/>
                  </a:ext>
                </a:extLst>
              </p:cNvPr>
              <p:cNvSpPr/>
              <p:nvPr/>
            </p:nvSpPr>
            <p:spPr>
              <a:xfrm>
                <a:off x="8520332" y="207693"/>
                <a:ext cx="3283173" cy="804367"/>
              </a:xfrm>
              <a:prstGeom prst="wedgeRoundRectCallout">
                <a:avLst>
                  <a:gd name="adj1" fmla="val -66023"/>
                  <a:gd name="adj2" fmla="val 7513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States are represented by feature vectors </a:t>
                </a:r>
                <a14:m>
                  <m:oMath xmlns:m="http://schemas.openxmlformats.org/officeDocument/2006/math">
                    <m:r>
                      <a:rPr lang="en-US" b="1" i="1" smtClean="0">
                        <a:latin typeface="Cambria Math" panose="02040503050406030204" pitchFamily="18" charset="0"/>
                      </a:rPr>
                      <m:t>𝒙</m:t>
                    </m:r>
                  </m:oMath>
                </a14:m>
                <a:endParaRPr lang="en-US" b="1" dirty="0"/>
              </a:p>
              <a:p>
                <a:pPr algn="ctr"/>
                <a:r>
                  <a:rPr lang="en-US" dirty="0"/>
                  <a:t>Replace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𝑣</m:t>
                        </m:r>
                      </m:e>
                    </m:acc>
                    <m:r>
                      <a:rPr lang="en-US" b="0" i="1" dirty="0" smtClean="0">
                        <a:latin typeface="Cambria Math" panose="02040503050406030204" pitchFamily="18" charset="0"/>
                      </a:rPr>
                      <m:t>(</m:t>
                    </m:r>
                    <m:r>
                      <a:rPr lang="en-US" b="0" i="1" dirty="0" smtClean="0">
                        <a:latin typeface="Cambria Math" panose="02040503050406030204" pitchFamily="18" charset="0"/>
                      </a:rPr>
                      <m:t>𝑆</m:t>
                    </m:r>
                    <m:r>
                      <a:rPr lang="en-US" b="0" i="1" dirty="0" smtClean="0">
                        <a:latin typeface="Cambria Math" panose="02040503050406030204" pitchFamily="18" charset="0"/>
                      </a:rPr>
                      <m:t>, </m:t>
                    </m:r>
                    <m:r>
                      <a:rPr lang="en-US" b="1" i="1" dirty="0" smtClean="0">
                        <a:latin typeface="Cambria Math" panose="02040503050406030204" pitchFamily="18" charset="0"/>
                      </a:rPr>
                      <m:t>𝒘</m:t>
                    </m:r>
                    <m:r>
                      <a:rPr lang="en-US" b="0" i="1" dirty="0" smtClean="0">
                        <a:latin typeface="Cambria Math" panose="02040503050406030204" pitchFamily="18" charset="0"/>
                      </a:rPr>
                      <m:t>)</m:t>
                    </m:r>
                  </m:oMath>
                </a14:m>
                <a:r>
                  <a:rPr lang="en-US" dirty="0"/>
                  <a:t> with </a:t>
                </a:r>
                <a14:m>
                  <m:oMath xmlns:m="http://schemas.openxmlformats.org/officeDocument/2006/math">
                    <m:r>
                      <m:rPr>
                        <m:sty m:val="p"/>
                      </m:rPr>
                      <a:rPr lang="en-US" b="0" i="0" smtClean="0">
                        <a:latin typeface="Cambria Math" panose="02040503050406030204" pitchFamily="18" charset="0"/>
                      </a:rPr>
                      <m:t>V</m:t>
                    </m:r>
                    <m:r>
                      <a:rPr lang="en-US" b="0" i="0"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𝒘</m:t>
                        </m:r>
                      </m:e>
                      <m:sup>
                        <m:r>
                          <a:rPr lang="en-US" b="0" i="1" smtClean="0">
                            <a:latin typeface="Cambria Math" panose="02040503050406030204" pitchFamily="18" charset="0"/>
                          </a:rPr>
                          <m:t>⊤</m:t>
                        </m:r>
                      </m:sup>
                    </m:sSup>
                    <m:r>
                      <a:rPr lang="en-US" b="1" i="1" smtClean="0">
                        <a:latin typeface="Cambria Math" panose="02040503050406030204" pitchFamily="18" charset="0"/>
                      </a:rPr>
                      <m:t>𝒙</m:t>
                    </m:r>
                  </m:oMath>
                </a14:m>
                <a:endParaRPr lang="en-US" b="1" dirty="0"/>
              </a:p>
            </p:txBody>
          </p:sp>
        </mc:Choice>
        <mc:Fallback>
          <p:sp>
            <p:nvSpPr>
              <p:cNvPr id="9" name="Speech Bubble: Rectangle with Corners Rounded 8">
                <a:extLst>
                  <a:ext uri="{FF2B5EF4-FFF2-40B4-BE49-F238E27FC236}">
                    <a16:creationId xmlns:a16="http://schemas.microsoft.com/office/drawing/2014/main" id="{9CD7242A-C359-83D7-3070-A18C3EEB885B}"/>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8520332" y="207693"/>
                <a:ext cx="3283173" cy="804367"/>
              </a:xfrm>
              <a:prstGeom prst="wedgeRoundRectCallout">
                <a:avLst>
                  <a:gd name="adj1" fmla="val -66023"/>
                  <a:gd name="adj2" fmla="val 75134"/>
                  <a:gd name="adj3" fmla="val 16667"/>
                </a:avLst>
              </a:prstGeom>
              <a:blipFill>
                <a:blip r:embed="rId5"/>
                <a:stretch>
                  <a:fillRect t="-6024"/>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029D9FF7-4D2D-22D4-59DE-BD479B2B731A}"/>
              </a:ext>
              <a:ext uri="{C183D7F6-B498-43B3-948B-1728B52AA6E4}">
                <adec:decorative xmlns:adec="http://schemas.microsoft.com/office/drawing/2017/decorative" val="1"/>
              </a:ext>
            </a:extLst>
          </p:cNvPr>
          <p:cNvSpPr/>
          <p:nvPr/>
        </p:nvSpPr>
        <p:spPr>
          <a:xfrm>
            <a:off x="959370" y="4084820"/>
            <a:ext cx="2473378" cy="884419"/>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Arrow: Right 11">
            <a:extLst>
              <a:ext uri="{FF2B5EF4-FFF2-40B4-BE49-F238E27FC236}">
                <a16:creationId xmlns:a16="http://schemas.microsoft.com/office/drawing/2014/main" id="{07F68F2E-0494-F06F-42FA-C54AAB8B1E64}"/>
              </a:ext>
              <a:ext uri="{C183D7F6-B498-43B3-948B-1728B52AA6E4}">
                <adec:decorative xmlns:adec="http://schemas.microsoft.com/office/drawing/2017/decorative" val="1"/>
              </a:ext>
            </a:extLst>
          </p:cNvPr>
          <p:cNvSpPr/>
          <p:nvPr/>
        </p:nvSpPr>
        <p:spPr>
          <a:xfrm>
            <a:off x="3654801" y="4594485"/>
            <a:ext cx="570297" cy="487181"/>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61AC04-88F7-8FBB-96F3-A34889C56F36}"/>
              </a:ext>
              <a:ext uri="{C183D7F6-B498-43B3-948B-1728B52AA6E4}">
                <adec:decorative xmlns:adec="http://schemas.microsoft.com/office/drawing/2017/decorative" val="1"/>
              </a:ext>
            </a:extLst>
          </p:cNvPr>
          <p:cNvSpPr/>
          <p:nvPr/>
        </p:nvSpPr>
        <p:spPr>
          <a:xfrm>
            <a:off x="4447151" y="4531909"/>
            <a:ext cx="4389551" cy="1808930"/>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Speech Bubble: Rectangle with Corners Rounded 2">
                <a:extLst>
                  <a:ext uri="{FF2B5EF4-FFF2-40B4-BE49-F238E27FC236}">
                    <a16:creationId xmlns:a16="http://schemas.microsoft.com/office/drawing/2014/main" id="{1350B539-C5B1-4BA6-3A80-B96852AEAA02}"/>
                  </a:ext>
                  <a:ext uri="{C183D7F6-B498-43B3-948B-1728B52AA6E4}">
                    <adec:decorative xmlns:adec="http://schemas.microsoft.com/office/drawing/2017/decorative" val="1"/>
                  </a:ext>
                </a:extLst>
              </p:cNvPr>
              <p:cNvSpPr/>
              <p:nvPr/>
            </p:nvSpPr>
            <p:spPr>
              <a:xfrm>
                <a:off x="9406597" y="4838075"/>
                <a:ext cx="2713278" cy="1267303"/>
              </a:xfrm>
              <a:prstGeom prst="wedgeRoundRectCallout">
                <a:avLst>
                  <a:gd name="adj1" fmla="val -79431"/>
                  <a:gd name="adj2" fmla="val 10395"/>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The additional </a:t>
                </a:r>
                <a14:m>
                  <m:oMath xmlns:m="http://schemas.openxmlformats.org/officeDocument/2006/math">
                    <m:r>
                      <a:rPr lang="en-US" b="0" i="1" smtClean="0">
                        <a:latin typeface="Cambria Math" panose="02040503050406030204" pitchFamily="18" charset="0"/>
                      </a:rPr>
                      <m:t>𝑉</m:t>
                    </m:r>
                  </m:oMath>
                </a14:m>
                <a:r>
                  <a:rPr lang="en-US" dirty="0"/>
                  <a:t>s make sure that the update exactly matches the forward view.</a:t>
                </a:r>
              </a:p>
            </p:txBody>
          </p:sp>
        </mc:Choice>
        <mc:Fallback>
          <p:sp>
            <p:nvSpPr>
              <p:cNvPr id="3" name="Speech Bubble: Rectangle with Corners Rounded 2">
                <a:extLst>
                  <a:ext uri="{FF2B5EF4-FFF2-40B4-BE49-F238E27FC236}">
                    <a16:creationId xmlns:a16="http://schemas.microsoft.com/office/drawing/2014/main" id="{1350B539-C5B1-4BA6-3A80-B96852AEAA02}"/>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9406597" y="4838075"/>
                <a:ext cx="2713278" cy="1267303"/>
              </a:xfrm>
              <a:prstGeom prst="wedgeRoundRectCallout">
                <a:avLst>
                  <a:gd name="adj1" fmla="val -79431"/>
                  <a:gd name="adj2" fmla="val 10395"/>
                  <a:gd name="adj3" fmla="val 16667"/>
                </a:avLst>
              </a:prstGeom>
              <a:blipFill>
                <a:blip r:embed="rId6"/>
                <a:stretch>
                  <a:fillRect b="-2941"/>
                </a:stretch>
              </a:blipFill>
            </p:spPr>
            <p:txBody>
              <a:bodyPr/>
              <a:lstStyle/>
              <a:p>
                <a:r>
                  <a:rPr lang="en-US">
                    <a:noFill/>
                  </a:rPr>
                  <a:t> </a:t>
                </a:r>
              </a:p>
            </p:txBody>
          </p:sp>
        </mc:Fallback>
      </mc:AlternateContent>
    </p:spTree>
    <p:extLst>
      <p:ext uri="{BB962C8B-B14F-4D97-AF65-F5344CB8AC3E}">
        <p14:creationId xmlns:p14="http://schemas.microsoft.com/office/powerpoint/2010/main" val="623236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65CFE2-11EF-7D02-3FDF-DF2F23B91AC2}"/>
              </a:ext>
            </a:extLst>
          </p:cNvPr>
          <p:cNvSpPr>
            <a:spLocks noGrp="1"/>
          </p:cNvSpPr>
          <p:nvPr>
            <p:ph type="title"/>
          </p:nvPr>
        </p:nvSpPr>
        <p:spPr/>
        <p:txBody>
          <a:bodyPr/>
          <a:lstStyle/>
          <a:p>
            <a:r>
              <a:rPr lang="en-US" dirty="0"/>
              <a:t>Control with Eligibility Traces</a:t>
            </a:r>
          </a:p>
        </p:txBody>
      </p:sp>
      <mc:AlternateContent xmlns:mc="http://schemas.openxmlformats.org/markup-compatibility/2006" xmlns:a14="http://schemas.microsoft.com/office/drawing/2010/main">
        <mc:Choice Requires="a14">
          <p:sp>
            <p:nvSpPr>
              <p:cNvPr id="5" name="Text Placeholder 4" descr="Sarsa (lambda)">
                <a:extLst>
                  <a:ext uri="{FF2B5EF4-FFF2-40B4-BE49-F238E27FC236}">
                    <a16:creationId xmlns:a16="http://schemas.microsoft.com/office/drawing/2014/main" id="{BC93DA86-D896-6CEA-1DFB-FFCB93FEEC95}"/>
                  </a:ext>
                </a:extLst>
              </p:cNvPr>
              <p:cNvSpPr>
                <a:spLocks noGrp="1"/>
              </p:cNvSpPr>
              <p:nvPr>
                <p:ph type="body" idx="1"/>
              </p:nvPr>
            </p:nvSpPr>
            <p:spPr/>
            <p:txBody>
              <a:bodyPr/>
              <a:lstStyle/>
              <a:p>
                <a:r>
                  <a:rPr lang="en-US" dirty="0"/>
                  <a:t>Sarsa</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a14:m>
                <a:endParaRPr lang="en-US" dirty="0"/>
              </a:p>
            </p:txBody>
          </p:sp>
        </mc:Choice>
        <mc:Fallback xmlns="">
          <p:sp>
            <p:nvSpPr>
              <p:cNvPr id="5" name="Text Placeholder 4" descr="Sarsa (lambda)">
                <a:extLst>
                  <a:ext uri="{FF2B5EF4-FFF2-40B4-BE49-F238E27FC236}">
                    <a16:creationId xmlns:a16="http://schemas.microsoft.com/office/drawing/2014/main" id="{BC93DA86-D896-6CEA-1DFB-FFCB93FEEC95}"/>
                  </a:ext>
                </a:extLst>
              </p:cNvPr>
              <p:cNvSpPr>
                <a:spLocks noGrp="1" noRot="1" noChangeAspect="1" noMove="1" noResize="1" noEditPoints="1" noAdjustHandles="1" noChangeArrowheads="1" noChangeShapeType="1" noTextEdit="1"/>
              </p:cNvSpPr>
              <p:nvPr>
                <p:ph type="body" idx="1"/>
              </p:nvPr>
            </p:nvSpPr>
            <p:spPr>
              <a:blipFill>
                <a:blip r:embed="rId2"/>
                <a:stretch>
                  <a:fillRect l="-870" t="-5285"/>
                </a:stretch>
              </a:blipFill>
            </p:spPr>
            <p:txBody>
              <a:bodyPr/>
              <a:lstStyle/>
              <a:p>
                <a:r>
                  <a:rPr lang="en-US">
                    <a:noFill/>
                  </a:rPr>
                  <a:t> </a:t>
                </a:r>
              </a:p>
            </p:txBody>
          </p:sp>
        </mc:Fallback>
      </mc:AlternateContent>
    </p:spTree>
    <p:extLst>
      <p:ext uri="{BB962C8B-B14F-4D97-AF65-F5344CB8AC3E}">
        <p14:creationId xmlns:p14="http://schemas.microsoft.com/office/powerpoint/2010/main" val="665114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Sarsa (lambda) Control">
                <a:extLst>
                  <a:ext uri="{FF2B5EF4-FFF2-40B4-BE49-F238E27FC236}">
                    <a16:creationId xmlns:a16="http://schemas.microsoft.com/office/drawing/2014/main" id="{BE24418C-998A-5037-5F17-CE5FE5010CD6}"/>
                  </a:ext>
                </a:extLst>
              </p:cNvPr>
              <p:cNvSpPr>
                <a:spLocks noGrp="1"/>
              </p:cNvSpPr>
              <p:nvPr>
                <p:ph type="title"/>
              </p:nvPr>
            </p:nvSpPr>
            <p:spPr>
              <a:xfrm>
                <a:off x="838200" y="365126"/>
                <a:ext cx="3700682" cy="759072"/>
              </a:xfrm>
            </p:spPr>
            <p:txBody>
              <a:bodyPr>
                <a:normAutofit fontScale="90000"/>
              </a:bodyPr>
              <a:lstStyle/>
              <a:p>
                <a:r>
                  <a:rPr lang="en-US" dirty="0"/>
                  <a:t>Sarsa</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𝜆</m:t>
                    </m:r>
                    <m:r>
                      <a:rPr lang="en-US" i="1">
                        <a:latin typeface="Cambria Math" panose="02040503050406030204" pitchFamily="18" charset="0"/>
                      </a:rPr>
                      <m:t>)</m:t>
                    </m:r>
                  </m:oMath>
                </a14:m>
                <a:r>
                  <a:rPr lang="en-US" dirty="0"/>
                  <a:t> Control</a:t>
                </a:r>
              </a:p>
            </p:txBody>
          </p:sp>
        </mc:Choice>
        <mc:Fallback xmlns="">
          <p:sp>
            <p:nvSpPr>
              <p:cNvPr id="2" name="Title 1" descr="Sarsa (lambda) Control">
                <a:extLst>
                  <a:ext uri="{FF2B5EF4-FFF2-40B4-BE49-F238E27FC236}">
                    <a16:creationId xmlns:a16="http://schemas.microsoft.com/office/drawing/2014/main" id="{BE24418C-998A-5037-5F17-CE5FE5010CD6}"/>
                  </a:ext>
                </a:extLst>
              </p:cNvPr>
              <p:cNvSpPr>
                <a:spLocks noGrp="1" noRot="1" noChangeAspect="1" noMove="1" noResize="1" noEditPoints="1" noAdjustHandles="1" noChangeArrowheads="1" noChangeShapeType="1" noTextEdit="1"/>
              </p:cNvSpPr>
              <p:nvPr>
                <p:ph type="title"/>
              </p:nvPr>
            </p:nvSpPr>
            <p:spPr>
              <a:xfrm>
                <a:off x="838200" y="365126"/>
                <a:ext cx="3700682" cy="759072"/>
              </a:xfrm>
              <a:blipFill>
                <a:blip r:embed="rId2"/>
                <a:stretch>
                  <a:fillRect l="-5931" t="-13710" r="-5107" b="-28226"/>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118DB09B-E36D-E314-1E67-84051C05EAD2}"/>
              </a:ext>
              <a:ext uri="{C183D7F6-B498-43B3-948B-1728B52AA6E4}">
                <adec:decorative xmlns:adec="http://schemas.microsoft.com/office/drawing/2017/decorative" val="1"/>
              </a:ext>
            </a:extLst>
          </p:cNvPr>
          <p:cNvSpPr>
            <a:spLocks noGrp="1"/>
          </p:cNvSpPr>
          <p:nvPr>
            <p:ph idx="1"/>
          </p:nvPr>
        </p:nvSpPr>
        <p:spPr/>
        <p:txBody>
          <a:bodyPr/>
          <a:lstStyle/>
          <a:p>
            <a:endParaRPr lang="en-US" dirty="0"/>
          </a:p>
        </p:txBody>
      </p:sp>
      <p:pic>
        <p:nvPicPr>
          <p:cNvPr id="6" name="Picture 5" descr="Algorithm box: True online TD(lambda) for estimating w transpose x ≈ v pi. Input: the policy pi to be evaluated. Input: a feature function x: S plus → R^d such that x(terminal, ·) = 0. Algorithm parameters: step size alpha &gt; 0, trace decay rate lambda in [0, 1]. Initialize value-function weights w in R^d (e.g., w = 0). Loop for each episode: Initialize state and obtain initial feature vector x; z ← 0 (a d-dimensional vector); V_old ← 0 (a temporary scalar variable); Loop for each step of episode: Choose A ~ pi; Take action A, observe R, x′ (feature vector of the next state); V ← w transpose x; V′ ← w transpose x′; delta ← R + gamma V′ − V; z ← gamma lambda z + (1 − alpha gamma lambda z transpose x) x; w ← w + alpha (delta + V − V_old) z − alpha (V − V_old) x; V_old ← V′; x ← x′; until x′ = 0 (signaling arrival at a terminal state).">
            <a:extLst>
              <a:ext uri="{FF2B5EF4-FFF2-40B4-BE49-F238E27FC236}">
                <a16:creationId xmlns:a16="http://schemas.microsoft.com/office/drawing/2014/main" id="{B5533F6E-A670-F0EF-DBDF-023F7D0C7191}"/>
              </a:ext>
            </a:extLst>
          </p:cNvPr>
          <p:cNvPicPr>
            <a:picLocks noChangeAspect="1"/>
          </p:cNvPicPr>
          <p:nvPr/>
        </p:nvPicPr>
        <p:blipFill>
          <a:blip r:embed="rId3"/>
          <a:stretch>
            <a:fillRect/>
          </a:stretch>
        </p:blipFill>
        <p:spPr>
          <a:xfrm>
            <a:off x="506368" y="1286175"/>
            <a:ext cx="5781113" cy="3980576"/>
          </a:xfrm>
          <a:prstGeom prst="rect">
            <a:avLst/>
          </a:prstGeom>
        </p:spPr>
      </p:pic>
      <p:pic>
        <p:nvPicPr>
          <p:cNvPr id="5" name="Picture 4" descr="Algorithm box: True online Sarsa(lambda) for estimating w transpose x ≈ q pi or q star. Input: a feature function x: S plus × A → R^d such that x(terminal, ·) = 0. Input: a policy pi (if estimating q pi). Algorithm parameters: step size alpha &gt; 0, trace decay rate lambda in [0, 1], small epsilon &gt; 0. Initialize: w in R^d (e.g., w = 0). Loop for each episode: Initialize S; Choose A ~ pi(· | S) or epsilon-greedy according to q hat(S, ·, w); x ← x(S, A); z ← 0; Q_old ← 0; Loop for each step of episode: Take action A, observe R, S′; Choose A′ ~ pi(· | S′) or epsilon-greedy according to q hat(S′, ·, w); x′ ← x(S′, A′); Q ← w transpose x; Q′ ← w transpose x′; delta ← R + gamma Q′ − Q; z ← gamma lambda z + (1 − alpha gamma lambda z transpose x) x; w ← w + alpha (delta + Q − Q_old) z − alpha (Q − Q_old) x; Q_old ← Q′; x ← x′; A ← A′; until S′ is terminal.">
            <a:extLst>
              <a:ext uri="{FF2B5EF4-FFF2-40B4-BE49-F238E27FC236}">
                <a16:creationId xmlns:a16="http://schemas.microsoft.com/office/drawing/2014/main" id="{F3F81575-47BE-4663-72BE-0842C9C1139C}"/>
              </a:ext>
            </a:extLst>
          </p:cNvPr>
          <p:cNvPicPr>
            <a:picLocks noChangeAspect="1"/>
          </p:cNvPicPr>
          <p:nvPr/>
        </p:nvPicPr>
        <p:blipFill>
          <a:blip r:embed="rId4"/>
          <a:srcRect l="1778" t="1084"/>
          <a:stretch>
            <a:fillRect/>
          </a:stretch>
        </p:blipFill>
        <p:spPr>
          <a:xfrm>
            <a:off x="4668473" y="717259"/>
            <a:ext cx="7160004" cy="5867608"/>
          </a:xfrm>
          <a:prstGeom prst="rect">
            <a:avLst/>
          </a:prstGeom>
        </p:spPr>
      </p:pic>
      <mc:AlternateContent xmlns:mc="http://schemas.openxmlformats.org/markup-compatibility/2006">
        <mc:Choice xmlns:a14="http://schemas.microsoft.com/office/drawing/2010/main" Requires="a14">
          <p:sp>
            <p:nvSpPr>
              <p:cNvPr id="7" name="Speech Bubble: Rectangle with Corners Rounded 6">
                <a:extLst>
                  <a:ext uri="{FF2B5EF4-FFF2-40B4-BE49-F238E27FC236}">
                    <a16:creationId xmlns:a16="http://schemas.microsoft.com/office/drawing/2014/main" id="{68FE2FEC-0A68-0310-3A7B-6B6406C0750C}"/>
                  </a:ext>
                  <a:ext uri="{C183D7F6-B498-43B3-948B-1728B52AA6E4}">
                    <adec:decorative xmlns:adec="http://schemas.microsoft.com/office/drawing/2017/decorative" val="1"/>
                  </a:ext>
                </a:extLst>
              </p:cNvPr>
              <p:cNvSpPr/>
              <p:nvPr/>
            </p:nvSpPr>
            <p:spPr>
              <a:xfrm>
                <a:off x="742013" y="5266751"/>
                <a:ext cx="3322192" cy="1373891"/>
              </a:xfrm>
              <a:prstGeom prst="wedgeRoundRectCallout">
                <a:avLst>
                  <a:gd name="adj1" fmla="val 65105"/>
                  <a:gd name="adj2" fmla="val -108264"/>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285750" indent="-285750">
                  <a:buFont typeface="Arial" panose="020B0604020202020204" pitchFamily="34" charset="0"/>
                  <a:buChar char="•"/>
                </a:pPr>
                <a:r>
                  <a:rPr lang="en-US" dirty="0"/>
                  <a:t>Estimate action values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𝑞</m:t>
                        </m:r>
                      </m:e>
                    </m:acc>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r>
                      <a:rPr lang="en-US" i="1" dirty="0">
                        <a:latin typeface="Cambria Math" panose="02040503050406030204" pitchFamily="18" charset="0"/>
                      </a:rPr>
                      <m:t>𝑎</m:t>
                    </m:r>
                    <m:r>
                      <a:rPr lang="en-US" i="1" dirty="0">
                        <a:latin typeface="Cambria Math" panose="02040503050406030204" pitchFamily="18" charset="0"/>
                      </a:rPr>
                      <m:t>,</m:t>
                    </m:r>
                    <m:r>
                      <a:rPr lang="en-US" b="1" i="1" dirty="0">
                        <a:latin typeface="Cambria Math" panose="02040503050406030204" pitchFamily="18" charset="0"/>
                      </a:rPr>
                      <m:t>𝒘</m:t>
                    </m:r>
                    <m:r>
                      <a:rPr lang="en-US" i="1" dirty="0">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𝑉</m:t>
                    </m:r>
                  </m:oMath>
                </a14:m>
                <a:r>
                  <a:rPr lang="en-US" dirty="0"/>
                  <a:t> becomes </a:t>
                </a:r>
                <a14:m>
                  <m:oMath xmlns:m="http://schemas.openxmlformats.org/officeDocument/2006/math">
                    <m:r>
                      <a:rPr lang="en-US" i="1">
                        <a:latin typeface="Cambria Math" panose="02040503050406030204" pitchFamily="18" charset="0"/>
                      </a:rPr>
                      <m:t>𝑄</m:t>
                    </m:r>
                  </m:oMath>
                </a14:m>
                <a:r>
                  <a:rPr lang="en-US" b="1" i="1" dirty="0">
                    <a:latin typeface="Cambria Math" panose="02040503050406030204" pitchFamily="18" charset="0"/>
                  </a:rPr>
                  <a:t>.</a:t>
                </a:r>
              </a:p>
              <a:p>
                <a:pPr marL="285750" indent="-285750">
                  <a:buFont typeface="Arial" panose="020B0604020202020204" pitchFamily="34" charset="0"/>
                  <a:buChar char="•"/>
                </a:pPr>
                <a14:m>
                  <m:oMath xmlns:m="http://schemas.openxmlformats.org/officeDocument/2006/math">
                    <m:r>
                      <a:rPr lang="en-US" b="1" i="1">
                        <a:latin typeface="Cambria Math" panose="02040503050406030204" pitchFamily="18" charset="0"/>
                      </a:rPr>
                      <m:t>𝒙</m:t>
                    </m:r>
                  </m:oMath>
                </a14:m>
                <a:r>
                  <a:rPr lang="en-US" b="1" dirty="0"/>
                  <a:t> </a:t>
                </a:r>
                <a:r>
                  <a:rPr lang="en-US" dirty="0"/>
                  <a:t>is now a </a:t>
                </a:r>
                <a:r>
                  <a:rPr lang="en-US" dirty="0" err="1"/>
                  <a:t>state+action</a:t>
                </a:r>
                <a:r>
                  <a:rPr lang="en-US" dirty="0"/>
                  <a:t> feature</a:t>
                </a:r>
                <a:endParaRPr lang="en-US" b="0" i="1" dirty="0">
                  <a:latin typeface="Cambria Math" panose="02040503050406030204" pitchFamily="18" charset="0"/>
                </a:endParaRPr>
              </a:p>
            </p:txBody>
          </p:sp>
        </mc:Choice>
        <mc:Fallback>
          <p:sp>
            <p:nvSpPr>
              <p:cNvPr id="7" name="Speech Bubble: Rectangle with Corners Rounded 6">
                <a:extLst>
                  <a:ext uri="{FF2B5EF4-FFF2-40B4-BE49-F238E27FC236}">
                    <a16:creationId xmlns:a16="http://schemas.microsoft.com/office/drawing/2014/main" id="{68FE2FEC-0A68-0310-3A7B-6B6406C0750C}"/>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742013" y="5266751"/>
                <a:ext cx="3322192" cy="1373891"/>
              </a:xfrm>
              <a:prstGeom prst="wedgeRoundRectCallout">
                <a:avLst>
                  <a:gd name="adj1" fmla="val 65105"/>
                  <a:gd name="adj2" fmla="val -108264"/>
                  <a:gd name="adj3" fmla="val 16667"/>
                </a:avLst>
              </a:prstGeom>
              <a:blipFill>
                <a:blip r:embed="rId5"/>
                <a:stretch>
                  <a:fillRect/>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84A6A645-B1CF-ABD6-F520-6924051A359B}"/>
              </a:ext>
              <a:ext uri="{C183D7F6-B498-43B3-948B-1728B52AA6E4}">
                <adec:decorative xmlns:adec="http://schemas.microsoft.com/office/drawing/2017/decorative" val="1"/>
              </a:ext>
            </a:extLst>
          </p:cNvPr>
          <p:cNvSpPr/>
          <p:nvPr/>
        </p:nvSpPr>
        <p:spPr>
          <a:xfrm>
            <a:off x="6917960" y="1142229"/>
            <a:ext cx="1446551" cy="269823"/>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8" name="Arrow: Right 7">
            <a:extLst>
              <a:ext uri="{FF2B5EF4-FFF2-40B4-BE49-F238E27FC236}">
                <a16:creationId xmlns:a16="http://schemas.microsoft.com/office/drawing/2014/main" id="{3BAC5591-C5CA-FB5A-6450-05011CDF7B61}"/>
              </a:ext>
              <a:ext uri="{C183D7F6-B498-43B3-948B-1728B52AA6E4}">
                <adec:decorative xmlns:adec="http://schemas.microsoft.com/office/drawing/2017/decorative" val="1"/>
              </a:ext>
            </a:extLst>
          </p:cNvPr>
          <p:cNvSpPr/>
          <p:nvPr/>
        </p:nvSpPr>
        <p:spPr>
          <a:xfrm>
            <a:off x="4318405" y="3084226"/>
            <a:ext cx="584616" cy="846944"/>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E7827E-E3E0-28FC-6F8D-FB4835B33733}"/>
              </a:ext>
              <a:ext uri="{C183D7F6-B498-43B3-948B-1728B52AA6E4}">
                <adec:decorative xmlns:adec="http://schemas.microsoft.com/office/drawing/2017/decorative" val="1"/>
              </a:ext>
            </a:extLst>
          </p:cNvPr>
          <p:cNvSpPr/>
          <p:nvPr/>
        </p:nvSpPr>
        <p:spPr>
          <a:xfrm>
            <a:off x="5031681" y="3249117"/>
            <a:ext cx="941900" cy="258581"/>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1" name="Rectangle 10">
            <a:extLst>
              <a:ext uri="{FF2B5EF4-FFF2-40B4-BE49-F238E27FC236}">
                <a16:creationId xmlns:a16="http://schemas.microsoft.com/office/drawing/2014/main" id="{025ADE33-72AD-700C-F9B7-A5BE123D8ABA}"/>
              </a:ext>
              <a:ext uri="{C183D7F6-B498-43B3-948B-1728B52AA6E4}">
                <adec:decorative xmlns:adec="http://schemas.microsoft.com/office/drawing/2017/decorative" val="1"/>
              </a:ext>
            </a:extLst>
          </p:cNvPr>
          <p:cNvSpPr/>
          <p:nvPr/>
        </p:nvSpPr>
        <p:spPr>
          <a:xfrm>
            <a:off x="6008448" y="3927423"/>
            <a:ext cx="3885059" cy="269823"/>
          </a:xfrm>
          <a:prstGeom prst="rect">
            <a:avLst/>
          </a:prstGeom>
          <a:noFill/>
          <a:ln w="190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2" name="Speech Bubble: Rectangle with Corners Rounded 11">
            <a:extLst>
              <a:ext uri="{FF2B5EF4-FFF2-40B4-BE49-F238E27FC236}">
                <a16:creationId xmlns:a16="http://schemas.microsoft.com/office/drawing/2014/main" id="{C925954A-4BDE-42A9-CF58-FE853D5A7FB3}"/>
              </a:ext>
              <a:ext uri="{C183D7F6-B498-43B3-948B-1728B52AA6E4}">
                <adec:decorative xmlns:adec="http://schemas.microsoft.com/office/drawing/2017/decorative" val="1"/>
              </a:ext>
            </a:extLst>
          </p:cNvPr>
          <p:cNvSpPr/>
          <p:nvPr/>
        </p:nvSpPr>
        <p:spPr>
          <a:xfrm>
            <a:off x="9242683" y="4625356"/>
            <a:ext cx="2044909" cy="1010945"/>
          </a:xfrm>
          <a:prstGeom prst="wedgeRoundRectCallout">
            <a:avLst>
              <a:gd name="adj1" fmla="val -80824"/>
              <a:gd name="adj2" fmla="val -94118"/>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On-policy learning! Needs to keep exploring</a:t>
            </a:r>
          </a:p>
        </p:txBody>
      </p:sp>
    </p:spTree>
    <p:extLst>
      <p:ext uri="{BB962C8B-B14F-4D97-AF65-F5344CB8AC3E}">
        <p14:creationId xmlns:p14="http://schemas.microsoft.com/office/powerpoint/2010/main" val="3763713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80B4-219F-341D-87D6-F012A1CB953D}"/>
              </a:ext>
            </a:extLst>
          </p:cNvPr>
          <p:cNvSpPr>
            <a:spLocks noGrp="1"/>
          </p:cNvSpPr>
          <p:nvPr>
            <p:ph type="title"/>
          </p:nvPr>
        </p:nvSpPr>
        <p:spPr/>
        <p:txBody>
          <a:bodyPr/>
          <a:lstStyle/>
          <a:p>
            <a:r>
              <a:rPr lang="en-US" dirty="0"/>
              <a:t>Example: Traces in a </a:t>
            </a:r>
            <a:r>
              <a:rPr lang="en-US" dirty="0" err="1"/>
              <a:t>Gridworld</a:t>
            </a:r>
            <a:endParaRPr lang="en-US" dirty="0"/>
          </a:p>
        </p:txBody>
      </p:sp>
      <p:pic>
        <p:nvPicPr>
          <p:cNvPr id="5" name="Picture 4" descr="Four gridworld panels comparing credit assignment (Sutton and Barto Figure 12.14). Path taken: a winding path ending at the goal G. Action values increased by one-step Sarsa: only the last action into G. By 10-step Sarsa: the last 10 actions of the path, all with equal-size arrows. By Sarsa(lambda) with lambda = 0.9: every action along the whole path, with arrows that shrink the further they are from G, showing credit fading with time.">
            <a:extLst>
              <a:ext uri="{FF2B5EF4-FFF2-40B4-BE49-F238E27FC236}">
                <a16:creationId xmlns:a16="http://schemas.microsoft.com/office/drawing/2014/main" id="{56627DA3-9A00-06C0-7FB1-58369FDD7EC0}"/>
              </a:ext>
            </a:extLst>
          </p:cNvPr>
          <p:cNvPicPr>
            <a:picLocks noChangeAspect="1"/>
          </p:cNvPicPr>
          <p:nvPr/>
        </p:nvPicPr>
        <p:blipFill>
          <a:blip r:embed="rId2"/>
          <a:stretch>
            <a:fillRect/>
          </a:stretch>
        </p:blipFill>
        <p:spPr>
          <a:xfrm>
            <a:off x="485389" y="1317072"/>
            <a:ext cx="11221222" cy="2530046"/>
          </a:xfrm>
          <a:prstGeom prst="rect">
            <a:avLst/>
          </a:prstGeom>
        </p:spPr>
      </p:pic>
      <mc:AlternateContent xmlns:mc="http://schemas.openxmlformats.org/markup-compatibility/2006" xmlns:a14="http://schemas.microsoft.com/office/drawing/2010/main">
        <mc:Choice Requires="a14">
          <p:sp>
            <p:nvSpPr>
              <p:cNvPr id="3" name="Content Placeholder 2" descr="The first panel shows the path taken by an agent in a single episode. The initial estimated values were zero, and all rewards were zero except for a positive reward at the goal location marked by G. The arrows in the other panels show, for various algorithms, which action-values would be increased, and by how much, upon reaching the goal. Sarsa (lambda) updates more values and also updates values closer to the goal more. This leads to faster and more robust learning">
                <a:extLst>
                  <a:ext uri="{FF2B5EF4-FFF2-40B4-BE49-F238E27FC236}">
                    <a16:creationId xmlns:a16="http://schemas.microsoft.com/office/drawing/2014/main" id="{C9546063-BDA6-A06A-829E-CBFA1390C0EF}"/>
                  </a:ext>
                </a:extLst>
              </p:cNvPr>
              <p:cNvSpPr>
                <a:spLocks noGrp="1"/>
              </p:cNvSpPr>
              <p:nvPr>
                <p:ph idx="1"/>
              </p:nvPr>
            </p:nvSpPr>
            <p:spPr>
              <a:xfrm>
                <a:off x="838200" y="4039992"/>
                <a:ext cx="10515600" cy="2259304"/>
              </a:xfrm>
            </p:spPr>
            <p:txBody>
              <a:bodyPr>
                <a:normAutofit fontScale="77500" lnSpcReduction="20000"/>
              </a:bodyPr>
              <a:lstStyle/>
              <a:p>
                <a:r>
                  <a:rPr lang="en-US" dirty="0"/>
                  <a:t>The first panel shows the path taken by an agent in a single episode. </a:t>
                </a:r>
              </a:p>
              <a:p>
                <a:r>
                  <a:rPr lang="en-US" dirty="0"/>
                  <a:t>The initial estimated values were zero, and all rewards were zero except for a positive reward at the goal location marked by G. </a:t>
                </a:r>
              </a:p>
              <a:p>
                <a:r>
                  <a:rPr lang="en-US" dirty="0"/>
                  <a:t>The arrows in the other panels show, for various algorithms, which action-values would be increased, and by how much, upon reaching the goal.</a:t>
                </a:r>
              </a:p>
              <a:p>
                <a:r>
                  <a:rPr lang="en-US" dirty="0"/>
                  <a:t>Sarsa</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a14:m>
                <a:r>
                  <a:rPr lang="en-US" dirty="0"/>
                  <a:t> updates more values and also updates values closer to the goal more. This leads to </a:t>
                </a:r>
                <a:r>
                  <a:rPr lang="en-US" b="1" dirty="0"/>
                  <a:t>faster and more robust learning.</a:t>
                </a:r>
              </a:p>
            </p:txBody>
          </p:sp>
        </mc:Choice>
        <mc:Fallback xmlns="">
          <p:sp>
            <p:nvSpPr>
              <p:cNvPr id="3" name="Content Placeholder 2" descr="The first panel shows the path taken by an agent in a single episode. The initial estimated values were zero, and all rewards were zero except for a positive reward at the goal location marked by G. The arrows in the other panels show, for various algorithms, which action-values would be increased, and by how much, upon reaching the goal. Sarsa (lambda) updates more values and also updates values closer to the goal more. This leads to faster and more robust learning">
                <a:extLst>
                  <a:ext uri="{FF2B5EF4-FFF2-40B4-BE49-F238E27FC236}">
                    <a16:creationId xmlns:a16="http://schemas.microsoft.com/office/drawing/2014/main" id="{C9546063-BDA6-A06A-829E-CBFA1390C0EF}"/>
                  </a:ext>
                </a:extLst>
              </p:cNvPr>
              <p:cNvSpPr>
                <a:spLocks noGrp="1" noRot="1" noChangeAspect="1" noMove="1" noResize="1" noEditPoints="1" noAdjustHandles="1" noChangeArrowheads="1" noChangeShapeType="1" noTextEdit="1"/>
              </p:cNvSpPr>
              <p:nvPr>
                <p:ph idx="1"/>
              </p:nvPr>
            </p:nvSpPr>
            <p:spPr>
              <a:xfrm>
                <a:off x="838200" y="4039992"/>
                <a:ext cx="10515600" cy="2259304"/>
              </a:xfrm>
              <a:blipFill>
                <a:blip r:embed="rId3"/>
                <a:stretch>
                  <a:fillRect l="-696" t="-5405" r="-812"/>
                </a:stretch>
              </a:blipFill>
            </p:spPr>
            <p:txBody>
              <a:bodyPr/>
              <a:lstStyle/>
              <a:p>
                <a:r>
                  <a:rPr lang="en-US">
                    <a:noFill/>
                  </a:rPr>
                  <a:t> </a:t>
                </a:r>
              </a:p>
            </p:txBody>
          </p:sp>
        </mc:Fallback>
      </mc:AlternateContent>
    </p:spTree>
    <p:extLst>
      <p:ext uri="{BB962C8B-B14F-4D97-AF65-F5344CB8AC3E}">
        <p14:creationId xmlns:p14="http://schemas.microsoft.com/office/powerpoint/2010/main" val="132223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35738-04FF-BD6A-6513-80B432E34B18}"/>
              </a:ext>
            </a:extLst>
          </p:cNvPr>
          <p:cNvSpPr>
            <a:spLocks noGrp="1"/>
          </p:cNvSpPr>
          <p:nvPr>
            <p:ph type="title"/>
          </p:nvPr>
        </p:nvSpPr>
        <p:spPr/>
        <p:txBody>
          <a:bodyPr>
            <a:normAutofit/>
          </a:bodyPr>
          <a:lstStyle/>
          <a:p>
            <a:r>
              <a:rPr lang="en-US" dirty="0"/>
              <a:t>Implementation Issues</a:t>
            </a:r>
          </a:p>
        </p:txBody>
      </p:sp>
      <mc:AlternateContent xmlns:mc="http://schemas.openxmlformats.org/markup-compatibility/2006" xmlns:a14="http://schemas.microsoft.com/office/drawing/2010/main">
        <mc:Choice Requires="a14">
          <p:sp>
            <p:nvSpPr>
              <p:cNvPr id="3" name="Content Placeholder 2" descr="Off-policy learning: Use importance sampling (see Chapter 7). Note: Semi-gradient methods do not guarantee stability and may need extensions to improve stability. Non-linear approximation: For linear approximation backward and forward view matches perfectly. Non-linear approximations create discrepancies. Specialized, modified, or delayed methods are required for stability. Sparse traces: Most values of z sub t are typically close to 0. Many algorithms set very small values to zero and save computation. How to chose lambda : There is no clear optimal value. It depends on. Stochasticiy of the environment. Reward sparsity. Learning rate alpha. Practitioners often start with lambda equals 0.9 and then lower it if behavior is unstable">
                <a:extLst>
                  <a:ext uri="{FF2B5EF4-FFF2-40B4-BE49-F238E27FC236}">
                    <a16:creationId xmlns:a16="http://schemas.microsoft.com/office/drawing/2014/main" id="{F278B223-E1A4-8D15-DE6B-17478304B2A8}"/>
                  </a:ext>
                </a:extLst>
              </p:cNvPr>
              <p:cNvSpPr>
                <a:spLocks noGrp="1"/>
              </p:cNvSpPr>
              <p:nvPr>
                <p:ph idx="1"/>
              </p:nvPr>
            </p:nvSpPr>
            <p:spPr/>
            <p:txBody>
              <a:bodyPr>
                <a:normAutofit fontScale="62500" lnSpcReduction="20000"/>
              </a:bodyPr>
              <a:lstStyle/>
              <a:p>
                <a:r>
                  <a:rPr lang="en-US" b="1" dirty="0"/>
                  <a:t>Off-policy learning</a:t>
                </a:r>
                <a:r>
                  <a:rPr lang="en-US" dirty="0"/>
                  <a:t>: Use importance sampling (see Chapter 7).</a:t>
                </a:r>
                <a:br>
                  <a:rPr lang="en-US" dirty="0"/>
                </a:br>
                <a:r>
                  <a:rPr lang="en-US" dirty="0"/>
                  <a:t>Note: Semi-gradient methods do not guarantee </a:t>
                </a:r>
                <a:r>
                  <a:rPr lang="en-US" b="1" dirty="0"/>
                  <a:t>stability</a:t>
                </a:r>
                <a:r>
                  <a:rPr lang="en-US" dirty="0"/>
                  <a:t> and may need extensions to improve stability.</a:t>
                </a:r>
              </a:p>
              <a:p>
                <a:endParaRPr lang="en-US" dirty="0"/>
              </a:p>
              <a:p>
                <a:r>
                  <a:rPr lang="en-US" b="1" dirty="0"/>
                  <a:t>Non-linear approximation</a:t>
                </a:r>
                <a:r>
                  <a:rPr lang="en-US" dirty="0"/>
                  <a:t>: For linear approximation backward and forward view matches perfectly. Non-linear approximations create discrepancies. Specialized, modified, or delayed methods are required for </a:t>
                </a:r>
                <a:r>
                  <a:rPr lang="en-US" b="1" dirty="0"/>
                  <a:t>stability</a:t>
                </a:r>
                <a:r>
                  <a:rPr lang="en-US" dirty="0"/>
                  <a:t>.</a:t>
                </a:r>
              </a:p>
              <a:p>
                <a:endParaRPr lang="en-US" dirty="0"/>
              </a:p>
              <a:p>
                <a:r>
                  <a:rPr lang="en-US" b="1" dirty="0"/>
                  <a:t>Sparse traces</a:t>
                </a:r>
                <a:r>
                  <a:rPr lang="en-US" dirty="0"/>
                  <a:t>: Most values of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𝒛</m:t>
                        </m:r>
                      </m:e>
                      <m:sub>
                        <m:r>
                          <a:rPr lang="en-US" b="0" i="1" smtClean="0">
                            <a:latin typeface="Cambria Math" panose="02040503050406030204" pitchFamily="18" charset="0"/>
                          </a:rPr>
                          <m:t>𝑡</m:t>
                        </m:r>
                      </m:sub>
                    </m:sSub>
                  </m:oMath>
                </a14:m>
                <a:r>
                  <a:rPr lang="en-US" dirty="0"/>
                  <a:t> are typically close to 0. Many algorithms set very small values to zero and save computation.</a:t>
                </a:r>
              </a:p>
              <a:p>
                <a:pPr marL="0" indent="0">
                  <a:buNone/>
                </a:pPr>
                <a:endParaRPr lang="en-US" dirty="0"/>
              </a:p>
              <a:p>
                <a:r>
                  <a:rPr lang="en-US" b="1" dirty="0"/>
                  <a:t>How to chose </a:t>
                </a:r>
                <a14:m>
                  <m:oMath xmlns:m="http://schemas.openxmlformats.org/officeDocument/2006/math">
                    <m:r>
                      <a:rPr lang="en-US" b="1" i="1" smtClean="0">
                        <a:latin typeface="Cambria Math" panose="02040503050406030204" pitchFamily="18" charset="0"/>
                      </a:rPr>
                      <m:t>𝝀</m:t>
                    </m:r>
                  </m:oMath>
                </a14:m>
                <a:r>
                  <a:rPr lang="en-US" dirty="0"/>
                  <a:t>: There is no clear optimal value. It depends on</a:t>
                </a:r>
              </a:p>
              <a:p>
                <a:pPr lvl="1"/>
                <a:r>
                  <a:rPr lang="en-US" dirty="0" err="1"/>
                  <a:t>Stochasticiy</a:t>
                </a:r>
                <a:r>
                  <a:rPr lang="en-US" dirty="0"/>
                  <a:t> of the environment</a:t>
                </a:r>
              </a:p>
              <a:p>
                <a:pPr lvl="1"/>
                <a:r>
                  <a:rPr lang="en-US" dirty="0"/>
                  <a:t>Reward sparsity</a:t>
                </a:r>
              </a:p>
              <a:p>
                <a:pPr lvl="1"/>
                <a:r>
                  <a:rPr lang="en-US" dirty="0"/>
                  <a:t>Learning rate </a:t>
                </a:r>
                <a14:m>
                  <m:oMath xmlns:m="http://schemas.openxmlformats.org/officeDocument/2006/math">
                    <m:r>
                      <a:rPr lang="en-US" b="0" i="1" smtClean="0">
                        <a:latin typeface="Cambria Math" panose="02040503050406030204" pitchFamily="18" charset="0"/>
                      </a:rPr>
                      <m:t>𝛼</m:t>
                    </m:r>
                  </m:oMath>
                </a14:m>
                <a:endParaRPr lang="en-US" dirty="0"/>
              </a:p>
              <a:p>
                <a:endParaRPr lang="en-US" dirty="0"/>
              </a:p>
              <a:p>
                <a:r>
                  <a:rPr lang="en-US" b="1" dirty="0"/>
                  <a:t>Practitioners</a:t>
                </a:r>
                <a:r>
                  <a:rPr lang="en-US" dirty="0"/>
                  <a:t> often start with lambda equals </a:t>
                </a:r>
                <a14:m>
                  <m:oMath xmlns:m="http://schemas.openxmlformats.org/officeDocument/2006/math">
                    <m:r>
                      <a:rPr lang="en-US" i="1" dirty="0" smtClean="0">
                        <a:latin typeface="Cambria Math" panose="02040503050406030204" pitchFamily="18" charset="0"/>
                      </a:rPr>
                      <m:t>0.9</m:t>
                    </m:r>
                  </m:oMath>
                </a14:m>
                <a:r>
                  <a:rPr lang="en-US" dirty="0"/>
                  <a:t> and then lower it if behavior is unstable.</a:t>
                </a:r>
              </a:p>
            </p:txBody>
          </p:sp>
        </mc:Choice>
        <mc:Fallback xmlns="">
          <p:sp>
            <p:nvSpPr>
              <p:cNvPr id="3" name="Content Placeholder 2" descr="Off-policy learning: Use importance sampling (see Chapter 7). Note: Semi-gradient methods do not guarantee stability and may need extensions to improve stability. Non-linear approximation: For linear approximation backward and forward view matches perfectly. Non-linear approximations create discrepancies. Specialized, modified, or delayed methods are required for stability. Sparse traces: Most values of z sub t are typically close to 0. Many algorithms set very small values to zero and save computation. How to chose lambda : There is no clear optimal value. It depends on. Stochasticiy of the environment. Reward sparsity. Learning rate alpha. Practitioners often start with lambda equals 0.9 and then lower it if behavior is unstable">
                <a:extLst>
                  <a:ext uri="{FF2B5EF4-FFF2-40B4-BE49-F238E27FC236}">
                    <a16:creationId xmlns:a16="http://schemas.microsoft.com/office/drawing/2014/main" id="{F278B223-E1A4-8D15-DE6B-17478304B2A8}"/>
                  </a:ext>
                </a:extLst>
              </p:cNvPr>
              <p:cNvSpPr>
                <a:spLocks noGrp="1" noRot="1" noChangeAspect="1" noMove="1" noResize="1" noEditPoints="1" noAdjustHandles="1" noChangeArrowheads="1" noChangeShapeType="1" noTextEdit="1"/>
              </p:cNvSpPr>
              <p:nvPr>
                <p:ph idx="1"/>
              </p:nvPr>
            </p:nvSpPr>
            <p:spPr>
              <a:blipFill>
                <a:blip r:embed="rId2"/>
                <a:stretch>
                  <a:fillRect l="-406" t="-1913"/>
                </a:stretch>
              </a:blipFill>
            </p:spPr>
            <p:txBody>
              <a:bodyPr/>
              <a:lstStyle/>
              <a:p>
                <a:r>
                  <a:rPr lang="en-US">
                    <a:noFill/>
                  </a:rPr>
                  <a:t> </a:t>
                </a:r>
              </a:p>
            </p:txBody>
          </p:sp>
        </mc:Fallback>
      </mc:AlternateContent>
    </p:spTree>
    <p:extLst>
      <p:ext uri="{BB962C8B-B14F-4D97-AF65-F5344CB8AC3E}">
        <p14:creationId xmlns:p14="http://schemas.microsoft.com/office/powerpoint/2010/main" val="2847808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8EC37-A4CF-60EC-52F4-263B55F33580}"/>
              </a:ext>
            </a:extLst>
          </p:cNvPr>
          <p:cNvSpPr>
            <a:spLocks noGrp="1"/>
          </p:cNvSpPr>
          <p:nvPr>
            <p:ph type="title"/>
          </p:nvPr>
        </p:nvSpPr>
        <p:spPr>
          <a:xfrm>
            <a:off x="6417733" y="490537"/>
            <a:ext cx="5291663" cy="1628775"/>
          </a:xfrm>
        </p:spPr>
        <p:txBody>
          <a:bodyPr anchor="b">
            <a:normAutofit/>
          </a:bodyPr>
          <a:lstStyle/>
          <a:p>
            <a:r>
              <a:rPr lang="en-US" sz="4000"/>
              <a:t>What You Should Know</a:t>
            </a:r>
          </a:p>
        </p:txBody>
      </p:sp>
      <p:pic>
        <p:nvPicPr>
          <p:cNvPr id="6" name="Picture 5">
            <a:extLst>
              <a:ext uri="{FF2B5EF4-FFF2-40B4-BE49-F238E27FC236}">
                <a16:creationId xmlns:a16="http://schemas.microsoft.com/office/drawing/2014/main" id="{0C226E4D-B2A2-5FFB-DA0C-C2A326D53CC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252" r="23400" b="-2"/>
          <a:stretch>
            <a:fillRect/>
          </a:stretch>
        </p:blipFill>
        <p:spPr bwMode="auto">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Content Placeholder 2" descr="Eligibility traces generalize n -step methods: Move between MC and one-step TD. Eligibility traces are very general, often learn faster, and are computationally efficient. Since eligibility traces can move close to MC behavior, they should be used if. the problem is suspected to be partially non-Markov or. the rewards are very delayed. Eligibility traces can also be used to extend Q -learning. This leads to algorithms like Watkins’s Q(lambda) and Tree-Backup (lambda) . Non-linear approximation may lead to stability issues">
                <a:extLst>
                  <a:ext uri="{FF2B5EF4-FFF2-40B4-BE49-F238E27FC236}">
                    <a16:creationId xmlns:a16="http://schemas.microsoft.com/office/drawing/2014/main" id="{BC8300A3-1A0E-8AC1-6DC7-019F4BCFB2F8}"/>
                  </a:ext>
                </a:extLst>
              </p:cNvPr>
              <p:cNvSpPr>
                <a:spLocks noGrp="1"/>
              </p:cNvSpPr>
              <p:nvPr>
                <p:ph idx="1"/>
              </p:nvPr>
            </p:nvSpPr>
            <p:spPr>
              <a:xfrm>
                <a:off x="6417734" y="2614612"/>
                <a:ext cx="5291663" cy="3752849"/>
              </a:xfrm>
            </p:spPr>
            <p:txBody>
              <a:bodyPr>
                <a:normAutofit lnSpcReduction="10000"/>
              </a:bodyPr>
              <a:lstStyle/>
              <a:p>
                <a:r>
                  <a:rPr lang="en-US" sz="1700" dirty="0"/>
                  <a:t>Eligibility traces </a:t>
                </a:r>
                <a:r>
                  <a:rPr lang="en-US" sz="1700" b="1" dirty="0"/>
                  <a:t>generalize </a:t>
                </a:r>
                <a14:m>
                  <m:oMath xmlns:m="http://schemas.openxmlformats.org/officeDocument/2006/math">
                    <m:r>
                      <a:rPr lang="en-US" sz="1700" b="1" i="1" dirty="0" smtClean="0">
                        <a:latin typeface="Cambria Math" panose="02040503050406030204" pitchFamily="18" charset="0"/>
                      </a:rPr>
                      <m:t>𝒏</m:t>
                    </m:r>
                  </m:oMath>
                </a14:m>
                <a:r>
                  <a:rPr lang="en-US" sz="1700" b="1" dirty="0"/>
                  <a:t>-step methods</a:t>
                </a:r>
                <a:r>
                  <a:rPr lang="en-US" sz="1700" dirty="0"/>
                  <a:t>: Move between MC and one-step TD.</a:t>
                </a:r>
              </a:p>
              <a:p>
                <a:r>
                  <a:rPr lang="en-US" sz="1700" dirty="0"/>
                  <a:t>Eligibility traces are very general, often learn faster, and are </a:t>
                </a:r>
                <a:r>
                  <a:rPr lang="en-US" sz="1700" b="1" dirty="0"/>
                  <a:t>computationally efficient. </a:t>
                </a:r>
              </a:p>
              <a:p>
                <a:r>
                  <a:rPr lang="en-US" sz="1700" dirty="0"/>
                  <a:t>Since eligibility traces can move close to MC behavior, they should be used if </a:t>
                </a:r>
              </a:p>
              <a:p>
                <a:pPr lvl="1"/>
                <a:r>
                  <a:rPr lang="en-US" sz="1700" dirty="0"/>
                  <a:t>the problem is suspected to be </a:t>
                </a:r>
                <a:r>
                  <a:rPr lang="en-US" sz="1700" b="1" dirty="0"/>
                  <a:t>partially non-Markov </a:t>
                </a:r>
                <a:r>
                  <a:rPr lang="en-US" sz="1700" dirty="0"/>
                  <a:t>or </a:t>
                </a:r>
              </a:p>
              <a:p>
                <a:pPr lvl="1"/>
                <a:r>
                  <a:rPr lang="en-US" sz="1700" dirty="0"/>
                  <a:t>the </a:t>
                </a:r>
                <a:r>
                  <a:rPr lang="en-US" sz="1700" b="1" dirty="0"/>
                  <a:t>rewards</a:t>
                </a:r>
                <a:r>
                  <a:rPr lang="en-US" sz="1700" dirty="0"/>
                  <a:t> are very </a:t>
                </a:r>
                <a:r>
                  <a:rPr lang="en-US" sz="1700" b="1" dirty="0"/>
                  <a:t>delayed</a:t>
                </a:r>
                <a:r>
                  <a:rPr lang="en-US" sz="1700" dirty="0"/>
                  <a:t>.</a:t>
                </a:r>
              </a:p>
              <a:p>
                <a:r>
                  <a:rPr lang="en-US" sz="1700" dirty="0"/>
                  <a:t>Eligibility traces </a:t>
                </a:r>
                <a:r>
                  <a:rPr lang="en-US" sz="1700" b="1" dirty="0"/>
                  <a:t>can also be used to extend </a:t>
                </a:r>
                <a14:m>
                  <m:oMath xmlns:m="http://schemas.openxmlformats.org/officeDocument/2006/math">
                    <m:r>
                      <a:rPr lang="en-US" sz="1700" b="1" i="1">
                        <a:latin typeface="Cambria Math" panose="02040503050406030204" pitchFamily="18" charset="0"/>
                      </a:rPr>
                      <m:t>𝑸</m:t>
                    </m:r>
                  </m:oMath>
                </a14:m>
                <a:r>
                  <a:rPr lang="en-US" sz="1700" b="1" dirty="0"/>
                  <a:t>-learning</a:t>
                </a:r>
                <a:r>
                  <a:rPr lang="en-US" sz="1700" dirty="0"/>
                  <a:t>. This leads to algorithms like Watkins’s </a:t>
                </a:r>
                <a14:m>
                  <m:oMath xmlns:m="http://schemas.openxmlformats.org/officeDocument/2006/math">
                    <m:r>
                      <a:rPr lang="en-US" sz="1700" i="1">
                        <a:latin typeface="Cambria Math" panose="02040503050406030204" pitchFamily="18" charset="0"/>
                      </a:rPr>
                      <m:t>𝑄</m:t>
                    </m:r>
                    <m:r>
                      <a:rPr lang="en-US" sz="1700" i="1">
                        <a:latin typeface="Cambria Math" panose="02040503050406030204" pitchFamily="18" charset="0"/>
                      </a:rPr>
                      <m:t>(</m:t>
                    </m:r>
                    <m:r>
                      <a:rPr lang="en-US" sz="1700" b="0" i="1">
                        <a:latin typeface="Cambria Math" panose="02040503050406030204" pitchFamily="18" charset="0"/>
                      </a:rPr>
                      <m:t>𝜆</m:t>
                    </m:r>
                    <m:r>
                      <a:rPr lang="en-US" sz="1700" i="1">
                        <a:latin typeface="Cambria Math" panose="02040503050406030204" pitchFamily="18" charset="0"/>
                      </a:rPr>
                      <m:t>)</m:t>
                    </m:r>
                  </m:oMath>
                </a14:m>
                <a:r>
                  <a:rPr lang="en-US" sz="1700" dirty="0"/>
                  <a:t> and Tree-Backup</a:t>
                </a:r>
                <a14:m>
                  <m:oMath xmlns:m="http://schemas.openxmlformats.org/officeDocument/2006/math">
                    <m:r>
                      <a:rPr lang="en-US" sz="1700" i="1">
                        <a:latin typeface="Cambria Math" panose="02040503050406030204" pitchFamily="18" charset="0"/>
                      </a:rPr>
                      <m:t>(</m:t>
                    </m:r>
                    <m:r>
                      <a:rPr lang="en-US" sz="1700" b="0" i="1">
                        <a:latin typeface="Cambria Math" panose="02040503050406030204" pitchFamily="18" charset="0"/>
                      </a:rPr>
                      <m:t>𝜆</m:t>
                    </m:r>
                    <m:r>
                      <a:rPr lang="en-US" sz="1700" i="1">
                        <a:latin typeface="Cambria Math" panose="02040503050406030204" pitchFamily="18" charset="0"/>
                      </a:rPr>
                      <m:t>)</m:t>
                    </m:r>
                  </m:oMath>
                </a14:m>
                <a:r>
                  <a:rPr lang="en-US" sz="1700" dirty="0"/>
                  <a:t>.</a:t>
                </a:r>
              </a:p>
              <a:p>
                <a:r>
                  <a:rPr lang="en-US" sz="1700" dirty="0"/>
                  <a:t>Non-linear approximation may lead to </a:t>
                </a:r>
                <a:r>
                  <a:rPr lang="en-US" sz="1700" b="1" dirty="0"/>
                  <a:t>stability issues</a:t>
                </a:r>
                <a:r>
                  <a:rPr lang="en-US" sz="1700" dirty="0"/>
                  <a:t>.</a:t>
                </a:r>
              </a:p>
            </p:txBody>
          </p:sp>
        </mc:Choice>
        <mc:Fallback xmlns="">
          <p:sp>
            <p:nvSpPr>
              <p:cNvPr id="3" name="Content Placeholder 2" descr="Eligibility traces generalize n -step methods: Move between MC and one-step TD. Eligibility traces are very general, often learn faster, and are computationally efficient. Since eligibility traces can move close to MC behavior, they should be used if. the problem is suspected to be partially non-Markov or. the rewards are very delayed. Eligibility traces can also be used to extend Q -learning. This leads to algorithms like Watkins’s Q(lambda) and Tree-Backup (lambda) . Non-linear approximation may lead to stability issues">
                <a:extLst>
                  <a:ext uri="{FF2B5EF4-FFF2-40B4-BE49-F238E27FC236}">
                    <a16:creationId xmlns:a16="http://schemas.microsoft.com/office/drawing/2014/main" id="{BC8300A3-1A0E-8AC1-6DC7-019F4BCFB2F8}"/>
                  </a:ext>
                </a:extLst>
              </p:cNvPr>
              <p:cNvSpPr>
                <a:spLocks noGrp="1" noRot="1" noChangeAspect="1" noMove="1" noResize="1" noEditPoints="1" noAdjustHandles="1" noChangeArrowheads="1" noChangeShapeType="1" noTextEdit="1"/>
              </p:cNvSpPr>
              <p:nvPr>
                <p:ph idx="1"/>
              </p:nvPr>
            </p:nvSpPr>
            <p:spPr>
              <a:xfrm>
                <a:off x="6417734" y="2614612"/>
                <a:ext cx="5291663" cy="3752849"/>
              </a:xfrm>
              <a:blipFill>
                <a:blip r:embed="rId3"/>
                <a:stretch>
                  <a:fillRect l="-576" t="-1623"/>
                </a:stretch>
              </a:blipFill>
            </p:spPr>
            <p:txBody>
              <a:bodyPr/>
              <a:lstStyle/>
              <a:p>
                <a:r>
                  <a:rPr lang="en-US">
                    <a:noFill/>
                  </a:rPr>
                  <a:t> </a:t>
                </a:r>
              </a:p>
            </p:txBody>
          </p:sp>
        </mc:Fallback>
      </mc:AlternateContent>
    </p:spTree>
    <p:extLst>
      <p:ext uri="{BB962C8B-B14F-4D97-AF65-F5344CB8AC3E}">
        <p14:creationId xmlns:p14="http://schemas.microsoft.com/office/powerpoint/2010/main" val="36959399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12268</TotalTime>
  <Words>1794</Words>
  <Application>Microsoft Macintosh PowerPoint</Application>
  <PresentationFormat>Widescreen</PresentationFormat>
  <Paragraphs>183</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Cambria Math</vt:lpstr>
      <vt:lpstr>Office Theme</vt:lpstr>
      <vt:lpstr>Reinforcement Learning  Eligibility Traces Sutton/Barto* Chapter 12</vt:lpstr>
      <vt:lpstr>Topics of this Course</vt:lpstr>
      <vt:lpstr>Summary of Notation</vt:lpstr>
      <vt:lpstr>The λ-Return</vt:lpstr>
      <vt:lpstr>Remember Chapter 7: n-step TD Prediction</vt:lpstr>
      <vt:lpstr>Valid n-step Update Targets and Compound Updates</vt:lpstr>
      <vt:lpstr>TD(λ) and the λ-Return</vt:lpstr>
      <vt:lpstr>Exponential Weighting Scheme</vt:lpstr>
      <vt:lpstr>The Off-Line λ-Return Algorithm</vt:lpstr>
      <vt:lpstr>The Forward View Issue with  the Off-Line λ-Return Algorithm </vt:lpstr>
      <vt:lpstr>The Backward View</vt:lpstr>
      <vt:lpstr>The Backward View </vt:lpstr>
      <vt:lpstr>Eligibility Traces</vt:lpstr>
      <vt:lpstr>Semi-gradient TD(λ) for Estimation</vt:lpstr>
      <vt:lpstr>True Online TD(λ) for Estimation</vt:lpstr>
      <vt:lpstr>Control with Eligibility Traces</vt:lpstr>
      <vt:lpstr>Sarsa(λ) Control</vt:lpstr>
      <vt:lpstr>Example: Traces in a Gridworld</vt:lpstr>
      <vt:lpstr>Implementation Issues</vt:lpstr>
      <vt:lpstr>What You Should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Munoth, Prerna</cp:lastModifiedBy>
  <cp:revision>225</cp:revision>
  <dcterms:created xsi:type="dcterms:W3CDTF">2025-09-08T14:44:49Z</dcterms:created>
  <dcterms:modified xsi:type="dcterms:W3CDTF">2026-10-15T22:53:35Z</dcterms:modified>
</cp:coreProperties>
</file>