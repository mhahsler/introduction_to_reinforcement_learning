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382" r:id="rId5"/>
    <p:sldId id="389" r:id="rId6"/>
    <p:sldId id="383" r:id="rId7"/>
    <p:sldId id="385" r:id="rId8"/>
    <p:sldId id="386" r:id="rId9"/>
    <p:sldId id="388" r:id="rId10"/>
    <p:sldId id="387" r:id="rId11"/>
    <p:sldId id="390" r:id="rId12"/>
    <p:sldId id="391" r:id="rId13"/>
    <p:sldId id="402" r:id="rId14"/>
    <p:sldId id="393" r:id="rId15"/>
    <p:sldId id="398" r:id="rId16"/>
    <p:sldId id="403" r:id="rId17"/>
    <p:sldId id="404" r:id="rId18"/>
    <p:sldId id="397" r:id="rId19"/>
    <p:sldId id="399" r:id="rId20"/>
    <p:sldId id="394" r:id="rId21"/>
    <p:sldId id="396" r:id="rId22"/>
    <p:sldId id="479" r:id="rId23"/>
    <p:sldId id="401" r:id="rId24"/>
    <p:sldId id="40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dea of Remporal-Difference Learning" id="{2380860D-C062-4E40-AEF2-F4A84DAD8EB2}">
          <p14:sldIdLst>
            <p14:sldId id="382"/>
          </p14:sldIdLst>
        </p14:section>
        <p14:section name="TD Prediction" id="{FC09D1C7-90E9-41E3-9CF2-35E22DB79F82}">
          <p14:sldIdLst>
            <p14:sldId id="389"/>
            <p14:sldId id="383"/>
            <p14:sldId id="385"/>
            <p14:sldId id="386"/>
          </p14:sldIdLst>
        </p14:section>
        <p14:section name="Sarsa" id="{300C02C9-58B9-4585-96C5-09BF8186CE39}">
          <p14:sldIdLst>
            <p14:sldId id="388"/>
            <p14:sldId id="387"/>
            <p14:sldId id="390"/>
          </p14:sldIdLst>
        </p14:section>
        <p14:section name="Q-Learning" id="{5A2B1A79-C816-4072-B829-A54ABC79EFF1}">
          <p14:sldIdLst>
            <p14:sldId id="391"/>
            <p14:sldId id="402"/>
            <p14:sldId id="393"/>
            <p14:sldId id="398"/>
            <p14:sldId id="403"/>
          </p14:sldIdLst>
        </p14:section>
        <p14:section name="Expected Sarsa" id="{03149C1B-E436-447C-99EC-27E8ED55C2E6}">
          <p14:sldIdLst>
            <p14:sldId id="404"/>
            <p14:sldId id="397"/>
          </p14:sldIdLst>
        </p14:section>
        <p14:section name="Comparison" id="{5A04113A-4EC4-49A6-BA68-723CC02C8736}">
          <p14:sldIdLst>
            <p14:sldId id="399"/>
            <p14:sldId id="394"/>
            <p14:sldId id="396"/>
            <p14:sldId id="479"/>
            <p14:sldId id="401"/>
            <p14:sldId id="4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44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91.png"/><Relationship Id="rId18" Type="http://schemas.openxmlformats.org/officeDocument/2006/relationships/image" Target="../media/image32.png"/><Relationship Id="rId21" Type="http://schemas.openxmlformats.org/officeDocument/2006/relationships/image" Target="../media/image35.png"/><Relationship Id="rId12" Type="http://schemas.openxmlformats.org/officeDocument/2006/relationships/image" Target="../media/image280.png"/><Relationship Id="rId17" Type="http://schemas.openxmlformats.org/officeDocument/2006/relationships/image" Target="../media/image31.png"/><Relationship Id="rId2" Type="http://schemas.openxmlformats.org/officeDocument/2006/relationships/image" Target="../media/image27.png"/><Relationship Id="rId16" Type="http://schemas.openxmlformats.org/officeDocument/2006/relationships/image" Target="../media/image29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6.xml"/><Relationship Id="rId24" Type="http://schemas.openxmlformats.org/officeDocument/2006/relationships/image" Target="../media/image38.png"/><Relationship Id="rId15" Type="http://schemas.openxmlformats.org/officeDocument/2006/relationships/image" Target="../media/image28.png"/><Relationship Id="rId23" Type="http://schemas.openxmlformats.org/officeDocument/2006/relationships/image" Target="../media/image37.png"/><Relationship Id="rId19" Type="http://schemas.openxmlformats.org/officeDocument/2006/relationships/image" Target="../media/image33.png"/><Relationship Id="rId14" Type="http://schemas.openxmlformats.org/officeDocument/2006/relationships/image" Target="../media/image300.png"/><Relationship Id="rId22" Type="http://schemas.openxmlformats.org/officeDocument/2006/relationships/image" Target="../media/image3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Temporal-Difference Learning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b="1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10212-5336-C701-866E-6597FCA4C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Temporal-Difference (TD)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63121" y="1397329"/>
                <a:ext cx="7956792" cy="4779633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We will first focus on:</a:t>
                </a:r>
              </a:p>
              <a:p>
                <a:pPr lvl="1"/>
                <a:r>
                  <a:rPr lang="en-US" dirty="0"/>
                  <a:t>On-step</a:t>
                </a:r>
              </a:p>
              <a:p>
                <a:pPr lvl="1"/>
                <a:r>
                  <a:rPr lang="en-US" dirty="0"/>
                  <a:t>Tabular</a:t>
                </a:r>
              </a:p>
              <a:p>
                <a:pPr lvl="1"/>
                <a:r>
                  <a:rPr lang="en-US" dirty="0"/>
                  <a:t>Model-free TD</a:t>
                </a:r>
              </a:p>
              <a:p>
                <a:pPr lvl="1"/>
                <a:endParaRPr lang="en-US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We know from the Bellman equation, that the value function has a recursive relationship. </a:t>
                </a:r>
                <a:br>
                  <a:rPr lang="en-US" dirty="0"/>
                </a:br>
                <a:r>
                  <a:rPr lang="en-US" dirty="0"/>
                  <a:t>Make the state value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more similar to the immediate reward plus the discounted, estimated value of the next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difference is called the </a:t>
                </a:r>
                <a:r>
                  <a:rPr lang="en-US" b="1" dirty="0"/>
                  <a:t>DT error</a:t>
                </a:r>
                <a:r>
                  <a:rPr lang="en-US" dirty="0"/>
                  <a:t>: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Combines ideas from MC and DP</a:t>
                </a:r>
              </a:p>
              <a:p>
                <a:pPr lvl="1"/>
                <a:r>
                  <a:rPr lang="en-US" dirty="0"/>
                  <a:t>From MC: learn from </a:t>
                </a:r>
                <a:r>
                  <a:rPr lang="en-US" b="1" dirty="0"/>
                  <a:t>raw experience </a:t>
                </a:r>
                <a:r>
                  <a:rPr lang="en-US" dirty="0"/>
                  <a:t>(observed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From DP: calculates the error between two value estimates without waiting for the end of the episode via </a:t>
                </a:r>
                <a:r>
                  <a:rPr lang="en-US" b="1" dirty="0"/>
                  <a:t>bootstrapping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63121" y="1397329"/>
                <a:ext cx="7956792" cy="4779633"/>
              </a:xfrm>
              <a:blipFill>
                <a:blip r:embed="rId2"/>
                <a:stretch>
                  <a:fillRect l="-536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EE77EFFD-0224-23E4-99EB-290564017C6F}"/>
              </a:ext>
            </a:extLst>
          </p:cNvPr>
          <p:cNvGrpSpPr/>
          <p:nvPr/>
        </p:nvGrpSpPr>
        <p:grpSpPr>
          <a:xfrm>
            <a:off x="8600352" y="2398276"/>
            <a:ext cx="2595610" cy="2061447"/>
            <a:chOff x="8600352" y="2398276"/>
            <a:chExt cx="2595610" cy="206144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D6B8A70-7CBB-B0CD-8422-D282F46101E2}"/>
                </a:ext>
              </a:extLst>
            </p:cNvPr>
            <p:cNvGrpSpPr/>
            <p:nvPr/>
          </p:nvGrpSpPr>
          <p:grpSpPr>
            <a:xfrm>
              <a:off x="8850833" y="2398276"/>
              <a:ext cx="2345129" cy="2061447"/>
              <a:chOff x="9234742" y="369649"/>
              <a:chExt cx="2345129" cy="2061447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1723B89B-0891-8CC5-A64F-F496DF8A1A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234742" y="738981"/>
                <a:ext cx="2345129" cy="1692115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66BF1A66-F28D-7EBD-08FD-604FCA8335B9}"/>
                      </a:ext>
                    </a:extLst>
                  </p:cNvPr>
                  <p:cNvSpPr txBox="1"/>
                  <p:nvPr/>
                </p:nvSpPr>
                <p:spPr>
                  <a:xfrm>
                    <a:off x="9482412" y="369649"/>
                    <a:ext cx="189167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=−0.04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66BF1A66-F28D-7EBD-08FD-604FCA8335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82412" y="369649"/>
                    <a:ext cx="189167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327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FB9A9FCB-5B10-FBD9-6B0F-C0F07D29E7A8}"/>
                  </a:ext>
                </a:extLst>
              </p:cNvPr>
              <p:cNvSpPr/>
              <p:nvPr/>
            </p:nvSpPr>
            <p:spPr>
              <a:xfrm>
                <a:off x="9296582" y="1495605"/>
                <a:ext cx="321332" cy="474650"/>
              </a:xfrm>
              <a:custGeom>
                <a:avLst/>
                <a:gdLst>
                  <a:gd name="csX0" fmla="*/ 279451 w 321332"/>
                  <a:gd name="csY0" fmla="*/ 0 h 474650"/>
                  <a:gd name="csX1" fmla="*/ 245 w 321332"/>
                  <a:gd name="csY1" fmla="*/ 265246 h 474650"/>
                  <a:gd name="csX2" fmla="*/ 321332 w 321332"/>
                  <a:gd name="csY2" fmla="*/ 474650 h 4746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21332" h="474650">
                    <a:moveTo>
                      <a:pt x="279451" y="0"/>
                    </a:moveTo>
                    <a:cubicBezTo>
                      <a:pt x="136358" y="93069"/>
                      <a:pt x="-6735" y="186138"/>
                      <a:pt x="245" y="265246"/>
                    </a:cubicBezTo>
                    <a:cubicBezTo>
                      <a:pt x="7225" y="344354"/>
                      <a:pt x="164278" y="409502"/>
                      <a:pt x="321332" y="474650"/>
                    </a:cubicBezTo>
                  </a:path>
                </a:pathLst>
              </a:custGeom>
              <a:ln>
                <a:headEnd type="none" w="med" len="med"/>
                <a:tailEnd type="arrow" w="med" len="med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A826EBA-9D60-97A3-970F-A18AF78219F1}"/>
                    </a:ext>
                  </a:extLst>
                </p:cNvPr>
                <p:cNvSpPr txBox="1"/>
                <p:nvPr/>
              </p:nvSpPr>
              <p:spPr>
                <a:xfrm>
                  <a:off x="8600352" y="3479369"/>
                  <a:ext cx="44512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sz="14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A826EBA-9D60-97A3-970F-A18AF78219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00352" y="3479369"/>
                  <a:ext cx="445122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7AC66C-9432-1B60-7D50-04F9A4830697}"/>
                  </a:ext>
                </a:extLst>
              </p:cNvPr>
              <p:cNvSpPr txBox="1"/>
              <p:nvPr/>
            </p:nvSpPr>
            <p:spPr>
              <a:xfrm>
                <a:off x="9098503" y="4015968"/>
                <a:ext cx="56730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1100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1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1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1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7AC66C-9432-1B60-7D50-04F9A48306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8503" y="4015968"/>
                <a:ext cx="567305" cy="2616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29B7864-FE8C-1093-F245-C5E740CDE48C}"/>
                  </a:ext>
                </a:extLst>
              </p:cNvPr>
              <p:cNvSpPr txBox="1"/>
              <p:nvPr/>
            </p:nvSpPr>
            <p:spPr>
              <a:xfrm>
                <a:off x="9039787" y="3525536"/>
                <a:ext cx="56730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1100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1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100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1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1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29B7864-FE8C-1093-F245-C5E740CDE4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787" y="3525536"/>
                <a:ext cx="567305" cy="2616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FA55A951-39C0-4F53-C0D4-E534EF4C3F09}"/>
              </a:ext>
            </a:extLst>
          </p:cNvPr>
          <p:cNvSpPr txBox="1"/>
          <p:nvPr/>
        </p:nvSpPr>
        <p:spPr>
          <a:xfrm>
            <a:off x="9323439" y="4493896"/>
            <a:ext cx="18833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+ stochastic transition model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B5338D7-B211-AD8A-DD0B-E59F3739208A}"/>
              </a:ext>
            </a:extLst>
          </p:cNvPr>
          <p:cNvGrpSpPr/>
          <p:nvPr/>
        </p:nvGrpSpPr>
        <p:grpSpPr>
          <a:xfrm>
            <a:off x="8819913" y="5280870"/>
            <a:ext cx="2337445" cy="588315"/>
            <a:chOff x="8819913" y="5280870"/>
            <a:chExt cx="2337445" cy="588315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FFEFA3D0-637D-6F0B-EB52-FE9A8D063D3A}"/>
                </a:ext>
              </a:extLst>
            </p:cNvPr>
            <p:cNvSpPr/>
            <p:nvPr/>
          </p:nvSpPr>
          <p:spPr>
            <a:xfrm>
              <a:off x="8819913" y="5280870"/>
              <a:ext cx="219874" cy="58831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5A498B4-36BF-3CAD-FCC7-E48DBF8925A3}"/>
                </a:ext>
              </a:extLst>
            </p:cNvPr>
            <p:cNvSpPr txBox="1"/>
            <p:nvPr/>
          </p:nvSpPr>
          <p:spPr>
            <a:xfrm>
              <a:off x="9039787" y="5344194"/>
              <a:ext cx="21175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Truly online process that can update after each action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796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FB2077-6714-528E-FB23-B2B1BA53E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95BE15-E705-EBDF-2293-CDEA1840E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policy.</a:t>
            </a:r>
          </a:p>
        </p:txBody>
      </p:sp>
    </p:spTree>
    <p:extLst>
      <p:ext uri="{BB962C8B-B14F-4D97-AF65-F5344CB8AC3E}">
        <p14:creationId xmlns:p14="http://schemas.microsoft.com/office/powerpoint/2010/main" val="1009425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87989-265D-BCD0-24A2-62684E253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3366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Follow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update tabular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MC: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TD: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Remember: Updating an estimate using another estimate is called </a:t>
                </a:r>
                <a:r>
                  <a:rPr lang="en-US" b="1" dirty="0"/>
                  <a:t>“bootstrapping.”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33668"/>
              </a:xfrm>
              <a:blipFill>
                <a:blip r:embed="rId2"/>
                <a:stretch>
                  <a:fillRect l="-1043" t="-2716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68A07290-301C-7032-71D6-1CB108C1EAAB}"/>
              </a:ext>
            </a:extLst>
          </p:cNvPr>
          <p:cNvGrpSpPr/>
          <p:nvPr/>
        </p:nvGrpSpPr>
        <p:grpSpPr>
          <a:xfrm>
            <a:off x="4029524" y="1879051"/>
            <a:ext cx="3370666" cy="488182"/>
            <a:chOff x="4029524" y="1969791"/>
            <a:chExt cx="3370666" cy="488182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114C8F32-06B0-D869-D536-7BBF5C78D0A5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BC98F2-9264-2ADA-BDB4-85BCB1E97F5E}"/>
                </a:ext>
              </a:extLst>
            </p:cNvPr>
            <p:cNvSpPr txBox="1"/>
            <p:nvPr/>
          </p:nvSpPr>
          <p:spPr>
            <a:xfrm>
              <a:off x="4029524" y="1969791"/>
              <a:ext cx="33706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MC Error over complete episode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0875633-9C72-9EE6-1B64-B7B45913B066}"/>
              </a:ext>
            </a:extLst>
          </p:cNvPr>
          <p:cNvGrpSpPr/>
          <p:nvPr/>
        </p:nvGrpSpPr>
        <p:grpSpPr>
          <a:xfrm>
            <a:off x="4512329" y="3273328"/>
            <a:ext cx="3725659" cy="537879"/>
            <a:chOff x="4699685" y="1920094"/>
            <a:chExt cx="1541724" cy="537879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081EF24B-FDDC-57EA-DD46-44587ECCD551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0154ED7-E9AD-AC50-4A6E-FBD3C1C9365A}"/>
                </a:ext>
              </a:extLst>
            </p:cNvPr>
            <p:cNvSpPr txBox="1"/>
            <p:nvPr/>
          </p:nvSpPr>
          <p:spPr>
            <a:xfrm>
              <a:off x="5014554" y="1920094"/>
              <a:ext cx="911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TD Error for one step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CF09A0-818F-5F40-4472-2943AC1A66D9}"/>
              </a:ext>
            </a:extLst>
          </p:cNvPr>
          <p:cNvGrpSpPr/>
          <p:nvPr/>
        </p:nvGrpSpPr>
        <p:grpSpPr>
          <a:xfrm>
            <a:off x="3421385" y="4333971"/>
            <a:ext cx="4924554" cy="570118"/>
            <a:chOff x="4021326" y="2257187"/>
            <a:chExt cx="3018333" cy="570118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DB467B9E-487B-7E61-B117-98627BE25B20}"/>
                </a:ext>
              </a:extLst>
            </p:cNvPr>
            <p:cNvSpPr/>
            <p:nvPr/>
          </p:nvSpPr>
          <p:spPr>
            <a:xfrm rot="16200000" flipH="1" flipV="1">
              <a:off x="5414044" y="1562984"/>
              <a:ext cx="168547" cy="155695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/>
                <p:nvPr/>
              </p:nvSpPr>
              <p:spPr>
                <a:xfrm>
                  <a:off x="4021326" y="2457973"/>
                  <a:ext cx="30183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tx2"/>
                      </a:solidFill>
                    </a:rPr>
                    <a:t>Uses reward + estimate for next state = target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dirty="0">
                    <a:solidFill>
                      <a:schemeClr val="tx2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1326" y="2457973"/>
                  <a:ext cx="3018333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495"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A0B74D7-9C8E-74BE-DB63-95D4B6C89ACD}"/>
                  </a:ext>
                </a:extLst>
              </p:cNvPr>
              <p:cNvSpPr/>
              <p:nvPr/>
            </p:nvSpPr>
            <p:spPr>
              <a:xfrm>
                <a:off x="8958642" y="1153115"/>
                <a:ext cx="2352312" cy="1451871"/>
              </a:xfrm>
              <a:prstGeom prst="wedgeRoundRectCallout">
                <a:avLst>
                  <a:gd name="adj1" fmla="val -153311"/>
                  <a:gd name="adj2" fmla="val 43556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In MC methods, 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en-US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represents the weight for incremental updates.  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A0B74D7-9C8E-74BE-DB63-95D4B6C89A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8642" y="1153115"/>
                <a:ext cx="2352312" cy="1451871"/>
              </a:xfrm>
              <a:prstGeom prst="wedgeRoundRectCallout">
                <a:avLst>
                  <a:gd name="adj1" fmla="val -153311"/>
                  <a:gd name="adj2" fmla="val 43556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A6B4CE5-F721-CDBA-9DC7-BCE568F3B7C0}"/>
                  </a:ext>
                </a:extLst>
              </p:cNvPr>
              <p:cNvSpPr txBox="1"/>
              <p:nvPr/>
            </p:nvSpPr>
            <p:spPr>
              <a:xfrm>
                <a:off x="9092062" y="3519094"/>
                <a:ext cx="2168554" cy="120032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TD  uses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as a learning parameter to make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“a little” more similar.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A6B4CE5-F721-CDBA-9DC7-BCE568F3B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2062" y="3519094"/>
                <a:ext cx="2168554" cy="1200329"/>
              </a:xfrm>
              <a:prstGeom prst="rect">
                <a:avLst/>
              </a:prstGeom>
              <a:blipFill>
                <a:blip r:embed="rId5"/>
                <a:stretch>
                  <a:fillRect l="-1950" t="-1500" b="-6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5585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E36AA-2655-FFF5-7881-32B8F5909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TD(0)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04425E-63FB-9C5C-D27A-96BE1B7B44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36508" y="1337315"/>
            <a:ext cx="7810209" cy="34977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AE4513F-F758-3015-C605-C7D9F007E2D5}"/>
                  </a:ext>
                </a:extLst>
              </p:cNvPr>
              <p:cNvSpPr/>
              <p:nvPr/>
            </p:nvSpPr>
            <p:spPr>
              <a:xfrm>
                <a:off x="5721292" y="5134061"/>
                <a:ext cx="3586293" cy="1019263"/>
              </a:xfrm>
              <a:prstGeom prst="wedgeRoundRectCallout">
                <a:avLst>
                  <a:gd name="adj1" fmla="val -74173"/>
                  <a:gd name="adj2" fmla="val -15025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Note</a:t>
                </a:r>
                <a:r>
                  <a:rPr lang="en-US" sz="1400" dirty="0"/>
                  <a:t>: We can only update for time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00" dirty="0"/>
                  <a:t> at time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400" dirty="0"/>
                  <a:t> since we need to observe a complete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interaction and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is observed at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AE4513F-F758-3015-C605-C7D9F007E2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292" y="5134061"/>
                <a:ext cx="3586293" cy="1019263"/>
              </a:xfrm>
              <a:prstGeom prst="wedgeRoundRectCallout">
                <a:avLst>
                  <a:gd name="adj1" fmla="val -74173"/>
                  <a:gd name="adj2" fmla="val -150257"/>
                  <a:gd name="adj3" fmla="val 16667"/>
                </a:avLst>
              </a:prstGeom>
              <a:blipFill>
                <a:blip r:embed="rId3"/>
                <a:stretch>
                  <a:fillRect b="-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62833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11095-5FFA-CC66-454C-D10676BA2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of TD Prediction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b="1" dirty="0"/>
                  <a:t>Online updates </a:t>
                </a:r>
                <a:r>
                  <a:rPr lang="en-US" dirty="0"/>
                  <a:t>at each step. Bootstraps using estimate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the value of the next state. </a:t>
                </a:r>
                <a:br>
                  <a:rPr lang="en-US" dirty="0"/>
                </a:br>
                <a:r>
                  <a:rPr lang="en-US" dirty="0"/>
                  <a:t>MC has to wait for the end of the episode.</a:t>
                </a:r>
              </a:p>
              <a:p>
                <a:endParaRPr lang="en-US" dirty="0"/>
              </a:p>
              <a:p>
                <a:r>
                  <a:rPr lang="en-US" b="1" dirty="0"/>
                  <a:t>Model-free:</a:t>
                </a:r>
                <a:r>
                  <a:rPr lang="en-US" dirty="0"/>
                  <a:t> Only needs samples.</a:t>
                </a:r>
                <a:br>
                  <a:rPr lang="en-US" dirty="0"/>
                </a:br>
                <a:r>
                  <a:rPr lang="en-US" dirty="0"/>
                  <a:t>DP needs the transition probabilities!</a:t>
                </a:r>
              </a:p>
              <a:p>
                <a:endParaRPr lang="en-US" b="1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For any fixed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TD(0)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with probability 1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decreases sufficiently slowly over time. </a:t>
                </a:r>
                <a:br>
                  <a:rPr lang="en-US" dirty="0"/>
                </a:br>
                <a:r>
                  <a:rPr lang="en-US" dirty="0"/>
                  <a:t>Converges typically faster than MC prediction.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82149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CD6C69-A73D-CF25-463F-EC940FC0F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TD Control: </a:t>
            </a:r>
            <a:br>
              <a:rPr lang="en-US" dirty="0"/>
            </a:br>
            <a:r>
              <a:rPr lang="en-US" dirty="0"/>
              <a:t>Sarsa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0B5B47-1AC0-4A21-D15D-1F7142A402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online while you use it.</a:t>
            </a:r>
          </a:p>
        </p:txBody>
      </p:sp>
    </p:spTree>
    <p:extLst>
      <p:ext uri="{BB962C8B-B14F-4D97-AF65-F5344CB8AC3E}">
        <p14:creationId xmlns:p14="http://schemas.microsoft.com/office/powerpoint/2010/main" val="18961835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17A85-AD27-D78C-6EE7-8EFC9C60F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888835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Idea</a:t>
                </a:r>
                <a:r>
                  <a:rPr lang="en-US" dirty="0"/>
                  <a:t>: Use GPI with TD prediction for policy evaluation.</a:t>
                </a:r>
              </a:p>
              <a:p>
                <a:endParaRPr lang="en-US" b="1" dirty="0"/>
              </a:p>
              <a:p>
                <a:r>
                  <a:rPr lang="en-US" b="1" dirty="0"/>
                  <a:t>TD Evaluation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using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-table with updates: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 algn="r">
                  <a:buNone/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/>
                  <a:t> for a terminal state is defined as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Improvement</a:t>
                </a:r>
                <a:r>
                  <a:rPr lang="en-US" dirty="0"/>
                  <a:t>: Leans a greedy policy based 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To keep exploring, but actions are chosen from a soft policy based 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b="1" dirty="0"/>
                  <a:t>Issues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b="1" dirty="0"/>
                  <a:t>On-policy</a:t>
                </a:r>
                <a:r>
                  <a:rPr lang="en-US" dirty="0"/>
                  <a:t> means that it learns a soft policy and not the optimal deterministic policy!</a:t>
                </a:r>
              </a:p>
              <a:p>
                <a:pPr lvl="1"/>
                <a:r>
                  <a:rPr lang="en-US" dirty="0"/>
                  <a:t>Update uses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which leads to the name </a:t>
                </a:r>
                <a:r>
                  <a:rPr lang="en-US" b="1" dirty="0"/>
                  <a:t>Sarsa.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888835" cy="4779633"/>
              </a:xfrm>
              <a:blipFill>
                <a:blip r:embed="rId2"/>
                <a:stretch>
                  <a:fillRect l="-960" t="-2806" r="-412" b="-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81F00B50-A0E2-9E3B-7B98-93FC2A8B8005}"/>
              </a:ext>
            </a:extLst>
          </p:cNvPr>
          <p:cNvGrpSpPr/>
          <p:nvPr/>
        </p:nvGrpSpPr>
        <p:grpSpPr>
          <a:xfrm>
            <a:off x="9576769" y="166945"/>
            <a:ext cx="2310430" cy="2149756"/>
            <a:chOff x="9576769" y="166945"/>
            <a:chExt cx="2310430" cy="214975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34ACF09-360E-2E24-9C97-07D69E85A4F4}"/>
                </a:ext>
              </a:extLst>
            </p:cNvPr>
            <p:cNvGrpSpPr/>
            <p:nvPr/>
          </p:nvGrpSpPr>
          <p:grpSpPr>
            <a:xfrm>
              <a:off x="9576769" y="204828"/>
              <a:ext cx="2310430" cy="2111873"/>
              <a:chOff x="8990601" y="218543"/>
              <a:chExt cx="3001301" cy="2828670"/>
            </a:xfrm>
          </p:grpSpPr>
          <p:pic>
            <p:nvPicPr>
              <p:cNvPr id="5" name="Content Placeholder 4">
                <a:extLst>
                  <a:ext uri="{FF2B5EF4-FFF2-40B4-BE49-F238E27FC236}">
                    <a16:creationId xmlns:a16="http://schemas.microsoft.com/office/drawing/2014/main" id="{14459B7C-6F39-0B15-A90A-5AC1F819BC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90601" y="218543"/>
                <a:ext cx="2936007" cy="2828670"/>
              </a:xfrm>
              <a:prstGeom prst="rect">
                <a:avLst/>
              </a:prstGeom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5FDFB7-32DA-E7BC-97BA-735B16C98EB2}"/>
                  </a:ext>
                </a:extLst>
              </p:cNvPr>
              <p:cNvSpPr txBox="1"/>
              <p:nvPr/>
            </p:nvSpPr>
            <p:spPr>
              <a:xfrm>
                <a:off x="10107262" y="1309193"/>
                <a:ext cx="687748" cy="453464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GPI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4C9C71F-1C03-4588-F4B8-107859426DCC}"/>
                  </a:ext>
                </a:extLst>
              </p:cNvPr>
              <p:cNvSpPr/>
              <p:nvPr/>
            </p:nvSpPr>
            <p:spPr>
              <a:xfrm>
                <a:off x="8990601" y="218543"/>
                <a:ext cx="3001301" cy="2727081"/>
              </a:xfrm>
              <a:prstGeom prst="rect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2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BC74A6F-1E51-0870-42BE-148CFD641243}"/>
                </a:ext>
              </a:extLst>
            </p:cNvPr>
            <p:cNvSpPr txBox="1"/>
            <p:nvPr/>
          </p:nvSpPr>
          <p:spPr>
            <a:xfrm>
              <a:off x="9777369" y="166945"/>
              <a:ext cx="4949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11396C4-8FFA-4AAF-B2FC-EF4174161DA8}"/>
                  </a:ext>
                </a:extLst>
              </p:cNvPr>
              <p:cNvSpPr txBox="1"/>
              <p:nvPr/>
            </p:nvSpPr>
            <p:spPr>
              <a:xfrm>
                <a:off x="9758861" y="804757"/>
                <a:ext cx="9731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12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~</m:t>
                      </m:r>
                      <m:r>
                        <m:rPr>
                          <m:nor/>
                        </m:rPr>
                        <a:rPr lang="en-US" sz="1200" b="0" i="0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soft</m:t>
                      </m:r>
                      <m:r>
                        <a:rPr lang="en-US" sz="12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2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11396C4-8FFA-4AAF-B2FC-EF4174161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8861" y="804757"/>
                <a:ext cx="973123" cy="276999"/>
              </a:xfrm>
              <a:prstGeom prst="rect">
                <a:avLst/>
              </a:prstGeom>
              <a:blipFill>
                <a:blip r:embed="rId4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04E290-C7A8-249A-84EF-A94577E33ECB}"/>
                  </a:ext>
                </a:extLst>
              </p:cNvPr>
              <p:cNvSpPr txBox="1"/>
              <p:nvPr/>
            </p:nvSpPr>
            <p:spPr>
              <a:xfrm>
                <a:off x="10566073" y="602266"/>
                <a:ext cx="601468" cy="4794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𝑠𝑜𝑓𝑡</m:t>
                          </m:r>
                          <m:r>
                            <a:rPr lang="en-US" sz="12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2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12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</m:oMath>
                  </m:oMathPara>
                </a14:m>
                <a:endParaRPr lang="en-US" sz="1200" b="0" dirty="0">
                  <a:solidFill>
                    <a:schemeClr val="accent3"/>
                  </a:solidFill>
                </a:endParaRPr>
              </a:p>
              <a:p>
                <a:endParaRPr lang="en-US" sz="1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04E290-C7A8-249A-84EF-A94577E33E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6073" y="602266"/>
                <a:ext cx="601468" cy="479490"/>
              </a:xfrm>
              <a:prstGeom prst="rect">
                <a:avLst/>
              </a:prstGeom>
              <a:blipFill>
                <a:blip r:embed="rId5"/>
                <a:stretch>
                  <a:fillRect r="-4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4A226A4-3DFB-FDA8-464F-70254B5B0100}"/>
              </a:ext>
            </a:extLst>
          </p:cNvPr>
          <p:cNvCxnSpPr/>
          <p:nvPr/>
        </p:nvCxnSpPr>
        <p:spPr>
          <a:xfrm flipH="1">
            <a:off x="10763079" y="619042"/>
            <a:ext cx="173383" cy="106604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69032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65D83-AF66-468C-2BD2-B60F40C3D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Sarsa: On-Policy TD Control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318D103E-5321-14FF-CCC2-395C1CC00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648" y="1124198"/>
            <a:ext cx="7810209" cy="3497737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1476306-7294-055F-2284-AF672A56B6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881" t="2315"/>
          <a:stretch>
            <a:fillRect/>
          </a:stretch>
        </p:blipFill>
        <p:spPr>
          <a:xfrm>
            <a:off x="2778100" y="2303693"/>
            <a:ext cx="8813024" cy="3909253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F0C5B7EE-01C9-2D78-163C-913D0732A91E}"/>
              </a:ext>
            </a:extLst>
          </p:cNvPr>
          <p:cNvSpPr/>
          <p:nvPr/>
        </p:nvSpPr>
        <p:spPr>
          <a:xfrm rot="16930409">
            <a:off x="2168618" y="2756389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53595906-8F94-26CC-2214-B8E6821BE78C}"/>
              </a:ext>
            </a:extLst>
          </p:cNvPr>
          <p:cNvSpPr/>
          <p:nvPr/>
        </p:nvSpPr>
        <p:spPr>
          <a:xfrm>
            <a:off x="8285441" y="1033063"/>
            <a:ext cx="1703157" cy="921380"/>
          </a:xfrm>
          <a:prstGeom prst="wedgeRoundRectCallout">
            <a:avLst>
              <a:gd name="adj1" fmla="val -48291"/>
              <a:gd name="adj2" fmla="val 9587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learned and followed policy is expressed as a Q-function.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42895067-CBCB-93E1-7A6D-13DB95242BA9}"/>
              </a:ext>
            </a:extLst>
          </p:cNvPr>
          <p:cNvSpPr/>
          <p:nvPr/>
        </p:nvSpPr>
        <p:spPr>
          <a:xfrm>
            <a:off x="9520928" y="5182520"/>
            <a:ext cx="2261570" cy="736650"/>
          </a:xfrm>
          <a:prstGeom prst="wedgeRoundRectCallout">
            <a:avLst>
              <a:gd name="adj1" fmla="val -83676"/>
              <a:gd name="adj2" fmla="val -3235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Update the Q-function with the observed next action.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B14DAA65-91EF-32D6-A741-8E2A5EF879AB}"/>
                  </a:ext>
                </a:extLst>
              </p:cNvPr>
              <p:cNvSpPr/>
              <p:nvPr/>
            </p:nvSpPr>
            <p:spPr>
              <a:xfrm>
                <a:off x="9276040" y="3429000"/>
                <a:ext cx="2624538" cy="488610"/>
              </a:xfrm>
              <a:prstGeom prst="wedgeRoundRectCallout">
                <a:avLst>
                  <a:gd name="adj1" fmla="val -49726"/>
                  <a:gd name="adj2" fmla="val 744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Follow and learn a soft policy. On-policy means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B14DAA65-91EF-32D6-A741-8E2A5EF879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6040" y="3429000"/>
                <a:ext cx="2624538" cy="488610"/>
              </a:xfrm>
              <a:prstGeom prst="wedgeRoundRectCallout">
                <a:avLst>
                  <a:gd name="adj1" fmla="val -49726"/>
                  <a:gd name="adj2" fmla="val 74489"/>
                  <a:gd name="adj3" fmla="val 16667"/>
                </a:avLst>
              </a:prstGeom>
              <a:blipFill>
                <a:blip r:embed="rId4"/>
                <a:stretch>
                  <a:fillRect t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0986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47666C-E544-A8E2-3E86-3E49FE62D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TD Control: </a:t>
            </a:r>
            <a:br>
              <a:rPr lang="en-US" dirty="0"/>
            </a:br>
            <a:r>
              <a:rPr lang="en-US" dirty="0"/>
              <a:t>Q-Learning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AB6C6B-376F-4E19-AC6C-EECCB099A2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policy.</a:t>
            </a:r>
          </a:p>
        </p:txBody>
      </p:sp>
    </p:spTree>
    <p:extLst>
      <p:ext uri="{BB962C8B-B14F-4D97-AF65-F5344CB8AC3E}">
        <p14:creationId xmlns:p14="http://schemas.microsoft.com/office/powerpoint/2010/main" val="30445675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7FAA-94D1-C411-5F84-BD11DAFE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An extremely influential method developed by Watkins (1989).</a:t>
                </a:r>
              </a:p>
              <a:p>
                <a:r>
                  <a:rPr lang="en-US" dirty="0"/>
                  <a:t>Update rule only uses observed Sars from the behavior policy: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1" dirty="0"/>
                      <m:t>Off</m:t>
                    </m:r>
                    <m:r>
                      <m:rPr>
                        <m:nor/>
                      </m:rPr>
                      <a:rPr lang="en-US" b="1" dirty="0"/>
                      <m:t>−</m:t>
                    </m:r>
                    <m:r>
                      <m:rPr>
                        <m:nor/>
                      </m:rPr>
                      <a:rPr lang="en-US" b="1" dirty="0"/>
                      <m:t>policy</m:t>
                    </m:r>
                    <m:r>
                      <m:rPr>
                        <m:nor/>
                      </m:rPr>
                      <a:rPr lang="en-US" b="0" i="0" dirty="0" smtClean="0"/>
                      <m:t>: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directly approximates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independent of the behavior policy being followed because it chooses the next action greedy for the target policy.</a:t>
                </a:r>
              </a:p>
              <a:p>
                <a:r>
                  <a:rPr lang="en-US" b="1" dirty="0"/>
                  <a:t>Converges</a:t>
                </a:r>
                <a:r>
                  <a:rPr lang="en-US" dirty="0"/>
                  <a:t> to the optimal value function if: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State-action pairs are represented discretely (e.g., in a table).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All action are repeatedly sampled in all states (behavior policy keeps exploring).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r="-638" b="-3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EB9BEF0-AB2C-E41A-D1B7-4EEEAD69C231}"/>
              </a:ext>
            </a:extLst>
          </p:cNvPr>
          <p:cNvSpPr/>
          <p:nvPr/>
        </p:nvSpPr>
        <p:spPr>
          <a:xfrm>
            <a:off x="6749808" y="3354377"/>
            <a:ext cx="4541170" cy="432769"/>
          </a:xfrm>
          <a:prstGeom prst="wedgeRoundRectCallout">
            <a:avLst>
              <a:gd name="adj1" fmla="val -17872"/>
              <a:gd name="adj2" fmla="val -14787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next action has not yet been observed. It updates with the greedy/optimal action for the target policy!</a:t>
            </a:r>
          </a:p>
        </p:txBody>
      </p:sp>
    </p:spTree>
    <p:extLst>
      <p:ext uri="{BB962C8B-B14F-4D97-AF65-F5344CB8AC3E}">
        <p14:creationId xmlns:p14="http://schemas.microsoft.com/office/powerpoint/2010/main" val="9036772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01268-36EB-E39E-FDF7-3CEE63747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Q-Learning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ACE9FA26-BA72-1C07-AB30-BF0FA09517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1" t="2315"/>
          <a:stretch>
            <a:fillRect/>
          </a:stretch>
        </p:blipFill>
        <p:spPr>
          <a:xfrm>
            <a:off x="586439" y="1390498"/>
            <a:ext cx="8326425" cy="3693409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B7A3C4-3DE2-A697-7764-609086D4B4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735" t="1870"/>
          <a:stretch>
            <a:fillRect/>
          </a:stretch>
        </p:blipFill>
        <p:spPr>
          <a:xfrm>
            <a:off x="3233926" y="2661557"/>
            <a:ext cx="8445114" cy="3509203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50E9F303-0610-DA79-680F-09CEC3B03339}"/>
              </a:ext>
            </a:extLst>
          </p:cNvPr>
          <p:cNvSpPr/>
          <p:nvPr/>
        </p:nvSpPr>
        <p:spPr>
          <a:xfrm rot="16930409">
            <a:off x="2666640" y="2911510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220D628-0C2D-1B3D-85F4-BBFF28A8CE9F}"/>
              </a:ext>
            </a:extLst>
          </p:cNvPr>
          <p:cNvGrpSpPr/>
          <p:nvPr/>
        </p:nvGrpSpPr>
        <p:grpSpPr>
          <a:xfrm>
            <a:off x="1635871" y="3777583"/>
            <a:ext cx="1298121" cy="285750"/>
            <a:chOff x="1635871" y="3777583"/>
            <a:chExt cx="1298121" cy="28575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75A43C0-3EBD-08A8-4E00-AF9FE5A218CC}"/>
                </a:ext>
              </a:extLst>
            </p:cNvPr>
            <p:cNvCxnSpPr/>
            <p:nvPr/>
          </p:nvCxnSpPr>
          <p:spPr>
            <a:xfrm>
              <a:off x="1635871" y="3777583"/>
              <a:ext cx="1298121" cy="28575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2810518-C59E-4B01-556C-D62FA1F00F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5871" y="3777583"/>
              <a:ext cx="1298121" cy="23600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CC62624-3244-ED9B-CD61-A0C791B616E9}"/>
              </a:ext>
            </a:extLst>
          </p:cNvPr>
          <p:cNvCxnSpPr/>
          <p:nvPr/>
        </p:nvCxnSpPr>
        <p:spPr>
          <a:xfrm>
            <a:off x="7022034" y="5374718"/>
            <a:ext cx="130528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7E602A33-7788-B630-6EB2-2D579E74980F}"/>
                  </a:ext>
                </a:extLst>
              </p:cNvPr>
              <p:cNvSpPr/>
              <p:nvPr/>
            </p:nvSpPr>
            <p:spPr>
              <a:xfrm>
                <a:off x="6095999" y="5639963"/>
                <a:ext cx="5212361" cy="397869"/>
              </a:xfrm>
              <a:prstGeom prst="wedgeRoundRectCallout">
                <a:avLst>
                  <a:gd name="adj1" fmla="val -8272"/>
                  <a:gd name="adj2" fmla="val -10978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Does not use the actual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for the update! Uses instead what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200" dirty="0"/>
                  <a:t> thinks would be the optimal next action. Learns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200" dirty="0"/>
                  <a:t> and deterministic target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200" dirty="0"/>
                  <a:t>!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7E602A33-7788-B630-6EB2-2D579E7498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5639963"/>
                <a:ext cx="5212361" cy="397869"/>
              </a:xfrm>
              <a:prstGeom prst="wedgeRoundRectCallout">
                <a:avLst>
                  <a:gd name="adj1" fmla="val -8272"/>
                  <a:gd name="adj2" fmla="val -109788"/>
                  <a:gd name="adj3" fmla="val 16667"/>
                </a:avLst>
              </a:prstGeom>
              <a:blipFill>
                <a:blip r:embed="rId4"/>
                <a:stretch>
                  <a:fillRect b="-101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6B2F30FF-D3B9-E426-E674-2402ADDD54E3}"/>
              </a:ext>
            </a:extLst>
          </p:cNvPr>
          <p:cNvGrpSpPr/>
          <p:nvPr/>
        </p:nvGrpSpPr>
        <p:grpSpPr>
          <a:xfrm>
            <a:off x="2269363" y="4302597"/>
            <a:ext cx="664630" cy="285750"/>
            <a:chOff x="1635871" y="3777583"/>
            <a:chExt cx="1298121" cy="28575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6DD8F5B-8EA2-E148-3B92-B869DE6F1A01}"/>
                </a:ext>
              </a:extLst>
            </p:cNvPr>
            <p:cNvCxnSpPr/>
            <p:nvPr/>
          </p:nvCxnSpPr>
          <p:spPr>
            <a:xfrm>
              <a:off x="1635871" y="3777583"/>
              <a:ext cx="1298121" cy="28575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FEE99F0-86A8-29AC-DC20-F44F476EE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5871" y="3777583"/>
              <a:ext cx="1298121" cy="23600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740D809B-3ADB-75D0-F249-2ED243317119}"/>
              </a:ext>
            </a:extLst>
          </p:cNvPr>
          <p:cNvSpPr/>
          <p:nvPr/>
        </p:nvSpPr>
        <p:spPr>
          <a:xfrm>
            <a:off x="7280245" y="4246538"/>
            <a:ext cx="1331053" cy="198934"/>
          </a:xfrm>
          <a:prstGeom prst="wedgeRoundRectCallout">
            <a:avLst>
              <a:gd name="adj1" fmla="val -22496"/>
              <a:gd name="adj2" fmla="val 1253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Behavior policy</a:t>
            </a:r>
          </a:p>
        </p:txBody>
      </p:sp>
    </p:spTree>
    <p:extLst>
      <p:ext uri="{BB962C8B-B14F-4D97-AF65-F5344CB8AC3E}">
        <p14:creationId xmlns:p14="http://schemas.microsoft.com/office/powerpoint/2010/main" val="810181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C6363-9D21-FCAF-D518-75DBE389F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Q-Learning’s Maximization Bias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3965"/>
                <a:ext cx="10515600" cy="4012288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Q-learning update: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next action is not observed, but the next best action according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is used in the update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dirty="0"/>
                  <a:t>This cycle creates a </a:t>
                </a:r>
                <a:r>
                  <a:rPr lang="en-US" b="1" dirty="0"/>
                  <a:t>maximization bias </a:t>
                </a:r>
                <a:r>
                  <a:rPr lang="en-US" dirty="0"/>
                  <a:t>that leads to overestimating the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 values.</a:t>
                </a:r>
              </a:p>
              <a:p>
                <a:endParaRPr lang="en-US" dirty="0"/>
              </a:p>
              <a:p>
                <a:r>
                  <a:rPr lang="en-US" dirty="0"/>
                  <a:t>Solution: </a:t>
                </a:r>
              </a:p>
              <a:p>
                <a:pPr lvl="1"/>
                <a:r>
                  <a:rPr lang="en-US" b="1" dirty="0"/>
                  <a:t>Double learning </a:t>
                </a:r>
                <a:r>
                  <a:rPr lang="en-US" dirty="0"/>
                  <a:t>by learning 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 and using one for the action selection and the other one for the bootstrap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3965"/>
                <a:ext cx="10515600" cy="4012288"/>
              </a:xfrm>
              <a:blipFill>
                <a:blip r:embed="rId2"/>
                <a:stretch>
                  <a:fillRect l="-812" t="-33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47001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A9B86-C713-6476-4BAC-706F7BE18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B1961-CA51-2458-1636-A04654FFC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73CEC-B27D-5D7D-F62B-D4CB109A78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3966"/>
                <a:ext cx="10515600" cy="585939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Learns</a:t>
                </a:r>
                <a:r>
                  <a:rPr lang="en-US" b="1" dirty="0"/>
                  <a:t> </a:t>
                </a:r>
                <a:r>
                  <a:rPr lang="en-US" dirty="0"/>
                  <a:t>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-functions. One is used for action selection and the other one for the bootstrap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73CEC-B27D-5D7D-F62B-D4CB109A78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3966"/>
                <a:ext cx="10515600" cy="585939"/>
              </a:xfrm>
              <a:blipFill>
                <a:blip r:embed="rId2"/>
                <a:stretch>
                  <a:fillRect l="-696" t="-20833" r="-232" b="-19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0F54D989-C1C4-B92B-B40B-AAB5F3FF6A71}"/>
              </a:ext>
            </a:extLst>
          </p:cNvPr>
          <p:cNvGrpSpPr/>
          <p:nvPr/>
        </p:nvGrpSpPr>
        <p:grpSpPr>
          <a:xfrm>
            <a:off x="2253317" y="1759905"/>
            <a:ext cx="7811008" cy="4122625"/>
            <a:chOff x="2239357" y="2185695"/>
            <a:chExt cx="7811008" cy="412262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034FF89-75D8-9358-4C07-163A138A54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9357" y="2185695"/>
              <a:ext cx="7811008" cy="4051918"/>
            </a:xfrm>
            <a:prstGeom prst="rect">
              <a:avLst/>
            </a:prstGeom>
          </p:spPr>
        </p:pic>
        <p:sp>
          <p:nvSpPr>
            <p:cNvPr id="4" name="Speech Bubble: Rectangle with Corners Rounded 3">
              <a:extLst>
                <a:ext uri="{FF2B5EF4-FFF2-40B4-BE49-F238E27FC236}">
                  <a16:creationId xmlns:a16="http://schemas.microsoft.com/office/drawing/2014/main" id="{81EC9BCF-C1C5-6BB6-41FA-130AD6AA9D1A}"/>
                </a:ext>
              </a:extLst>
            </p:cNvPr>
            <p:cNvSpPr/>
            <p:nvPr/>
          </p:nvSpPr>
          <p:spPr>
            <a:xfrm>
              <a:off x="7308220" y="5947091"/>
              <a:ext cx="816677" cy="361229"/>
            </a:xfrm>
            <a:prstGeom prst="wedgeRoundRectCallout">
              <a:avLst>
                <a:gd name="adj1" fmla="val -15705"/>
                <a:gd name="adj2" fmla="val -13919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Action selection</a:t>
              </a:r>
            </a:p>
          </p:txBody>
        </p:sp>
        <p:sp>
          <p:nvSpPr>
            <p:cNvPr id="6" name="Speech Bubble: Rectangle with Corners Rounded 5">
              <a:extLst>
                <a:ext uri="{FF2B5EF4-FFF2-40B4-BE49-F238E27FC236}">
                  <a16:creationId xmlns:a16="http://schemas.microsoft.com/office/drawing/2014/main" id="{593CB310-66AF-43E6-3435-FE7EEBE22E92}"/>
                </a:ext>
              </a:extLst>
            </p:cNvPr>
            <p:cNvSpPr/>
            <p:nvPr/>
          </p:nvSpPr>
          <p:spPr>
            <a:xfrm>
              <a:off x="5883106" y="5947091"/>
              <a:ext cx="887643" cy="361229"/>
            </a:xfrm>
            <a:prstGeom prst="wedgeRoundRectCallout">
              <a:avLst>
                <a:gd name="adj1" fmla="val -15705"/>
                <a:gd name="adj2" fmla="val -13919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Bootstrap estimate</a:t>
              </a:r>
            </a:p>
          </p:txBody>
        </p:sp>
      </p:grp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926431E-CC5D-4EF0-79C5-590919834425}"/>
              </a:ext>
            </a:extLst>
          </p:cNvPr>
          <p:cNvSpPr txBox="1">
            <a:spLocks/>
          </p:cNvSpPr>
          <p:nvPr/>
        </p:nvSpPr>
        <p:spPr>
          <a:xfrm>
            <a:off x="894041" y="6205804"/>
            <a:ext cx="10515600" cy="38391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Note</a:t>
            </a:r>
            <a:r>
              <a:rPr lang="en-US" sz="1800" dirty="0">
                <a:solidFill>
                  <a:schemeClr val="bg1"/>
                </a:solidFill>
              </a:rPr>
              <a:t>: All TD methods have a similar bias, and double learning extensions for these algorithms also exist.</a:t>
            </a:r>
          </a:p>
        </p:txBody>
      </p:sp>
    </p:spTree>
    <p:extLst>
      <p:ext uri="{BB962C8B-B14F-4D97-AF65-F5344CB8AC3E}">
        <p14:creationId xmlns:p14="http://schemas.microsoft.com/office/powerpoint/2010/main" val="4180389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ACE1-D949-6959-F883-5FFFEC216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61C794-2342-ECB0-7D60-69CE67C5A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TD Control: </a:t>
            </a:r>
            <a:br>
              <a:rPr lang="en-US" dirty="0"/>
            </a:br>
            <a:r>
              <a:rPr lang="en-US" dirty="0"/>
              <a:t>Expected Sarsa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7666E1-9180-C127-BF1F-38950CF41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policy.</a:t>
            </a:r>
          </a:p>
        </p:txBody>
      </p:sp>
    </p:spTree>
    <p:extLst>
      <p:ext uri="{BB962C8B-B14F-4D97-AF65-F5344CB8AC3E}">
        <p14:creationId xmlns:p14="http://schemas.microsoft.com/office/powerpoint/2010/main" val="14388641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C4385-3C91-82A2-B0A7-C06386ED8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Sarsa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Like Q-learning, but use the expectation over all possible next actions instead of the currently best action:</a:t>
                </a:r>
              </a:p>
              <a:p>
                <a:endParaRPr lang="en-US" dirty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</m:fNam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|"/>
                                  <m:endChr m:val="]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:endParaRPr lang="en-US" dirty="0"/>
              </a:p>
              <a:p>
                <a:pPr>
                  <a:lnSpc>
                    <a:spcPct val="100000"/>
                  </a:lnSpc>
                </a:pPr>
                <a:r>
                  <a:rPr lang="en-US" b="1" dirty="0"/>
                  <a:t>Properties: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Moves in the direction of Sarsa (in expectation).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Eliminates Sarsa’s variance due to the selection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from a soft policy.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Can set the learning rate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since it uses expectation!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Off-policy since it does not use the behavior policy’s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b="-5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4043A8-6F47-FD7A-D4EE-95DB317B6A16}"/>
              </a:ext>
            </a:extLst>
          </p:cNvPr>
          <p:cNvSpPr/>
          <p:nvPr/>
        </p:nvSpPr>
        <p:spPr>
          <a:xfrm>
            <a:off x="6006517" y="2319556"/>
            <a:ext cx="2898397" cy="536895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2439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A947AF-1111-8FC8-9C49-9ED02B2A1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455082-DEC7-913B-105C-3428E5E3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Sarsa vs. Q-Learning vs. Expected Sarsa</a:t>
            </a:r>
          </a:p>
        </p:txBody>
      </p:sp>
    </p:spTree>
    <p:extLst>
      <p:ext uri="{BB962C8B-B14F-4D97-AF65-F5344CB8AC3E}">
        <p14:creationId xmlns:p14="http://schemas.microsoft.com/office/powerpoint/2010/main" val="5921753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A2BBB-A726-1EF6-3427-57B33AC4A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Comparison: 1-step Backup Diagrams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C8187D2-C651-211E-F36F-28F57A9AE11F}"/>
              </a:ext>
            </a:extLst>
          </p:cNvPr>
          <p:cNvGrpSpPr/>
          <p:nvPr/>
        </p:nvGrpSpPr>
        <p:grpSpPr>
          <a:xfrm>
            <a:off x="2712656" y="1307163"/>
            <a:ext cx="5965095" cy="1771647"/>
            <a:chOff x="2637816" y="2846877"/>
            <a:chExt cx="5965095" cy="177164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816A4BA-29C5-E498-E49B-2A5D1934C3AC}"/>
                </a:ext>
              </a:extLst>
            </p:cNvPr>
            <p:cNvGrpSpPr/>
            <p:nvPr/>
          </p:nvGrpSpPr>
          <p:grpSpPr>
            <a:xfrm>
              <a:off x="2637816" y="2846877"/>
              <a:ext cx="5965095" cy="1634769"/>
              <a:chOff x="2373562" y="2582670"/>
              <a:chExt cx="5965095" cy="1634769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079CA762-1D81-E9C9-CDF2-B465A9EF93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D8A8134D-2B73-F837-EAFB-A58F7D294338}"/>
                  </a:ext>
                </a:extLst>
              </p:cNvPr>
              <p:cNvSpPr/>
              <p:nvPr/>
            </p:nvSpPr>
            <p:spPr>
              <a:xfrm>
                <a:off x="3744294" y="3074530"/>
                <a:ext cx="1514911" cy="854643"/>
              </a:xfrm>
              <a:prstGeom prst="arc">
                <a:avLst>
                  <a:gd name="adj1" fmla="val 942545"/>
                  <a:gd name="adj2" fmla="val 9972429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/>
                  <p:nvPr/>
                </p:nvSpPr>
                <p:spPr>
                  <a:xfrm>
                    <a:off x="3262007" y="3422428"/>
                    <a:ext cx="1049672" cy="285206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62007" y="3422428"/>
                    <a:ext cx="1049672" cy="285206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2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/>
                  <p:nvPr/>
                </p:nvSpPr>
                <p:spPr>
                  <a:xfrm>
                    <a:off x="4614828" y="3421985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4828" y="3421985"/>
                    <a:ext cx="1049672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652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EB6D555F-71D5-466F-AA26-1C0B46F3DF17}"/>
                  </a:ext>
                </a:extLst>
              </p:cNvPr>
              <p:cNvSpPr/>
              <p:nvPr/>
            </p:nvSpPr>
            <p:spPr>
              <a:xfrm>
                <a:off x="3797229" y="2582670"/>
                <a:ext cx="464096" cy="1177771"/>
              </a:xfrm>
              <a:prstGeom prst="arc">
                <a:avLst>
                  <a:gd name="adj1" fmla="val 535615"/>
                  <a:gd name="adj2" fmla="val 609571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B447D22-5746-B9E6-4B7F-D58201646AB7}"/>
                  </a:ext>
                </a:extLst>
              </p:cNvPr>
              <p:cNvSpPr txBox="1"/>
              <p:nvPr/>
            </p:nvSpPr>
            <p:spPr>
              <a:xfrm>
                <a:off x="4229624" y="3955829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</a:t>
                </a:r>
              </a:p>
            </p:txBody>
          </p:sp>
          <p:sp>
            <p:nvSpPr>
              <p:cNvPr id="22" name="Right Brace 21">
                <a:extLst>
                  <a:ext uri="{FF2B5EF4-FFF2-40B4-BE49-F238E27FC236}">
                    <a16:creationId xmlns:a16="http://schemas.microsoft.com/office/drawing/2014/main" id="{E25CDC5A-37CC-002F-E578-D71B185F9446}"/>
                  </a:ext>
                </a:extLst>
              </p:cNvPr>
              <p:cNvSpPr/>
              <p:nvPr/>
            </p:nvSpPr>
            <p:spPr>
              <a:xfrm rot="16200000">
                <a:off x="4138402" y="2107503"/>
                <a:ext cx="202889" cy="173116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7225B51-8649-F146-DE31-A737A77E9A34}"/>
                  </a:ext>
                </a:extLst>
              </p:cNvPr>
              <p:cNvSpPr txBox="1"/>
              <p:nvPr/>
            </p:nvSpPr>
            <p:spPr>
              <a:xfrm>
                <a:off x="3877022" y="2638971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/>
                <p:nvPr/>
              </p:nvSpPr>
              <p:spPr>
                <a:xfrm>
                  <a:off x="6021160" y="4193325"/>
                  <a:ext cx="1781788" cy="425199"/>
                </a:xfrm>
                <a:prstGeom prst="wedgeRoundRectCallout">
                  <a:avLst>
                    <a:gd name="adj1" fmla="val -75291"/>
                    <a:gd name="adj2" fmla="val -108207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Used to bootstrap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1160" y="4193325"/>
                  <a:ext cx="1781788" cy="425199"/>
                </a:xfrm>
                <a:prstGeom prst="wedgeRoundRectCallout">
                  <a:avLst>
                    <a:gd name="adj1" fmla="val -75291"/>
                    <a:gd name="adj2" fmla="val -108207"/>
                    <a:gd name="adj3" fmla="val 16667"/>
                  </a:avLst>
                </a:prstGeom>
                <a:blipFill>
                  <a:blip r:embed="rId14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9F3288D-F473-C2C7-1246-80B469AA5262}"/>
              </a:ext>
            </a:extLst>
          </p:cNvPr>
          <p:cNvGrpSpPr/>
          <p:nvPr/>
        </p:nvGrpSpPr>
        <p:grpSpPr>
          <a:xfrm>
            <a:off x="1203764" y="3465626"/>
            <a:ext cx="9110026" cy="2236901"/>
            <a:chOff x="1203764" y="3465626"/>
            <a:chExt cx="9110026" cy="223690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027D81A-F2A7-9C05-925E-39F3F345BA1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578940" y="3473366"/>
              <a:ext cx="5734850" cy="222916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1A8F4E1-AA11-EA65-8209-64A2D6CE0DB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674286" y="3563867"/>
              <a:ext cx="1038370" cy="204816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CBB00F4-1A5A-D5B1-1923-30E7AB671293}"/>
                    </a:ext>
                  </a:extLst>
                </p:cNvPr>
                <p:cNvSpPr txBox="1"/>
                <p:nvPr/>
              </p:nvSpPr>
              <p:spPr>
                <a:xfrm>
                  <a:off x="2298329" y="4279191"/>
                  <a:ext cx="65024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CBB00F4-1A5A-D5B1-1923-30E7AB6712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329" y="4279191"/>
                  <a:ext cx="650243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AD4DCAB-8567-439C-FC82-BD0F72977E73}"/>
                    </a:ext>
                  </a:extLst>
                </p:cNvPr>
                <p:cNvSpPr txBox="1"/>
                <p:nvPr/>
              </p:nvSpPr>
              <p:spPr>
                <a:xfrm>
                  <a:off x="2298330" y="4928856"/>
                  <a:ext cx="60203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AD4DCAB-8567-439C-FC82-BD0F72977E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330" y="4928856"/>
                  <a:ext cx="602038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E811601-E15B-A2EA-6A3C-8E69FECEDE50}"/>
                    </a:ext>
                  </a:extLst>
                </p:cNvPr>
                <p:cNvSpPr txBox="1"/>
                <p:nvPr/>
              </p:nvSpPr>
              <p:spPr>
                <a:xfrm>
                  <a:off x="2186529" y="3608229"/>
                  <a:ext cx="60203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E811601-E15B-A2EA-6A3C-8E69FECEDE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6529" y="3608229"/>
                  <a:ext cx="602038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F84C7A8-3D3A-7BB1-3E84-0C6C6A718B86}"/>
                    </a:ext>
                  </a:extLst>
                </p:cNvPr>
                <p:cNvSpPr txBox="1"/>
                <p:nvPr/>
              </p:nvSpPr>
              <p:spPr>
                <a:xfrm>
                  <a:off x="1698460" y="3846461"/>
                  <a:ext cx="60203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F84C7A8-3D3A-7BB1-3E84-0C6C6A718B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98460" y="3846461"/>
                  <a:ext cx="602038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9506427-5DBB-46F6-7064-8C167FF27BD1}"/>
                    </a:ext>
                  </a:extLst>
                </p:cNvPr>
                <p:cNvSpPr txBox="1"/>
                <p:nvPr/>
              </p:nvSpPr>
              <p:spPr>
                <a:xfrm>
                  <a:off x="5598300" y="4493782"/>
                  <a:ext cx="6479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9506427-5DBB-46F6-7064-8C167FF27B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8300" y="4493782"/>
                  <a:ext cx="647933" cy="36933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1540664-58DD-C85E-EB0B-3CF84B97E40F}"/>
                    </a:ext>
                  </a:extLst>
                </p:cNvPr>
                <p:cNvSpPr txBox="1"/>
                <p:nvPr/>
              </p:nvSpPr>
              <p:spPr>
                <a:xfrm>
                  <a:off x="9403340" y="4493782"/>
                  <a:ext cx="5023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1540664-58DD-C85E-EB0B-3CF84B97E4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03340" y="4493782"/>
                  <a:ext cx="502381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17A05C8-9D4E-0A8E-804D-7A3D0FA404D5}"/>
                    </a:ext>
                  </a:extLst>
                </p:cNvPr>
                <p:cNvSpPr txBox="1"/>
                <p:nvPr/>
              </p:nvSpPr>
              <p:spPr>
                <a:xfrm>
                  <a:off x="1438370" y="3465626"/>
                  <a:ext cx="1049672" cy="28520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17A05C8-9D4E-0A8E-804D-7A3D0FA404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8370" y="3465626"/>
                  <a:ext cx="1049672" cy="285206"/>
                </a:xfrm>
                <a:prstGeom prst="rect">
                  <a:avLst/>
                </a:prstGeom>
                <a:blipFill>
                  <a:blip r:embed="rId23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EED65E4-42A0-CD95-0366-21CE381124C2}"/>
                    </a:ext>
                  </a:extLst>
                </p:cNvPr>
                <p:cNvSpPr txBox="1"/>
                <p:nvPr/>
              </p:nvSpPr>
              <p:spPr>
                <a:xfrm>
                  <a:off x="1203764" y="4836523"/>
                  <a:ext cx="104967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EED65E4-42A0-CD95-0366-21CE381124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03764" y="4836523"/>
                  <a:ext cx="1049672" cy="276999"/>
                </a:xfrm>
                <a:prstGeom prst="rect">
                  <a:avLst/>
                </a:prstGeom>
                <a:blipFill>
                  <a:blip r:embed="rId24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F719737-7B4F-FA5F-52DC-A6E0F7264BD2}"/>
              </a:ext>
            </a:extLst>
          </p:cNvPr>
          <p:cNvSpPr txBox="1"/>
          <p:nvPr/>
        </p:nvSpPr>
        <p:spPr>
          <a:xfrm>
            <a:off x="887061" y="5748746"/>
            <a:ext cx="2986924" cy="9233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On-policy: Updates with a next action following the behavior policy.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6F83D4-BFF1-A102-5C24-A229A3E27595}"/>
              </a:ext>
            </a:extLst>
          </p:cNvPr>
          <p:cNvSpPr txBox="1"/>
          <p:nvPr/>
        </p:nvSpPr>
        <p:spPr>
          <a:xfrm>
            <a:off x="4374750" y="5748746"/>
            <a:ext cx="2861646" cy="92333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Off-policy: Updates with the best next action for the target policy.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A6C9EB-1E75-1DA2-416B-203908B586D6}"/>
              </a:ext>
            </a:extLst>
          </p:cNvPr>
          <p:cNvSpPr txBox="1"/>
          <p:nvPr/>
        </p:nvSpPr>
        <p:spPr>
          <a:xfrm>
            <a:off x="7654424" y="5748746"/>
            <a:ext cx="2861646" cy="92333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Off-policy: Updates with the expectation over the action for the target policy.</a:t>
            </a:r>
          </a:p>
        </p:txBody>
      </p:sp>
    </p:spTree>
    <p:extLst>
      <p:ext uri="{BB962C8B-B14F-4D97-AF65-F5344CB8AC3E}">
        <p14:creationId xmlns:p14="http://schemas.microsoft.com/office/powerpoint/2010/main" val="22334048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8276F-7795-B966-030F-FCC384999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98B4E-B7CF-E345-6580-CEE34C1DC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</a:t>
            </a:r>
            <a:r>
              <a:rPr lang="en-US" sz="1800" dirty="0" err="1"/>
              <a:t>gridworld</a:t>
            </a:r>
            <a:r>
              <a:rPr lang="en-US" sz="1800" dirty="0"/>
              <a:t> shown to the right. </a:t>
            </a:r>
          </a:p>
          <a:p>
            <a:r>
              <a:rPr lang="en-US" sz="1800" dirty="0"/>
              <a:t>This is a standard undiscounted, episodic task, with start and goal states.</a:t>
            </a:r>
          </a:p>
          <a:p>
            <a:r>
              <a:rPr lang="en-US" sz="1800" dirty="0"/>
              <a:t>Actions causing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19A7B5-A9CC-EE24-F78E-F3E2FA24D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3F5773-6D0D-1D71-F1CD-C7746EF7F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methods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C3FCB8B5-813B-D263-F7C1-1BC210D5ED90}"/>
              </a:ext>
            </a:extLst>
          </p:cNvPr>
          <p:cNvSpPr/>
          <p:nvPr/>
        </p:nvSpPr>
        <p:spPr>
          <a:xfrm>
            <a:off x="10016519" y="5264757"/>
            <a:ext cx="1542614" cy="696293"/>
          </a:xfrm>
          <a:prstGeom prst="wedgeRoundRectCallout">
            <a:avLst>
              <a:gd name="adj1" fmla="val -79398"/>
              <a:gd name="adj2" fmla="val -61806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Why does the optimal path perform worse?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ED148F4B-5A91-1BFA-41CC-F38800350D33}"/>
              </a:ext>
            </a:extLst>
          </p:cNvPr>
          <p:cNvSpPr/>
          <p:nvPr/>
        </p:nvSpPr>
        <p:spPr>
          <a:xfrm>
            <a:off x="10016519" y="2443259"/>
            <a:ext cx="1542614" cy="696293"/>
          </a:xfrm>
          <a:prstGeom prst="wedgeRoundRectCallout">
            <a:avLst>
              <a:gd name="adj1" fmla="val -36980"/>
              <a:gd name="adj2" fmla="val -26903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Why does Sarsa pick the longer path?</a:t>
            </a:r>
          </a:p>
        </p:txBody>
      </p:sp>
    </p:spTree>
    <p:extLst>
      <p:ext uri="{BB962C8B-B14F-4D97-AF65-F5344CB8AC3E}">
        <p14:creationId xmlns:p14="http://schemas.microsoft.com/office/powerpoint/2010/main" val="20006315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AA1F0-940C-EE3F-D15D-72C7A6538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9EA57-3578-362D-B879-FA8EDF16D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AD4FE8-3C4E-DC95-0476-B5C678885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</a:t>
            </a:r>
            <a:r>
              <a:rPr lang="en-US" sz="1800" dirty="0" err="1"/>
              <a:t>gridworld</a:t>
            </a:r>
            <a:r>
              <a:rPr lang="en-US" sz="1800" dirty="0"/>
              <a:t> shown to the right. </a:t>
            </a:r>
          </a:p>
          <a:p>
            <a:r>
              <a:rPr lang="en-US" sz="1800" dirty="0"/>
              <a:t>This is a standard undiscounted, episodic task, with start and goal states.</a:t>
            </a:r>
          </a:p>
          <a:p>
            <a:r>
              <a:rPr lang="en-US" sz="1800" dirty="0"/>
              <a:t>Actions causing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5B5508-DD84-0561-E4B7-B0A2B44DB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080FFF-E983-662A-907E-6B5CCFAB9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1419248-E32C-E1A5-DA88-F07267441E80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methods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861BC875-C5BF-4D99-E066-2E9E901055E1}"/>
              </a:ext>
            </a:extLst>
          </p:cNvPr>
          <p:cNvSpPr/>
          <p:nvPr/>
        </p:nvSpPr>
        <p:spPr>
          <a:xfrm>
            <a:off x="10174843" y="4685251"/>
            <a:ext cx="1845306" cy="2031542"/>
          </a:xfrm>
          <a:prstGeom prst="wedgeRoundRectCallout">
            <a:avLst>
              <a:gd name="adj1" fmla="val -84969"/>
              <a:gd name="adj2" fmla="val -31455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Q-learning learns the optimal policy, but uses a soft behavior policy to explore. Walking along the cliff with a soft policy is dangerous.</a:t>
            </a:r>
          </a:p>
          <a:p>
            <a:pPr algn="ctr"/>
            <a:r>
              <a:rPr lang="en-US" sz="1100" dirty="0"/>
              <a:t>Once we only follow the learned deterministic  policy, the sum of rewards will be optimal.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7881373-FF43-8F96-C27F-EE64A3DDB838}"/>
              </a:ext>
            </a:extLst>
          </p:cNvPr>
          <p:cNvSpPr/>
          <p:nvPr/>
        </p:nvSpPr>
        <p:spPr>
          <a:xfrm>
            <a:off x="9584422" y="2485204"/>
            <a:ext cx="2528384" cy="696293"/>
          </a:xfrm>
          <a:prstGeom prst="wedgeRoundRectCallout">
            <a:avLst>
              <a:gd name="adj1" fmla="val -31027"/>
              <a:gd name="adj2" fmla="val -2708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Sarsa is on-policy and learns a soft policy. Walking along the cliff would be dangerous!</a:t>
            </a:r>
          </a:p>
        </p:txBody>
      </p:sp>
    </p:spTree>
    <p:extLst>
      <p:ext uri="{BB962C8B-B14F-4D97-AF65-F5344CB8AC3E}">
        <p14:creationId xmlns:p14="http://schemas.microsoft.com/office/powerpoint/2010/main" val="31385922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E47B388-9EDE-BEEF-286A-0670BB57C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879" y="593726"/>
            <a:ext cx="8556776" cy="59956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6EC57F-A3C1-ECE0-DBDD-E93D09AB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446864" cy="1551758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Experimental Comparison</a:t>
            </a:r>
          </a:p>
        </p:txBody>
      </p:sp>
    </p:spTree>
    <p:extLst>
      <p:ext uri="{BB962C8B-B14F-4D97-AF65-F5344CB8AC3E}">
        <p14:creationId xmlns:p14="http://schemas.microsoft.com/office/powerpoint/2010/main" val="38925032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915B90-DA12-5311-A694-71F151366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016F98-4E8E-CBB1-A610-58AFEB8B6E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88479" y="432707"/>
                <a:ext cx="6074228" cy="5916384"/>
              </a:xfrm>
            </p:spPr>
            <p:txBody>
              <a:bodyPr anchor="ctr">
                <a:normAutofit/>
              </a:bodyPr>
              <a:lstStyle/>
              <a:p>
                <a:r>
                  <a:rPr lang="en-US" sz="1600" dirty="0"/>
                  <a:t>Time difference (TD) learning is an alternative to MC for the prediction (policy evaluation) problem.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r>
                  <a:rPr lang="en-US" sz="1600" b="1" dirty="0"/>
                  <a:t>Method</a:t>
                </a:r>
                <a:r>
                  <a:rPr lang="en-US" sz="1600" dirty="0"/>
                  <a:t>: Stepwise reduces the TD error for the next step.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r>
                  <a:rPr lang="en-US" sz="1600" dirty="0"/>
                  <a:t>Popular and most widely used RL methods:</a:t>
                </a:r>
              </a:p>
              <a:p>
                <a:pPr lvl="1"/>
                <a:r>
                  <a:rPr lang="en-US" sz="1600" dirty="0"/>
                  <a:t>On-policy: Sarsa</a:t>
                </a:r>
              </a:p>
              <a:p>
                <a:pPr lvl="1"/>
                <a:r>
                  <a:rPr lang="en-US" sz="1600" dirty="0"/>
                  <a:t>Off-policy: Q-learning</a:t>
                </a:r>
              </a:p>
              <a:p>
                <a:r>
                  <a:rPr lang="en-US" sz="1600" dirty="0"/>
                  <a:t>Advantages:</a:t>
                </a:r>
              </a:p>
              <a:p>
                <a:pPr lvl="1"/>
                <a:r>
                  <a:rPr lang="en-US" sz="1600" dirty="0"/>
                  <a:t>Model-free: Uses experience.</a:t>
                </a:r>
              </a:p>
              <a:p>
                <a:pPr lvl="1"/>
                <a:r>
                  <a:rPr lang="en-US" sz="1600" dirty="0"/>
                  <a:t>Learn online (after each observation).</a:t>
                </a:r>
              </a:p>
              <a:p>
                <a:pPr lvl="1"/>
                <a:r>
                  <a:rPr lang="en-US" sz="1600" dirty="0"/>
                  <a:t>Simple with minimal computation.</a:t>
                </a:r>
              </a:p>
              <a:p>
                <a:r>
                  <a:rPr lang="en-US" sz="1600" dirty="0"/>
                  <a:t>Challenges:</a:t>
                </a:r>
              </a:p>
              <a:p>
                <a:pPr lvl="1"/>
                <a:r>
                  <a:rPr lang="en-US" sz="1600" dirty="0"/>
                  <a:t>Maximation bias.</a:t>
                </a:r>
              </a:p>
              <a:p>
                <a:pPr lvl="1"/>
                <a:r>
                  <a:rPr lang="en-US" sz="1600" dirty="0"/>
                  <a:t>Behavior policy needs to keep exploring.</a:t>
                </a:r>
              </a:p>
              <a:p>
                <a:pPr lvl="1"/>
                <a:r>
                  <a:rPr lang="en-US" sz="1600" dirty="0"/>
                  <a:t>Not very sample efficient.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r>
                  <a:rPr lang="en-US" sz="1600" dirty="0"/>
                  <a:t>We will extend the one-step tabular TD ideas from this chapter to </a:t>
                </a:r>
                <a14:m>
                  <m:oMath xmlns:m="http://schemas.openxmlformats.org/officeDocument/2006/math">
                    <m:r>
                      <a:rPr lang="en-US" sz="1600" b="1" i="1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1600" b="1" dirty="0"/>
                  <a:t>-steps </a:t>
                </a:r>
                <a:r>
                  <a:rPr lang="en-US" sz="1600" dirty="0"/>
                  <a:t>and </a:t>
                </a:r>
                <a:r>
                  <a:rPr lang="en-US" sz="1600" b="1" dirty="0"/>
                  <a:t>function approximation</a:t>
                </a:r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88479" y="432707"/>
                <a:ext cx="6074228" cy="5916384"/>
              </a:xfrm>
              <a:blipFill>
                <a:blip r:embed="rId3"/>
                <a:stretch>
                  <a:fillRect l="-402" r="-803" b="-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4880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7687</TotalTime>
  <Words>2065</Words>
  <Application>Microsoft Office PowerPoint</Application>
  <PresentationFormat>Widescreen</PresentationFormat>
  <Paragraphs>230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Temporal-Difference Learning Sutton/Barto* Chapter 6</vt:lpstr>
      <vt:lpstr>Topics of this Course</vt:lpstr>
      <vt:lpstr>Summary of Notation</vt:lpstr>
      <vt:lpstr>Temporal-Difference (TD) Learning</vt:lpstr>
      <vt:lpstr>TD Prediction</vt:lpstr>
      <vt:lpstr>TD Prediction</vt:lpstr>
      <vt:lpstr>Alg. Tabular TD(0)</vt:lpstr>
      <vt:lpstr>Advantages of TD Prediction Methods</vt:lpstr>
      <vt:lpstr>On-policy TD Control:  Sarsa</vt:lpstr>
      <vt:lpstr>Sarsa</vt:lpstr>
      <vt:lpstr>Alg. Sarsa: On-Policy TD Control</vt:lpstr>
      <vt:lpstr>Off-policy TD Control:  Q-Learning</vt:lpstr>
      <vt:lpstr>Q-Learning</vt:lpstr>
      <vt:lpstr>Alg. Q-Learning</vt:lpstr>
      <vt:lpstr>Q-Learning’s Maximization Bias</vt:lpstr>
      <vt:lpstr>Double Q-Learning</vt:lpstr>
      <vt:lpstr>Off-policy TD Control:  Expected Sarsa</vt:lpstr>
      <vt:lpstr>Expected Sarsa</vt:lpstr>
      <vt:lpstr>Comparison</vt:lpstr>
      <vt:lpstr>Comparison: 1-step Backup Diagrams</vt:lpstr>
      <vt:lpstr>Sarsa vs. Q-Learning</vt:lpstr>
      <vt:lpstr>Sarsa vs. Q-Learning</vt:lpstr>
      <vt:lpstr> Experimental Comparison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153</cp:revision>
  <dcterms:created xsi:type="dcterms:W3CDTF">2025-09-08T14:44:49Z</dcterms:created>
  <dcterms:modified xsi:type="dcterms:W3CDTF">2026-02-06T15:02:25Z</dcterms:modified>
</cp:coreProperties>
</file>