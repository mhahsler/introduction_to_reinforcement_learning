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82" r:id="rId4"/>
    <p:sldId id="389" r:id="rId5"/>
    <p:sldId id="383" r:id="rId6"/>
    <p:sldId id="385" r:id="rId7"/>
    <p:sldId id="386" r:id="rId8"/>
    <p:sldId id="388" r:id="rId9"/>
    <p:sldId id="387" r:id="rId10"/>
    <p:sldId id="390" r:id="rId11"/>
    <p:sldId id="391" r:id="rId12"/>
    <p:sldId id="402" r:id="rId13"/>
    <p:sldId id="393" r:id="rId14"/>
    <p:sldId id="398" r:id="rId15"/>
    <p:sldId id="395" r:id="rId16"/>
    <p:sldId id="397" r:id="rId17"/>
    <p:sldId id="399" r:id="rId18"/>
    <p:sldId id="394" r:id="rId19"/>
    <p:sldId id="396" r:id="rId20"/>
    <p:sldId id="401" r:id="rId21"/>
    <p:sldId id="4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82"/>
            <p14:sldId id="389"/>
            <p14:sldId id="383"/>
            <p14:sldId id="385"/>
            <p14:sldId id="386"/>
            <p14:sldId id="388"/>
            <p14:sldId id="387"/>
            <p14:sldId id="390"/>
            <p14:sldId id="391"/>
            <p14:sldId id="402"/>
            <p14:sldId id="393"/>
            <p14:sldId id="398"/>
            <p14:sldId id="395"/>
            <p14:sldId id="397"/>
            <p14:sldId id="399"/>
            <p14:sldId id="394"/>
            <p14:sldId id="396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80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7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F4C60C7-0132-6EC0-3150-3FC296CE2D6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11474" y="3010149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F4C60C7-0132-6EC0-3150-3FC296CE2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474" y="3010149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incrementally make the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 little more similar to the immediate reward and the discounted value of the next state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difference is called the </a:t>
                </a:r>
                <a:r>
                  <a:rPr lang="en-US" b="1" dirty="0"/>
                  <a:t>DT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Called temporal difference because it uses differences between successive predictions made over time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raw experience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MC: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  <a:blipFill>
                <a:blip r:embed="rId2"/>
                <a:stretch>
                  <a:fillRect l="-1043" t="-2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4029524" y="1879051"/>
            <a:ext cx="3370666" cy="488182"/>
            <a:chOff x="4029524" y="1969791"/>
            <a:chExt cx="3370666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4029524" y="1969791"/>
              <a:ext cx="33706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512329" y="3273328"/>
            <a:ext cx="3725659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421385" y="4333971"/>
            <a:ext cx="4924554" cy="570118"/>
            <a:chOff x="4021326" y="2257187"/>
            <a:chExt cx="3018333" cy="57011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414044" y="1562984"/>
              <a:ext cx="168547" cy="155695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/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A0B74D7-9C8E-74BE-DB63-95D4B6C89ACD}"/>
              </a:ext>
            </a:extLst>
          </p:cNvPr>
          <p:cNvSpPr/>
          <p:nvPr/>
        </p:nvSpPr>
        <p:spPr>
          <a:xfrm>
            <a:off x="8753111" y="1221527"/>
            <a:ext cx="2352312" cy="1451871"/>
          </a:xfrm>
          <a:prstGeom prst="wedgeRoundRectCallout">
            <a:avLst>
              <a:gd name="adj1" fmla="val -143682"/>
              <a:gd name="adj2" fmla="val 4471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Compare with the incremental Implementation of MC methods.</a:t>
            </a:r>
          </a:p>
        </p:txBody>
      </p:sp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5ACD8-755A-24FF-8EB6-4204F3F1C9E3}"/>
                  </a:ext>
                </a:extLst>
              </p:cNvPr>
              <p:cNvSpPr txBox="1"/>
              <p:nvPr/>
            </p:nvSpPr>
            <p:spPr>
              <a:xfrm>
                <a:off x="1081924" y="5151353"/>
                <a:ext cx="102718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</a:t>
                </a:r>
                <a:r>
                  <a:rPr lang="en-US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since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and the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5ACD8-755A-24FF-8EB6-4204F3F1C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924" y="5151353"/>
                <a:ext cx="10271876" cy="369332"/>
              </a:xfrm>
              <a:prstGeom prst="rect">
                <a:avLst/>
              </a:prstGeom>
              <a:blipFill>
                <a:blip r:embed="rId3"/>
                <a:stretch>
                  <a:fillRect l="-47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</a:t>
                </a:r>
                <a:br>
                  <a:rPr lang="en-US" dirty="0"/>
                </a:br>
                <a:r>
                  <a:rPr lang="en-US" dirty="0"/>
                  <a:t>MC has to wait for the end of the episode.</a:t>
                </a:r>
              </a:p>
              <a:p>
                <a:endParaRPr lang="en-US" dirty="0"/>
              </a:p>
              <a:p>
                <a:r>
                  <a:rPr lang="en-US" b="1" dirty="0"/>
                  <a:t>Model-free</a:t>
                </a:r>
                <a:r>
                  <a:rPr lang="en-US" dirty="0"/>
                  <a:t>.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For any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TD(0)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with probability 1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decreases sufficiently slowly over time. </a:t>
                </a:r>
                <a:br>
                  <a:rPr lang="en-US" dirty="0"/>
                </a:br>
                <a:r>
                  <a:rPr lang="en-US" dirty="0"/>
                  <a:t>Converges typically faster than MC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Sarsa: On-policy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GPI with TD methods for policy evaluation (prediction).</a:t>
                </a:r>
              </a:p>
              <a:p>
                <a:r>
                  <a:rPr lang="en-US" b="1" dirty="0"/>
                  <a:t>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for current behavior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like TD prediction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Prediction</a:t>
                </a:r>
                <a:r>
                  <a:rPr lang="en-US" dirty="0"/>
                  <a:t>: Create a soft policy based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Note: 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96010"/>
            <a:ext cx="10515600" cy="47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Q-learning: Off-policy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function:</a:t>
                </a:r>
              </a:p>
              <a:p>
                <a:pPr lvl="1"/>
                <a:r>
                  <a:rPr lang="en-US" dirty="0"/>
                  <a:t>State-action pairs are represented discretely (in a table)</a:t>
                </a:r>
              </a:p>
              <a:p>
                <a:pPr lvl="1"/>
                <a:r>
                  <a:rPr lang="en-US" dirty="0"/>
                  <a:t>All action are repeatedly sampled in all states (keeps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8411083" y="3043347"/>
            <a:ext cx="2010286" cy="621233"/>
          </a:xfrm>
          <a:prstGeom prst="wedgeRoundRectCallout">
            <a:avLst>
              <a:gd name="adj1" fmla="val -33678"/>
              <a:gd name="adj2" fmla="val -1010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It is greedily chosen!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1283049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Q-learning update: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next action is not observed, but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are updated by choosing the next action as the maximum over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-values. 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r>
                  <a:rPr lang="en-US" dirty="0"/>
                  <a:t>Solution: </a:t>
                </a:r>
                <a:r>
                  <a:rPr lang="en-US" b="1" dirty="0"/>
                  <a:t>double Q-learning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estimation.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1283049"/>
              </a:xfrm>
              <a:blipFill>
                <a:blip r:embed="rId2"/>
                <a:stretch>
                  <a:fillRect l="-174"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AD96510-1563-B66E-3094-A8C2EBB9C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496" y="2506781"/>
            <a:ext cx="7811008" cy="4051918"/>
          </a:xfrm>
          <a:prstGeom prst="rect">
            <a:avLst/>
          </a:prstGeom>
        </p:spPr>
      </p:pic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B201E6C-66C1-30D3-1175-0AC396397A92}"/>
              </a:ext>
            </a:extLst>
          </p:cNvPr>
          <p:cNvSpPr/>
          <p:nvPr/>
        </p:nvSpPr>
        <p:spPr>
          <a:xfrm>
            <a:off x="7308220" y="6247236"/>
            <a:ext cx="816677" cy="361229"/>
          </a:xfrm>
          <a:prstGeom prst="wedgeRoundRectCallout">
            <a:avLst>
              <a:gd name="adj1" fmla="val -15705"/>
              <a:gd name="adj2" fmla="val -13919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Action selection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F778E84-BBCC-BCE2-5C99-07B29039B196}"/>
              </a:ext>
            </a:extLst>
          </p:cNvPr>
          <p:cNvSpPr/>
          <p:nvPr/>
        </p:nvSpPr>
        <p:spPr>
          <a:xfrm>
            <a:off x="5883106" y="6247236"/>
            <a:ext cx="887643" cy="361229"/>
          </a:xfrm>
          <a:prstGeom prst="wedgeRoundRectCallout">
            <a:avLst>
              <a:gd name="adj1" fmla="val -15705"/>
              <a:gd name="adj2" fmla="val -13919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/>
              <a:t>Bootstrap estimation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72C525-9440-DBEC-A10C-3B5C71AC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25947-2373-C66A-17CA-F57992596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291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Like Q-learning, but use the expectation over all actions instead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/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Moves in the direction of Sarsa (in expectation).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random selection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set the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uses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be used off-policy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generalizes Q-learning.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7D81A-F2A7-9C05-925E-39F3F345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340" y="3640886"/>
            <a:ext cx="5734850" cy="2229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A8F4E1-AA11-EA65-8209-64A2D6CE0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286" y="3731387"/>
            <a:ext cx="1038370" cy="20481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A0168-D948-DB08-23EA-3F5C62A0CDFE}"/>
                  </a:ext>
                </a:extLst>
              </p:cNvPr>
              <p:cNvSpPr txBox="1"/>
              <p:nvPr/>
            </p:nvSpPr>
            <p:spPr>
              <a:xfrm>
                <a:off x="2083014" y="3384236"/>
                <a:ext cx="4306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A0168-D948-DB08-23EA-3F5C62A0C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014" y="3384236"/>
                <a:ext cx="43063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/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/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/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/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/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/>
              <p:nvPr/>
            </p:nvSpPr>
            <p:spPr>
              <a:xfrm>
                <a:off x="9403340" y="4661302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40" y="4661302"/>
                <a:ext cx="3786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88567" y="1496579"/>
            <a:ext cx="5965095" cy="1634099"/>
            <a:chOff x="2637816" y="2832616"/>
            <a:chExt cx="5965095" cy="16340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14"/>
                  <a:stretch>
                    <a:fillRect b="-8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the optimal path perform worse?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879" y="593726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/>
                  <a:t>Time differencing (TD) </a:t>
                </a:r>
                <a:r>
                  <a:rPr lang="en-US" dirty="0"/>
                  <a:t>is an alternative to MC for the prediction (policy evaluation) problem.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Stepwise reduces the TD error for the next step.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Uses experience so it needs to maintain exploration</a:t>
                </a:r>
              </a:p>
              <a:p>
                <a:pPr lvl="1"/>
                <a:r>
                  <a:rPr lang="en-US" dirty="0"/>
                  <a:t>On-policy: Sarsa</a:t>
                </a:r>
              </a:p>
              <a:p>
                <a:pPr lvl="1"/>
                <a:r>
                  <a:rPr lang="en-US" dirty="0"/>
                  <a:t>Off-policy: Q-learning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Q-learning and Sarsa are the most used RL methods.</a:t>
                </a:r>
              </a:p>
              <a:p>
                <a:pPr lvl="1"/>
                <a:r>
                  <a:rPr lang="en-US" dirty="0"/>
                  <a:t>Learn online (after each observation)</a:t>
                </a:r>
              </a:p>
              <a:p>
                <a:pPr lvl="1"/>
                <a:r>
                  <a:rPr lang="en-US" dirty="0"/>
                  <a:t>Simple with minimal computation</a:t>
                </a:r>
              </a:p>
              <a:p>
                <a:endParaRPr lang="en-US" dirty="0"/>
              </a:p>
              <a:p>
                <a:r>
                  <a:rPr lang="en-US" dirty="0"/>
                  <a:t>We considered one-step, tabular, model-free TD. We will extend the TD ideas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-steps </a:t>
                </a:r>
                <a:r>
                  <a:rPr lang="en-US" dirty="0"/>
                  <a:t>and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instead of tables.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5663</TotalTime>
  <Words>1431</Words>
  <Application>Microsoft Office PowerPoint</Application>
  <PresentationFormat>Widescreen</PresentationFormat>
  <Paragraphs>166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Summary of Notation</vt:lpstr>
      <vt:lpstr>Temporal-Difference (TD) Learning</vt:lpstr>
      <vt:lpstr>TD Prediction</vt:lpstr>
      <vt:lpstr>TD Prediction</vt:lpstr>
      <vt:lpstr>Alg. Tabular TD(0)</vt:lpstr>
      <vt:lpstr>Advantages of TD Prediction Methods</vt:lpstr>
      <vt:lpstr>Sarsa: On-policy TD Control</vt:lpstr>
      <vt:lpstr>Sarsa</vt:lpstr>
      <vt:lpstr>Alg. Sarsa</vt:lpstr>
      <vt:lpstr>Q-learning: Off-policy TD Control</vt:lpstr>
      <vt:lpstr>Q-Learning</vt:lpstr>
      <vt:lpstr>Alg. Q-Learning</vt:lpstr>
      <vt:lpstr>Q-Learning’s Maximization Bias</vt:lpstr>
      <vt:lpstr>Expected Sarsa</vt:lpstr>
      <vt:lpstr>Expected Sarsa</vt:lpstr>
      <vt:lpstr>Comparison</vt:lpstr>
      <vt:lpstr>Comparison: 1-step Backup Diagrams</vt:lpstr>
      <vt:lpstr>Sarsa vs. Q-Learning</vt:lpstr>
      <vt:lpstr> Experimental Comparison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142</cp:revision>
  <dcterms:created xsi:type="dcterms:W3CDTF">2025-09-08T14:44:49Z</dcterms:created>
  <dcterms:modified xsi:type="dcterms:W3CDTF">2026-01-09T02:01:03Z</dcterms:modified>
</cp:coreProperties>
</file>