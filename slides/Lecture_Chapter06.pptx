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84" r:id="rId3"/>
    <p:sldId id="382" r:id="rId4"/>
    <p:sldId id="389" r:id="rId5"/>
    <p:sldId id="383" r:id="rId6"/>
    <p:sldId id="385" r:id="rId7"/>
    <p:sldId id="386" r:id="rId8"/>
    <p:sldId id="388" r:id="rId9"/>
    <p:sldId id="387" r:id="rId10"/>
    <p:sldId id="390" r:id="rId11"/>
    <p:sldId id="391" r:id="rId12"/>
    <p:sldId id="402" r:id="rId13"/>
    <p:sldId id="393" r:id="rId14"/>
    <p:sldId id="398" r:id="rId15"/>
    <p:sldId id="395" r:id="rId16"/>
    <p:sldId id="397" r:id="rId17"/>
    <p:sldId id="399" r:id="rId18"/>
    <p:sldId id="394" r:id="rId19"/>
    <p:sldId id="396" r:id="rId20"/>
    <p:sldId id="401" r:id="rId21"/>
    <p:sldId id="400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84"/>
            <p14:sldId id="382"/>
            <p14:sldId id="389"/>
            <p14:sldId id="383"/>
            <p14:sldId id="385"/>
            <p14:sldId id="386"/>
            <p14:sldId id="388"/>
            <p14:sldId id="387"/>
            <p14:sldId id="390"/>
            <p14:sldId id="391"/>
            <p14:sldId id="402"/>
            <p14:sldId id="393"/>
            <p14:sldId id="398"/>
            <p14:sldId id="395"/>
            <p14:sldId id="397"/>
            <p14:sldId id="399"/>
            <p14:sldId id="394"/>
            <p14:sldId id="396"/>
            <p14:sldId id="401"/>
            <p14:sldId id="40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23" autoAdjust="0"/>
    <p:restoredTop sz="94660"/>
  </p:normalViewPr>
  <p:slideViewPr>
    <p:cSldViewPr snapToGrid="0">
      <p:cViewPr varScale="1">
        <p:scale>
          <a:sx n="78" d="100"/>
          <a:sy n="78" d="100"/>
        </p:scale>
        <p:origin x="64" y="3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80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12" Type="http://schemas.openxmlformats.org/officeDocument/2006/relationships/image" Target="../media/image70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1.png"/><Relationship Id="rId11" Type="http://schemas.openxmlformats.org/officeDocument/2006/relationships/image" Target="../media/image26.png"/><Relationship Id="rId5" Type="http://schemas.openxmlformats.org/officeDocument/2006/relationships/image" Target="../media/image20.png"/><Relationship Id="rId10" Type="http://schemas.openxmlformats.org/officeDocument/2006/relationships/image" Target="../media/image25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Relationship Id="rId1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5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rmAutofit fontScale="90000"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000" dirty="0">
                <a:solidFill>
                  <a:schemeClr val="bg1"/>
                </a:solidFill>
              </a:rPr>
              <a:t>Temporal Difference Learning</a:t>
            </a:r>
            <a:br>
              <a:rPr lang="en-US" sz="40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Sutton/Barto*</a:t>
            </a:r>
            <a:r>
              <a:rPr lang="en-US" sz="2700" dirty="0">
                <a:solidFill>
                  <a:schemeClr val="bg1"/>
                </a:solidFill>
              </a:rPr>
              <a:t> </a:t>
            </a:r>
            <a:r>
              <a:rPr lang="en-US" sz="2700">
                <a:solidFill>
                  <a:schemeClr val="bg1"/>
                </a:solidFill>
              </a:rPr>
              <a:t>Chapter 6</a:t>
            </a:r>
            <a:endParaRPr lang="en-US" sz="2700" dirty="0">
              <a:solidFill>
                <a:schemeClr val="bg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7741" y="198362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11474" y="1140632"/>
                <a:ext cx="5273179" cy="2049857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acc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expected approximate action value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11474" y="1140632"/>
                <a:ext cx="5273179" cy="2049857"/>
              </a:xfrm>
              <a:blipFill>
                <a:blip r:embed="rId2"/>
                <a:stretch>
                  <a:fillRect b="-8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2819" y="3570646"/>
                <a:ext cx="5273179" cy="298582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19" y="3570646"/>
                <a:ext cx="5273179" cy="2985823"/>
              </a:xfrm>
              <a:prstGeom prst="rect">
                <a:avLst/>
              </a:prstGeom>
              <a:blipFill>
                <a:blip r:embed="rId4"/>
                <a:stretch>
                  <a:fillRect t="-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10212-5336-C701-866E-6597FCA4C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Difference (TD)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70C313-ED3A-E833-A040-230C55E14A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We will first focus on:</a:t>
                </a:r>
              </a:p>
              <a:p>
                <a:pPr lvl="1"/>
                <a:r>
                  <a:rPr lang="en-US" dirty="0"/>
                  <a:t>On-step</a:t>
                </a:r>
              </a:p>
              <a:p>
                <a:pPr lvl="1"/>
                <a:r>
                  <a:rPr lang="en-US" dirty="0"/>
                  <a:t>Tabular</a:t>
                </a:r>
              </a:p>
              <a:p>
                <a:pPr lvl="1"/>
                <a:r>
                  <a:rPr lang="en-US" dirty="0"/>
                  <a:t>Model-free TD</a:t>
                </a:r>
              </a:p>
              <a:p>
                <a:pPr lvl="1"/>
                <a:endParaRPr lang="en-US" dirty="0"/>
              </a:p>
              <a:p>
                <a:r>
                  <a:rPr lang="en-US" b="1" dirty="0"/>
                  <a:t>Idea</a:t>
                </a:r>
                <a:r>
                  <a:rPr lang="en-US" dirty="0"/>
                  <a:t>: incrementally make the state value estimate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 little more similar to the immediate reward and the discounted value of the next state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 difference is called the </a:t>
                </a:r>
                <a:r>
                  <a:rPr lang="en-US" b="1" dirty="0"/>
                  <a:t>DT error</a:t>
                </a:r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Called temporal difference because it uses differences between successive predictions made over time 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dirty="0"/>
                  <a:t>Combines ideas from MC and DP</a:t>
                </a:r>
              </a:p>
              <a:p>
                <a:pPr lvl="1"/>
                <a:r>
                  <a:rPr lang="en-US" dirty="0"/>
                  <a:t>From MC: learn from raw experience</a:t>
                </a:r>
              </a:p>
              <a:p>
                <a:pPr lvl="1"/>
                <a:r>
                  <a:rPr lang="en-US" dirty="0"/>
                  <a:t>From DP: estimate without waiting for the final outcome (aka </a:t>
                </a:r>
                <a:r>
                  <a:rPr lang="en-US" dirty="0" err="1"/>
                  <a:t>bootstraping</a:t>
                </a:r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70C313-ED3A-E833-A040-230C55E14A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 t="-1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7968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AFB2077-6714-528E-FB23-B2B1BA53E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TD Prediction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95BE15-E705-EBDF-2293-CDEA1840E6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94257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87989-265D-BCD0-24A2-62684E253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TD Prediction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D19F22-F117-573B-ECD5-0EBA0132CB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Follow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and update estimate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MC: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groupChr>
                      <m:groupChrPr>
                        <m:chr m:val="←"/>
                        <m:pos m:val="top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groupChrPr>
                      <m:e/>
                    </m:groupCh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V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)]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TD: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groupChr>
                      <m:groupChrPr>
                        <m:chr m:val="←"/>
                        <m:pos m:val="top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/>
                    </m:groupCh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)]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D19F22-F117-573B-ECD5-0EBA0132CB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68A07290-301C-7032-71D6-1CB108C1EAAB}"/>
              </a:ext>
            </a:extLst>
          </p:cNvPr>
          <p:cNvGrpSpPr/>
          <p:nvPr/>
        </p:nvGrpSpPr>
        <p:grpSpPr>
          <a:xfrm>
            <a:off x="4699685" y="1920094"/>
            <a:ext cx="1541724" cy="537879"/>
            <a:chOff x="4699685" y="1920094"/>
            <a:chExt cx="1541724" cy="537879"/>
          </a:xfrm>
        </p:grpSpPr>
        <p:sp>
          <p:nvSpPr>
            <p:cNvPr id="4" name="Right Brace 3">
              <a:extLst>
                <a:ext uri="{FF2B5EF4-FFF2-40B4-BE49-F238E27FC236}">
                  <a16:creationId xmlns:a16="http://schemas.microsoft.com/office/drawing/2014/main" id="{114C8F32-06B0-D869-D536-7BBF5C78D0A5}"/>
                </a:ext>
              </a:extLst>
            </p:cNvPr>
            <p:cNvSpPr/>
            <p:nvPr/>
          </p:nvSpPr>
          <p:spPr>
            <a:xfrm rot="16200000" flipV="1">
              <a:off x="5386274" y="1602838"/>
              <a:ext cx="168546" cy="1541724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CBC98F2-9264-2ADA-BDB4-85BCB1E97F5E}"/>
                </a:ext>
              </a:extLst>
            </p:cNvPr>
            <p:cNvSpPr txBox="1"/>
            <p:nvPr/>
          </p:nvSpPr>
          <p:spPr>
            <a:xfrm>
              <a:off x="4942165" y="1920094"/>
              <a:ext cx="1056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MC Error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00875633-9C72-9EE6-1B64-B7B45913B066}"/>
              </a:ext>
            </a:extLst>
          </p:cNvPr>
          <p:cNvGrpSpPr/>
          <p:nvPr/>
        </p:nvGrpSpPr>
        <p:grpSpPr>
          <a:xfrm>
            <a:off x="4512329" y="3510649"/>
            <a:ext cx="3725659" cy="537879"/>
            <a:chOff x="4699685" y="1920094"/>
            <a:chExt cx="1541724" cy="537879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081EF24B-FDDC-57EA-DD46-44587ECCD551}"/>
                </a:ext>
              </a:extLst>
            </p:cNvPr>
            <p:cNvSpPr/>
            <p:nvPr/>
          </p:nvSpPr>
          <p:spPr>
            <a:xfrm rot="16200000" flipV="1">
              <a:off x="5386274" y="1602838"/>
              <a:ext cx="168546" cy="1541724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0154ED7-E9AD-AC50-4A6E-FBD3C1C9365A}"/>
                </a:ext>
              </a:extLst>
            </p:cNvPr>
            <p:cNvSpPr txBox="1"/>
            <p:nvPr/>
          </p:nvSpPr>
          <p:spPr>
            <a:xfrm>
              <a:off x="5267152" y="1920094"/>
              <a:ext cx="4067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TD Error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8CF09A0-818F-5F40-4472-2943AC1A66D9}"/>
              </a:ext>
            </a:extLst>
          </p:cNvPr>
          <p:cNvGrpSpPr/>
          <p:nvPr/>
        </p:nvGrpSpPr>
        <p:grpSpPr>
          <a:xfrm>
            <a:off x="2115130" y="4571292"/>
            <a:ext cx="7537064" cy="847117"/>
            <a:chOff x="3220703" y="2257187"/>
            <a:chExt cx="4619580" cy="847117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DB467B9E-487B-7E61-B117-98627BE25B20}"/>
                </a:ext>
              </a:extLst>
            </p:cNvPr>
            <p:cNvSpPr/>
            <p:nvPr/>
          </p:nvSpPr>
          <p:spPr>
            <a:xfrm rot="16200000" flipH="1" flipV="1">
              <a:off x="5414044" y="1562984"/>
              <a:ext cx="168547" cy="1556954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67C0F56-3D54-6751-0D3D-658F027B96FA}"/>
                </a:ext>
              </a:extLst>
            </p:cNvPr>
            <p:cNvSpPr txBox="1"/>
            <p:nvPr/>
          </p:nvSpPr>
          <p:spPr>
            <a:xfrm>
              <a:off x="3220703" y="2457973"/>
              <a:ext cx="461958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Uses reward + estimate for next state = target</a:t>
              </a:r>
            </a:p>
            <a:p>
              <a:pPr algn="ctr"/>
              <a:r>
                <a:rPr lang="en-US" dirty="0"/>
                <a:t>Without waiting for the end of the sequence. Similar to bootstrapping in DP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35585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E36AA-2655-FFF5-7881-32B8F5909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Tabular TD(0)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704425E-63FB-9C5C-D27A-96BE1B7B44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36508" y="1337315"/>
            <a:ext cx="7810209" cy="349773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935ACD8-755A-24FF-8EB6-4204F3F1C9E3}"/>
                  </a:ext>
                </a:extLst>
              </p:cNvPr>
              <p:cNvSpPr txBox="1"/>
              <p:nvPr/>
            </p:nvSpPr>
            <p:spPr>
              <a:xfrm>
                <a:off x="1081924" y="5151353"/>
                <a:ext cx="1027187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Note</a:t>
                </a:r>
                <a:r>
                  <a:rPr lang="en-US" dirty="0"/>
                  <a:t>: We can only update for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at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 since we need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and the 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!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935ACD8-755A-24FF-8EB6-4204F3F1C9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924" y="5151353"/>
                <a:ext cx="10271876" cy="369332"/>
              </a:xfrm>
              <a:prstGeom prst="rect">
                <a:avLst/>
              </a:prstGeom>
              <a:blipFill>
                <a:blip r:embed="rId3"/>
                <a:stretch>
                  <a:fillRect l="-474" t="-655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962833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D11095-5FFA-CC66-454C-D10676BA2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Advantages of TD Prediction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651C54-F857-A543-AF9A-0826AE484DC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b="1" dirty="0"/>
                  <a:t>Online updates </a:t>
                </a:r>
                <a:r>
                  <a:rPr lang="en-US" dirty="0"/>
                  <a:t>at each step. Bootstraps using estimate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the value of the next state. </a:t>
                </a:r>
                <a:br>
                  <a:rPr lang="en-US" dirty="0"/>
                </a:br>
                <a:r>
                  <a:rPr lang="en-US" dirty="0"/>
                  <a:t>MC has to wait for the end of the episode.</a:t>
                </a:r>
              </a:p>
              <a:p>
                <a:endParaRPr lang="en-US" dirty="0"/>
              </a:p>
              <a:p>
                <a:r>
                  <a:rPr lang="en-US" b="1" dirty="0"/>
                  <a:t>Model-free</a:t>
                </a:r>
                <a:r>
                  <a:rPr lang="en-US" dirty="0"/>
                  <a:t>. Only needs samples.</a:t>
                </a:r>
                <a:br>
                  <a:rPr lang="en-US" dirty="0"/>
                </a:br>
                <a:r>
                  <a:rPr lang="en-US" dirty="0"/>
                  <a:t>DP needs the transition probabilities!</a:t>
                </a:r>
              </a:p>
              <a:p>
                <a:endParaRPr lang="en-US" b="1" dirty="0"/>
              </a:p>
              <a:p>
                <a:r>
                  <a:rPr lang="en-US" b="1" dirty="0"/>
                  <a:t>Convergence</a:t>
                </a:r>
                <a:r>
                  <a:rPr lang="en-US" dirty="0"/>
                  <a:t>: For any fixed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TD(0) converges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with probability 1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decreases sufficiently slowly over time. </a:t>
                </a:r>
                <a:br>
                  <a:rPr lang="en-US" dirty="0"/>
                </a:br>
                <a:r>
                  <a:rPr lang="en-US" dirty="0"/>
                  <a:t>Converges typically faster than MC prediction.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651C54-F857-A543-AF9A-0826AE484D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 r="-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882149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2CD6C69-A73D-CF25-463F-EC940FC0F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Sarsa: On-policy TD Control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0B5B47-1AC0-4A21-D15D-1F7142A402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61835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17A85-AD27-D78C-6EE7-8EFC9C60F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Sarsa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E76A2D-11FD-3349-6432-A6DAAA3C05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b="1" dirty="0"/>
                  <a:t>Idea</a:t>
                </a:r>
                <a:r>
                  <a:rPr lang="en-US" dirty="0"/>
                  <a:t>: Use GPI with TD methods for policy evaluation (prediction).</a:t>
                </a:r>
              </a:p>
              <a:p>
                <a:r>
                  <a:rPr lang="en-US" b="1" dirty="0"/>
                  <a:t>Evaluation</a:t>
                </a:r>
                <a:r>
                  <a:rPr lang="en-US" dirty="0"/>
                  <a:t>: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using the table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for current behavior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like TD prediction for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groupChr>
                      <m:groupChrPr>
                        <m:chr m:val="←"/>
                        <m:pos m:val="top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groupChrPr>
                      <m:e/>
                    </m:groupCh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 algn="r">
                  <a:buNone/>
                </a:pP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000" dirty="0"/>
                  <a:t> for a terminal state is defined as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000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Update uses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is called </a:t>
                </a:r>
                <a:r>
                  <a:rPr lang="en-US" b="1" dirty="0"/>
                  <a:t>Sarsa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E76A2D-11FD-3349-6432-A6DAAA3C05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 r="-5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569032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665D83-AF66-468C-2BD2-B60F40C3D5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Sarsa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1476306-7294-055F-2284-AF672A56B6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396010"/>
            <a:ext cx="10515600" cy="4732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9866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A47666C-E544-A8E2-3E86-3E49FE62D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Q-learning: Off-policy TD Control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AB6C6B-376F-4E19-AC6C-EECCB099A2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5675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97FAA-94D1-C411-5F84-BD11DAFEA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Q-learning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FCB7B-AD2F-2F02-9738-B745C6FBC5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An extremely influential method developed by Watkins (1989).</a:t>
                </a:r>
              </a:p>
              <a:p>
                <a:r>
                  <a:rPr lang="en-US" dirty="0"/>
                  <a:t>Update rule only uses Sars: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directly approximates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independent of the behavior policy being followed!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Off-policy</a:t>
                </a:r>
              </a:p>
              <a:p>
                <a:r>
                  <a:rPr lang="en-US" dirty="0"/>
                  <a:t>Converges to the optimal value function:</a:t>
                </a:r>
              </a:p>
              <a:p>
                <a:pPr lvl="1"/>
                <a:r>
                  <a:rPr lang="en-US" dirty="0"/>
                  <a:t>State-action pairs are represented discretely (in a table)</a:t>
                </a:r>
              </a:p>
              <a:p>
                <a:pPr lvl="1"/>
                <a:r>
                  <a:rPr lang="en-US" dirty="0"/>
                  <a:t>All action are repeatedly sampled in all states (keeps exploring).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FCB7B-AD2F-2F02-9738-B745C6FBC5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 b="-14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AEB9BEF0-AB2C-E41A-D1B7-4EEEAD69C231}"/>
              </a:ext>
            </a:extLst>
          </p:cNvPr>
          <p:cNvSpPr/>
          <p:nvPr/>
        </p:nvSpPr>
        <p:spPr>
          <a:xfrm>
            <a:off x="8411083" y="3043347"/>
            <a:ext cx="2010286" cy="621233"/>
          </a:xfrm>
          <a:prstGeom prst="wedgeRoundRectCallout">
            <a:avLst>
              <a:gd name="adj1" fmla="val -35067"/>
              <a:gd name="adj2" fmla="val -7750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The next action is not observed, but greedily chosen!</a:t>
            </a:r>
          </a:p>
        </p:txBody>
      </p:sp>
    </p:spTree>
    <p:extLst>
      <p:ext uri="{BB962C8B-B14F-4D97-AF65-F5344CB8AC3E}">
        <p14:creationId xmlns:p14="http://schemas.microsoft.com/office/powerpoint/2010/main" val="9036772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01268-36EB-E39E-FDF7-3CEE63747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Q-Learning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5B7A3C4-3DE2-A697-7764-609086D4B4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87336" y="1927972"/>
            <a:ext cx="8154789" cy="342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0181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C6363-9D21-FCAF-D518-75DBE389F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Q-Learning’s Maximization Bias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4E4FF9-9BED-6723-C7F4-56C4276CC2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73965"/>
                <a:ext cx="10515600" cy="1283049"/>
              </a:xfrm>
            </p:spPr>
            <p:txBody>
              <a:bodyPr>
                <a:normAutofit fontScale="85000" lnSpcReduction="10000"/>
              </a:bodyPr>
              <a:lstStyle/>
              <a:p>
                <a:r>
                  <a:rPr lang="en-US" dirty="0"/>
                  <a:t>Q-learning has a </a:t>
                </a:r>
                <a:r>
                  <a:rPr lang="en-US" b="1" dirty="0"/>
                  <a:t>maximization bias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lim>
                        </m:limLow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</m:e>
                    </m:func>
                  </m:oMath>
                </a14:m>
                <a:r>
                  <a:rPr lang="en-US" dirty="0"/>
                  <a:t> always takes the maximum overestimates and thus will have a positive bias.</a:t>
                </a:r>
              </a:p>
              <a:p>
                <a:r>
                  <a:rPr lang="en-US" dirty="0"/>
                  <a:t>Solution: </a:t>
                </a:r>
                <a:r>
                  <a:rPr lang="en-US" b="1" dirty="0"/>
                  <a:t>double Q-learning </a:t>
                </a:r>
                <a:r>
                  <a:rPr lang="en-US" dirty="0"/>
                  <a:t>by learning two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functions and averaging them.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4E4FF9-9BED-6723-C7F4-56C4276CC2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73965"/>
                <a:ext cx="10515600" cy="1283049"/>
              </a:xfrm>
              <a:blipFill>
                <a:blip r:embed="rId2"/>
                <a:stretch>
                  <a:fillRect l="-812" t="-8571" r="-1739"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DAD96510-1563-B66E-3094-A8C2EBB9C4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0496" y="2506781"/>
            <a:ext cx="7811008" cy="4051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47001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372C525-9440-DBEC-A10C-3B5C71AC3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Expected Sarsa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E25947-2373-C66A-17CA-F579925964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82913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C4385-3C91-82A2-B0A7-C06386ED8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Expected Sarsa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85F37D-A373-4729-2DE5-C78B1820DA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Like Q-learning, but use the expectation over all actions instead of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m</m:t>
                            </m:r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lim>
                        </m:limLow>
                      </m:fName>
                      <m:e/>
                    </m:func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func>
                            <m:func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𝔼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[</m:t>
                              </m:r>
                            </m:fName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  <m:d>
                                <m:dPr>
                                  <m:begChr m:val="|"/>
                                  <m:endChr m:val="]"/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sSub>
                                    <m:sSub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  <m:sup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e>
                          </m:nary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</a:pPr>
                <a:endParaRPr lang="en-US" dirty="0"/>
              </a:p>
              <a:p>
                <a:pPr>
                  <a:lnSpc>
                    <a:spcPct val="100000"/>
                  </a:lnSpc>
                </a:pPr>
                <a:r>
                  <a:rPr lang="en-US" b="1" dirty="0"/>
                  <a:t>Properties: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dirty="0"/>
                  <a:t>Moves in the direction of Sarsa (in expectation).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dirty="0"/>
                  <a:t>Eliminates Sarsa’s variance due to the random selection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dirty="0"/>
                  <a:t>Can set the learning rate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 since it uses expectation!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dirty="0"/>
                  <a:t>Can be used off-policy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generalizes Q-learning.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85F37D-A373-4729-2DE5-C78B1820DA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189" b="-5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322439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9A947AF-1111-8FC8-9C49-9ED02B2A11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455082-DEC7-913B-105C-3428E5E309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1753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A2BBB-A726-1EF6-3427-57B33AC4A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Comparison: 1-step Backup Diagrams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27D81A-F2A7-9C05-925E-39F3F345BA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340" y="3640886"/>
            <a:ext cx="5734850" cy="222916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1A8F4E1-AA11-EA65-8209-64A2D6CE0D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286" y="3731387"/>
            <a:ext cx="1038370" cy="204816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78A0168-D948-DB08-23EA-3F5C62A0CDFE}"/>
                  </a:ext>
                </a:extLst>
              </p:cNvPr>
              <p:cNvSpPr txBox="1"/>
              <p:nvPr/>
            </p:nvSpPr>
            <p:spPr>
              <a:xfrm>
                <a:off x="2083014" y="3384236"/>
                <a:ext cx="4306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78A0168-D948-DB08-23EA-3F5C62A0CD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3014" y="3384236"/>
                <a:ext cx="430631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CBB00F4-1A5A-D5B1-1923-30E7AB671293}"/>
                  </a:ext>
                </a:extLst>
              </p:cNvPr>
              <p:cNvSpPr txBox="1"/>
              <p:nvPr/>
            </p:nvSpPr>
            <p:spPr>
              <a:xfrm>
                <a:off x="2298329" y="4446711"/>
                <a:ext cx="65024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CBB00F4-1A5A-D5B1-1923-30E7AB6712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8329" y="4446711"/>
                <a:ext cx="650243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AD4DCAB-8567-439C-FC82-BD0F72977E73}"/>
                  </a:ext>
                </a:extLst>
              </p:cNvPr>
              <p:cNvSpPr txBox="1"/>
              <p:nvPr/>
            </p:nvSpPr>
            <p:spPr>
              <a:xfrm>
                <a:off x="2298330" y="5096376"/>
                <a:ext cx="60203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AD4DCAB-8567-439C-FC82-BD0F72977E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8330" y="5096376"/>
                <a:ext cx="602038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E811601-E15B-A2EA-6A3C-8E69FECEDE50}"/>
                  </a:ext>
                </a:extLst>
              </p:cNvPr>
              <p:cNvSpPr txBox="1"/>
              <p:nvPr/>
            </p:nvSpPr>
            <p:spPr>
              <a:xfrm>
                <a:off x="2186529" y="3775749"/>
                <a:ext cx="60203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E811601-E15B-A2EA-6A3C-8E69FECEDE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6529" y="3775749"/>
                <a:ext cx="602038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F84C7A8-3D3A-7BB1-3E84-0C6C6A718B86}"/>
                  </a:ext>
                </a:extLst>
              </p:cNvPr>
              <p:cNvSpPr txBox="1"/>
              <p:nvPr/>
            </p:nvSpPr>
            <p:spPr>
              <a:xfrm>
                <a:off x="1698460" y="4013981"/>
                <a:ext cx="60203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F84C7A8-3D3A-7BB1-3E84-0C6C6A718B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8460" y="4013981"/>
                <a:ext cx="602038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9506427-5DBB-46F6-7064-8C167FF27BD1}"/>
                  </a:ext>
                </a:extLst>
              </p:cNvPr>
              <p:cNvSpPr txBox="1"/>
              <p:nvPr/>
            </p:nvSpPr>
            <p:spPr>
              <a:xfrm>
                <a:off x="5598300" y="4661302"/>
                <a:ext cx="64793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max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9506427-5DBB-46F6-7064-8C167FF27B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8300" y="4661302"/>
                <a:ext cx="647933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1540664-58DD-C85E-EB0B-3CF84B97E40F}"/>
                  </a:ext>
                </a:extLst>
              </p:cNvPr>
              <p:cNvSpPr txBox="1"/>
              <p:nvPr/>
            </p:nvSpPr>
            <p:spPr>
              <a:xfrm>
                <a:off x="9403340" y="4661302"/>
                <a:ext cx="37863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1540664-58DD-C85E-EB0B-3CF84B97E4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03340" y="4661302"/>
                <a:ext cx="378630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DC8187D2-C651-211E-F36F-28F57A9AE11F}"/>
              </a:ext>
            </a:extLst>
          </p:cNvPr>
          <p:cNvGrpSpPr/>
          <p:nvPr/>
        </p:nvGrpSpPr>
        <p:grpSpPr>
          <a:xfrm>
            <a:off x="2788567" y="1496579"/>
            <a:ext cx="5965095" cy="1634099"/>
            <a:chOff x="2637816" y="2832616"/>
            <a:chExt cx="5965095" cy="163409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E816A4BA-29C5-E498-E49B-2A5D1934C3AC}"/>
                </a:ext>
              </a:extLst>
            </p:cNvPr>
            <p:cNvGrpSpPr/>
            <p:nvPr/>
          </p:nvGrpSpPr>
          <p:grpSpPr>
            <a:xfrm>
              <a:off x="2637816" y="2832616"/>
              <a:ext cx="5965095" cy="1560336"/>
              <a:chOff x="2373562" y="2568409"/>
              <a:chExt cx="5965095" cy="1560336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079CA762-1D81-E9C9-CDF2-B465A9EF93D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373562" y="2955408"/>
                <a:ext cx="5965095" cy="606381"/>
              </a:xfrm>
              <a:prstGeom prst="rect">
                <a:avLst/>
              </a:prstGeom>
            </p:spPr>
          </p:pic>
          <p:sp>
            <p:nvSpPr>
              <p:cNvPr id="17" name="Arc 16">
                <a:extLst>
                  <a:ext uri="{FF2B5EF4-FFF2-40B4-BE49-F238E27FC236}">
                    <a16:creationId xmlns:a16="http://schemas.microsoft.com/office/drawing/2014/main" id="{D8A8134D-2B73-F837-EAFB-A58F7D294338}"/>
                  </a:ext>
                </a:extLst>
              </p:cNvPr>
              <p:cNvSpPr/>
              <p:nvPr/>
            </p:nvSpPr>
            <p:spPr>
              <a:xfrm>
                <a:off x="3510268" y="3109621"/>
                <a:ext cx="1082180" cy="796292"/>
              </a:xfrm>
              <a:prstGeom prst="arc">
                <a:avLst>
                  <a:gd name="adj1" fmla="val 1428106"/>
                  <a:gd name="adj2" fmla="val 9287936"/>
                </a:avLst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DB63FB16-329F-D55F-9114-898178CEA391}"/>
                      </a:ext>
                    </a:extLst>
                  </p:cNvPr>
                  <p:cNvSpPr txBox="1"/>
                  <p:nvPr/>
                </p:nvSpPr>
                <p:spPr>
                  <a:xfrm>
                    <a:off x="2981238" y="3429000"/>
                    <a:ext cx="1049672" cy="276999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280AECF7-65CC-8754-EB3F-824EB281EDE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81238" y="3429000"/>
                    <a:ext cx="1049672" cy="27699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888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CCC48D9B-D98F-0C33-B10A-3DC1477DEDA2}"/>
                      </a:ext>
                    </a:extLst>
                  </p:cNvPr>
                  <p:cNvSpPr txBox="1"/>
                  <p:nvPr/>
                </p:nvSpPr>
                <p:spPr>
                  <a:xfrm>
                    <a:off x="4030910" y="3429000"/>
                    <a:ext cx="1049672" cy="276999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BCB15AD7-1E19-57F6-65EB-1A4D65FF70E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30910" y="3429000"/>
                    <a:ext cx="1049672" cy="2769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888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0" name="Arc 19">
                <a:extLst>
                  <a:ext uri="{FF2B5EF4-FFF2-40B4-BE49-F238E27FC236}">
                    <a16:creationId xmlns:a16="http://schemas.microsoft.com/office/drawing/2014/main" id="{EB6D555F-71D5-466F-AA26-1C0B46F3DF17}"/>
                  </a:ext>
                </a:extLst>
              </p:cNvPr>
              <p:cNvSpPr/>
              <p:nvPr/>
            </p:nvSpPr>
            <p:spPr>
              <a:xfrm>
                <a:off x="3426902" y="2568409"/>
                <a:ext cx="725648" cy="1208900"/>
              </a:xfrm>
              <a:prstGeom prst="arc">
                <a:avLst>
                  <a:gd name="adj1" fmla="val 535615"/>
                  <a:gd name="adj2" fmla="val 6545153"/>
                </a:avLst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B447D22-5746-B9E6-4B7F-D58201646AB7}"/>
                  </a:ext>
                </a:extLst>
              </p:cNvPr>
              <p:cNvSpPr txBox="1"/>
              <p:nvPr/>
            </p:nvSpPr>
            <p:spPr>
              <a:xfrm>
                <a:off x="3789726" y="3867135"/>
                <a:ext cx="72564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update</a:t>
                </a:r>
              </a:p>
            </p:txBody>
          </p:sp>
          <p:sp>
            <p:nvSpPr>
              <p:cNvPr id="22" name="Right Brace 21">
                <a:extLst>
                  <a:ext uri="{FF2B5EF4-FFF2-40B4-BE49-F238E27FC236}">
                    <a16:creationId xmlns:a16="http://schemas.microsoft.com/office/drawing/2014/main" id="{E25CDC5A-37CC-002F-E578-D71B185F9446}"/>
                  </a:ext>
                </a:extLst>
              </p:cNvPr>
              <p:cNvSpPr/>
              <p:nvPr/>
            </p:nvSpPr>
            <p:spPr>
              <a:xfrm rot="16200000">
                <a:off x="3901011" y="2344894"/>
                <a:ext cx="164691" cy="1218182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7225B51-8649-F146-DE31-A737A77E9A34}"/>
                  </a:ext>
                </a:extLst>
              </p:cNvPr>
              <p:cNvSpPr txBox="1"/>
              <p:nvPr/>
            </p:nvSpPr>
            <p:spPr>
              <a:xfrm>
                <a:off x="3636948" y="2643914"/>
                <a:ext cx="72564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1-step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Speech Bubble: Rectangle with Corners Rounded 5">
                  <a:extLst>
                    <a:ext uri="{FF2B5EF4-FFF2-40B4-BE49-F238E27FC236}">
                      <a16:creationId xmlns:a16="http://schemas.microsoft.com/office/drawing/2014/main" id="{AE3E163A-3FD0-7FFA-C2DB-4366ECEC4DFF}"/>
                    </a:ext>
                  </a:extLst>
                </p:cNvPr>
                <p:cNvSpPr/>
                <p:nvPr/>
              </p:nvSpPr>
              <p:spPr>
                <a:xfrm>
                  <a:off x="5452586" y="4041516"/>
                  <a:ext cx="1781788" cy="425199"/>
                </a:xfrm>
                <a:prstGeom prst="wedgeRoundRectCallout">
                  <a:avLst>
                    <a:gd name="adj1" fmla="val -75683"/>
                    <a:gd name="adj2" fmla="val -67167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/>
                    <a:t>Used to bootstrap the remaining return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6" name="Speech Bubble: Rectangle with Corners Rounded 5">
                  <a:extLst>
                    <a:ext uri="{FF2B5EF4-FFF2-40B4-BE49-F238E27FC236}">
                      <a16:creationId xmlns:a16="http://schemas.microsoft.com/office/drawing/2014/main" id="{AE3E163A-3FD0-7FFA-C2DB-4366ECEC4DF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2586" y="4041516"/>
                  <a:ext cx="1781788" cy="425199"/>
                </a:xfrm>
                <a:prstGeom prst="wedgeRoundRectCallout">
                  <a:avLst>
                    <a:gd name="adj1" fmla="val -75683"/>
                    <a:gd name="adj2" fmla="val -67167"/>
                    <a:gd name="adj3" fmla="val 16667"/>
                  </a:avLst>
                </a:prstGeom>
                <a:blipFill>
                  <a:blip r:embed="rId14"/>
                  <a:stretch>
                    <a:fillRect b="-89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334048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8276F-7795-B966-030F-FCC384999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Sarsa vs. Q-Learning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C98B4E-B7CF-E345-6580-CEE34C1DC6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4403895" cy="4779633"/>
          </a:xfrm>
        </p:spPr>
        <p:txBody>
          <a:bodyPr>
            <a:normAutofit/>
          </a:bodyPr>
          <a:lstStyle/>
          <a:p>
            <a:r>
              <a:rPr lang="en-US" sz="1800" b="1" dirty="0"/>
              <a:t>Cliff Walking</a:t>
            </a:r>
            <a:r>
              <a:rPr lang="en-US" sz="1800" dirty="0"/>
              <a:t>: Consider the </a:t>
            </a:r>
            <a:r>
              <a:rPr lang="en-US" sz="1800" dirty="0" err="1"/>
              <a:t>gridworld</a:t>
            </a:r>
            <a:r>
              <a:rPr lang="en-US" sz="1800" dirty="0"/>
              <a:t> shown to the right. </a:t>
            </a:r>
          </a:p>
          <a:p>
            <a:r>
              <a:rPr lang="en-US" sz="1800" dirty="0"/>
              <a:t>This is a standard undiscounted, episodic task, with start and goal states.</a:t>
            </a:r>
          </a:p>
          <a:p>
            <a:r>
              <a:rPr lang="en-US" sz="1800" dirty="0"/>
              <a:t>Actions causing movement up, down, right, and left. </a:t>
            </a:r>
          </a:p>
          <a:p>
            <a:r>
              <a:rPr lang="en-US" sz="1800" dirty="0"/>
              <a:t>Reward is −1 on all transitions except those into the region marked “The Cliff.” Stepping into this region incurs a reward of −100 and sends the sends the agent instantly back to the start.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19A7B5-A9CC-EE24-F78E-F3E2FA24D3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8274" y="240397"/>
            <a:ext cx="5979790" cy="300693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03F5773-6D0D-1D71-F1CD-C7746EF7FC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7576" y="3812721"/>
            <a:ext cx="4399920" cy="290407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86B79D4-4AA8-3E1C-81C7-278DEEA363AF}"/>
                  </a:ext>
                </a:extLst>
              </p:cNvPr>
              <p:cNvSpPr txBox="1"/>
              <p:nvPr/>
            </p:nvSpPr>
            <p:spPr>
              <a:xfrm>
                <a:off x="6499781" y="3494758"/>
                <a:ext cx="5362044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Performance of the Sarsa and Q-learning methods with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600" dirty="0"/>
                  <a:t>-greedy action selection,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=0.1</m:t>
                    </m:r>
                  </m:oMath>
                </a14:m>
                <a:r>
                  <a:rPr lang="en-US" sz="1600" dirty="0"/>
                  <a:t>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86B79D4-4AA8-3E1C-81C7-278DEEA363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9781" y="3494758"/>
                <a:ext cx="5362044" cy="584775"/>
              </a:xfrm>
              <a:prstGeom prst="rect">
                <a:avLst/>
              </a:prstGeom>
              <a:blipFill>
                <a:blip r:embed="rId4"/>
                <a:stretch>
                  <a:fillRect l="-568" t="-3125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C3FCB8B5-813B-D263-F7C1-1BC210D5ED90}"/>
              </a:ext>
            </a:extLst>
          </p:cNvPr>
          <p:cNvSpPr/>
          <p:nvPr/>
        </p:nvSpPr>
        <p:spPr>
          <a:xfrm>
            <a:off x="10016519" y="5264757"/>
            <a:ext cx="1542614" cy="696293"/>
          </a:xfrm>
          <a:prstGeom prst="wedgeRoundRectCallout">
            <a:avLst>
              <a:gd name="adj1" fmla="val -79398"/>
              <a:gd name="adj2" fmla="val -6180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Why does the optimal path perform worse?</a:t>
            </a:r>
          </a:p>
        </p:txBody>
      </p:sp>
    </p:spTree>
    <p:extLst>
      <p:ext uri="{BB962C8B-B14F-4D97-AF65-F5344CB8AC3E}">
        <p14:creationId xmlns:p14="http://schemas.microsoft.com/office/powerpoint/2010/main" val="20006315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4E47B388-9EDE-BEEF-286A-0670BB57C2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3879" y="593726"/>
            <a:ext cx="8556776" cy="599566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E6EC57F-A3C1-ECE0-DBDD-E93D09AB1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446864" cy="1551758"/>
          </a:xfrm>
        </p:spPr>
        <p:txBody>
          <a:bodyPr>
            <a:normAutofit fontScale="90000"/>
          </a:bodyPr>
          <a:lstStyle/>
          <a:p>
            <a:br>
              <a:rPr lang="en-US" dirty="0"/>
            </a:br>
            <a:r>
              <a:rPr lang="en-US" dirty="0"/>
              <a:t>Experimental Comparison</a:t>
            </a:r>
          </a:p>
        </p:txBody>
      </p:sp>
    </p:spTree>
    <p:extLst>
      <p:ext uri="{BB962C8B-B14F-4D97-AF65-F5344CB8AC3E}">
        <p14:creationId xmlns:p14="http://schemas.microsoft.com/office/powerpoint/2010/main" val="38925032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15B90-DA12-5311-A694-71F1513664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BBA507-BEF2-070A-4241-AF2BA18035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r>
                  <a:rPr lang="en-US"/>
                  <a:t>Time differencing (TD) </a:t>
                </a:r>
                <a:r>
                  <a:rPr lang="en-US" dirty="0"/>
                  <a:t>is an alternative to MC for the prediction (policy evaluation) problem.</a:t>
                </a:r>
              </a:p>
              <a:p>
                <a:endParaRPr lang="en-US" dirty="0"/>
              </a:p>
              <a:p>
                <a:r>
                  <a:rPr lang="en-US" b="1" dirty="0"/>
                  <a:t>Method</a:t>
                </a:r>
                <a:r>
                  <a:rPr lang="en-US" dirty="0"/>
                  <a:t>: Stepwise reduces the TD error for the next step.</a:t>
                </a:r>
              </a:p>
              <a:p>
                <a:r>
                  <a:rPr lang="en-US" b="1" dirty="0"/>
                  <a:t>Issue</a:t>
                </a:r>
                <a:r>
                  <a:rPr lang="en-US" dirty="0"/>
                  <a:t>: Uses experience so it needs to maintain exploration</a:t>
                </a:r>
              </a:p>
              <a:p>
                <a:pPr lvl="1"/>
                <a:r>
                  <a:rPr lang="en-US" dirty="0"/>
                  <a:t>On-policy: Sarsa</a:t>
                </a:r>
              </a:p>
              <a:p>
                <a:pPr lvl="1"/>
                <a:r>
                  <a:rPr lang="en-US" dirty="0"/>
                  <a:t>Off-policy: Q-learning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Q-learning and Sarsa are the most used RL methods.</a:t>
                </a:r>
              </a:p>
              <a:p>
                <a:pPr lvl="1"/>
                <a:r>
                  <a:rPr lang="en-US" dirty="0"/>
                  <a:t>Learn online (after each observation)</a:t>
                </a:r>
              </a:p>
              <a:p>
                <a:pPr lvl="1"/>
                <a:r>
                  <a:rPr lang="en-US" dirty="0"/>
                  <a:t>Simple with minimal computation</a:t>
                </a:r>
              </a:p>
              <a:p>
                <a:endParaRPr lang="en-US" dirty="0"/>
              </a:p>
              <a:p>
                <a:r>
                  <a:rPr lang="en-US" dirty="0"/>
                  <a:t>We considered one-step, tabular, model-free TD. We will extend the TD ideas to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b="1" dirty="0"/>
                  <a:t>-steps </a:t>
                </a:r>
                <a:r>
                  <a:rPr lang="en-US" dirty="0"/>
                  <a:t>and </a:t>
                </a:r>
                <a:r>
                  <a:rPr lang="en-US" b="1" dirty="0"/>
                  <a:t>function approximation </a:t>
                </a:r>
                <a:r>
                  <a:rPr lang="en-US" dirty="0"/>
                  <a:t>instead of tables.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BBA507-BEF2-070A-4241-AF2BA18035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12" t="-2806" r="-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48802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5627</TotalTime>
  <Words>1322</Words>
  <Application>Microsoft Office PowerPoint</Application>
  <PresentationFormat>Widescreen</PresentationFormat>
  <Paragraphs>153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Temporal Difference Learning Sutton/Barto* Chapter 6</vt:lpstr>
      <vt:lpstr>Summary of Notation</vt:lpstr>
      <vt:lpstr>Temporal Difference (TD)</vt:lpstr>
      <vt:lpstr>TD Prediction</vt:lpstr>
      <vt:lpstr>TD Prediction</vt:lpstr>
      <vt:lpstr>Alg. Tabular TD(0)</vt:lpstr>
      <vt:lpstr>Advantages of TD Prediction Methods</vt:lpstr>
      <vt:lpstr>Sarsa: On-policy TD Control</vt:lpstr>
      <vt:lpstr>Sarsa</vt:lpstr>
      <vt:lpstr>Alg. Sarsa</vt:lpstr>
      <vt:lpstr>Q-learning: Off-policy TD Control</vt:lpstr>
      <vt:lpstr>Q-learning</vt:lpstr>
      <vt:lpstr>Alg. Q-Learning</vt:lpstr>
      <vt:lpstr>Q-Learning’s Maximization Bias</vt:lpstr>
      <vt:lpstr>Expected Sarsa</vt:lpstr>
      <vt:lpstr>Expected Sarsa</vt:lpstr>
      <vt:lpstr>Comparison</vt:lpstr>
      <vt:lpstr>Comparison: 1-step Backup Diagrams</vt:lpstr>
      <vt:lpstr>Sarsa vs. Q-Learning</vt:lpstr>
      <vt:lpstr> Experimental Comparison</vt:lpstr>
      <vt:lpstr>Summary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137</cp:revision>
  <dcterms:created xsi:type="dcterms:W3CDTF">2025-09-08T14:44:49Z</dcterms:created>
  <dcterms:modified xsi:type="dcterms:W3CDTF">2025-11-29T19:03:56Z</dcterms:modified>
</cp:coreProperties>
</file>