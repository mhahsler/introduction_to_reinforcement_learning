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313" r:id="rId3"/>
    <p:sldId id="478" r:id="rId4"/>
    <p:sldId id="480" r:id="rId5"/>
    <p:sldId id="382" r:id="rId6"/>
    <p:sldId id="389" r:id="rId7"/>
    <p:sldId id="383" r:id="rId8"/>
    <p:sldId id="385" r:id="rId9"/>
    <p:sldId id="481" r:id="rId10"/>
    <p:sldId id="386" r:id="rId11"/>
    <p:sldId id="388" r:id="rId12"/>
    <p:sldId id="387" r:id="rId13"/>
    <p:sldId id="390" r:id="rId14"/>
    <p:sldId id="391" r:id="rId15"/>
    <p:sldId id="402" r:id="rId16"/>
    <p:sldId id="393" r:id="rId17"/>
    <p:sldId id="398" r:id="rId18"/>
    <p:sldId id="403" r:id="rId19"/>
    <p:sldId id="404" r:id="rId20"/>
    <p:sldId id="397" r:id="rId21"/>
    <p:sldId id="399" r:id="rId22"/>
    <p:sldId id="394" r:id="rId23"/>
    <p:sldId id="396" r:id="rId24"/>
    <p:sldId id="479" r:id="rId25"/>
    <p:sldId id="401" r:id="rId26"/>
    <p:sldId id="40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dea of Remporal-Difference Learning" id="{2380860D-C062-4E40-AEF2-F4A84DAD8EB2}">
          <p14:sldIdLst>
            <p14:sldId id="480"/>
            <p14:sldId id="382"/>
          </p14:sldIdLst>
        </p14:section>
        <p14:section name="TD Prediction" id="{FC09D1C7-90E9-41E3-9CF2-35E22DB79F82}">
          <p14:sldIdLst>
            <p14:sldId id="389"/>
            <p14:sldId id="383"/>
            <p14:sldId id="385"/>
            <p14:sldId id="481"/>
            <p14:sldId id="386"/>
          </p14:sldIdLst>
        </p14:section>
        <p14:section name="Sarsa" id="{300C02C9-58B9-4585-96C5-09BF8186CE39}">
          <p14:sldIdLst>
            <p14:sldId id="388"/>
            <p14:sldId id="387"/>
            <p14:sldId id="390"/>
          </p14:sldIdLst>
        </p14:section>
        <p14:section name="Q-Learning" id="{5A2B1A79-C816-4072-B829-A54ABC79EFF1}">
          <p14:sldIdLst>
            <p14:sldId id="391"/>
            <p14:sldId id="402"/>
            <p14:sldId id="393"/>
            <p14:sldId id="398"/>
            <p14:sldId id="403"/>
          </p14:sldIdLst>
        </p14:section>
        <p14:section name="Expected Sarsa" id="{03149C1B-E436-447C-99EC-27E8ED55C2E6}">
          <p14:sldIdLst>
            <p14:sldId id="404"/>
            <p14:sldId id="397"/>
          </p14:sldIdLst>
        </p14:section>
        <p14:section name="Comparison" id="{5A04113A-4EC4-49A6-BA68-723CC02C8736}">
          <p14:sldIdLst>
            <p14:sldId id="399"/>
            <p14:sldId id="394"/>
            <p14:sldId id="396"/>
            <p14:sldId id="479"/>
            <p14:sldId id="401"/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212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4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92B22A-BE2A-43CB-B312-FF3A0A14567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C5DAAA-78E2-4201-AA65-174BB5039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56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C5DAAA-78E2-4201-AA65-174BB50391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7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0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320.png"/><Relationship Id="rId26" Type="http://schemas.openxmlformats.org/officeDocument/2006/relationships/image" Target="../media/image350.png"/><Relationship Id="rId13" Type="http://schemas.openxmlformats.org/officeDocument/2006/relationships/image" Target="../media/image291.png"/><Relationship Id="rId3" Type="http://schemas.openxmlformats.org/officeDocument/2006/relationships/image" Target="../media/image36.png"/><Relationship Id="rId21" Type="http://schemas.openxmlformats.org/officeDocument/2006/relationships/image" Target="../media/image37.png"/><Relationship Id="rId17" Type="http://schemas.openxmlformats.org/officeDocument/2006/relationships/image" Target="../media/image310.png"/><Relationship Id="rId25" Type="http://schemas.openxmlformats.org/officeDocument/2006/relationships/image" Target="../media/image40.png"/><Relationship Id="rId2" Type="http://schemas.openxmlformats.org/officeDocument/2006/relationships/image" Target="../media/image35.png"/><Relationship Id="rId20" Type="http://schemas.openxmlformats.org/officeDocument/2006/relationships/image" Target="../media/image361.png"/><Relationship Id="rId29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24" Type="http://schemas.openxmlformats.org/officeDocument/2006/relationships/image" Target="../media/image39.png"/><Relationship Id="rId23" Type="http://schemas.openxmlformats.org/officeDocument/2006/relationships/image" Target="../media/image370.png"/><Relationship Id="rId28" Type="http://schemas.openxmlformats.org/officeDocument/2006/relationships/image" Target="../media/image42.png"/><Relationship Id="rId19" Type="http://schemas.openxmlformats.org/officeDocument/2006/relationships/image" Target="../media/image330.png"/><Relationship Id="rId22" Type="http://schemas.openxmlformats.org/officeDocument/2006/relationships/image" Target="../media/image38.png"/><Relationship Id="rId14" Type="http://schemas.openxmlformats.org/officeDocument/2006/relationships/image" Target="../media/image360.png"/><Relationship Id="rId27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Temporal-Difference Learning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b="1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BCC76-3EE9-1023-A1BC-58F2159CE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MDPs, DP and MC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D9D80-661F-2E66-0004-1754DDE32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97330"/>
            <a:ext cx="6309220" cy="4139404"/>
          </a:xfrm>
        </p:spPr>
        <p:txBody>
          <a:bodyPr>
            <a:noAutofit/>
          </a:bodyPr>
          <a:lstStyle/>
          <a:p>
            <a:r>
              <a:rPr lang="en-US" sz="1600" b="1" dirty="0"/>
              <a:t>Finite MDPs</a:t>
            </a:r>
            <a:r>
              <a:rPr lang="en-US" sz="1600" dirty="0"/>
              <a:t>: </a:t>
            </a:r>
            <a:r>
              <a:rPr lang="en-US" sz="1600" b="1" dirty="0">
                <a:solidFill>
                  <a:schemeClr val="accent2"/>
                </a:solidFill>
              </a:rPr>
              <a:t>Bellman Expectation Equations </a:t>
            </a:r>
            <a:r>
              <a:rPr lang="en-US" sz="1600" dirty="0"/>
              <a:t>convert expected return maximization into an easier value function consistency problem.</a:t>
            </a:r>
          </a:p>
          <a:p>
            <a:endParaRPr lang="en-US" sz="1600" dirty="0"/>
          </a:p>
          <a:p>
            <a:r>
              <a:rPr lang="en-US" sz="1600" b="1" dirty="0"/>
              <a:t>Dynamic Programming (DP)</a:t>
            </a:r>
            <a:r>
              <a:rPr lang="en-US" sz="1600" dirty="0"/>
              <a:t>: </a:t>
            </a:r>
            <a:r>
              <a:rPr lang="en-US" sz="1600" b="1" dirty="0"/>
              <a:t> </a:t>
            </a:r>
            <a:r>
              <a:rPr lang="en-US" sz="1600" b="1" dirty="0">
                <a:solidFill>
                  <a:schemeClr val="accent2"/>
                </a:solidFill>
              </a:rPr>
              <a:t>Policy evaluation </a:t>
            </a:r>
            <a:r>
              <a:rPr lang="en-US" sz="1600" dirty="0"/>
              <a:t>solves the Bellman Expectation Equations by updating the value function iteratively.</a:t>
            </a:r>
          </a:p>
          <a:p>
            <a:endParaRPr lang="en-US" sz="1600" dirty="0"/>
          </a:p>
          <a:p>
            <a:r>
              <a:rPr lang="en-US" sz="1600" b="1" dirty="0"/>
              <a:t>Generalized Policy Iteration (GPI)</a:t>
            </a:r>
            <a:r>
              <a:rPr lang="en-US" sz="1600" dirty="0"/>
              <a:t>:</a:t>
            </a:r>
            <a:r>
              <a:rPr lang="en-US" sz="1600" b="1" dirty="0"/>
              <a:t> </a:t>
            </a:r>
            <a:r>
              <a:rPr lang="en-US" sz="1600" dirty="0"/>
              <a:t>Iterates between policy evaluation and </a:t>
            </a:r>
            <a:r>
              <a:rPr lang="en-US" sz="1600" b="1" dirty="0">
                <a:solidFill>
                  <a:schemeClr val="accent2"/>
                </a:solidFill>
              </a:rPr>
              <a:t>greedy policy improvement </a:t>
            </a:r>
            <a:r>
              <a:rPr lang="en-US" sz="1600" dirty="0"/>
              <a:t>to find the optimal policy.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b="1" dirty="0"/>
              <a:t>Monte Carlo Methods (MC)</a:t>
            </a:r>
            <a:r>
              <a:rPr lang="en-US" sz="1600" dirty="0"/>
              <a:t>:</a:t>
            </a:r>
            <a:r>
              <a:rPr lang="en-US" sz="1600" b="1" dirty="0"/>
              <a:t> </a:t>
            </a:r>
            <a:r>
              <a:rPr lang="en-US" sz="1600" dirty="0"/>
              <a:t>Uses </a:t>
            </a:r>
            <a:r>
              <a:rPr lang="en-US" sz="1600" b="1" dirty="0">
                <a:solidFill>
                  <a:schemeClr val="accent2"/>
                </a:solidFill>
              </a:rPr>
              <a:t>sample-averaging for policy evaluation</a:t>
            </a:r>
            <a:r>
              <a:rPr lang="en-US" sz="1600" dirty="0"/>
              <a:t> in GPI (update after complete sample episode).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D6C2A-6080-9EF7-8BB9-6C15E39B84D4}"/>
              </a:ext>
            </a:extLst>
          </p:cNvPr>
          <p:cNvSpPr txBox="1"/>
          <p:nvPr/>
        </p:nvSpPr>
        <p:spPr>
          <a:xfrm>
            <a:off x="7718304" y="1256166"/>
            <a:ext cx="4106074" cy="107721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Reward hypothesis</a:t>
            </a:r>
            <a:r>
              <a:rPr lang="en-US" sz="1600" dirty="0"/>
              <a:t>: “All goals and purposes of an agent can be represented as the maximization of the expected cumulative reward.”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FA0EF3-65C1-3B6F-7966-658F78096C0F}"/>
              </a:ext>
            </a:extLst>
          </p:cNvPr>
          <p:cNvSpPr txBox="1"/>
          <p:nvPr/>
        </p:nvSpPr>
        <p:spPr>
          <a:xfrm>
            <a:off x="7718304" y="3483522"/>
            <a:ext cx="4106074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Policy Improvement Theorem</a:t>
            </a:r>
            <a:r>
              <a:rPr lang="en-US" sz="1600" dirty="0"/>
              <a:t>: Greedy action choice leads to policy improvement and convergence.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3B45C87-9BD1-8FF4-8FDF-AE79A11009A4}"/>
                  </a:ext>
                </a:extLst>
              </p:cNvPr>
              <p:cNvSpPr txBox="1"/>
              <p:nvPr/>
            </p:nvSpPr>
            <p:spPr>
              <a:xfrm>
                <a:off x="7718304" y="2434590"/>
                <a:ext cx="4129923" cy="83099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600" b="1" dirty="0"/>
                  <a:t>Bellman updates </a:t>
                </a:r>
                <a:r>
                  <a:rPr lang="en-US" sz="1600" dirty="0"/>
                  <a:t>converge to the true value function (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600" dirty="0"/>
                  <a:t>-contracting Bellman expectation operator).</a:t>
                </a:r>
                <a:r>
                  <a:rPr lang="en-US" sz="1600" b="1" dirty="0"/>
                  <a:t>  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3B45C87-9BD1-8FF4-8FDF-AE79A1100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8304" y="2434590"/>
                <a:ext cx="4129923" cy="830997"/>
              </a:xfrm>
              <a:prstGeom prst="rect">
                <a:avLst/>
              </a:prstGeom>
              <a:blipFill>
                <a:blip r:embed="rId2"/>
                <a:stretch>
                  <a:fillRect l="-587" t="-1429" b="-6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BAE62F9-9C15-E5C3-9BCE-305DDD34D285}"/>
              </a:ext>
            </a:extLst>
          </p:cNvPr>
          <p:cNvSpPr txBox="1"/>
          <p:nvPr/>
        </p:nvSpPr>
        <p:spPr>
          <a:xfrm>
            <a:off x="7711748" y="4559391"/>
            <a:ext cx="4106074" cy="10772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Greedy in the Limit with Infinite Exploration (GLIE): </a:t>
            </a:r>
            <a:r>
              <a:rPr lang="en-US" sz="1600" dirty="0"/>
              <a:t>Guarantees convergence to the optimal deterministic policy.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CC438B-160D-F8B6-00EB-0A6C2FBD3C59}"/>
              </a:ext>
            </a:extLst>
          </p:cNvPr>
          <p:cNvSpPr txBox="1"/>
          <p:nvPr/>
        </p:nvSpPr>
        <p:spPr>
          <a:xfrm>
            <a:off x="2260833" y="6030203"/>
            <a:ext cx="7503952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Temporal-Differencing provides another mechanism for </a:t>
            </a:r>
            <a:r>
              <a:rPr lang="en-US" b="1" dirty="0"/>
              <a:t>policy evaluation.</a:t>
            </a:r>
          </a:p>
        </p:txBody>
      </p:sp>
    </p:spTree>
    <p:extLst>
      <p:ext uri="{BB962C8B-B14F-4D97-AF65-F5344CB8AC3E}">
        <p14:creationId xmlns:p14="http://schemas.microsoft.com/office/powerpoint/2010/main" val="1976158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0212-5336-C701-866E-6597FCA4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Temporal-Difference (TD)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8634" y="1212209"/>
                <a:ext cx="7956792" cy="5246331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will first focus on: On-step, tabular, model-free TD</a:t>
                </a:r>
              </a:p>
              <a:p>
                <a:r>
                  <a:rPr lang="en-US" dirty="0"/>
                  <a:t>We know from the Bellman equations, that the value function has a recursive relationship between state values and the value of its successors.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TD error: </a:t>
                </a:r>
                <a:r>
                  <a:rPr lang="en-US" dirty="0"/>
                  <a:t>The error for our current tabular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can be </a:t>
                </a:r>
                <a:r>
                  <a:rPr lang="en-US" b="1" dirty="0"/>
                  <a:t>evaluated</a:t>
                </a:r>
                <a:r>
                  <a:rPr lang="en-US" dirty="0"/>
                  <a:t> using the reward and value of the next:   </a:t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the TD error by making the tabular state value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more similar to the TD target: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⇜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Combines ideas from MC and DP</a:t>
                </a:r>
              </a:p>
              <a:p>
                <a:pPr lvl="1"/>
                <a:r>
                  <a:rPr lang="en-US" dirty="0"/>
                  <a:t>From MC: learn from </a:t>
                </a:r>
                <a:r>
                  <a:rPr lang="en-US" b="1" dirty="0"/>
                  <a:t>raw experience </a:t>
                </a:r>
                <a:r>
                  <a:rPr lang="en-US" dirty="0"/>
                  <a:t>(observed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tuples), but only uses one step instead of a whole episode. </a:t>
                </a:r>
              </a:p>
              <a:p>
                <a:pPr lvl="1"/>
                <a:r>
                  <a:rPr lang="en-US" dirty="0"/>
                  <a:t>From DP: calculates the error between two value estimates without waiting for the end of the episode.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8634" y="1212209"/>
                <a:ext cx="7956792" cy="5246331"/>
              </a:xfrm>
              <a:blipFill>
                <a:blip r:embed="rId3"/>
                <a:stretch>
                  <a:fillRect l="-536" t="-1860" r="-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679A8092-0707-5FD9-E091-E06DF5D326A0}"/>
              </a:ext>
            </a:extLst>
          </p:cNvPr>
          <p:cNvGrpSpPr/>
          <p:nvPr/>
        </p:nvGrpSpPr>
        <p:grpSpPr>
          <a:xfrm>
            <a:off x="8832361" y="988815"/>
            <a:ext cx="2631376" cy="2584667"/>
            <a:chOff x="8722424" y="1397329"/>
            <a:chExt cx="2631376" cy="258466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E77EFFD-0224-23E4-99EB-290564017C6F}"/>
                </a:ext>
              </a:extLst>
            </p:cNvPr>
            <p:cNvGrpSpPr/>
            <p:nvPr/>
          </p:nvGrpSpPr>
          <p:grpSpPr>
            <a:xfrm>
              <a:off x="8722424" y="1397329"/>
              <a:ext cx="2631376" cy="2061447"/>
              <a:chOff x="8564586" y="2398276"/>
              <a:chExt cx="2631376" cy="2061447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BD6B8A70-7CBB-B0CD-8422-D282F46101E2}"/>
                  </a:ext>
                </a:extLst>
              </p:cNvPr>
              <p:cNvGrpSpPr/>
              <p:nvPr/>
            </p:nvGrpSpPr>
            <p:grpSpPr>
              <a:xfrm>
                <a:off x="8850833" y="2398276"/>
                <a:ext cx="2345129" cy="2061447"/>
                <a:chOff x="9234742" y="369649"/>
                <a:chExt cx="2345129" cy="2061447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1723B89B-0891-8CC5-A64F-F496DF8A1A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234742" y="738981"/>
                  <a:ext cx="2345129" cy="1692115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=−0.04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327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FB9A9FCB-5B10-FBD9-6B0F-C0F07D29E7A8}"/>
                    </a:ext>
                  </a:extLst>
                </p:cNvPr>
                <p:cNvSpPr/>
                <p:nvPr/>
              </p:nvSpPr>
              <p:spPr>
                <a:xfrm>
                  <a:off x="9296582" y="1495605"/>
                  <a:ext cx="321332" cy="474650"/>
                </a:xfrm>
                <a:custGeom>
                  <a:avLst/>
                  <a:gdLst>
                    <a:gd name="csX0" fmla="*/ 279451 w 321332"/>
                    <a:gd name="csY0" fmla="*/ 0 h 474650"/>
                    <a:gd name="csX1" fmla="*/ 245 w 321332"/>
                    <a:gd name="csY1" fmla="*/ 265246 h 474650"/>
                    <a:gd name="csX2" fmla="*/ 321332 w 321332"/>
                    <a:gd name="csY2" fmla="*/ 474650 h 4746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21332" h="474650">
                      <a:moveTo>
                        <a:pt x="279451" y="0"/>
                      </a:moveTo>
                      <a:cubicBezTo>
                        <a:pt x="136358" y="93069"/>
                        <a:pt x="-6735" y="186138"/>
                        <a:pt x="245" y="265246"/>
                      </a:cubicBezTo>
                      <a:cubicBezTo>
                        <a:pt x="7225" y="344354"/>
                        <a:pt x="164278" y="409502"/>
                        <a:pt x="321332" y="474650"/>
                      </a:cubicBezTo>
                    </a:path>
                  </a:pathLst>
                </a:custGeom>
                <a:ln>
                  <a:headEnd type="none" w="med" len="med"/>
                  <a:tailEnd type="arrow" w="med" len="med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/>
                  <p:nvPr/>
                </p:nvSpPr>
                <p:spPr>
                  <a:xfrm>
                    <a:off x="8564586" y="3460906"/>
                    <a:ext cx="488980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100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64586" y="3460906"/>
                    <a:ext cx="488980" cy="2616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/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/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A55A951-39C0-4F53-C0D4-E534EF4C3F09}"/>
                </a:ext>
              </a:extLst>
            </p:cNvPr>
            <p:cNvSpPr txBox="1"/>
            <p:nvPr/>
          </p:nvSpPr>
          <p:spPr>
            <a:xfrm>
              <a:off x="9391843" y="3458776"/>
              <a:ext cx="18833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+ stochastic transition model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B5338D7-B211-AD8A-DD0B-E59F3739208A}"/>
              </a:ext>
            </a:extLst>
          </p:cNvPr>
          <p:cNvGrpSpPr/>
          <p:nvPr/>
        </p:nvGrpSpPr>
        <p:grpSpPr>
          <a:xfrm>
            <a:off x="9114171" y="5280870"/>
            <a:ext cx="2337445" cy="588315"/>
            <a:chOff x="8819913" y="5280870"/>
            <a:chExt cx="2337445" cy="588315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FEFA3D0-637D-6F0B-EB52-FE9A8D063D3A}"/>
                </a:ext>
              </a:extLst>
            </p:cNvPr>
            <p:cNvSpPr/>
            <p:nvPr/>
          </p:nvSpPr>
          <p:spPr>
            <a:xfrm>
              <a:off x="8819913" y="5280870"/>
              <a:ext cx="219874" cy="58831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5A498B4-36BF-3CAD-FCC7-E48DBF8925A3}"/>
                </a:ext>
              </a:extLst>
            </p:cNvPr>
            <p:cNvSpPr txBox="1"/>
            <p:nvPr/>
          </p:nvSpPr>
          <p:spPr>
            <a:xfrm>
              <a:off x="9039787" y="5344194"/>
              <a:ext cx="21175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 truly online process that can update after each action</a:t>
              </a:r>
            </a:p>
          </p:txBody>
        </p:sp>
      </p:grp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543E8B3F-8B96-FA98-CFB2-647034BFE89B}"/>
              </a:ext>
            </a:extLst>
          </p:cNvPr>
          <p:cNvSpPr/>
          <p:nvPr/>
        </p:nvSpPr>
        <p:spPr>
          <a:xfrm>
            <a:off x="9114171" y="3747023"/>
            <a:ext cx="2658546" cy="771993"/>
          </a:xfrm>
          <a:prstGeom prst="wedgeRoundRectCallout">
            <a:avLst>
              <a:gd name="adj1" fmla="val -155885"/>
              <a:gd name="adj2" fmla="val -8158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Note</a:t>
            </a:r>
            <a:r>
              <a:rPr lang="en-US" sz="1200" dirty="0"/>
              <a:t>: The TD error is only a </a:t>
            </a:r>
            <a:r>
              <a:rPr lang="en-US" sz="1200" b="1" dirty="0"/>
              <a:t>sample</a:t>
            </a:r>
            <a:r>
              <a:rPr lang="en-US" sz="1200" dirty="0"/>
              <a:t> from the error distribution because we use an observed step and  ignore the expectation!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C3867AD-AC52-1175-B857-24B68835BCC1}"/>
              </a:ext>
            </a:extLst>
          </p:cNvPr>
          <p:cNvGrpSpPr/>
          <p:nvPr/>
        </p:nvGrpSpPr>
        <p:grpSpPr>
          <a:xfrm>
            <a:off x="3665988" y="3556145"/>
            <a:ext cx="2661288" cy="354689"/>
            <a:chOff x="3973001" y="3944679"/>
            <a:chExt cx="1829849" cy="354689"/>
          </a:xfrm>
        </p:grpSpPr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BE2F8909-BE52-3E91-5540-6AF57FC3B934}"/>
                </a:ext>
              </a:extLst>
            </p:cNvPr>
            <p:cNvSpPr/>
            <p:nvPr/>
          </p:nvSpPr>
          <p:spPr>
            <a:xfrm rot="5400000">
              <a:off x="4535174" y="3461387"/>
              <a:ext cx="128179" cy="1094763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B213CCD-AA29-540B-5B54-FEF9C0A6061A}"/>
                    </a:ext>
                  </a:extLst>
                </p:cNvPr>
                <p:cNvSpPr txBox="1"/>
                <p:nvPr/>
              </p:nvSpPr>
              <p:spPr>
                <a:xfrm>
                  <a:off x="3973001" y="4022369"/>
                  <a:ext cx="1829849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200" dirty="0">
                      <a:ea typeface="Cambria Math" panose="02040503050406030204" pitchFamily="18" charset="0"/>
                    </a:rPr>
                    <a:t>We call this the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B213CCD-AA29-540B-5B54-FEF9C0A606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3001" y="4022369"/>
                  <a:ext cx="1829849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479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FB2077-6714-528E-FB23-B2B1BA53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95BE15-E705-EBDF-2293-CDEA1840E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policy by minimizing the TD error.</a:t>
            </a:r>
          </a:p>
        </p:txBody>
      </p:sp>
    </p:spTree>
    <p:extLst>
      <p:ext uri="{BB962C8B-B14F-4D97-AF65-F5344CB8AC3E}">
        <p14:creationId xmlns:p14="http://schemas.microsoft.com/office/powerpoint/2010/main" val="1009425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7989-265D-BCD0-24A2-62684E25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Follow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update the tabular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groupChr>
                        <m:groupChrPr>
                          <m:chr m:val="←"/>
                          <m:pos m:val="top"/>
                          <m:vertJc m:val="to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Bootstrapping</a:t>
                </a:r>
                <a:r>
                  <a:rPr lang="en-US" dirty="0"/>
                  <a:t>: Updating an estimate using another estimate. Introduces an </a:t>
                </a:r>
                <a:r>
                  <a:rPr lang="en-US" b="1" dirty="0"/>
                  <a:t>estimation bias</a:t>
                </a:r>
                <a:r>
                  <a:rPr lang="en-US" dirty="0"/>
                  <a:t> towards the biased estimate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endParaRPr lang="en-US" dirty="0"/>
              </a:p>
              <a:p>
                <a:r>
                  <a:rPr lang="en-US" dirty="0"/>
                  <a:t>Similartiy to MC: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vertJc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  <a:blipFill>
                <a:blip r:embed="rId2"/>
                <a:stretch>
                  <a:fillRect l="-1194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68A07290-301C-7032-71D6-1CB108C1EAAB}"/>
              </a:ext>
            </a:extLst>
          </p:cNvPr>
          <p:cNvGrpSpPr/>
          <p:nvPr/>
        </p:nvGrpSpPr>
        <p:grpSpPr>
          <a:xfrm>
            <a:off x="3846428" y="5104153"/>
            <a:ext cx="5065602" cy="488182"/>
            <a:chOff x="2334588" y="1969791"/>
            <a:chExt cx="5065602" cy="488182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114C8F32-06B0-D869-D536-7BBF5C78D0A5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BC98F2-9264-2ADA-BDB4-85BCB1E97F5E}"/>
                </a:ext>
              </a:extLst>
            </p:cNvPr>
            <p:cNvSpPr txBox="1"/>
            <p:nvPr/>
          </p:nvSpPr>
          <p:spPr>
            <a:xfrm>
              <a:off x="2334588" y="1969791"/>
              <a:ext cx="506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MC Error over complete episode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875633-9C72-9EE6-1B64-B7B45913B066}"/>
              </a:ext>
            </a:extLst>
          </p:cNvPr>
          <p:cNvGrpSpPr/>
          <p:nvPr/>
        </p:nvGrpSpPr>
        <p:grpSpPr>
          <a:xfrm>
            <a:off x="4401064" y="1715819"/>
            <a:ext cx="3528733" cy="472063"/>
            <a:chOff x="4699685" y="1985910"/>
            <a:chExt cx="1541724" cy="47206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081EF24B-FDDC-57EA-DD46-44587ECCD551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154ED7-E9AD-AC50-4A6E-FBD3C1C9365A}"/>
                </a:ext>
              </a:extLst>
            </p:cNvPr>
            <p:cNvSpPr txBox="1"/>
            <p:nvPr/>
          </p:nvSpPr>
          <p:spPr>
            <a:xfrm>
              <a:off x="5042038" y="1985910"/>
              <a:ext cx="8570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One-step TD Error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CF09A0-818F-5F40-4472-2943AC1A66D9}"/>
              </a:ext>
            </a:extLst>
          </p:cNvPr>
          <p:cNvGrpSpPr/>
          <p:nvPr/>
        </p:nvGrpSpPr>
        <p:grpSpPr>
          <a:xfrm>
            <a:off x="3304308" y="2629245"/>
            <a:ext cx="4924554" cy="549974"/>
            <a:chOff x="4027075" y="2206230"/>
            <a:chExt cx="3018333" cy="549974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DB467B9E-487B-7E61-B117-98627BE25B20}"/>
                </a:ext>
              </a:extLst>
            </p:cNvPr>
            <p:cNvSpPr/>
            <p:nvPr/>
          </p:nvSpPr>
          <p:spPr>
            <a:xfrm rot="16200000" flipH="1" flipV="1">
              <a:off x="5311709" y="1614360"/>
              <a:ext cx="219506" cy="140324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/>
                <p:nvPr/>
              </p:nvSpPr>
              <p:spPr>
                <a:xfrm>
                  <a:off x="4027075" y="2386872"/>
                  <a:ext cx="30183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2"/>
                      </a:solidFill>
                    </a:rPr>
                    <a:t>Uses reward + estimate for next state =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dirty="0">
                    <a:solidFill>
                      <a:schemeClr val="tx2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7075" y="2386872"/>
                  <a:ext cx="301833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495" t="-819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/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95767"/>
                  <a:gd name="adj2" fmla="val 9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In MC methods,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represents the weight for incremental updates.</a:t>
                </a:r>
              </a:p>
              <a:p>
                <a:pPr algn="ctr"/>
                <a:r>
                  <a:rPr lang="en-US" sz="1600" b="1" dirty="0"/>
                  <a:t>No Bootstrapping! Unbiased estimate!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95767"/>
                  <a:gd name="adj2" fmla="val 959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/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TD uses local search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as the learning parameter to reduce the TD error.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  <a:blipFill>
                <a:blip r:embed="rId5"/>
                <a:stretch>
                  <a:fillRect l="-1928" t="-2000" b="-6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558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E36AA-2655-FFF5-7881-32B8F590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TD(0)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4425E-63FB-9C5C-D27A-96BE1B7B4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6508" y="1337315"/>
            <a:ext cx="7810209" cy="34977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/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Note</a:t>
                </a:r>
                <a:r>
                  <a:rPr lang="en-US" sz="1400" dirty="0"/>
                  <a:t>: We can only update for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at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 since we need to observe a complete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interaction and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is observed at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2DCCF0C-4960-6A76-B588-637A79AEF859}"/>
              </a:ext>
            </a:extLst>
          </p:cNvPr>
          <p:cNvSpPr/>
          <p:nvPr/>
        </p:nvSpPr>
        <p:spPr>
          <a:xfrm>
            <a:off x="5918664" y="434715"/>
            <a:ext cx="2880564" cy="422339"/>
          </a:xfrm>
          <a:prstGeom prst="wedgeRoundRectCallout">
            <a:avLst>
              <a:gd name="adj1" fmla="val -86295"/>
              <a:gd name="adj2" fmla="val 710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We will later learn what 0 means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5545C4-DEE2-2979-2281-BEF0B4ACEC98}"/>
              </a:ext>
            </a:extLst>
          </p:cNvPr>
          <p:cNvSpPr/>
          <p:nvPr/>
        </p:nvSpPr>
        <p:spPr>
          <a:xfrm>
            <a:off x="2870616" y="3844977"/>
            <a:ext cx="3620125" cy="322289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8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81E44-4E5C-32D8-E43F-7C76E6551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TD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88280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800" dirty="0"/>
                  <a:t>Regular conditions on the MDP apply (finite,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800" dirty="0"/>
                  <a:t>, etc.)</a:t>
                </a:r>
              </a:p>
              <a:p>
                <a:r>
                  <a:rPr lang="en-US" sz="1800" dirty="0"/>
                  <a:t>The observed TD error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800" dirty="0"/>
                  <a:t> is a noisy sample of the true difference.</a:t>
                </a:r>
                <a:br>
                  <a:rPr lang="en-US" sz="1800" dirty="0"/>
                </a:br>
                <a:endParaRPr lang="en-US" sz="1800" dirty="0"/>
              </a:p>
              <a:p>
                <a:r>
                  <a:rPr lang="en-US" sz="1800" b="1" dirty="0"/>
                  <a:t>Convergence</a:t>
                </a:r>
                <a:r>
                  <a:rPr lang="en-US" sz="1800" dirty="0"/>
                  <a:t>: Stochastic approximation theory guarantees convergence if the </a:t>
                </a:r>
                <a:r>
                  <a:rPr lang="en-US" sz="1800" b="1" dirty="0"/>
                  <a:t>learning rate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sz="1800" b="1" dirty="0"/>
                  <a:t> decreases slowly enough. </a:t>
                </a:r>
                <a:r>
                  <a:rPr lang="en-US" sz="1800" dirty="0"/>
                  <a:t>Then the updates</a:t>
                </a:r>
                <a:br>
                  <a:rPr lang="en-US" sz="1800" dirty="0"/>
                </a:br>
                <a:br>
                  <a:rPr lang="en-US" sz="1800" dirty="0"/>
                </a:b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vertJc m:val="top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sz="18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8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br>
                  <a:rPr lang="en-US" sz="1800" dirty="0"/>
                </a:br>
                <a:br>
                  <a:rPr lang="en-US" sz="1800" dirty="0"/>
                </a:br>
                <a:r>
                  <a:rPr lang="en-US" sz="1800" dirty="0"/>
                  <a:t>lead to an expected TD error of 0, i.e., the Bellman consistency conditions are met which means convergence.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What is slow enough?</a:t>
                </a:r>
              </a:p>
              <a:p>
                <a:endParaRPr lang="en-US" sz="1800" b="1" dirty="0"/>
              </a:p>
              <a:p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r>
                  <a:rPr lang="en-US" sz="1800" dirty="0"/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sz="1800" dirty="0"/>
                  <a:t>     (equivalent to incremental averaging)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88280"/>
                <a:ext cx="10515600" cy="4779633"/>
              </a:xfrm>
              <a:blipFill>
                <a:blip r:embed="rId2"/>
                <a:stretch>
                  <a:fillRect l="-406" t="-1148" b="-10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/>
              <p:nvPr/>
            </p:nvSpPr>
            <p:spPr>
              <a:xfrm>
                <a:off x="4230122" y="4681336"/>
                <a:ext cx="3983011" cy="1124603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b="1" dirty="0"/>
                  <a:t>Robbins-Monro condition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=∞  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0122" y="4681336"/>
                <a:ext cx="3983011" cy="1124603"/>
              </a:xfrm>
              <a:prstGeom prst="rect">
                <a:avLst/>
              </a:prstGeom>
              <a:blipFill>
                <a:blip r:embed="rId3"/>
                <a:stretch>
                  <a:fillRect l="-1220" t="-21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7D45EEA-1908-E049-EF9E-508670B0AA5C}"/>
                  </a:ext>
                </a:extLst>
              </p:cNvPr>
              <p:cNvSpPr/>
              <p:nvPr/>
            </p:nvSpPr>
            <p:spPr>
              <a:xfrm>
                <a:off x="1707328" y="5264098"/>
                <a:ext cx="2048969" cy="625337"/>
              </a:xfrm>
              <a:prstGeom prst="wedgeRoundRectCallout">
                <a:avLst>
                  <a:gd name="adj1" fmla="val 81904"/>
                  <a:gd name="adj2" fmla="val -2838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never becomes 0 = keeps learning forever</a:t>
                </a:r>
              </a:p>
            </p:txBody>
          </p:sp>
        </mc:Choice>
        <mc:Fallback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7D45EEA-1908-E049-EF9E-508670B0AA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328" y="5264098"/>
                <a:ext cx="2048969" cy="625337"/>
              </a:xfrm>
              <a:prstGeom prst="wedgeRoundRectCallout">
                <a:avLst>
                  <a:gd name="adj1" fmla="val 81904"/>
                  <a:gd name="adj2" fmla="val -2838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206798B7-F5CB-6720-EE3C-47D8E1C38EBF}"/>
              </a:ext>
            </a:extLst>
          </p:cNvPr>
          <p:cNvSpPr/>
          <p:nvPr/>
        </p:nvSpPr>
        <p:spPr>
          <a:xfrm>
            <a:off x="8641653" y="4789189"/>
            <a:ext cx="2599545" cy="978192"/>
          </a:xfrm>
          <a:prstGeom prst="wedgeRoundRectCallout">
            <a:avLst>
              <a:gd name="adj1" fmla="val -73535"/>
              <a:gd name="adj2" fmla="val 1237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step sizes shrink fast enough so that the random noise in the measurements eventually averages out.</a:t>
            </a:r>
          </a:p>
        </p:txBody>
      </p:sp>
    </p:spTree>
    <p:extLst>
      <p:ext uri="{BB962C8B-B14F-4D97-AF65-F5344CB8AC3E}">
        <p14:creationId xmlns:p14="http://schemas.microsoft.com/office/powerpoint/2010/main" val="35014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11095-5FFA-CC66-454C-D10676BA2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TD Prediction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2400" b="1" dirty="0"/>
                  <a:t>True online updates: </a:t>
                </a:r>
                <a:r>
                  <a:rPr lang="en-US" sz="2400" dirty="0"/>
                  <a:t>Updates at each step. Bootstraps using estimate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for the value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. The estimate is biased.</a:t>
                </a:r>
                <a:br>
                  <a:rPr lang="en-US" sz="2400" dirty="0"/>
                </a:br>
                <a:endParaRPr lang="en-US" sz="2400" dirty="0"/>
              </a:p>
              <a:p>
                <a:r>
                  <a:rPr lang="en-US" sz="2400" b="1" dirty="0"/>
                  <a:t>Model-free:</a:t>
                </a:r>
                <a:r>
                  <a:rPr lang="en-US" sz="2400" dirty="0"/>
                  <a:t> Only needs samples.</a:t>
                </a:r>
                <a:br>
                  <a:rPr lang="en-US" sz="2400" dirty="0"/>
                </a:br>
                <a:r>
                  <a:rPr lang="en-US" sz="2400" dirty="0"/>
                  <a:t>DP needs the transition probabilities!</a:t>
                </a:r>
              </a:p>
              <a:p>
                <a:endParaRPr lang="en-US" sz="2400" b="1" dirty="0"/>
              </a:p>
              <a:p>
                <a:r>
                  <a:rPr lang="en-US" sz="2400" b="1" dirty="0"/>
                  <a:t>Convergence</a:t>
                </a:r>
                <a:r>
                  <a:rPr lang="en-US" sz="2400" dirty="0"/>
                  <a:t>: Converges typically faster than MC prediction. Reasons: </a:t>
                </a:r>
              </a:p>
              <a:p>
                <a:pPr lvl="1"/>
                <a:r>
                  <a:rPr lang="en-US" sz="2000" dirty="0"/>
                  <a:t>Less variance: Stochasticity in the environment produces large variance in the return of sampled episodes used by MC, but TD only samples the next reward and state.</a:t>
                </a:r>
              </a:p>
              <a:p>
                <a:pPr lvl="1"/>
                <a:r>
                  <a:rPr lang="en-US" sz="2000" dirty="0"/>
                  <a:t>More frequent updates.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  <a:blipFill>
                <a:blip r:embed="rId2"/>
                <a:stretch>
                  <a:fillRect l="-1224" t="-2296" r="-15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982524D-1B81-6E5C-18C1-DBB7E0D8A0A5}"/>
              </a:ext>
            </a:extLst>
          </p:cNvPr>
          <p:cNvSpPr txBox="1"/>
          <p:nvPr/>
        </p:nvSpPr>
        <p:spPr>
          <a:xfrm>
            <a:off x="8259580" y="1384631"/>
            <a:ext cx="3094220" cy="120032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DP plans using the model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MC waits for the end of the episode for an unbiased estimate.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889EF6-8763-7A9F-2E35-A0EF475053D8}"/>
              </a:ext>
            </a:extLst>
          </p:cNvPr>
          <p:cNvSpPr txBox="1"/>
          <p:nvPr/>
        </p:nvSpPr>
        <p:spPr>
          <a:xfrm>
            <a:off x="8259580" y="2912505"/>
            <a:ext cx="3094220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Same as MC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DP needs the model</a:t>
            </a:r>
          </a:p>
        </p:txBody>
      </p:sp>
    </p:spTree>
    <p:extLst>
      <p:ext uri="{BB962C8B-B14F-4D97-AF65-F5344CB8AC3E}">
        <p14:creationId xmlns:p14="http://schemas.microsoft.com/office/powerpoint/2010/main" val="1388214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CD6C69-A73D-CF25-463F-EC940FC0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0B5B47-1AC0-4A21-D15D-1F7142A40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online while you follow the policy.</a:t>
            </a:r>
          </a:p>
        </p:txBody>
      </p:sp>
    </p:spTree>
    <p:extLst>
      <p:ext uri="{BB962C8B-B14F-4D97-AF65-F5344CB8AC3E}">
        <p14:creationId xmlns:p14="http://schemas.microsoft.com/office/powerpoint/2010/main" val="1896183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17A85-AD27-D78C-6EE7-8EFC9C6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</a:t>
                </a:r>
                <a:r>
                  <a:rPr lang="en-US" b="1" dirty="0"/>
                  <a:t>GPI</a:t>
                </a:r>
                <a:r>
                  <a:rPr lang="en-US" dirty="0"/>
                  <a:t> with TD prediction for policy evaluation. Exploration is guaranteed by learning a </a:t>
                </a:r>
                <a:r>
                  <a:rPr lang="en-US" b="1" dirty="0"/>
                  <a:t>soft policy.</a:t>
                </a:r>
              </a:p>
              <a:p>
                <a:endParaRPr lang="en-US" b="1" dirty="0"/>
              </a:p>
              <a:p>
                <a:r>
                  <a:rPr lang="en-US" b="1" dirty="0"/>
                  <a:t>TD Evaluation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-table with updates: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vertJc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for a terminal state is defined as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Improvement</a:t>
                </a:r>
                <a:r>
                  <a:rPr lang="en-US" dirty="0"/>
                  <a:t>: Learn a soft (exploring) policy based 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Properties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b="1" dirty="0"/>
                  <a:t>On-policy</a:t>
                </a:r>
                <a:r>
                  <a:rPr lang="en-US" dirty="0"/>
                  <a:t> means that it learns a soft policy and not the optimal deterministic policy!</a:t>
                </a:r>
              </a:p>
              <a:p>
                <a:pPr lvl="1"/>
                <a:r>
                  <a:rPr lang="en-US" dirty="0"/>
                  <a:t>Update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which leads to the name </a:t>
                </a:r>
                <a:r>
                  <a:rPr lang="en-US" b="1" dirty="0"/>
                  <a:t>Sars</a:t>
                </a:r>
                <a:r>
                  <a:rPr lang="en-US" b="1" dirty="0">
                    <a:solidFill>
                      <a:schemeClr val="accent2"/>
                    </a:solidFill>
                  </a:rPr>
                  <a:t>a</a:t>
                </a:r>
                <a:r>
                  <a:rPr lang="en-US" b="1" dirty="0"/>
                  <a:t> </a:t>
                </a:r>
                <a:r>
                  <a:rPr lang="en-US" dirty="0"/>
                  <a:t>and requires us to know what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will be.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  <a:blipFill>
                <a:blip r:embed="rId2"/>
                <a:stretch>
                  <a:fillRect l="-848" t="-2551" r="-919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23E3716E-AE83-7DB8-4ED0-8762F896EB02}"/>
              </a:ext>
            </a:extLst>
          </p:cNvPr>
          <p:cNvGrpSpPr/>
          <p:nvPr/>
        </p:nvGrpSpPr>
        <p:grpSpPr>
          <a:xfrm>
            <a:off x="9576769" y="162195"/>
            <a:ext cx="2310430" cy="2154506"/>
            <a:chOff x="9576769" y="162195"/>
            <a:chExt cx="2310430" cy="21545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34ACF09-360E-2E24-9C97-07D69E85A4F4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5" name="Content Placeholder 4">
                <a:extLst>
                  <a:ext uri="{FF2B5EF4-FFF2-40B4-BE49-F238E27FC236}">
                    <a16:creationId xmlns:a16="http://schemas.microsoft.com/office/drawing/2014/main" id="{14459B7C-6F39-0B15-A90A-5AC1F819BC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5FDFB7-32DA-E7BC-97BA-735B16C98EB2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4C9C71F-1C03-4588-F4B8-107859426DCC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7728C36-F1AD-136E-4EFA-48BBFE00FDC6}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4A226A4-3DFB-FDA8-464F-70254B5B01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BC74A6F-1E51-0870-42BE-148CFD641243}"/>
                </a:ext>
              </a:extLst>
            </p:cNvPr>
            <p:cNvSpPr txBox="1"/>
            <p:nvPr/>
          </p:nvSpPr>
          <p:spPr>
            <a:xfrm>
              <a:off x="9893509" y="162195"/>
              <a:ext cx="17335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 prediction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903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65D83-AF66-468C-2BD2-B60F40C3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Sarsa: On-Policy TD Control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318D103E-5321-14FF-CCC2-395C1CC00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48" y="1124198"/>
            <a:ext cx="7810209" cy="3497737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476306-7294-055F-2284-AF672A56B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881" t="2315"/>
          <a:stretch>
            <a:fillRect/>
          </a:stretch>
        </p:blipFill>
        <p:spPr>
          <a:xfrm>
            <a:off x="2778100" y="2303693"/>
            <a:ext cx="8813024" cy="390925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F0C5B7EE-01C9-2D78-163C-913D0732A91E}"/>
              </a:ext>
            </a:extLst>
          </p:cNvPr>
          <p:cNvSpPr/>
          <p:nvPr/>
        </p:nvSpPr>
        <p:spPr>
          <a:xfrm rot="16930409">
            <a:off x="2168618" y="2756389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53595906-8F94-26CC-2214-B8E6821BE78C}"/>
              </a:ext>
            </a:extLst>
          </p:cNvPr>
          <p:cNvSpPr/>
          <p:nvPr/>
        </p:nvSpPr>
        <p:spPr>
          <a:xfrm>
            <a:off x="8285441" y="1033063"/>
            <a:ext cx="1703157" cy="921380"/>
          </a:xfrm>
          <a:prstGeom prst="wedgeRoundRectCallout">
            <a:avLst>
              <a:gd name="adj1" fmla="val -48291"/>
              <a:gd name="adj2" fmla="val 9587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learned and followed policy is expressed as a Q-function.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42895067-CBCB-93E1-7A6D-13DB95242BA9}"/>
              </a:ext>
            </a:extLst>
          </p:cNvPr>
          <p:cNvSpPr/>
          <p:nvPr/>
        </p:nvSpPr>
        <p:spPr>
          <a:xfrm>
            <a:off x="9520928" y="5182520"/>
            <a:ext cx="2261570" cy="736650"/>
          </a:xfrm>
          <a:prstGeom prst="wedgeRoundRectCallout">
            <a:avLst>
              <a:gd name="adj1" fmla="val -83676"/>
              <a:gd name="adj2" fmla="val -3235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Update the Q-function with the observed next action.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/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Follow and learn a soft policy. On-policy means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/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need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  <a:blipFill>
                <a:blip r:embed="rId5"/>
                <a:stretch>
                  <a:fillRect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9E2F2-E6A8-1691-D5E9-CD18B9FFD151}"/>
                  </a:ext>
                </a:extLst>
              </p:cNvPr>
              <p:cNvSpPr txBox="1"/>
              <p:nvPr/>
            </p:nvSpPr>
            <p:spPr>
              <a:xfrm>
                <a:off x="3338814" y="6123542"/>
                <a:ext cx="2009163" cy="369332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+ extract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9E2F2-E6A8-1691-D5E9-CD18B9FFD1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814" y="6123542"/>
                <a:ext cx="2009163" cy="369332"/>
              </a:xfrm>
              <a:prstGeom prst="rect">
                <a:avLst/>
              </a:prstGeom>
              <a:blipFill>
                <a:blip r:embed="rId6"/>
                <a:stretch>
                  <a:fillRect l="-2410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0986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47666C-E544-A8E2-3E86-3E49FE62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TD Control: </a:t>
            </a:r>
            <a:br>
              <a:rPr lang="en-US" dirty="0"/>
            </a:br>
            <a:r>
              <a:rPr lang="en-US" dirty="0"/>
              <a:t>Q-Learning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AB6C6B-376F-4E19-AC6C-EECCB099A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a deterministic target policy while following an exploring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30445675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Update rule only uses observed Sars following the behavior policy: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b="1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i="0" dirty="0"/>
                      <m:t>Off−policy</m:t>
                    </m:r>
                    <m:r>
                      <m:rPr>
                        <m:nor/>
                      </m:rPr>
                      <a:rPr lang="en-US" b="0" i="0" dirty="0" smtClean="0"/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 because it ignores the next behavior action and updates with the next action for the greedy target policy instead. Note: There is no need for importance sampling!</a:t>
                </a:r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 </a:t>
                </a:r>
                <a:r>
                  <a:rPr lang="en-US" b="1" dirty="0"/>
                  <a:t>conditions</a:t>
                </a:r>
                <a:r>
                  <a:rPr lang="en-US" dirty="0"/>
                  <a:t>: 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State-action pairs can be independently updated (e.g., represented in a table).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All actions are repeatedly sampled in all states (behavior policy keeps exploring).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EB9BEF0-AB2C-E41A-D1B7-4EEEAD69C231}"/>
              </a:ext>
            </a:extLst>
          </p:cNvPr>
          <p:cNvSpPr/>
          <p:nvPr/>
        </p:nvSpPr>
        <p:spPr>
          <a:xfrm>
            <a:off x="6096000" y="3169820"/>
            <a:ext cx="4541170" cy="432769"/>
          </a:xfrm>
          <a:prstGeom prst="wedgeRoundRectCallout">
            <a:avLst>
              <a:gd name="adj1" fmla="val -17872"/>
              <a:gd name="adj2" fmla="val -14787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next action has not yet been observed. Updates with the greedy/optimal action for the target policy!</a:t>
            </a:r>
          </a:p>
        </p:txBody>
      </p:sp>
    </p:spTree>
    <p:extLst>
      <p:ext uri="{BB962C8B-B14F-4D97-AF65-F5344CB8AC3E}">
        <p14:creationId xmlns:p14="http://schemas.microsoft.com/office/powerpoint/2010/main" val="903677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Q-Learning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ACE9FA26-BA72-1C07-AB30-BF0FA09517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1" t="2315"/>
          <a:stretch>
            <a:fillRect/>
          </a:stretch>
        </p:blipFill>
        <p:spPr>
          <a:xfrm>
            <a:off x="586439" y="1390498"/>
            <a:ext cx="8326425" cy="3693409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735" t="1870"/>
          <a:stretch>
            <a:fillRect/>
          </a:stretch>
        </p:blipFill>
        <p:spPr>
          <a:xfrm>
            <a:off x="3239223" y="2604879"/>
            <a:ext cx="8445114" cy="350920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50E9F303-0610-DA79-680F-09CEC3B03339}"/>
              </a:ext>
            </a:extLst>
          </p:cNvPr>
          <p:cNvSpPr/>
          <p:nvPr/>
        </p:nvSpPr>
        <p:spPr>
          <a:xfrm rot="16930409">
            <a:off x="2666640" y="2911510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220D628-0C2D-1B3D-85F4-BBFF28A8CE9F}"/>
              </a:ext>
            </a:extLst>
          </p:cNvPr>
          <p:cNvGrpSpPr/>
          <p:nvPr/>
        </p:nvGrpSpPr>
        <p:grpSpPr>
          <a:xfrm>
            <a:off x="1635871" y="3777583"/>
            <a:ext cx="1298121" cy="285750"/>
            <a:chOff x="1635871" y="3777583"/>
            <a:chExt cx="1298121" cy="28575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75A43C0-3EBD-08A8-4E00-AF9FE5A218CC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2810518-C59E-4B01-556C-D62FA1F00F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C62624-3244-ED9B-CD61-A0C791B616E9}"/>
              </a:ext>
            </a:extLst>
          </p:cNvPr>
          <p:cNvCxnSpPr/>
          <p:nvPr/>
        </p:nvCxnSpPr>
        <p:spPr>
          <a:xfrm>
            <a:off x="7022034" y="5374718"/>
            <a:ext cx="130528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/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Does not use the actual behavior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for the update! Uses instead what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/>
                  <a:t> thinks would be the optimal next action. Learns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 and a deterministic target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!</a:t>
                </a:r>
              </a:p>
            </p:txBody>
          </p:sp>
        </mc:Choice>
        <mc:Fallback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  <a:blipFill>
                <a:blip r:embed="rId4"/>
                <a:stretch>
                  <a:fillRect b="-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B2F30FF-D3B9-E426-E674-2402ADDD54E3}"/>
              </a:ext>
            </a:extLst>
          </p:cNvPr>
          <p:cNvGrpSpPr/>
          <p:nvPr/>
        </p:nvGrpSpPr>
        <p:grpSpPr>
          <a:xfrm>
            <a:off x="2269363" y="4302597"/>
            <a:ext cx="664630" cy="285750"/>
            <a:chOff x="1635871" y="3777583"/>
            <a:chExt cx="1298121" cy="2857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6DD8F5B-8EA2-E148-3B92-B869DE6F1A01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FEE99F0-86A8-29AC-DC20-F44F476EE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40D809B-3ADB-75D0-F249-2ED243317119}"/>
              </a:ext>
            </a:extLst>
          </p:cNvPr>
          <p:cNvSpPr/>
          <p:nvPr/>
        </p:nvSpPr>
        <p:spPr>
          <a:xfrm>
            <a:off x="8476939" y="4063333"/>
            <a:ext cx="2526784" cy="277159"/>
          </a:xfrm>
          <a:prstGeom prst="wedgeRoundRectCallout">
            <a:avLst>
              <a:gd name="adj1" fmla="val -22496"/>
              <a:gd name="adj2" fmla="val 1253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Exploring behavior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E3D2834-B3E4-7166-3E08-4203F3346418}"/>
                  </a:ext>
                </a:extLst>
              </p:cNvPr>
              <p:cNvSpPr txBox="1"/>
              <p:nvPr/>
            </p:nvSpPr>
            <p:spPr>
              <a:xfrm>
                <a:off x="3745069" y="6123542"/>
                <a:ext cx="2009163" cy="369332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+ extract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E3D2834-B3E4-7166-3E08-4203F3346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5069" y="6123542"/>
                <a:ext cx="2009163" cy="369332"/>
              </a:xfrm>
              <a:prstGeom prst="rect">
                <a:avLst/>
              </a:prstGeom>
              <a:blipFill>
                <a:blip r:embed="rId5"/>
                <a:stretch>
                  <a:fillRect l="-2102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6363-9D21-FCAF-D518-75DBE389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Q-Learning’s Maximization Bias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22856"/>
                <a:ext cx="10515600" cy="401228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Q-learning update: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next action is not observed, but the best action according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used in the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dirty="0"/>
                  <a:t>This cycle creates a </a:t>
                </a:r>
                <a:r>
                  <a:rPr lang="en-US" b="1" dirty="0"/>
                  <a:t>maximization bias </a:t>
                </a:r>
                <a:r>
                  <a:rPr lang="en-US" dirty="0"/>
                  <a:t>that leads to overestimating the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 values.</a:t>
                </a:r>
              </a:p>
              <a:p>
                <a:endParaRPr lang="en-US" dirty="0"/>
              </a:p>
              <a:p>
                <a:r>
                  <a:rPr lang="en-US" dirty="0"/>
                  <a:t>Solution: </a:t>
                </a:r>
              </a:p>
              <a:p>
                <a:pPr lvl="1"/>
                <a:r>
                  <a:rPr lang="en-US" b="1" dirty="0"/>
                  <a:t>Double learning </a:t>
                </a:r>
                <a:r>
                  <a:rPr lang="en-US" dirty="0"/>
                  <a:t>by learning 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 and using one for the action selection and the other one for the bootstrap estimate.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22856"/>
                <a:ext cx="10515600" cy="4012288"/>
              </a:xfrm>
              <a:blipFill>
                <a:blip r:embed="rId2"/>
                <a:stretch>
                  <a:fillRect l="-696" t="-28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4700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A9B86-C713-6476-4BAC-706F7BE18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1961-CA51-2458-1636-A04654FF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Learns</a:t>
                </a:r>
                <a:r>
                  <a:rPr lang="en-US" b="1" dirty="0"/>
                  <a:t> </a:t>
                </a:r>
                <a:r>
                  <a:rPr lang="en-US" dirty="0"/>
                  <a:t>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-functions. One is used for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  <a:blipFill>
                <a:blip r:embed="rId2"/>
                <a:stretch>
                  <a:fillRect l="-696" t="-20833" r="-232" b="-19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0F54D989-C1C4-B92B-B40B-AAB5F3FF6A71}"/>
              </a:ext>
            </a:extLst>
          </p:cNvPr>
          <p:cNvGrpSpPr/>
          <p:nvPr/>
        </p:nvGrpSpPr>
        <p:grpSpPr>
          <a:xfrm>
            <a:off x="2253317" y="1759905"/>
            <a:ext cx="7811008" cy="4122625"/>
            <a:chOff x="2239357" y="2185695"/>
            <a:chExt cx="7811008" cy="412262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034FF89-75D8-9358-4C07-163A138A5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9357" y="2185695"/>
              <a:ext cx="7811008" cy="4051918"/>
            </a:xfrm>
            <a:prstGeom prst="rect">
              <a:avLst/>
            </a:prstGeom>
          </p:spPr>
        </p:pic>
        <p:sp>
          <p:nvSpPr>
            <p:cNvPr id="4" name="Speech Bubble: Rectangle with Corners Rounded 3">
              <a:extLst>
                <a:ext uri="{FF2B5EF4-FFF2-40B4-BE49-F238E27FC236}">
                  <a16:creationId xmlns:a16="http://schemas.microsoft.com/office/drawing/2014/main" id="{81EC9BCF-C1C5-6BB6-41FA-130AD6AA9D1A}"/>
                </a:ext>
              </a:extLst>
            </p:cNvPr>
            <p:cNvSpPr/>
            <p:nvPr/>
          </p:nvSpPr>
          <p:spPr>
            <a:xfrm>
              <a:off x="7308220" y="5947091"/>
              <a:ext cx="816677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Action selection</a:t>
              </a:r>
            </a:p>
          </p:txBody>
        </p: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593CB310-66AF-43E6-3435-FE7EEBE22E92}"/>
                </a:ext>
              </a:extLst>
            </p:cNvPr>
            <p:cNvSpPr/>
            <p:nvPr/>
          </p:nvSpPr>
          <p:spPr>
            <a:xfrm>
              <a:off x="5883106" y="5947091"/>
              <a:ext cx="887643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Bootstrap estimate</a:t>
              </a:r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926431E-CC5D-4EF0-79C5-590919834425}"/>
              </a:ext>
            </a:extLst>
          </p:cNvPr>
          <p:cNvSpPr txBox="1">
            <a:spLocks/>
          </p:cNvSpPr>
          <p:nvPr/>
        </p:nvSpPr>
        <p:spPr>
          <a:xfrm>
            <a:off x="894041" y="6205804"/>
            <a:ext cx="10515600" cy="38391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Note</a:t>
            </a:r>
            <a:r>
              <a:rPr lang="en-US" sz="1800" dirty="0">
                <a:solidFill>
                  <a:schemeClr val="bg1"/>
                </a:solidFill>
              </a:rPr>
              <a:t>: Many TD methods have a similar bias, and double learning extensions for these algorithms also exist.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938E5689-4071-A24B-9E73-186D9CCF08D3}"/>
              </a:ext>
            </a:extLst>
          </p:cNvPr>
          <p:cNvSpPr/>
          <p:nvPr/>
        </p:nvSpPr>
        <p:spPr>
          <a:xfrm>
            <a:off x="9556434" y="4183269"/>
            <a:ext cx="389744" cy="110927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/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Eventually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should become equal.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  <a:blipFill>
                <a:blip r:embed="rId4"/>
                <a:stretch>
                  <a:fillRect l="-1859" t="-1439" b="-71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389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CE1-D949-6959-F883-5FFFEC216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61C794-2342-ECB0-7D60-69CE67C5A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Expected 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7666E1-9180-C127-BF1F-38950CF41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Reduce action sample variation for Sarsa.</a:t>
            </a:r>
          </a:p>
        </p:txBody>
      </p:sp>
    </p:spTree>
    <p:extLst>
      <p:ext uri="{BB962C8B-B14F-4D97-AF65-F5344CB8AC3E}">
        <p14:creationId xmlns:p14="http://schemas.microsoft.com/office/powerpoint/2010/main" val="1438864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C4385-3C91-82A2-B0A7-C06386ED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Learn a soft policy and use the expectation over all possible next actions instead of the observed (Sarsa) or best (Q-Learning) action:</a:t>
                </a:r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</m:fNam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|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  <m:oMath>
                      <m:r>
                        <m:rPr>
                          <m:aln/>
                        </m:rP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b="1" dirty="0"/>
                  <a:t>Properties: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On-policy like Sarsa.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Eliminates Sarsa’s variance due to the selection of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from a soft policy.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Typically uses a learning rate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since it already uses the expectation!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Requires that actions for not affect the next immediate reward.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4043A8-6F47-FD7A-D4EE-95DB317B6A16}"/>
              </a:ext>
            </a:extLst>
          </p:cNvPr>
          <p:cNvSpPr/>
          <p:nvPr/>
        </p:nvSpPr>
        <p:spPr>
          <a:xfrm>
            <a:off x="6006517" y="2319556"/>
            <a:ext cx="2898397" cy="53689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439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A947AF-1111-8FC8-9C49-9ED02B2A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55082-DEC7-913B-105C-3428E5E3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Sarsa vs. Q-Learning vs. Expected Sarsa</a:t>
            </a:r>
          </a:p>
        </p:txBody>
      </p:sp>
    </p:spTree>
    <p:extLst>
      <p:ext uri="{BB962C8B-B14F-4D97-AF65-F5344CB8AC3E}">
        <p14:creationId xmlns:p14="http://schemas.microsoft.com/office/powerpoint/2010/main" val="5921753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09F3288D-F473-C2C7-1246-80B469AA5262}"/>
              </a:ext>
            </a:extLst>
          </p:cNvPr>
          <p:cNvGrpSpPr/>
          <p:nvPr/>
        </p:nvGrpSpPr>
        <p:grpSpPr>
          <a:xfrm>
            <a:off x="1982784" y="3903929"/>
            <a:ext cx="8738335" cy="1844817"/>
            <a:chOff x="1060946" y="3465626"/>
            <a:chExt cx="9513121" cy="223690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027D81A-F2A7-9C05-925E-39F3F345B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9216" y="3473366"/>
              <a:ext cx="5734851" cy="222916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A8F4E1-AA11-EA65-8209-64A2D6CE0D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4287" y="3563867"/>
              <a:ext cx="1038370" cy="204816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/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/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/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/>
                <p:nvPr/>
              </p:nvSpPr>
              <p:spPr>
                <a:xfrm>
                  <a:off x="1565065" y="3840991"/>
                  <a:ext cx="602038" cy="369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5065" y="3840991"/>
                  <a:ext cx="602038" cy="369331"/>
                </a:xfrm>
                <a:prstGeom prst="rect">
                  <a:avLst/>
                </a:prstGeom>
                <a:blipFill>
                  <a:blip r:embed="rId20"/>
                  <a:stretch>
                    <a:fillRect r="-549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/>
                <p:nvPr/>
              </p:nvSpPr>
              <p:spPr>
                <a:xfrm>
                  <a:off x="5855865" y="4536817"/>
                  <a:ext cx="1656131" cy="33587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max</m:t>
                      </m:r>
                    </m:oMath>
                  </a14:m>
                  <a:r>
                    <a:rPr lang="en-US" sz="1200" dirty="0"/>
                    <a:t> for target policy</a:t>
                  </a: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5865" y="4536817"/>
                  <a:ext cx="1656131" cy="335870"/>
                </a:xfrm>
                <a:prstGeom prst="rect">
                  <a:avLst/>
                </a:prstGeom>
                <a:blipFill>
                  <a:blip r:embed="rId21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/>
                <p:nvPr/>
              </p:nvSpPr>
              <p:spPr>
                <a:xfrm>
                  <a:off x="9638555" y="4403280"/>
                  <a:ext cx="502381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8555" y="4403280"/>
                  <a:ext cx="502381" cy="369331"/>
                </a:xfrm>
                <a:prstGeom prst="rect">
                  <a:avLst/>
                </a:prstGeom>
                <a:blipFill>
                  <a:blip r:embed="rId22"/>
                  <a:stretch>
                    <a:fillRect b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/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blipFill>
                  <a:blip r:embed="rId23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/>
                <p:nvPr/>
              </p:nvSpPr>
              <p:spPr>
                <a:xfrm>
                  <a:off x="1060946" y="4925512"/>
                  <a:ext cx="104967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946" y="4925512"/>
                  <a:ext cx="1049672" cy="276999"/>
                </a:xfrm>
                <a:prstGeom prst="rect">
                  <a:avLst/>
                </a:prstGeom>
                <a:blipFill>
                  <a:blip r:embed="rId24"/>
                  <a:stretch>
                    <a:fillRect r="-8228" b="-32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7EA2BBB-A726-1EF6-3427-57B33AC4A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Comparison: 1-step Backup Diagrams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8187D2-C651-211E-F36F-28F57A9AE11F}"/>
              </a:ext>
            </a:extLst>
          </p:cNvPr>
          <p:cNvGrpSpPr/>
          <p:nvPr/>
        </p:nvGrpSpPr>
        <p:grpSpPr>
          <a:xfrm>
            <a:off x="2712656" y="1307163"/>
            <a:ext cx="5965095" cy="1952829"/>
            <a:chOff x="2637816" y="2846877"/>
            <a:chExt cx="5965095" cy="195282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816A4BA-29C5-E498-E49B-2A5D1934C3AC}"/>
                </a:ext>
              </a:extLst>
            </p:cNvPr>
            <p:cNvGrpSpPr/>
            <p:nvPr/>
          </p:nvGrpSpPr>
          <p:grpSpPr>
            <a:xfrm>
              <a:off x="2637816" y="2846877"/>
              <a:ext cx="5965095" cy="1870236"/>
              <a:chOff x="2373562" y="2582670"/>
              <a:chExt cx="5965095" cy="1870236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79CA762-1D81-E9C9-CDF2-B465A9EF9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D8A8134D-2B73-F837-EAFB-A58F7D294338}"/>
                  </a:ext>
                </a:extLst>
              </p:cNvPr>
              <p:cNvSpPr/>
              <p:nvPr/>
            </p:nvSpPr>
            <p:spPr>
              <a:xfrm>
                <a:off x="3744294" y="3074530"/>
                <a:ext cx="1514911" cy="854643"/>
              </a:xfrm>
              <a:prstGeom prst="arc">
                <a:avLst>
                  <a:gd name="adj1" fmla="val 942545"/>
                  <a:gd name="adj2" fmla="val 9972429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/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42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EB6D555F-71D5-466F-AA26-1C0B46F3DF17}"/>
                  </a:ext>
                </a:extLst>
              </p:cNvPr>
              <p:cNvSpPr/>
              <p:nvPr/>
            </p:nvSpPr>
            <p:spPr>
              <a:xfrm>
                <a:off x="3797229" y="2582670"/>
                <a:ext cx="464096" cy="1177771"/>
              </a:xfrm>
              <a:prstGeom prst="arc">
                <a:avLst>
                  <a:gd name="adj1" fmla="val 535615"/>
                  <a:gd name="adj2" fmla="val 609571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447D22-5746-B9E6-4B7F-D58201646AB7}"/>
                  </a:ext>
                </a:extLst>
              </p:cNvPr>
              <p:cNvSpPr txBox="1"/>
              <p:nvPr/>
            </p:nvSpPr>
            <p:spPr>
              <a:xfrm>
                <a:off x="3744294" y="3929686"/>
                <a:ext cx="151491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 to reduce the TD error</a:t>
                </a:r>
              </a:p>
            </p:txBody>
          </p:sp>
          <p:sp>
            <p:nvSpPr>
              <p:cNvPr id="22" name="Right Brace 21">
                <a:extLst>
                  <a:ext uri="{FF2B5EF4-FFF2-40B4-BE49-F238E27FC236}">
                    <a16:creationId xmlns:a16="http://schemas.microsoft.com/office/drawing/2014/main" id="{E25CDC5A-37CC-002F-E578-D71B185F9446}"/>
                  </a:ext>
                </a:extLst>
              </p:cNvPr>
              <p:cNvSpPr/>
              <p:nvPr/>
            </p:nvSpPr>
            <p:spPr>
              <a:xfrm rot="16200000">
                <a:off x="4138402" y="2045388"/>
                <a:ext cx="202889" cy="173116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225B51-8649-F146-DE31-A737A77E9A34}"/>
                  </a:ext>
                </a:extLst>
              </p:cNvPr>
              <p:cNvSpPr txBox="1"/>
              <p:nvPr/>
            </p:nvSpPr>
            <p:spPr>
              <a:xfrm>
                <a:off x="3877022" y="2587111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/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  <a:blipFill>
                  <a:blip r:embed="rId14"/>
                  <a:stretch>
                    <a:fillRect b="-6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F719737-7B4F-FA5F-52DC-A6E0F7264BD2}"/>
              </a:ext>
            </a:extLst>
          </p:cNvPr>
          <p:cNvSpPr txBox="1"/>
          <p:nvPr/>
        </p:nvSpPr>
        <p:spPr>
          <a:xfrm>
            <a:off x="1260901" y="5748746"/>
            <a:ext cx="3192011" cy="5232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On-policy: Updates with a next action following the learned policy.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6F83D4-BFF1-A102-5C24-A229A3E27595}"/>
              </a:ext>
            </a:extLst>
          </p:cNvPr>
          <p:cNvSpPr txBox="1"/>
          <p:nvPr/>
        </p:nvSpPr>
        <p:spPr>
          <a:xfrm>
            <a:off x="4732910" y="5748746"/>
            <a:ext cx="3058131" cy="52322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Off-policy: Updates with the best next action for the target policy.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A6C9EB-1E75-1DA2-416B-203908B586D6}"/>
              </a:ext>
            </a:extLst>
          </p:cNvPr>
          <p:cNvSpPr txBox="1"/>
          <p:nvPr/>
        </p:nvSpPr>
        <p:spPr>
          <a:xfrm>
            <a:off x="8028264" y="5748746"/>
            <a:ext cx="3460459" cy="52322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On-policy: Updates with the expectation over the action for the learned policy.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BAD7055-DE67-506C-6C69-5BC88E3D54E4}"/>
                  </a:ext>
                </a:extLst>
              </p:cNvPr>
              <p:cNvSpPr txBox="1"/>
              <p:nvPr/>
            </p:nvSpPr>
            <p:spPr>
              <a:xfrm>
                <a:off x="1579111" y="3481304"/>
                <a:ext cx="246489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BAD7055-DE67-506C-6C69-5BC88E3D5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9111" y="3481304"/>
                <a:ext cx="2464898" cy="307777"/>
              </a:xfrm>
              <a:prstGeom prst="rect">
                <a:avLst/>
              </a:prstGeom>
              <a:blipFill>
                <a:blip r:embed="rId2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0E339F-8641-BC7F-CC47-A19D94CC02F4}"/>
                  </a:ext>
                </a:extLst>
              </p:cNvPr>
              <p:cNvSpPr txBox="1"/>
              <p:nvPr/>
            </p:nvSpPr>
            <p:spPr>
              <a:xfrm>
                <a:off x="4452912" y="3502559"/>
                <a:ext cx="2743202" cy="374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0E339F-8641-BC7F-CC47-A19D94CC02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912" y="3502559"/>
                <a:ext cx="2743202" cy="374205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1E83FA3B-81BD-8362-6C7F-87B12A33FE94}"/>
              </a:ext>
            </a:extLst>
          </p:cNvPr>
          <p:cNvSpPr txBox="1"/>
          <p:nvPr/>
        </p:nvSpPr>
        <p:spPr>
          <a:xfrm>
            <a:off x="602122" y="3429000"/>
            <a:ext cx="903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35652D5-8773-F074-8427-A5AC9770001F}"/>
                  </a:ext>
                </a:extLst>
              </p:cNvPr>
              <p:cNvSpPr txBox="1"/>
              <p:nvPr/>
            </p:nvSpPr>
            <p:spPr>
              <a:xfrm>
                <a:off x="8028263" y="3519297"/>
                <a:ext cx="302003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35652D5-8773-F074-8427-A5AC977000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8263" y="3519297"/>
                <a:ext cx="3020037" cy="307777"/>
              </a:xfrm>
              <a:prstGeom prst="rect">
                <a:avLst/>
              </a:prstGeom>
              <a:blipFill>
                <a:blip r:embed="rId29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34048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8276F-7795-B966-030F-FCC38499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052934" cy="759072"/>
          </a:xfrm>
        </p:spPr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98B4E-B7CF-E345-6580-CEE34C1DC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9A7B5-A9CC-EE24-F78E-F3E2FA24D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F5773-6D0D-1D71-F1CD-C7746EF7F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3FCB8B5-813B-D263-F7C1-1BC210D5ED90}"/>
              </a:ext>
            </a:extLst>
          </p:cNvPr>
          <p:cNvSpPr/>
          <p:nvPr/>
        </p:nvSpPr>
        <p:spPr>
          <a:xfrm>
            <a:off x="10016519" y="5264757"/>
            <a:ext cx="1542614" cy="696293"/>
          </a:xfrm>
          <a:prstGeom prst="wedgeRoundRectCallout">
            <a:avLst>
              <a:gd name="adj1" fmla="val -79398"/>
              <a:gd name="adj2" fmla="val -6180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the optimal path perform worse?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D148F4B-5A91-1BFA-41CC-F38800350D33}"/>
              </a:ext>
            </a:extLst>
          </p:cNvPr>
          <p:cNvSpPr/>
          <p:nvPr/>
        </p:nvSpPr>
        <p:spPr>
          <a:xfrm>
            <a:off x="9483681" y="2580760"/>
            <a:ext cx="2608289" cy="696293"/>
          </a:xfrm>
          <a:prstGeom prst="wedgeRoundRectCallout">
            <a:avLst>
              <a:gd name="adj1" fmla="val -39279"/>
              <a:gd name="adj2" fmla="val -2744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Sarsa pick the longer path while Q-Learning finds the optimal path?</a:t>
            </a:r>
          </a:p>
        </p:txBody>
      </p:sp>
    </p:spTree>
    <p:extLst>
      <p:ext uri="{BB962C8B-B14F-4D97-AF65-F5344CB8AC3E}">
        <p14:creationId xmlns:p14="http://schemas.microsoft.com/office/powerpoint/2010/main" val="2000631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AA1F0-940C-EE3F-D15D-72C7A653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9EA57-3578-362D-B879-FA8EDF16D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112895" cy="759072"/>
          </a:xfrm>
        </p:spPr>
        <p:txBody>
          <a:bodyPr>
            <a:normAutofit/>
          </a:bodyPr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D4FE8-3C4E-DC95-0476-B5C678885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5B5508-DD84-0561-E4B7-B0A2B44DB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080FFF-E983-662A-907E-6B5CCFAB9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419248-E32C-E1A5-DA88-F07267441E80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61BC875-C5BF-4D99-E066-2E9E901055E1}"/>
              </a:ext>
            </a:extLst>
          </p:cNvPr>
          <p:cNvSpPr/>
          <p:nvPr/>
        </p:nvSpPr>
        <p:spPr>
          <a:xfrm>
            <a:off x="10174843" y="4685251"/>
            <a:ext cx="1845306" cy="2031542"/>
          </a:xfrm>
          <a:prstGeom prst="wedgeRoundRectCallout">
            <a:avLst>
              <a:gd name="adj1" fmla="val -84969"/>
              <a:gd name="adj2" fmla="val -31455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Q-learning learns the optimal policy, but uses a soft behavior policy to explore. Walking along the cliff with a soft policy is dangerous.</a:t>
            </a:r>
          </a:p>
          <a:p>
            <a:pPr algn="ctr"/>
            <a:r>
              <a:rPr lang="en-US" sz="1100" dirty="0"/>
              <a:t>Once we only follow the learned deterministic  policy, the sum of rewards will be optimal.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7881373-FF43-8F96-C27F-EE64A3DDB838}"/>
              </a:ext>
            </a:extLst>
          </p:cNvPr>
          <p:cNvSpPr/>
          <p:nvPr/>
        </p:nvSpPr>
        <p:spPr>
          <a:xfrm>
            <a:off x="9584422" y="2485204"/>
            <a:ext cx="2528384" cy="696293"/>
          </a:xfrm>
          <a:prstGeom prst="wedgeRoundRectCallout">
            <a:avLst>
              <a:gd name="adj1" fmla="val -31027"/>
              <a:gd name="adj2" fmla="val -2708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Sarsa is on-policy and learns a soft policy. Walking along the cliff would be dangerous! Q-Learning learns the optimal deterministic policy.</a:t>
            </a:r>
          </a:p>
        </p:txBody>
      </p:sp>
    </p:spTree>
    <p:extLst>
      <p:ext uri="{BB962C8B-B14F-4D97-AF65-F5344CB8AC3E}">
        <p14:creationId xmlns:p14="http://schemas.microsoft.com/office/powerpoint/2010/main" val="3138592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47B388-9EDE-BEEF-286A-0670BB57C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118" y="706152"/>
            <a:ext cx="8556776" cy="59956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6EC57F-A3C1-ECE0-DBDD-E93D09AB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446864" cy="1551758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Experimental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/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Observations</a:t>
                </a:r>
                <a:r>
                  <a:rPr lang="en-US" sz="1600" dirty="0"/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Performance measure is for the behavior policy. Q-Learning learns the optimal policy.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Sarsa is very sensitive to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! (asymptotic performance).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Expected Sarsa should use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1600" dirty="0"/>
                  <a:t>. For the other methods,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 is a problem-dependent tuning parameter (solid circles).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  <a:blipFill>
                <a:blip r:embed="rId3"/>
                <a:stretch>
                  <a:fillRect l="-1139" t="-343" b="-1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25032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915B90-DA12-5311-A694-71F151366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016F98-4E8E-CBB1-A610-58AFEB8B6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</p:spPr>
            <p:txBody>
              <a:bodyPr anchor="ctr">
                <a:normAutofit lnSpcReduction="10000"/>
              </a:bodyPr>
              <a:lstStyle/>
              <a:p>
                <a:r>
                  <a:rPr lang="en-US" sz="1600" dirty="0"/>
                  <a:t>Time difference (TD) learning is an alternative to MC for the prediction problem (policy evaluation).</a:t>
                </a:r>
              </a:p>
              <a:p>
                <a:r>
                  <a:rPr lang="en-US" sz="1600" b="1" dirty="0"/>
                  <a:t>Method</a:t>
                </a:r>
                <a:r>
                  <a:rPr lang="en-US" sz="1600" dirty="0"/>
                  <a:t>: Stepwise reduces the TD error for the next step.</a:t>
                </a:r>
              </a:p>
              <a:p>
                <a:r>
                  <a:rPr lang="en-US" sz="1600" b="1" dirty="0"/>
                  <a:t>Popular and most widely used RL methods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On-policy: Sarsa</a:t>
                </a:r>
              </a:p>
              <a:p>
                <a:pPr lvl="1"/>
                <a:r>
                  <a:rPr lang="en-US" sz="1600" dirty="0"/>
                  <a:t>Off-policy: Q-learning</a:t>
                </a:r>
              </a:p>
              <a:p>
                <a:r>
                  <a:rPr lang="en-US" sz="1600" b="1" dirty="0"/>
                  <a:t>Advantages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Model-free: Uses only experience.</a:t>
                </a:r>
              </a:p>
              <a:p>
                <a:pPr lvl="1"/>
                <a:r>
                  <a:rPr lang="en-US" sz="1600" dirty="0"/>
                  <a:t>Truly online learning after each observation.</a:t>
                </a:r>
              </a:p>
              <a:p>
                <a:pPr lvl="1"/>
                <a:r>
                  <a:rPr lang="en-US" sz="1600" dirty="0"/>
                  <a:t>Simple with minimal computation.</a:t>
                </a:r>
              </a:p>
              <a:p>
                <a:r>
                  <a:rPr lang="en-US" sz="1600" b="1" dirty="0"/>
                  <a:t>Challenges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Bootstrapping introduces bias.</a:t>
                </a:r>
              </a:p>
              <a:p>
                <a:pPr lvl="1"/>
                <a:r>
                  <a:rPr lang="en-US" sz="1600" dirty="0"/>
                  <a:t>Maximation bias (especially Q-learning).</a:t>
                </a:r>
              </a:p>
              <a:p>
                <a:pPr lvl="1"/>
                <a:r>
                  <a:rPr lang="en-US" sz="1600" dirty="0"/>
                  <a:t>Behavior policy needs to keep exploring.</a:t>
                </a:r>
              </a:p>
              <a:p>
                <a:pPr lvl="1"/>
                <a:r>
                  <a:rPr lang="en-US" sz="1600" dirty="0"/>
                  <a:t>Not sample efficient: uses observations only once.</a:t>
                </a:r>
              </a:p>
              <a:p>
                <a:pPr lvl="1"/>
                <a:r>
                  <a:rPr lang="en-US" sz="1600" dirty="0"/>
                  <a:t>Tabular: Requires too much memory and does not generalize between states.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dirty="0"/>
                  <a:t>We will extend the one-step tabular TD ideas from this chapter to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-steps </a:t>
                </a:r>
                <a:r>
                  <a:rPr lang="en-US" sz="1600" dirty="0"/>
                  <a:t>and </a:t>
                </a:r>
                <a:r>
                  <a:rPr lang="en-US" sz="1600" b="1" dirty="0"/>
                  <a:t>function approximation</a:t>
                </a:r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  <a:blipFill>
                <a:blip r:embed="rId3"/>
                <a:stretch>
                  <a:fillRect l="-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880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8351</TotalTime>
  <Words>2699</Words>
  <Application>Microsoft Office PowerPoint</Application>
  <PresentationFormat>Widescreen</PresentationFormat>
  <Paragraphs>278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Temporal-Difference Learning Sutton/Barto* Chapter 6</vt:lpstr>
      <vt:lpstr>Topics of this Course</vt:lpstr>
      <vt:lpstr>Summary of Notation</vt:lpstr>
      <vt:lpstr>Recap: MDPs, DP and MC</vt:lpstr>
      <vt:lpstr>Temporal-Difference (TD) Learning</vt:lpstr>
      <vt:lpstr>TD Prediction</vt:lpstr>
      <vt:lpstr>TD Prediction</vt:lpstr>
      <vt:lpstr>Alg. Tabular TD(0)</vt:lpstr>
      <vt:lpstr>Convergence of TD Methods</vt:lpstr>
      <vt:lpstr>Advantages of TD Prediction Methods</vt:lpstr>
      <vt:lpstr>On-Policy TD Control:  Sarsa</vt:lpstr>
      <vt:lpstr>Sarsa</vt:lpstr>
      <vt:lpstr>Alg. Sarsa: On-Policy TD Control</vt:lpstr>
      <vt:lpstr>Off-policy TD Control:  Q-Learning</vt:lpstr>
      <vt:lpstr>Q-Learning</vt:lpstr>
      <vt:lpstr>Alg. Q-Learning</vt:lpstr>
      <vt:lpstr>Q-Learning’s Maximization Bias</vt:lpstr>
      <vt:lpstr>Double Q-Learning</vt:lpstr>
      <vt:lpstr>On-policy TD Control:  Expected Sarsa</vt:lpstr>
      <vt:lpstr>Expected Sarsa</vt:lpstr>
      <vt:lpstr>Comparison</vt:lpstr>
      <vt:lpstr>Comparison: 1-step Backup Diagrams</vt:lpstr>
      <vt:lpstr>Sarsa vs. Q-Learning</vt:lpstr>
      <vt:lpstr>Sarsa vs. Q-Learning</vt:lpstr>
      <vt:lpstr> Experimental Comparison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175</cp:revision>
  <dcterms:created xsi:type="dcterms:W3CDTF">2025-09-08T14:44:49Z</dcterms:created>
  <dcterms:modified xsi:type="dcterms:W3CDTF">2026-09-25T15:35:53Z</dcterms:modified>
</cp:coreProperties>
</file>