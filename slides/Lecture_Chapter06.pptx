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480" r:id="rId5"/>
    <p:sldId id="382" r:id="rId6"/>
    <p:sldId id="389" r:id="rId7"/>
    <p:sldId id="383" r:id="rId8"/>
    <p:sldId id="385" r:id="rId9"/>
    <p:sldId id="481" r:id="rId10"/>
    <p:sldId id="386" r:id="rId11"/>
    <p:sldId id="388" r:id="rId12"/>
    <p:sldId id="387" r:id="rId13"/>
    <p:sldId id="390" r:id="rId14"/>
    <p:sldId id="391" r:id="rId15"/>
    <p:sldId id="402" r:id="rId16"/>
    <p:sldId id="393" r:id="rId17"/>
    <p:sldId id="398" r:id="rId18"/>
    <p:sldId id="403" r:id="rId19"/>
    <p:sldId id="404" r:id="rId20"/>
    <p:sldId id="397" r:id="rId21"/>
    <p:sldId id="399" r:id="rId22"/>
    <p:sldId id="394" r:id="rId23"/>
    <p:sldId id="396" r:id="rId24"/>
    <p:sldId id="479" r:id="rId25"/>
    <p:sldId id="401" r:id="rId26"/>
    <p:sldId id="40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dea of Remporal-Difference Learning" id="{2380860D-C062-4E40-AEF2-F4A84DAD8EB2}">
          <p14:sldIdLst>
            <p14:sldId id="480"/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481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85" d="100"/>
          <a:sy n="85" d="100"/>
        </p:scale>
        <p:origin x="11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1.png"/><Relationship Id="rId18" Type="http://schemas.openxmlformats.org/officeDocument/2006/relationships/image" Target="../media/image320.png"/><Relationship Id="rId3" Type="http://schemas.openxmlformats.org/officeDocument/2006/relationships/image" Target="../media/image35.png"/><Relationship Id="rId21" Type="http://schemas.openxmlformats.org/officeDocument/2006/relationships/image" Target="../media/image39.png"/><Relationship Id="rId17" Type="http://schemas.openxmlformats.org/officeDocument/2006/relationships/image" Target="../media/image310.png"/><Relationship Id="rId2" Type="http://schemas.openxmlformats.org/officeDocument/2006/relationships/image" Target="../media/image34.png"/><Relationship Id="rId16" Type="http://schemas.openxmlformats.org/officeDocument/2006/relationships/image" Target="../media/image38.png"/><Relationship Id="rId20" Type="http://schemas.openxmlformats.org/officeDocument/2006/relationships/image" Target="../media/image340.png"/><Relationship Id="rId1" Type="http://schemas.openxmlformats.org/officeDocument/2006/relationships/slideLayout" Target="../slideLayouts/slideLayout6.xml"/><Relationship Id="rId24" Type="http://schemas.openxmlformats.org/officeDocument/2006/relationships/image" Target="../media/image380.png"/><Relationship Id="rId15" Type="http://schemas.openxmlformats.org/officeDocument/2006/relationships/image" Target="../media/image37.png"/><Relationship Id="rId23" Type="http://schemas.openxmlformats.org/officeDocument/2006/relationships/image" Target="../media/image370.png"/><Relationship Id="rId19" Type="http://schemas.openxmlformats.org/officeDocument/2006/relationships/image" Target="../media/image330.png"/><Relationship Id="rId14" Type="http://schemas.openxmlformats.org/officeDocument/2006/relationships/image" Target="../media/image36.png"/><Relationship Id="rId22" Type="http://schemas.openxmlformats.org/officeDocument/2006/relationships/image" Target="../media/image36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b="1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BCC76-3EE9-1023-A1BC-58F2159C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MDPs, DP and MC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D9D80-661F-2E66-0004-1754DDE32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6532841" cy="4838578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Finite MDPs</a:t>
            </a:r>
            <a:r>
              <a:rPr lang="en-US" dirty="0"/>
              <a:t>: </a:t>
            </a:r>
            <a:r>
              <a:rPr lang="en-US" b="1" dirty="0">
                <a:solidFill>
                  <a:schemeClr val="accent2"/>
                </a:solidFill>
              </a:rPr>
              <a:t>Bellman Expectation Equations </a:t>
            </a:r>
            <a:r>
              <a:rPr lang="en-US" dirty="0"/>
              <a:t>convert expected return maximization into an easier value function consistency problem.</a:t>
            </a:r>
          </a:p>
          <a:p>
            <a:endParaRPr lang="en-US" dirty="0"/>
          </a:p>
          <a:p>
            <a:r>
              <a:rPr lang="en-US" b="1" dirty="0"/>
              <a:t>Dynamic Programming (DP)</a:t>
            </a:r>
            <a:r>
              <a:rPr lang="en-US" dirty="0"/>
              <a:t>: 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Policy evaluation </a:t>
            </a:r>
            <a:r>
              <a:rPr lang="en-US" dirty="0"/>
              <a:t>solves the Bellman Expectation Equations by updating the value function iteratively (planning).</a:t>
            </a:r>
          </a:p>
          <a:p>
            <a:endParaRPr lang="en-US" dirty="0"/>
          </a:p>
          <a:p>
            <a:r>
              <a:rPr lang="en-US" b="1" dirty="0"/>
              <a:t>Generalized Policy Iteration (GPI)</a:t>
            </a:r>
            <a:r>
              <a:rPr lang="en-US" dirty="0"/>
              <a:t>:</a:t>
            </a:r>
            <a:r>
              <a:rPr lang="en-US" b="1" dirty="0"/>
              <a:t> </a:t>
            </a:r>
            <a:r>
              <a:rPr lang="en-US" dirty="0"/>
              <a:t>Iterates between policy evaluation and </a:t>
            </a:r>
            <a:r>
              <a:rPr lang="en-US" b="1" dirty="0">
                <a:solidFill>
                  <a:schemeClr val="accent2"/>
                </a:solidFill>
              </a:rPr>
              <a:t>greedy policy improvement </a:t>
            </a:r>
            <a:r>
              <a:rPr lang="en-US" dirty="0"/>
              <a:t>to find the optimal policy.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Monte Carlo Methods (MC)</a:t>
            </a:r>
            <a:r>
              <a:rPr lang="en-US" dirty="0"/>
              <a:t>:</a:t>
            </a:r>
            <a:r>
              <a:rPr lang="en-US" b="1" dirty="0"/>
              <a:t> </a:t>
            </a:r>
            <a:r>
              <a:rPr lang="en-US" dirty="0"/>
              <a:t>Uses </a:t>
            </a:r>
            <a:r>
              <a:rPr lang="en-US" b="1" dirty="0">
                <a:solidFill>
                  <a:schemeClr val="accent2"/>
                </a:solidFill>
              </a:rPr>
              <a:t>sample-averaging for policy evaluation</a:t>
            </a:r>
            <a:r>
              <a:rPr lang="en-US" dirty="0"/>
              <a:t> in GPI (update after complete sample episode).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D6C2A-6080-9EF7-8BB9-6C15E39B84D4}"/>
              </a:ext>
            </a:extLst>
          </p:cNvPr>
          <p:cNvSpPr txBox="1"/>
          <p:nvPr/>
        </p:nvSpPr>
        <p:spPr>
          <a:xfrm>
            <a:off x="7718304" y="1344244"/>
            <a:ext cx="4106074" cy="107721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Reward hypothesis</a:t>
            </a:r>
            <a:r>
              <a:rPr lang="en-US" sz="1600" dirty="0"/>
              <a:t>: “All goals and purposes of an agent can be represented as the maximization of the expected cumulative reward.”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A0EF3-65C1-3B6F-7966-658F78096C0F}"/>
              </a:ext>
            </a:extLst>
          </p:cNvPr>
          <p:cNvSpPr txBox="1"/>
          <p:nvPr/>
        </p:nvSpPr>
        <p:spPr>
          <a:xfrm>
            <a:off x="7718304" y="3753394"/>
            <a:ext cx="4106074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Policy Improvement Theorem</a:t>
            </a:r>
            <a:r>
              <a:rPr lang="en-US" sz="1600" dirty="0"/>
              <a:t>: Greedy action choice leads to policy improvement and convergence.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B45C87-9BD1-8FF4-8FDF-AE79A11009A4}"/>
              </a:ext>
            </a:extLst>
          </p:cNvPr>
          <p:cNvSpPr txBox="1"/>
          <p:nvPr/>
        </p:nvSpPr>
        <p:spPr>
          <a:xfrm>
            <a:off x="7718304" y="2877862"/>
            <a:ext cx="4129923" cy="3385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Expected Bellman update operator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AE62F9-9C15-E5C3-9BCE-305DDD34D285}"/>
              </a:ext>
            </a:extLst>
          </p:cNvPr>
          <p:cNvSpPr txBox="1"/>
          <p:nvPr/>
        </p:nvSpPr>
        <p:spPr>
          <a:xfrm>
            <a:off x="7718304" y="5010013"/>
            <a:ext cx="4106074" cy="830997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Greedy in the Limit with Infinite Exploration (GLIE): </a:t>
            </a:r>
            <a:r>
              <a:rPr lang="en-US" sz="1600" dirty="0"/>
              <a:t>Guarantees convergence.</a:t>
            </a:r>
          </a:p>
        </p:txBody>
      </p:sp>
    </p:spTree>
    <p:extLst>
      <p:ext uri="{BB962C8B-B14F-4D97-AF65-F5344CB8AC3E}">
        <p14:creationId xmlns:p14="http://schemas.microsoft.com/office/powerpoint/2010/main" val="197615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We know from the Bellman equations, that the value function has a recursive relationship between state values and the value of its successors.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dirty="0"/>
                  <a:t>The error can be </a:t>
                </a:r>
                <a:r>
                  <a:rPr lang="en-US" b="1" dirty="0"/>
                  <a:t>estimated</a:t>
                </a:r>
                <a:r>
                  <a:rPr lang="en-US" dirty="0"/>
                  <a:t> using an observed immediate reward and next state. This is called the </a:t>
                </a:r>
                <a:r>
                  <a:rPr lang="en-US" b="1" dirty="0"/>
                  <a:t>TD error</a:t>
                </a:r>
                <a:r>
                  <a:rPr lang="en-US" dirty="0"/>
                  <a:t>:  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the TD error by making the tabular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observed immediate reward plus the discounted, estimated value of the next observed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↜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tuples)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 via </a:t>
                </a:r>
                <a:r>
                  <a:rPr lang="en-US" b="1" dirty="0"/>
                  <a:t>bootstrapping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  <a:blipFill>
                <a:blip r:embed="rId2"/>
                <a:stretch>
                  <a:fillRect l="-77" t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679A8092-0707-5FD9-E091-E06DF5D326A0}"/>
              </a:ext>
            </a:extLst>
          </p:cNvPr>
          <p:cNvGrpSpPr/>
          <p:nvPr/>
        </p:nvGrpSpPr>
        <p:grpSpPr>
          <a:xfrm>
            <a:off x="8868127" y="988815"/>
            <a:ext cx="2595610" cy="2584667"/>
            <a:chOff x="8758190" y="1397329"/>
            <a:chExt cx="2595610" cy="258466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E77EFFD-0224-23E4-99EB-290564017C6F}"/>
                </a:ext>
              </a:extLst>
            </p:cNvPr>
            <p:cNvGrpSpPr/>
            <p:nvPr/>
          </p:nvGrpSpPr>
          <p:grpSpPr>
            <a:xfrm>
              <a:off x="8758190" y="1397329"/>
              <a:ext cx="2595610" cy="2061447"/>
              <a:chOff x="8600352" y="2398276"/>
              <a:chExt cx="2595610" cy="2061447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D6B8A70-7CBB-B0CD-8422-D282F46101E2}"/>
                  </a:ext>
                </a:extLst>
              </p:cNvPr>
              <p:cNvGrpSpPr/>
              <p:nvPr/>
            </p:nvGrpSpPr>
            <p:grpSpPr>
              <a:xfrm>
                <a:off x="8850833" y="2398276"/>
                <a:ext cx="2345129" cy="2061447"/>
                <a:chOff x="9234742" y="369649"/>
                <a:chExt cx="2345129" cy="2061447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1723B89B-0891-8CC5-A64F-F496DF8A1A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234742" y="738981"/>
                  <a:ext cx="2345129" cy="169211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=−0.04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32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FB9A9FCB-5B10-FBD9-6B0F-C0F07D29E7A8}"/>
                    </a:ext>
                  </a:extLst>
                </p:cNvPr>
                <p:cNvSpPr/>
                <p:nvPr/>
              </p:nvSpPr>
              <p:spPr>
                <a:xfrm>
                  <a:off x="9296582" y="1495605"/>
                  <a:ext cx="321332" cy="474650"/>
                </a:xfrm>
                <a:custGeom>
                  <a:avLst/>
                  <a:gdLst>
                    <a:gd name="csX0" fmla="*/ 279451 w 321332"/>
                    <a:gd name="csY0" fmla="*/ 0 h 474650"/>
                    <a:gd name="csX1" fmla="*/ 245 w 321332"/>
                    <a:gd name="csY1" fmla="*/ 265246 h 474650"/>
                    <a:gd name="csX2" fmla="*/ 321332 w 321332"/>
                    <a:gd name="csY2" fmla="*/ 474650 h 4746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21332" h="474650">
                      <a:moveTo>
                        <a:pt x="279451" y="0"/>
                      </a:moveTo>
                      <a:cubicBezTo>
                        <a:pt x="136358" y="93069"/>
                        <a:pt x="-6735" y="186138"/>
                        <a:pt x="245" y="265246"/>
                      </a:cubicBezTo>
                      <a:cubicBezTo>
                        <a:pt x="7225" y="344354"/>
                        <a:pt x="164278" y="409502"/>
                        <a:pt x="321332" y="474650"/>
                      </a:cubicBezTo>
                    </a:path>
                  </a:pathLst>
                </a:custGeom>
                <a:ln>
                  <a:headEnd type="none" w="med" len="med"/>
                  <a:tailEnd type="arrow" w="med" len="med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/>
                  <p:nvPr/>
                </p:nvSpPr>
                <p:spPr>
                  <a:xfrm>
                    <a:off x="8600352" y="3479369"/>
                    <a:ext cx="44512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dirty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00352" y="3479369"/>
                    <a:ext cx="445122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/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/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A55A951-39C0-4F53-C0D4-E534EF4C3F09}"/>
                </a:ext>
              </a:extLst>
            </p:cNvPr>
            <p:cNvSpPr txBox="1"/>
            <p:nvPr/>
          </p:nvSpPr>
          <p:spPr>
            <a:xfrm>
              <a:off x="9391843" y="3458776"/>
              <a:ext cx="18833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+ stochastic transition model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8920505" y="5499853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 truly online process that can update after each action</a:t>
              </a:r>
            </a:p>
          </p:txBody>
        </p:sp>
      </p:grp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43E8B3F-8B96-FA98-CFB2-647034BFE89B}"/>
              </a:ext>
            </a:extLst>
          </p:cNvPr>
          <p:cNvSpPr/>
          <p:nvPr/>
        </p:nvSpPr>
        <p:spPr>
          <a:xfrm>
            <a:off x="9118608" y="3704710"/>
            <a:ext cx="2345128" cy="771993"/>
          </a:xfrm>
          <a:prstGeom prst="wedgeRoundRectCallout">
            <a:avLst>
              <a:gd name="adj1" fmla="val -187123"/>
              <a:gd name="adj2" fmla="val -2779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Note</a:t>
            </a:r>
            <a:r>
              <a:rPr lang="en-US" sz="1200" dirty="0"/>
              <a:t>: This is only an estimate because we ignore the expectation!</a:t>
            </a:r>
          </a:p>
        </p:txBody>
      </p: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 by minimizing the TD error.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groupChr>
                        <m:groupChrPr>
                          <m:chr m:val="←"/>
                          <m:pos m:val="to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Updating an estimate using another estimate is called </a:t>
                </a:r>
                <a:r>
                  <a:rPr lang="en-US" b="1" dirty="0"/>
                  <a:t>“bootstrapping” </a:t>
                </a:r>
                <a:r>
                  <a:rPr lang="en-US" dirty="0"/>
                  <a:t>and introduces an estimation bias.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r>
                  <a:rPr lang="en-US" dirty="0"/>
                  <a:t>Similartiy to MC: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  <a:blipFill>
                <a:blip r:embed="rId2"/>
                <a:stretch>
                  <a:fillRect l="-1194" t="-1852" r="-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3846428" y="5104153"/>
            <a:ext cx="5065602" cy="488182"/>
            <a:chOff x="2334588" y="1969791"/>
            <a:chExt cx="5065602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2334588" y="1969791"/>
              <a:ext cx="506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401064" y="1734406"/>
            <a:ext cx="3528733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14554" y="1920094"/>
              <a:ext cx="911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TD Error for one step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271483" y="2718337"/>
            <a:ext cx="4924554" cy="621075"/>
            <a:chOff x="4021326" y="2206230"/>
            <a:chExt cx="3018333" cy="621075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311709" y="1614360"/>
              <a:ext cx="219506" cy="140324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85319"/>
                  <a:gd name="adj2" fmla="val 2498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</a:t>
                </a:r>
              </a:p>
              <a:p>
                <a:pPr algn="ctr"/>
                <a:r>
                  <a:rPr lang="en-US" sz="1600" b="1" dirty="0"/>
                  <a:t>No Bootstrapping! Unbiased estimate!</a:t>
                </a:r>
              </a:p>
            </p:txBody>
          </p:sp>
        </mc:Choice>
        <mc:Fallback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85319"/>
                  <a:gd name="adj2" fmla="val 2498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uses local search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a learning parameter to reduce the TD error.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  <a:blipFill>
                <a:blip r:embed="rId5"/>
                <a:stretch>
                  <a:fillRect l="-1928" t="-20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2DCCF0C-4960-6A76-B588-637A79AEF859}"/>
              </a:ext>
            </a:extLst>
          </p:cNvPr>
          <p:cNvSpPr/>
          <p:nvPr/>
        </p:nvSpPr>
        <p:spPr>
          <a:xfrm>
            <a:off x="5918664" y="434715"/>
            <a:ext cx="2880564" cy="422339"/>
          </a:xfrm>
          <a:prstGeom prst="wedgeRoundRectCallout">
            <a:avLst>
              <a:gd name="adj1" fmla="val -86295"/>
              <a:gd name="adj2" fmla="val 71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will later learn what 0 means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545C4-DEE2-2979-2281-BEF0B4ACEC98}"/>
              </a:ext>
            </a:extLst>
          </p:cNvPr>
          <p:cNvSpPr/>
          <p:nvPr/>
        </p:nvSpPr>
        <p:spPr>
          <a:xfrm>
            <a:off x="2870616" y="3844977"/>
            <a:ext cx="3620125" cy="322289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81E44-4E5C-32D8-E43F-7C76E6551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TD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Regular conditions on the MDP apply (finite,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/>
                  <a:t>, etc.)</a:t>
                </a:r>
              </a:p>
              <a:p>
                <a:r>
                  <a:rPr lang="en-US" dirty="0"/>
                  <a:t>Minimizing the TD error is a </a:t>
                </a:r>
                <a:r>
                  <a:rPr lang="en-US" b="1" dirty="0"/>
                  <a:t>stochastic approximation of Bellman updates </a:t>
                </a:r>
                <a:r>
                  <a:rPr lang="en-US" dirty="0"/>
                  <a:t>(which we know converge).</a:t>
                </a:r>
              </a:p>
              <a:p>
                <a:r>
                  <a:rPr lang="en-US" dirty="0"/>
                  <a:t>The observed TD error is a noisy stochastic and unbiased sample of the true difference: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Stochastic approximation theory guarantees convergence if the </a:t>
                </a:r>
                <a:r>
                  <a:rPr lang="en-US" b="1" dirty="0"/>
                  <a:t>learning rate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decreases slowly enough. 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 r="-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/>
              <p:nvPr/>
            </p:nvSpPr>
            <p:spPr>
              <a:xfrm>
                <a:off x="4246900" y="3965055"/>
                <a:ext cx="3983011" cy="1124603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b="1" dirty="0"/>
                  <a:t>Robbins-Monro condition</a:t>
                </a:r>
                <a:r>
                  <a:rPr lang="en-US" dirty="0"/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=∞  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6900" y="3965055"/>
                <a:ext cx="3983011" cy="1124603"/>
              </a:xfrm>
              <a:prstGeom prst="rect">
                <a:avLst/>
              </a:prstGeom>
              <a:blipFill>
                <a:blip r:embed="rId3"/>
                <a:stretch>
                  <a:fillRect l="-1220" t="-1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D7D45EEA-1908-E049-EF9E-508670B0AA5C}"/>
              </a:ext>
            </a:extLst>
          </p:cNvPr>
          <p:cNvSpPr/>
          <p:nvPr/>
        </p:nvSpPr>
        <p:spPr>
          <a:xfrm>
            <a:off x="3917117" y="5460670"/>
            <a:ext cx="2048969" cy="337279"/>
          </a:xfrm>
          <a:prstGeom prst="wedgeRoundRectCallout">
            <a:avLst>
              <a:gd name="adj1" fmla="val 15577"/>
              <a:gd name="adj2" fmla="val -2286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Keeps learning forever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206798B7-F5CB-6720-EE3C-47D8E1C38EBF}"/>
              </a:ext>
            </a:extLst>
          </p:cNvPr>
          <p:cNvSpPr/>
          <p:nvPr/>
        </p:nvSpPr>
        <p:spPr>
          <a:xfrm>
            <a:off x="6445458" y="5460670"/>
            <a:ext cx="2599545" cy="625337"/>
          </a:xfrm>
          <a:prstGeom prst="wedgeRoundRectCallout">
            <a:avLst>
              <a:gd name="adj1" fmla="val -14156"/>
              <a:gd name="adj2" fmla="val -1392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Noise variance shrinks fast enough to suppress noise</a:t>
            </a:r>
          </a:p>
        </p:txBody>
      </p:sp>
    </p:spTree>
    <p:extLst>
      <p:ext uri="{BB962C8B-B14F-4D97-AF65-F5344CB8AC3E}">
        <p14:creationId xmlns:p14="http://schemas.microsoft.com/office/powerpoint/2010/main" val="35014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The estimate is biased.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Model-free:</a:t>
                </a:r>
                <a:r>
                  <a:rPr lang="en-US" dirty="0"/>
                  <a:t>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Converges typically faster than MC prediction.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  <a:blipFill>
                <a:blip r:embed="rId2"/>
                <a:stretch>
                  <a:fillRect l="-157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982524D-1B81-6E5C-18C1-DBB7E0D8A0A5}"/>
              </a:ext>
            </a:extLst>
          </p:cNvPr>
          <p:cNvSpPr txBox="1"/>
          <p:nvPr/>
        </p:nvSpPr>
        <p:spPr>
          <a:xfrm>
            <a:off x="8259580" y="1614685"/>
            <a:ext cx="3094220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TD plans and MC has to wait for the end of the episode but is unbiased.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889EF6-8763-7A9F-2E35-A0EF475053D8}"/>
              </a:ext>
            </a:extLst>
          </p:cNvPr>
          <p:cNvSpPr txBox="1"/>
          <p:nvPr/>
        </p:nvSpPr>
        <p:spPr>
          <a:xfrm>
            <a:off x="8259580" y="3140815"/>
            <a:ext cx="309422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Same for MC, but TD needs the model.</a:t>
            </a:r>
          </a:p>
        </p:txBody>
      </p:sp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follow the policy.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</a:t>
                </a:r>
                <a:r>
                  <a:rPr lang="en-US" b="1" dirty="0"/>
                  <a:t>GPI</a:t>
                </a:r>
                <a:r>
                  <a:rPr lang="en-US" dirty="0"/>
                  <a:t> with TD prediction for policy evaluation. Exploration is guaranteed by learning a </a:t>
                </a:r>
                <a:r>
                  <a:rPr lang="en-US" b="1" dirty="0"/>
                  <a:t>soft policy.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Lean a soft (exploring)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</a:t>
                </a:r>
                <a:r>
                  <a:rPr lang="en-US" b="1" dirty="0">
                    <a:solidFill>
                      <a:schemeClr val="accent2"/>
                    </a:solidFill>
                  </a:rPr>
                  <a:t>a</a:t>
                </a:r>
                <a:r>
                  <a:rPr lang="en-US" b="1" dirty="0"/>
                  <a:t> </a:t>
                </a:r>
                <a:r>
                  <a:rPr lang="en-US" dirty="0"/>
                  <a:t>and requires us to know what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will be.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  <a:blipFill>
                <a:blip r:embed="rId2"/>
                <a:stretch>
                  <a:fillRect l="-989" t="-2806" r="-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23E3716E-AE83-7DB8-4ED0-8762F896EB02}"/>
              </a:ext>
            </a:extLst>
          </p:cNvPr>
          <p:cNvGrpSpPr/>
          <p:nvPr/>
        </p:nvGrpSpPr>
        <p:grpSpPr>
          <a:xfrm>
            <a:off x="9576769" y="162195"/>
            <a:ext cx="2310430" cy="2154506"/>
            <a:chOff x="9576769" y="162195"/>
            <a:chExt cx="2310430" cy="21545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7728C36-F1AD-136E-4EFA-48BBFE00FDC6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A226A4-3DFB-FDA8-464F-70254B5B01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soft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-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893509" y="162195"/>
              <a:ext cx="17335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 prediction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Sarsa: On-Policy TD Control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182520"/>
            <a:ext cx="2261570" cy="736650"/>
          </a:xfrm>
          <a:prstGeom prst="wedgeRoundRectCallout">
            <a:avLst>
              <a:gd name="adj1" fmla="val -83676"/>
              <a:gd name="adj2" fmla="val -323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Update the Q-function with the observed next action.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/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Follow and learn a soft policy. On-policy means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/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need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  <a:blipFill>
                <a:blip r:embed="rId5"/>
                <a:stretch>
                  <a:fillRect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deterministic policy while following an exploring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Sars observed by following the behavior policy: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/>
                      <m:t>Off</m:t>
                    </m:r>
                    <m:r>
                      <m:rPr>
                        <m:nor/>
                      </m:rPr>
                      <a:rPr lang="en-US" b="1" dirty="0"/>
                      <m:t>−</m:t>
                    </m:r>
                    <m:r>
                      <m:rPr>
                        <m:nor/>
                      </m:rPr>
                      <a:rPr lang="en-US" b="1" dirty="0"/>
                      <m:t>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 because it ignores the next behavior action and updates with the next action for the greedy target policy instead.</a:t>
                </a:r>
              </a:p>
              <a:p>
                <a:r>
                  <a:rPr lang="en-US" b="1" dirty="0"/>
                  <a:t>Converges</a:t>
                </a:r>
                <a:r>
                  <a:rPr lang="en-US" dirty="0"/>
                  <a:t> to the optimal value function if: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are represented discretely (e.g.,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 are repeatedly sampled in all states (behavior policy keeps exploring).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6337579" y="3354377"/>
            <a:ext cx="4541170" cy="432769"/>
          </a:xfrm>
          <a:prstGeom prst="wedgeRoundRectCallout">
            <a:avLst>
              <a:gd name="adj1" fmla="val -17872"/>
              <a:gd name="adj2" fmla="val -1478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Updates with the greedy/optimal action for the target policy!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3926" y="2661557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Does not use the actual behavior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 and a deterministic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  <a:blipFill>
                <a:blip r:embed="rId4"/>
                <a:stretch>
                  <a:fillRect b="-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8476939" y="4063333"/>
            <a:ext cx="2526784" cy="277159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Exploring behavior policy</a:t>
            </a:r>
          </a:p>
        </p:txBody>
      </p:sp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  <a:blipFill>
                <a:blip r:embed="rId2"/>
                <a:stretch>
                  <a:fillRect l="-696" t="-3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94041" y="6205804"/>
            <a:ext cx="10515600" cy="3839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Note</a:t>
            </a:r>
            <a:r>
              <a:rPr lang="en-US" sz="1800" dirty="0">
                <a:solidFill>
                  <a:schemeClr val="bg1"/>
                </a:solidFill>
              </a:rPr>
              <a:t>: All TD methods have a similar bias, and double learning extensions for these algorithms also exist.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38E5689-4071-A24B-9E73-186D9CCF08D3}"/>
              </a:ext>
            </a:extLst>
          </p:cNvPr>
          <p:cNvSpPr/>
          <p:nvPr/>
        </p:nvSpPr>
        <p:spPr>
          <a:xfrm>
            <a:off x="9556434" y="4183269"/>
            <a:ext cx="389744" cy="110927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/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Eventually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should become equal.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  <a:blipFill>
                <a:blip r:embed="rId4"/>
                <a:stretch>
                  <a:fillRect l="-1859" t="-1439" b="-7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Reduce action sample variation for Sarsa.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Learn a soft policy and use the expectation over all possible next actions instead of the observed (Sarsa) or best (Q-Learning)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On-policy like Sarsa.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Typically uses a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already uses the expectation!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2111669"/>
            <a:chOff x="2637816" y="2846877"/>
            <a:chExt cx="5965095" cy="211166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2111669"/>
              <a:chOff x="2373562" y="2582670"/>
              <a:chExt cx="5965095" cy="2111669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3963708" y="3955675"/>
                <a:ext cx="117595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 to reduce the TD error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045388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58711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  <a:blipFill>
                  <a:blip r:embed="rId14"/>
                  <a:stretch>
                    <a:fillRect b="-6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3288D-F473-C2C7-1246-80B469AA5262}"/>
              </a:ext>
            </a:extLst>
          </p:cNvPr>
          <p:cNvGrpSpPr/>
          <p:nvPr/>
        </p:nvGrpSpPr>
        <p:grpSpPr>
          <a:xfrm>
            <a:off x="1203764" y="3465626"/>
            <a:ext cx="9110026" cy="2236901"/>
            <a:chOff x="1203764" y="3465626"/>
            <a:chExt cx="9110026" cy="22369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27D81A-F2A7-9C05-925E-39F3F345B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578940" y="3473366"/>
              <a:ext cx="5734850" cy="22291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8F4E1-AA11-EA65-8209-64A2D6CE0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674286" y="3563867"/>
              <a:ext cx="1038370" cy="204816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/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/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/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/>
                <p:nvPr/>
              </p:nvSpPr>
              <p:spPr>
                <a:xfrm>
                  <a:off x="1698460" y="3846461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8460" y="3846461"/>
                  <a:ext cx="602038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/>
                <p:nvPr/>
              </p:nvSpPr>
              <p:spPr>
                <a:xfrm>
                  <a:off x="5695203" y="4493782"/>
                  <a:ext cx="21847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dirty="0"/>
                    <a:t> for target policy</a:t>
                  </a: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5203" y="4493782"/>
                  <a:ext cx="2184701" cy="369332"/>
                </a:xfrm>
                <a:prstGeom prst="rect">
                  <a:avLst/>
                </a:prstGeom>
                <a:blipFill>
                  <a:blip r:embed="rId21"/>
                  <a:stretch>
                    <a:fillRect t="-6557" r="-1671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/>
                <p:nvPr/>
              </p:nvSpPr>
              <p:spPr>
                <a:xfrm>
                  <a:off x="9403340" y="4493782"/>
                  <a:ext cx="5023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3340" y="4493782"/>
                  <a:ext cx="502381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/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blipFill>
                  <a:blip r:embed="rId23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/>
                <p:nvPr/>
              </p:nvSpPr>
              <p:spPr>
                <a:xfrm>
                  <a:off x="1203764" y="4836523"/>
                  <a:ext cx="104967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3764" y="4836523"/>
                  <a:ext cx="1049672" cy="276999"/>
                </a:xfrm>
                <a:prstGeom prst="rect">
                  <a:avLst/>
                </a:prstGeom>
                <a:blipFill>
                  <a:blip r:embed="rId24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F719737-7B4F-FA5F-52DC-A6E0F7264BD2}"/>
              </a:ext>
            </a:extLst>
          </p:cNvPr>
          <p:cNvSpPr txBox="1"/>
          <p:nvPr/>
        </p:nvSpPr>
        <p:spPr>
          <a:xfrm>
            <a:off x="887061" y="5748746"/>
            <a:ext cx="2986924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On-policy: Updates with a next action following the learned policy.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F83D4-BFF1-A102-5C24-A229A3E27595}"/>
              </a:ext>
            </a:extLst>
          </p:cNvPr>
          <p:cNvSpPr txBox="1"/>
          <p:nvPr/>
        </p:nvSpPr>
        <p:spPr>
          <a:xfrm>
            <a:off x="4374750" y="5748746"/>
            <a:ext cx="2861646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Off-policy: Updates with the best next action for the target policy.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6C9EB-1E75-1DA2-416B-203908B586D6}"/>
              </a:ext>
            </a:extLst>
          </p:cNvPr>
          <p:cNvSpPr txBox="1"/>
          <p:nvPr/>
        </p:nvSpPr>
        <p:spPr>
          <a:xfrm>
            <a:off x="7654424" y="5748746"/>
            <a:ext cx="2986924" cy="92333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On-policy: Updates with the expectation over the action for the learned policy.</a:t>
            </a:r>
          </a:p>
        </p:txBody>
      </p:sp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52934" cy="759072"/>
          </a:xfrm>
        </p:spPr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9483681" y="2580760"/>
            <a:ext cx="2608289" cy="696293"/>
          </a:xfrm>
          <a:prstGeom prst="wedgeRoundRectCallout">
            <a:avLst>
              <a:gd name="adj1" fmla="val -39279"/>
              <a:gd name="adj2" fmla="val -2744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Sarsa pick the longer path while Q-Learning finds the optimal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112895" cy="759072"/>
          </a:xfrm>
        </p:spPr>
        <p:txBody>
          <a:bodyPr>
            <a:normAutofit/>
          </a:bodyPr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 Q-Learning learns the optimal deterministic policy.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18" y="706152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/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Observations</a:t>
                </a:r>
                <a:r>
                  <a:rPr lang="en-US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Performance measure is for the behavior policy. Q-Learning learns the optimal policy.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Sarsa is very sensitive to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! (asymptotic performance).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Expected Sarsa should use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600" dirty="0"/>
                  <a:t>. For the other methods,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is a problem-dependent tuning parameter (solid circles).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  <a:blipFill>
                <a:blip r:embed="rId3"/>
                <a:stretch>
                  <a:fillRect l="-1139" t="-343" b="-1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</p:spPr>
            <p:txBody>
              <a:bodyPr anchor="ctr">
                <a:normAutofit lnSpcReduction="10000"/>
              </a:bodyPr>
              <a:lstStyle/>
              <a:p>
                <a:r>
                  <a:rPr lang="en-US" sz="1600" dirty="0"/>
                  <a:t>Time difference (TD) learning is an alternative to MC for the prediction problem (policy evaluation).</a:t>
                </a:r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r>
                  <a:rPr lang="en-US" sz="1600" b="1" dirty="0"/>
                  <a:t>Popular and most widely used RL methods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b="1" dirty="0"/>
                  <a:t>Advantages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Model-free: Uses only experience.</a:t>
                </a:r>
              </a:p>
              <a:p>
                <a:pPr lvl="1"/>
                <a:r>
                  <a:rPr lang="en-US" sz="1600" dirty="0"/>
                  <a:t>Truly online learning after each observation.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b="1" dirty="0"/>
                  <a:t>Challenges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Bootstrapping introduces bias.</a:t>
                </a:r>
              </a:p>
              <a:p>
                <a:pPr lvl="1"/>
                <a:r>
                  <a:rPr lang="en-US" sz="1600" dirty="0"/>
                  <a:t>Maximation bias (especially Q-learning).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sample efficient: uses observations only once.</a:t>
                </a:r>
              </a:p>
              <a:p>
                <a:pPr lvl="1"/>
                <a:r>
                  <a:rPr lang="en-US" sz="1600" dirty="0"/>
                  <a:t>Tabular: Requires too much memory and does not generalize between states.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  <a:blipFill>
                <a:blip r:embed="rId3"/>
                <a:stretch>
                  <a:fillRect l="-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7848</TotalTime>
  <Words>2509</Words>
  <Application>Microsoft Office PowerPoint</Application>
  <PresentationFormat>Widescreen</PresentationFormat>
  <Paragraphs>269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Topics of this Course</vt:lpstr>
      <vt:lpstr>Summary of Notation</vt:lpstr>
      <vt:lpstr>Recap: MDPs, DP and MC</vt:lpstr>
      <vt:lpstr>Temporal-Difference (TD) Learning</vt:lpstr>
      <vt:lpstr>TD Prediction</vt:lpstr>
      <vt:lpstr>TD Prediction</vt:lpstr>
      <vt:lpstr>Alg. Tabular TD(0)</vt:lpstr>
      <vt:lpstr>Convergence of TD Methods</vt:lpstr>
      <vt:lpstr>Advantages of TD Prediction Methods</vt:lpstr>
      <vt:lpstr>On-Policy TD Control:  Sarsa</vt:lpstr>
      <vt:lpstr>Sarsa</vt:lpstr>
      <vt:lpstr>Alg. Sarsa: On-Policy TD Control</vt:lpstr>
      <vt:lpstr>Off-policy TD Control:  Q-Learning</vt:lpstr>
      <vt:lpstr>Q-Learning</vt:lpstr>
      <vt:lpstr>Alg. Q-Learning</vt:lpstr>
      <vt:lpstr>Q-Learning’s Maximization Bias</vt:lpstr>
      <vt:lpstr>Double Q-Learning</vt:lpstr>
      <vt:lpstr>On-policy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160</cp:revision>
  <dcterms:created xsi:type="dcterms:W3CDTF">2025-09-08T14:44:49Z</dcterms:created>
  <dcterms:modified xsi:type="dcterms:W3CDTF">2026-02-12T16:34:34Z</dcterms:modified>
</cp:coreProperties>
</file>