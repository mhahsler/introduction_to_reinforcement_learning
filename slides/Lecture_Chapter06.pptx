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313" r:id="rId3"/>
    <p:sldId id="478" r:id="rId4"/>
    <p:sldId id="480" r:id="rId5"/>
    <p:sldId id="382" r:id="rId6"/>
    <p:sldId id="389" r:id="rId7"/>
    <p:sldId id="383" r:id="rId8"/>
    <p:sldId id="385" r:id="rId9"/>
    <p:sldId id="481" r:id="rId10"/>
    <p:sldId id="386" r:id="rId11"/>
    <p:sldId id="388" r:id="rId12"/>
    <p:sldId id="387" r:id="rId13"/>
    <p:sldId id="390" r:id="rId14"/>
    <p:sldId id="391" r:id="rId15"/>
    <p:sldId id="402" r:id="rId16"/>
    <p:sldId id="393" r:id="rId17"/>
    <p:sldId id="398" r:id="rId18"/>
    <p:sldId id="403" r:id="rId19"/>
    <p:sldId id="404" r:id="rId20"/>
    <p:sldId id="397" r:id="rId21"/>
    <p:sldId id="399" r:id="rId22"/>
    <p:sldId id="394" r:id="rId23"/>
    <p:sldId id="396" r:id="rId24"/>
    <p:sldId id="479" r:id="rId25"/>
    <p:sldId id="401" r:id="rId26"/>
    <p:sldId id="40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ifference Learning" id="{83286E67-F0F0-421C-8F74-7B93ABA17FBF}">
          <p14:sldIdLst>
            <p14:sldId id="256"/>
            <p14:sldId id="313"/>
            <p14:sldId id="478"/>
          </p14:sldIdLst>
        </p14:section>
        <p14:section name="Idea of Remporal-Difference Learning" id="{2380860D-C062-4E40-AEF2-F4A84DAD8EB2}">
          <p14:sldIdLst>
            <p14:sldId id="480"/>
            <p14:sldId id="382"/>
          </p14:sldIdLst>
        </p14:section>
        <p14:section name="TD Prediction" id="{FC09D1C7-90E9-41E3-9CF2-35E22DB79F82}">
          <p14:sldIdLst>
            <p14:sldId id="389"/>
            <p14:sldId id="383"/>
            <p14:sldId id="385"/>
            <p14:sldId id="481"/>
            <p14:sldId id="386"/>
          </p14:sldIdLst>
        </p14:section>
        <p14:section name="Sarsa" id="{300C02C9-58B9-4585-96C5-09BF8186CE39}">
          <p14:sldIdLst>
            <p14:sldId id="388"/>
            <p14:sldId id="387"/>
            <p14:sldId id="390"/>
          </p14:sldIdLst>
        </p14:section>
        <p14:section name="Q-Learning" id="{5A2B1A79-C816-4072-B829-A54ABC79EFF1}">
          <p14:sldIdLst>
            <p14:sldId id="391"/>
            <p14:sldId id="402"/>
            <p14:sldId id="393"/>
            <p14:sldId id="398"/>
            <p14:sldId id="403"/>
          </p14:sldIdLst>
        </p14:section>
        <p14:section name="Expected Sarsa" id="{03149C1B-E436-447C-99EC-27E8ED55C2E6}">
          <p14:sldIdLst>
            <p14:sldId id="404"/>
            <p14:sldId id="397"/>
          </p14:sldIdLst>
        </p14:section>
        <p14:section name="Comparison" id="{5A04113A-4EC4-49A6-BA68-723CC02C8736}">
          <p14:sldIdLst>
            <p14:sldId id="399"/>
            <p14:sldId id="394"/>
            <p14:sldId id="396"/>
            <p14:sldId id="479"/>
            <p14:sldId id="401"/>
            <p14:sldId id="4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4599F94E-CEE6-441E-89CC-EB005ECD8F06}">
      <a14:m xmlns:a14="http://schemas.microsoft.com/office/drawing/2010/main">
        <m:mathPr xmlns:m="http://schemas.openxmlformats.org/officeDocument/2006/math">
          <m:brkBin m:val="before"/>
          <m:brkBinSub m:val="--"/>
        </m:mathPr>
      </a14:m>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59" autoAdjust="0"/>
    <p:restoredTop sz="94653"/>
  </p:normalViewPr>
  <p:slideViewPr>
    <p:cSldViewPr snapToGrid="0">
      <p:cViewPr varScale="1">
        <p:scale>
          <a:sx n="74" d="100"/>
          <a:sy n="74" d="100"/>
        </p:scale>
        <p:origin x="208" y="928"/>
      </p:cViewPr>
      <p:guideLst/>
    </p:cSldViewPr>
  </p:slideViewPr>
  <p:notesTextViewPr>
    <p:cViewPr>
      <p:scale>
        <a:sx n="1" d="1"/>
        <a:sy n="1" d="1"/>
      </p:scale>
      <p:origin x="0" y="0"/>
    </p:cViewPr>
  </p:notesTextViewPr>
  <p:sorterViewPr>
    <p:cViewPr>
      <p:scale>
        <a:sx n="100" d="100"/>
        <a:sy n="100" d="100"/>
      </p:scale>
      <p:origin x="0" y="-244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92B22A-BE2A-43CB-B312-FF3A0A14567B}" type="datetimeFigureOut">
              <a:rPr lang="en-US" smtClean="0"/>
              <a:t>10/15/26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C5DAAA-78E2-4201-AA65-174BB50391A6}" type="slidenum">
              <a:rPr lang="en-US" smtClean="0"/>
              <a:t>‹#›</a:t>
            </a:fld>
            <a:endParaRPr lang="en-US"/>
          </a:p>
        </p:txBody>
      </p:sp>
    </p:spTree>
    <p:extLst>
      <p:ext uri="{BB962C8B-B14F-4D97-AF65-F5344CB8AC3E}">
        <p14:creationId xmlns:p14="http://schemas.microsoft.com/office/powerpoint/2010/main" val="3324056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C5DAAA-78E2-4201-AA65-174BB50391A6}" type="slidenum">
              <a:rPr lang="en-US" smtClean="0"/>
              <a:t>5</a:t>
            </a:fld>
            <a:endParaRPr lang="en-US"/>
          </a:p>
        </p:txBody>
      </p:sp>
    </p:spTree>
    <p:extLst>
      <p:ext uri="{BB962C8B-B14F-4D97-AF65-F5344CB8AC3E}">
        <p14:creationId xmlns:p14="http://schemas.microsoft.com/office/powerpoint/2010/main" val="1824017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5558-2701-D852-1A01-0BF39B58D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E150F4-19D6-3927-AF4C-79938CACB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C3DC3-6BE4-4AD5-BF83-83DBE6741D39}"/>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BCD0FF9-FEE5-7DEA-F2A0-04CD3C8E9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CCB2C-BF64-0CEB-C138-EC1E0FF17963}"/>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077380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A809-C199-A2CA-4B62-C11FD83604C0}"/>
              </a:ext>
            </a:extLst>
          </p:cNvPr>
          <p:cNvSpPr>
            <a:spLocks noGrp="1"/>
          </p:cNvSpPr>
          <p:nvPr>
            <p:ph type="title"/>
          </p:nvPr>
        </p:nvSpPr>
        <p:spPr>
          <a:xfrm>
            <a:off x="838200" y="365126"/>
            <a:ext cx="10515600" cy="7590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9ABD398-BC57-413F-4426-6AE62DCF0FF4}"/>
              </a:ext>
            </a:extLst>
          </p:cNvPr>
          <p:cNvSpPr>
            <a:spLocks noGrp="1"/>
          </p:cNvSpPr>
          <p:nvPr>
            <p:ph idx="1"/>
          </p:nvPr>
        </p:nvSpPr>
        <p:spPr>
          <a:xfrm>
            <a:off x="838200" y="1397330"/>
            <a:ext cx="10515600" cy="47796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009A95-DE70-5583-0BB6-25CA049AFAD6}"/>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722F8C87-113F-3949-D291-E8101A072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CBE1-6776-590E-6A36-B274F6F6168A}"/>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42716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B990-0C44-FE72-89C1-7BAFB2C89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BF51AA-25F1-19ED-49F4-909710D8F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3394-E947-7BBC-4B4E-FC222CF9E35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D0090F51-989A-F265-1B59-526B06EC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400B-F255-95CF-8BD8-3D8AE595A27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55833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C8DE-D8D3-04F9-7952-B3C9B444D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C6199-C068-6A1D-B9C6-37C04A922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B26636-1E6C-5A66-DCE9-40F0239C9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85DEA3-FC5C-77B6-8AEC-BF4A26C7605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50A2BAE8-516B-EE07-0EF8-4E37D353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D7F8D-0B8A-CA54-C5D1-DAFB9A21726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180953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762D-C67C-6FB4-D8AF-A2AEADD0B2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F3E59-5CAF-AE52-066A-662EAF232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A81-151A-F8B5-9A7D-43577F3F6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BDED1E-7743-9D82-5A8F-215AF2DB8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3FED4-7E43-512F-BDC2-AB5A6F6A9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71D6A-F625-133A-E751-2B967B94A668}"/>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8" name="Footer Placeholder 7">
            <a:extLst>
              <a:ext uri="{FF2B5EF4-FFF2-40B4-BE49-F238E27FC236}">
                <a16:creationId xmlns:a16="http://schemas.microsoft.com/office/drawing/2014/main" id="{33256629-E601-1BA5-526C-36960EEBE0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65DDDF-B6D4-29FB-6B7F-C7017B4EABAD}"/>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49571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B25A-3F20-51F4-D136-F73B17683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F8609-CAA0-6678-FCA9-C0252974D71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4" name="Footer Placeholder 3">
            <a:extLst>
              <a:ext uri="{FF2B5EF4-FFF2-40B4-BE49-F238E27FC236}">
                <a16:creationId xmlns:a16="http://schemas.microsoft.com/office/drawing/2014/main" id="{E911A081-E4EB-7E96-A0AA-2E4D49099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AC27-1467-337C-D636-190385E3976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95731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8C3DB-E47E-C122-D7BD-AAAC105B29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3" name="Footer Placeholder 2">
            <a:extLst>
              <a:ext uri="{FF2B5EF4-FFF2-40B4-BE49-F238E27FC236}">
                <a16:creationId xmlns:a16="http://schemas.microsoft.com/office/drawing/2014/main" id="{12194795-A7C6-B915-9849-6DDF9E556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BBD6E5-D6AC-7828-B9FA-162561BDB702}"/>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8758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DA5E-FB2F-65E3-9AC6-77E9E333A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88CA7-EDCF-7BC9-0D50-5F550487A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96387-78E1-111C-2860-362080259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170FC-BF4D-52B4-3D96-975E35B67EE0}"/>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13EB24C2-CDEC-1D6D-42DB-F885EAF6C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CA044-7F46-1F0F-A966-A66706F2D13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7431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354-EE3F-C81F-2C98-42CA24F04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37B54A-0E38-1C0F-EA90-8D9A628CC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9108-1890-E2BF-7EA2-A2F28DEA6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68F02-6193-91DC-69E0-6CC09A2476EE}"/>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2534B642-5606-ACB8-4ADF-6DDE8BE4B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9560E-8858-1CED-6B2E-1EF0F58F2FA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9475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A8BF-0F66-F00E-4527-03CBDE1E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8F7C1-32BC-0F71-0130-0DFB9C183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C7E0-3252-37DB-73A7-7F070748FFEC}"/>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A676C5EE-EAD9-8D18-3741-930600D3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647D8-342D-AED5-3763-DD02F7C2A43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6508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0B639-7A1F-68FA-45DD-3196E2CB57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F4F1BB-B40D-E6E4-111B-122348C26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2DAFD-560D-9508-6F31-281EC97436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F90C6320-E161-CE4A-CBDD-27072D2A1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C3E81-2AD2-5FBE-B6F5-1512F3AF971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7058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46CF1-7E31-D1FD-63E0-29688510E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499997-F7F8-3FB5-F294-092654769C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6E-B485-AE94-5C91-D0E504CEB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A3ECD47-D4F5-A47B-6CA1-E8E47C1C4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8C2B9-7B85-792D-492E-EE9D50875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362146-1680-4254-AA84-26EEDD41027B}" type="slidenum">
              <a:rPr lang="en-US" smtClean="0"/>
              <a:t>‹#›</a:t>
            </a:fld>
            <a:endParaRPr lang="en-US"/>
          </a:p>
        </p:txBody>
      </p:sp>
    </p:spTree>
    <p:extLst>
      <p:ext uri="{BB962C8B-B14F-4D97-AF65-F5344CB8AC3E}">
        <p14:creationId xmlns:p14="http://schemas.microsoft.com/office/powerpoint/2010/main" val="95873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creativecommons.org/licenses/by-nc-sa/4.0/"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0.png"/><Relationship Id="rId10" Type="http://schemas.openxmlformats.org/officeDocument/2006/relationships/image" Target="../media/image12.png"/><Relationship Id="rId9" Type="http://schemas.openxmlformats.org/officeDocument/2006/relationships/image" Target="../media/image7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10.png"/><Relationship Id="rId4" Type="http://schemas.openxmlformats.org/officeDocument/2006/relationships/image" Target="../media/image2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21.png"/><Relationship Id="rId1" Type="http://schemas.openxmlformats.org/officeDocument/2006/relationships/slideLayout" Target="../slideLayouts/slideLayout2.xml"/><Relationship Id="rId4" Type="http://schemas.openxmlformats.org/officeDocument/2006/relationships/image" Target="../media/image3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6" Type="http://schemas.openxmlformats.org/officeDocument/2006/relationships/image" Target="../media/image350.png"/><Relationship Id="rId13" Type="http://schemas.openxmlformats.org/officeDocument/2006/relationships/image" Target="../media/image291.png"/><Relationship Id="rId18" Type="http://schemas.openxmlformats.org/officeDocument/2006/relationships/image" Target="../media/image320.png"/><Relationship Id="rId21" Type="http://schemas.openxmlformats.org/officeDocument/2006/relationships/image" Target="../media/image37.png"/><Relationship Id="rId17" Type="http://schemas.openxmlformats.org/officeDocument/2006/relationships/image" Target="../media/image310.png"/><Relationship Id="rId2" Type="http://schemas.openxmlformats.org/officeDocument/2006/relationships/image" Target="../media/image33.png"/><Relationship Id="rId29" Type="http://schemas.openxmlformats.org/officeDocument/2006/relationships/image" Target="../media/image43.png"/><Relationship Id="rId20" Type="http://schemas.openxmlformats.org/officeDocument/2006/relationships/image" Target="../media/image361.png"/><Relationship Id="rId1" Type="http://schemas.openxmlformats.org/officeDocument/2006/relationships/slideLayout" Target="../slideLayouts/slideLayout6.xml"/><Relationship Id="rId24" Type="http://schemas.openxmlformats.org/officeDocument/2006/relationships/image" Target="../media/image39.png"/><Relationship Id="rId28" Type="http://schemas.openxmlformats.org/officeDocument/2006/relationships/image" Target="../media/image42.png"/><Relationship Id="rId23" Type="http://schemas.openxmlformats.org/officeDocument/2006/relationships/image" Target="../media/image370.png"/><Relationship Id="rId31" Type="http://schemas.openxmlformats.org/officeDocument/2006/relationships/image" Target="../media/image36.png"/><Relationship Id="rId19" Type="http://schemas.openxmlformats.org/officeDocument/2006/relationships/image" Target="../media/image330.png"/><Relationship Id="rId14" Type="http://schemas.openxmlformats.org/officeDocument/2006/relationships/image" Target="../media/image360.png"/><Relationship Id="rId27" Type="http://schemas.openxmlformats.org/officeDocument/2006/relationships/image" Target="../media/image41.png"/><Relationship Id="rId30" Type="http://schemas.openxmlformats.org/officeDocument/2006/relationships/image" Target="../media/image35.png"/><Relationship Id="rId22"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0.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50.png"/><Relationship Id="rId1" Type="http://schemas.openxmlformats.org/officeDocument/2006/relationships/slideLayout" Target="../slideLayouts/slideLayout2.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B02EEF-8413-288E-566D-063A066A6CB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77" r="23298" b="3714"/>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1EE42B-57B4-EB74-A37C-6675858E7D29}"/>
              </a:ext>
            </a:extLst>
          </p:cNvPr>
          <p:cNvSpPr>
            <a:spLocks noGrp="1"/>
          </p:cNvSpPr>
          <p:nvPr>
            <p:ph type="ctrTitle"/>
          </p:nvPr>
        </p:nvSpPr>
        <p:spPr>
          <a:xfrm>
            <a:off x="477981" y="1122363"/>
            <a:ext cx="4463968" cy="3204134"/>
          </a:xfrm>
        </p:spPr>
        <p:txBody>
          <a:bodyPr anchor="b">
            <a:normAutofit fontScale="90000"/>
          </a:bodyPr>
          <a:lstStyle/>
          <a:p>
            <a:pPr algn="l"/>
            <a:r>
              <a:rPr lang="en-US" sz="4800" dirty="0">
                <a:solidFill>
                  <a:schemeClr val="bg1"/>
                </a:solidFill>
              </a:rPr>
              <a:t>Reinforcement Learning</a:t>
            </a:r>
            <a:br>
              <a:rPr lang="en-US" sz="4800" dirty="0">
                <a:solidFill>
                  <a:schemeClr val="bg1"/>
                </a:solidFill>
              </a:rPr>
            </a:br>
            <a:br>
              <a:rPr lang="en-US" sz="4800" dirty="0">
                <a:solidFill>
                  <a:schemeClr val="bg1"/>
                </a:solidFill>
              </a:rPr>
            </a:br>
            <a:r>
              <a:rPr lang="en-US" sz="4000" dirty="0">
                <a:solidFill>
                  <a:schemeClr val="bg1"/>
                </a:solidFill>
              </a:rPr>
              <a:t>Temporal-Difference Learning</a:t>
            </a:r>
            <a:br>
              <a:rPr lang="en-US" sz="4000" dirty="0">
                <a:solidFill>
                  <a:schemeClr val="bg1"/>
                </a:solidFill>
              </a:rPr>
            </a:br>
            <a:r>
              <a:rPr lang="en-US" sz="2800" dirty="0">
                <a:solidFill>
                  <a:schemeClr val="bg1"/>
                </a:solidFill>
              </a:rPr>
              <a:t>Sutton/Barto*</a:t>
            </a:r>
            <a:r>
              <a:rPr lang="en-US" sz="2700" dirty="0">
                <a:solidFill>
                  <a:schemeClr val="bg1"/>
                </a:solidFill>
              </a:rPr>
              <a:t> Chapter 6</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Picture 5">
            <a:extLst>
              <a:ext uri="{FF2B5EF4-FFF2-40B4-BE49-F238E27FC236}">
                <a16:creationId xmlns:a16="http://schemas.microsoft.com/office/drawing/2014/main" id="{8AD28C7D-14A3-CFEB-3DEC-2E01272844F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7741" y="198362"/>
            <a:ext cx="4182403" cy="1000945"/>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7FFF10C2-8C10-0E89-D285-D614C36EEE69}"/>
              </a:ext>
              <a:ext uri="{C183D7F6-B498-43B3-948B-1728B52AA6E4}">
                <adec:decorative xmlns:adec="http://schemas.microsoft.com/office/drawing/2017/decorative" val="1"/>
              </a:ext>
            </a:extLst>
          </p:cNvPr>
          <p:cNvSpPr>
            <a:spLocks noGrp="1"/>
          </p:cNvSpPr>
          <p:nvPr>
            <p:ph type="subTitle" idx="1"/>
          </p:nvPr>
        </p:nvSpPr>
        <p:spPr>
          <a:xfrm>
            <a:off x="477982" y="4868822"/>
            <a:ext cx="4169519" cy="1443894"/>
          </a:xfrm>
        </p:spPr>
        <p:txBody>
          <a:bodyPr>
            <a:normAutofit fontScale="92500"/>
          </a:bodyPr>
          <a:lstStyle/>
          <a:p>
            <a:pPr algn="l"/>
            <a:r>
              <a:rPr lang="en-US" sz="1700" dirty="0">
                <a:solidFill>
                  <a:schemeClr val="bg1"/>
                </a:solidFill>
              </a:rPr>
              <a:t>Michael Hahsler, SMU</a:t>
            </a:r>
          </a:p>
          <a:p>
            <a:pPr algn="l"/>
            <a:r>
              <a:rPr lang="en-US" sz="1300" dirty="0">
                <a:solidFill>
                  <a:schemeClr val="bg1"/>
                </a:solidFill>
              </a:rPr>
              <a:t>With figures from Sutton/Barto*</a:t>
            </a:r>
          </a:p>
          <a:p>
            <a:pPr algn="l"/>
            <a:endParaRPr lang="en-US" sz="1300" dirty="0">
              <a:solidFill>
                <a:schemeClr val="bg1"/>
              </a:solidFill>
            </a:endParaRPr>
          </a:p>
          <a:p>
            <a:pPr algn="l"/>
            <a:r>
              <a:rPr lang="en-US" sz="1300" dirty="0">
                <a:solidFill>
                  <a:schemeClr val="bg1"/>
                </a:solidFill>
              </a:rPr>
              <a:t>*Sutton and Barto, Reinforcement Learning: An Introduction, 2</a:t>
            </a:r>
            <a:r>
              <a:rPr lang="en-US" sz="1300" baseline="30000" dirty="0">
                <a:solidFill>
                  <a:schemeClr val="bg1"/>
                </a:solidFill>
              </a:rPr>
              <a:t>nd</a:t>
            </a:r>
            <a:r>
              <a:rPr lang="en-US" sz="1300" dirty="0">
                <a:solidFill>
                  <a:schemeClr val="bg1"/>
                </a:solidFill>
              </a:rPr>
              <a:t> edition, MIT Press, Cambridge, MA, 2018</a:t>
            </a:r>
          </a:p>
        </p:txBody>
      </p:sp>
      <p:grpSp>
        <p:nvGrpSpPr>
          <p:cNvPr id="7" name="Group 6">
            <a:extLst>
              <a:ext uri="{FF2B5EF4-FFF2-40B4-BE49-F238E27FC236}">
                <a16:creationId xmlns:a16="http://schemas.microsoft.com/office/drawing/2014/main" id="{DA1C6744-BD97-2C10-F393-A0B726F71E7A}"/>
              </a:ext>
              <a:ext uri="{C183D7F6-B498-43B3-948B-1728B52AA6E4}">
                <adec:decorative xmlns:adec="http://schemas.microsoft.com/office/drawing/2017/decorative" val="1"/>
              </a:ext>
            </a:extLst>
          </p:cNvPr>
          <p:cNvGrpSpPr/>
          <p:nvPr/>
        </p:nvGrpSpPr>
        <p:grpSpPr>
          <a:xfrm>
            <a:off x="10961015" y="4868822"/>
            <a:ext cx="1037459" cy="1303078"/>
            <a:chOff x="5248582" y="2401735"/>
            <a:chExt cx="1694835" cy="2054530"/>
          </a:xfrm>
        </p:grpSpPr>
        <p:pic>
          <p:nvPicPr>
            <p:cNvPr id="8" name="Picture 7">
              <a:extLst>
                <a:ext uri="{FF2B5EF4-FFF2-40B4-BE49-F238E27FC236}">
                  <a16:creationId xmlns:a16="http://schemas.microsoft.com/office/drawing/2014/main" id="{2F5FC233-1ACF-0EE9-5B1F-F0A29270EEC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48582" y="2401735"/>
              <a:ext cx="1694835" cy="2054530"/>
            </a:xfrm>
            <a:prstGeom prst="rect">
              <a:avLst/>
            </a:prstGeom>
          </p:spPr>
        </p:pic>
        <p:pic>
          <p:nvPicPr>
            <p:cNvPr id="9" name="Picture 8" descr="QR code linking to the online course material.">
              <a:extLst>
                <a:ext uri="{FF2B5EF4-FFF2-40B4-BE49-F238E27FC236}">
                  <a16:creationId xmlns:a16="http://schemas.microsoft.com/office/drawing/2014/main" id="{26CB3135-CE78-1137-FBA3-29AA8592D8FA}"/>
                </a:ext>
              </a:extLst>
            </p:cNvPr>
            <p:cNvPicPr>
              <a:picLocks noChangeAspect="1"/>
            </p:cNvPicPr>
            <p:nvPr/>
          </p:nvPicPr>
          <p:blipFill>
            <a:blip r:embed="rId5"/>
            <a:stretch>
              <a:fillRect/>
            </a:stretch>
          </p:blipFill>
          <p:spPr>
            <a:xfrm>
              <a:off x="5315643" y="2435129"/>
              <a:ext cx="1560711" cy="1560711"/>
            </a:xfrm>
            <a:prstGeom prst="rect">
              <a:avLst/>
            </a:prstGeom>
          </p:spPr>
        </p:pic>
      </p:grpSp>
      <p:pic>
        <p:nvPicPr>
          <p:cNvPr id="4" name="object 23">
            <a:hlinkClick r:id="rId6"/>
            <a:extLst>
              <a:ext uri="{FF2B5EF4-FFF2-40B4-BE49-F238E27FC236}">
                <a16:creationId xmlns:a16="http://schemas.microsoft.com/office/drawing/2014/main" id="{3CBD6548-3D4E-9A40-CA35-355261D4E92C}"/>
              </a:ext>
              <a:ext uri="{C183D7F6-B498-43B3-948B-1728B52AA6E4}">
                <adec:decorative xmlns:adec="http://schemas.microsoft.com/office/drawing/2017/decorative" val="1"/>
              </a:ext>
            </a:extLst>
          </p:cNvPr>
          <p:cNvPicPr/>
          <p:nvPr/>
        </p:nvPicPr>
        <p:blipFill>
          <a:blip r:embed="rId7" cstate="print"/>
          <a:stretch>
            <a:fillRect/>
          </a:stretch>
        </p:blipFill>
        <p:spPr>
          <a:xfrm>
            <a:off x="10961016" y="6265038"/>
            <a:ext cx="1037459" cy="383579"/>
          </a:xfrm>
          <a:prstGeom prst="rect">
            <a:avLst/>
          </a:prstGeom>
        </p:spPr>
      </p:pic>
    </p:spTree>
    <p:extLst>
      <p:ext uri="{BB962C8B-B14F-4D97-AF65-F5344CB8AC3E}">
        <p14:creationId xmlns:p14="http://schemas.microsoft.com/office/powerpoint/2010/main" val="385275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3493-2ED6-DF09-F569-7F3DCA81AB18}"/>
              </a:ext>
            </a:extLst>
          </p:cNvPr>
          <p:cNvSpPr>
            <a:spLocks noGrp="1"/>
          </p:cNvSpPr>
          <p:nvPr>
            <p:ph type="title"/>
          </p:nvPr>
        </p:nvSpPr>
        <p:spPr/>
        <p:txBody>
          <a:bodyPr/>
          <a:lstStyle/>
          <a:p>
            <a:r>
              <a:rPr lang="en-US" dirty="0"/>
              <a:t>Topics of this Course</a:t>
            </a:r>
          </a:p>
        </p:txBody>
      </p:sp>
      <p:sp>
        <p:nvSpPr>
          <p:cNvPr id="3" name="Content Placeholder 2">
            <a:extLst>
              <a:ext uri="{FF2B5EF4-FFF2-40B4-BE49-F238E27FC236}">
                <a16:creationId xmlns:a16="http://schemas.microsoft.com/office/drawing/2014/main" id="{8F95E019-92A5-79AC-D777-59B4926F61AA}"/>
              </a:ext>
            </a:extLst>
          </p:cNvPr>
          <p:cNvSpPr>
            <a:spLocks noGrp="1"/>
          </p:cNvSpPr>
          <p:nvPr>
            <p:ph idx="1"/>
          </p:nvPr>
        </p:nvSpPr>
        <p:spPr/>
        <p:txBody>
          <a:bodyPr>
            <a:normAutofit fontScale="85000" lnSpcReduction="20000"/>
          </a:bodyPr>
          <a:lstStyle/>
          <a:p>
            <a:r>
              <a:rPr lang="en-US" dirty="0"/>
              <a:t>Introduction to reinforcement learning</a:t>
            </a:r>
          </a:p>
          <a:p>
            <a:r>
              <a:rPr lang="en-US" dirty="0"/>
              <a:t>Markov decision processes</a:t>
            </a:r>
          </a:p>
          <a:p>
            <a:r>
              <a:rPr lang="en-US" b="1" dirty="0"/>
              <a:t>Part I: Tabular Methods</a:t>
            </a:r>
          </a:p>
          <a:p>
            <a:pPr lvl="1"/>
            <a:r>
              <a:rPr lang="en-US" dirty="0"/>
              <a:t>Dynamic programming</a:t>
            </a:r>
          </a:p>
          <a:p>
            <a:pPr lvl="1"/>
            <a:r>
              <a:rPr lang="en-US" dirty="0"/>
              <a:t>Monte Carlo methods</a:t>
            </a:r>
          </a:p>
          <a:p>
            <a:pPr lvl="1"/>
            <a:r>
              <a:rPr lang="en-US" b="1" dirty="0"/>
              <a:t>Temporal-difference learning</a:t>
            </a:r>
          </a:p>
          <a:p>
            <a:pPr lvl="1"/>
            <a:r>
              <a:rPr lang="en-US" dirty="0"/>
              <a:t>Multi-step bootstrapping</a:t>
            </a:r>
          </a:p>
          <a:p>
            <a:pPr lvl="1"/>
            <a:r>
              <a:rPr lang="en-US" dirty="0"/>
              <a:t>Planning and learning with tabular methods</a:t>
            </a:r>
          </a:p>
          <a:p>
            <a:r>
              <a:rPr lang="en-US" dirty="0"/>
              <a:t>Part II: Approximate Solution Methods</a:t>
            </a:r>
          </a:p>
          <a:p>
            <a:pPr lvl="1"/>
            <a:r>
              <a:rPr lang="en-US" dirty="0"/>
              <a:t>Prediction and Control using Approximation</a:t>
            </a:r>
          </a:p>
          <a:p>
            <a:pPr lvl="1"/>
            <a:r>
              <a:rPr lang="en-US" dirty="0"/>
              <a:t>Eligibility Traces</a:t>
            </a:r>
          </a:p>
          <a:p>
            <a:pPr lvl="1"/>
            <a:r>
              <a:rPr lang="en-US" dirty="0"/>
              <a:t>Policy Gradient Methods</a:t>
            </a:r>
          </a:p>
          <a:p>
            <a:r>
              <a:rPr lang="en-US" dirty="0"/>
              <a:t>Part III: Modern RL Methods</a:t>
            </a:r>
          </a:p>
          <a:p>
            <a:pPr lvl="1"/>
            <a:r>
              <a:rPr lang="en-US" dirty="0"/>
              <a:t>Deep Reinforcement Learning</a:t>
            </a:r>
          </a:p>
          <a:p>
            <a:pPr lvl="1"/>
            <a:r>
              <a:rPr lang="en-US" dirty="0"/>
              <a:t>Current Applications</a:t>
            </a:r>
          </a:p>
        </p:txBody>
      </p:sp>
    </p:spTree>
    <p:extLst>
      <p:ext uri="{BB962C8B-B14F-4D97-AF65-F5344CB8AC3E}">
        <p14:creationId xmlns:p14="http://schemas.microsoft.com/office/powerpoint/2010/main" val="365336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E1A2-75E3-3C9C-6C10-EE078C5AD54A}"/>
              </a:ext>
            </a:extLst>
          </p:cNvPr>
          <p:cNvSpPr>
            <a:spLocks noGrp="1"/>
          </p:cNvSpPr>
          <p:nvPr>
            <p:ph type="title"/>
          </p:nvPr>
        </p:nvSpPr>
        <p:spPr/>
        <p:txBody>
          <a:bodyPr/>
          <a:lstStyle/>
          <a:p>
            <a:r>
              <a:rPr lang="en-US" dirty="0"/>
              <a:t>Summary of Notation</a:t>
            </a:r>
          </a:p>
        </p:txBody>
      </p:sp>
      <mc:AlternateContent xmlns:mc="http://schemas.openxmlformats.org/markup-compatibility/2006" xmlns:a14="http://schemas.microsoft.com/office/drawing/2010/main">
        <mc:Choice Requires="a14">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p:nvPr/>
            </p:nvSpPr>
            <p:spPr>
              <a:xfrm>
                <a:off x="822820" y="1124198"/>
                <a:ext cx="5273179"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dirty="0"/>
                  <a:t>General</a:t>
                </a:r>
                <a:endParaRPr lang="en-US" sz="1200" dirty="0"/>
              </a:p>
              <a:p>
                <a14:m>
                  <m:oMath xmlns:m="http://schemas.openxmlformats.org/officeDocument/2006/math">
                    <m:r>
                      <a:rPr lang="en-US" sz="1200" i="1" dirty="0" smtClean="0">
                        <a:latin typeface="Cambria Math" panose="02040503050406030204" pitchFamily="18" charset="0"/>
                      </a:rPr>
                      <m:t>𝑋</m:t>
                    </m:r>
                  </m:oMath>
                </a14:m>
                <a:r>
                  <a:rPr lang="en-US" sz="1200" dirty="0"/>
                  <a:t>	capital letters: random variables</a:t>
                </a:r>
                <a:br>
                  <a:rPr lang="en-US" sz="1200" dirty="0"/>
                </a:br>
                <a14:m>
                  <m:oMath xmlns:m="http://schemas.openxmlformats.org/officeDocument/2006/math">
                    <m:r>
                      <a:rPr lang="en-US" sz="1200" b="0" i="1" smtClean="0">
                        <a:latin typeface="Cambria Math" panose="02040503050406030204" pitchFamily="18" charset="0"/>
                      </a:rPr>
                      <m:t>𝑥</m:t>
                    </m:r>
                    <m:r>
                      <a:rPr lang="en-US" sz="1200" b="0" i="0" smtClean="0">
                        <a:latin typeface="Cambria Math" panose="02040503050406030204" pitchFamily="18" charset="0"/>
                      </a:rPr>
                      <m:t>, </m:t>
                    </m:r>
                    <m:r>
                      <a:rPr lang="en-US" sz="1200" b="0" i="1" smtClean="0">
                        <a:latin typeface="Cambria Math" panose="02040503050406030204" pitchFamily="18" charset="0"/>
                      </a:rPr>
                      <m:t>𝑝</m:t>
                    </m:r>
                  </m:oMath>
                </a14:m>
                <a:r>
                  <a:rPr lang="en-US" sz="1200" dirty="0"/>
                  <a:t>	lower-case letters: realizations of random variables </a:t>
                </a:r>
                <a:br>
                  <a:rPr lang="en-US" sz="1200" dirty="0"/>
                </a:br>
                <a:r>
                  <a:rPr lang="en-US" sz="1200" dirty="0"/>
                  <a:t>	or scalar functions</a:t>
                </a:r>
              </a:p>
              <a:p>
                <a14:m>
                  <m:oMath xmlns:m="http://schemas.openxmlformats.org/officeDocument/2006/math">
                    <m:r>
                      <a:rPr lang="en-US" sz="1200" b="1" i="1" smtClean="0">
                        <a:latin typeface="Cambria Math" panose="02040503050406030204" pitchFamily="18" charset="0"/>
                      </a:rPr>
                      <m:t>𝒘</m:t>
                    </m:r>
                  </m:oMath>
                </a14:m>
                <a:r>
                  <a:rPr lang="en-US" sz="1200" dirty="0"/>
                  <a:t> 	Bold lower-case letters: real-valued vectors </a:t>
                </a:r>
                <a:br>
                  <a:rPr lang="en-US" sz="1200" dirty="0"/>
                </a:br>
                <a:r>
                  <a:rPr lang="en-US" sz="1200" dirty="0"/>
                  <a:t>	(even if random variables)</a:t>
                </a:r>
              </a:p>
              <a:p>
                <a14:m>
                  <m:oMath xmlns:m="http://schemas.openxmlformats.org/officeDocument/2006/math">
                    <m:r>
                      <a:rPr lang="en-US" sz="1200" b="1" i="1" smtClean="0">
                        <a:latin typeface="Cambria Math" panose="02040503050406030204" pitchFamily="18" charset="0"/>
                      </a:rPr>
                      <m:t>𝑾</m:t>
                    </m:r>
                  </m:oMath>
                </a14:m>
                <a:r>
                  <a:rPr lang="en-US" sz="1200" dirty="0"/>
                  <a:t>	bold capitals: matrices</a:t>
                </a:r>
              </a:p>
              <a:p>
                <a14:m>
                  <m:oMath xmlns:m="http://schemas.openxmlformats.org/officeDocument/2006/math">
                    <m:r>
                      <a:rPr lang="en-US" sz="1200" b="0" i="1" smtClean="0">
                        <a:latin typeface="Cambria Math" panose="02040503050406030204" pitchFamily="18" charset="0"/>
                      </a:rPr>
                      <m:t>𝛼</m:t>
                    </m:r>
                  </m:oMath>
                </a14:m>
                <a:r>
                  <a:rPr lang="en-US" sz="1200" dirty="0"/>
                  <a:t>	Greek letters: parameters (vectors if in bolt)</a:t>
                </a:r>
              </a:p>
              <a:p>
                <a14:m>
                  <m:oMath xmlns:m="http://schemas.openxmlformats.org/officeDocument/2006/math">
                    <m:r>
                      <m:rPr>
                        <m:sty m:val="p"/>
                      </m:rPr>
                      <a:rPr lang="en-US" sz="1200" i="1" dirty="0">
                        <a:latin typeface="Cambria Math" panose="02040503050406030204" pitchFamily="18" charset="0"/>
                      </a:rPr>
                      <m:t>Pr</m:t>
                    </m:r>
                    <m:r>
                      <a:rPr lang="en-US" sz="1200" i="1" dirty="0">
                        <a:latin typeface="Cambria Math" panose="02040503050406030204" pitchFamily="18" charset="0"/>
                      </a:rPr>
                      <m:t>⁡{</m:t>
                    </m:r>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𝑥</m:t>
                    </m:r>
                    <m:r>
                      <a:rPr lang="en-US" sz="1200" i="1" dirty="0">
                        <a:latin typeface="Cambria Math" panose="02040503050406030204" pitchFamily="18" charset="0"/>
                      </a:rPr>
                      <m:t>}</m:t>
                    </m:r>
                  </m:oMath>
                </a14:m>
                <a:r>
                  <a:rPr lang="en-US" sz="1200" dirty="0"/>
                  <a:t>	probability that a random variable </a:t>
                </a:r>
                <a14:m>
                  <m:oMath xmlns:m="http://schemas.openxmlformats.org/officeDocument/2006/math">
                    <m:r>
                      <a:rPr lang="en-US" sz="1200" i="1" dirty="0">
                        <a:latin typeface="Cambria Math" panose="02040503050406030204" pitchFamily="18" charset="0"/>
                      </a:rPr>
                      <m:t>𝑋</m:t>
                    </m:r>
                  </m:oMath>
                </a14:m>
                <a:r>
                  <a:rPr lang="en-US" sz="1200" dirty="0"/>
                  <a:t> takes on the value </a:t>
                </a:r>
                <a14:m>
                  <m:oMath xmlns:m="http://schemas.openxmlformats.org/officeDocument/2006/math">
                    <m:r>
                      <a:rPr lang="en-US" sz="1200" i="1" dirty="0">
                        <a:latin typeface="Cambria Math" panose="02040503050406030204" pitchFamily="18" charset="0"/>
                      </a:rPr>
                      <m:t>𝑥</m:t>
                    </m:r>
                  </m:oMath>
                </a14:m>
                <a:endParaRPr lang="en-US" sz="1200" dirty="0"/>
              </a:p>
              <a:p>
                <a14:m>
                  <m:oMath xmlns:m="http://schemas.openxmlformats.org/officeDocument/2006/math">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𝑝</m:t>
                    </m:r>
                  </m:oMath>
                </a14:m>
                <a:r>
                  <a:rPr lang="en-US" sz="1200" dirty="0"/>
                  <a:t>	random variable </a:t>
                </a:r>
                <a14:m>
                  <m:oMath xmlns:m="http://schemas.openxmlformats.org/officeDocument/2006/math">
                    <m:r>
                      <a:rPr lang="en-US" sz="1200" i="1" dirty="0">
                        <a:latin typeface="Cambria Math" panose="02040503050406030204" pitchFamily="18" charset="0"/>
                      </a:rPr>
                      <m:t>𝑋</m:t>
                    </m:r>
                  </m:oMath>
                </a14:m>
                <a:r>
                  <a:rPr lang="en-US" sz="1200" dirty="0"/>
                  <a:t> selected from distribution </a:t>
                </a:r>
                <a14:m>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m:rPr>
                        <m:sty m:val="p"/>
                      </m:rPr>
                      <a:rPr lang="en-US" sz="1200">
                        <a:latin typeface="Cambria Math" panose="02040503050406030204" pitchFamily="18" charset="0"/>
                      </a:rPr>
                      <m:t>Pr</m:t>
                    </m:r>
                    <m:r>
                      <a:rPr lang="en-US" sz="1200" i="1">
                        <a:latin typeface="Cambria Math" panose="02040503050406030204" pitchFamily="18" charset="0"/>
                      </a:rPr>
                      <m:t>⁡{</m:t>
                    </m:r>
                    <m:r>
                      <a:rPr lang="en-US" sz="1200" i="1">
                        <a:latin typeface="Cambria Math" panose="02040503050406030204" pitchFamily="18" charset="0"/>
                      </a:rPr>
                      <m:t>𝑋</m:t>
                    </m:r>
                    <m:r>
                      <a:rPr lang="en-US" sz="1200" i="1">
                        <a:latin typeface="Cambria Math" panose="02040503050406030204" pitchFamily="18" charset="0"/>
                      </a:rPr>
                      <m:t>=</m:t>
                    </m:r>
                    <m:r>
                      <a:rPr lang="en-US" sz="1200" i="1">
                        <a:latin typeface="Cambria Math" panose="02040503050406030204" pitchFamily="18" charset="0"/>
                      </a:rPr>
                      <m:t>𝑥</m:t>
                    </m:r>
                    <m:r>
                      <a:rPr lang="en-US" sz="1200" i="1">
                        <a:latin typeface="Cambria Math" panose="02040503050406030204" pitchFamily="18" charset="0"/>
                      </a:rPr>
                      <m:t>}</m:t>
                    </m:r>
                  </m:oMath>
                </a14:m>
                <a:endParaRPr lang="en-US" sz="1200" dirty="0"/>
              </a:p>
              <a:p>
                <a14:m>
                  <m:oMath xmlns:m="http://schemas.openxmlformats.org/officeDocument/2006/math">
                    <m:r>
                      <a:rPr lang="en-US" sz="1200" i="1">
                        <a:latin typeface="Cambria Math" panose="02040503050406030204" pitchFamily="18" charset="0"/>
                        <a:ea typeface="Cambria Math" panose="02040503050406030204" pitchFamily="18" charset="0"/>
                      </a:rPr>
                      <m:t>𝔼</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𝑋</m:t>
                    </m:r>
                    <m:r>
                      <a:rPr lang="en-US" sz="1200" i="1">
                        <a:latin typeface="Cambria Math" panose="02040503050406030204" pitchFamily="18" charset="0"/>
                        <a:ea typeface="Cambria Math" panose="02040503050406030204" pitchFamily="18" charset="0"/>
                      </a:rPr>
                      <m:t>]</m:t>
                    </m:r>
                  </m:oMath>
                </a14:m>
                <a:r>
                  <a:rPr lang="en-US" sz="1200" dirty="0"/>
                  <a:t>	expectation of a random variable </a:t>
                </a:r>
                <a14:m>
                  <m:oMath xmlns:m="http://schemas.openxmlformats.org/officeDocument/2006/math">
                    <m:r>
                      <a:rPr lang="en-US" sz="1200" i="1" dirty="0">
                        <a:latin typeface="Cambria Math" panose="02040503050406030204" pitchFamily="18" charset="0"/>
                      </a:rPr>
                      <m:t>𝑋</m:t>
                    </m:r>
                  </m:oMath>
                </a14:m>
                <a:r>
                  <a:rPr lang="en-US" sz="1200" dirty="0"/>
                  <a:t>, i.e., </a:t>
                </a:r>
                <a14:m>
                  <m:oMath xmlns:m="http://schemas.openxmlformats.org/officeDocument/2006/math">
                    <m:r>
                      <a:rPr lang="en-US" sz="1200" i="1">
                        <a:latin typeface="Cambria Math" panose="02040503050406030204" pitchFamily="18" charset="0"/>
                        <a:ea typeface="Cambria Math" panose="02040503050406030204" pitchFamily="18" charset="0"/>
                      </a:rPr>
                      <m:t>𝔼</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𝑋</m:t>
                        </m:r>
                      </m:e>
                    </m:d>
                    <m:r>
                      <a:rPr lang="en-US" sz="1200" i="1">
                        <a:latin typeface="Cambria Math" panose="02040503050406030204" pitchFamily="18" charset="0"/>
                        <a:ea typeface="Cambria Math" panose="02040503050406030204" pitchFamily="18" charset="0"/>
                      </a:rPr>
                      <m:t>=</m:t>
                    </m:r>
                    <m:nary>
                      <m:naryPr>
                        <m:chr m:val="∑"/>
                        <m:supHide m:val="on"/>
                        <m:ctrlPr>
                          <a:rPr lang="en-US" sz="1200" i="1">
                            <a:latin typeface="Cambria Math" panose="02040503050406030204" pitchFamily="18" charset="0"/>
                            <a:ea typeface="Cambria Math" panose="02040503050406030204" pitchFamily="18" charset="0"/>
                          </a:rPr>
                        </m:ctrlPr>
                      </m:naryPr>
                      <m:sub>
                        <m:r>
                          <a:rPr lang="en-US" sz="1200" i="1">
                            <a:latin typeface="Cambria Math" panose="02040503050406030204" pitchFamily="18" charset="0"/>
                            <a:ea typeface="Cambria Math" panose="02040503050406030204" pitchFamily="18" charset="0"/>
                          </a:rPr>
                          <m:t>𝑥</m:t>
                        </m:r>
                      </m:sub>
                      <m:sup/>
                      <m:e>
                        <m:r>
                          <a:rPr lang="en-US" sz="1200" i="1">
                            <a:latin typeface="Cambria Math" panose="02040503050406030204" pitchFamily="18" charset="0"/>
                            <a:ea typeface="Cambria Math" panose="02040503050406030204" pitchFamily="18" charset="0"/>
                          </a:rPr>
                          <m:t>𝑝</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r>
                          <a:rPr lang="en-US" sz="1200" i="1">
                            <a:latin typeface="Cambria Math" panose="02040503050406030204" pitchFamily="18" charset="0"/>
                            <a:ea typeface="Cambria Math" panose="02040503050406030204" pitchFamily="18" charset="0"/>
                          </a:rPr>
                          <m:t>𝑥</m:t>
                        </m:r>
                      </m:e>
                    </m:nary>
                  </m:oMath>
                </a14:m>
                <a:endParaRPr lang="en-US" sz="1200" dirty="0">
                  <a:ea typeface="Cambria Math" panose="02040503050406030204" pitchFamily="18" charset="0"/>
                </a:endParaRPr>
              </a:p>
              <a:p>
                <a14:m>
                  <m:oMath xmlns:m="http://schemas.openxmlformats.org/officeDocument/2006/math">
                    <m:sSub>
                      <m:sSubPr>
                        <m:ctrlPr>
                          <a:rPr lang="en-US" sz="1200" dirty="0">
                            <a:latin typeface="Cambria Math" panose="02040503050406030204" pitchFamily="18" charset="0"/>
                          </a:rPr>
                        </m:ctrlPr>
                      </m:sSubPr>
                      <m:e>
                        <m:r>
                          <m:rPr>
                            <m:sty m:val="p"/>
                          </m:rPr>
                          <a:rPr lang="en-US" sz="1200" dirty="0">
                            <a:latin typeface="Cambria Math" panose="02040503050406030204" pitchFamily="18" charset="0"/>
                          </a:rPr>
                          <m:t>argmax</m:t>
                        </m:r>
                      </m:e>
                      <m:sub>
                        <m:r>
                          <m:rPr>
                            <m:sty m:val="p"/>
                          </m:rPr>
                          <a:rPr lang="en-US" sz="1200" dirty="0">
                            <a:latin typeface="Cambria Math" panose="02040503050406030204" pitchFamily="18" charset="0"/>
                          </a:rPr>
                          <m:t>a</m:t>
                        </m:r>
                      </m:sub>
                    </m:sSub>
                    <m:r>
                      <a:rPr lang="en-US" sz="1200" dirty="0">
                        <a:latin typeface="Cambria Math" panose="02040503050406030204" pitchFamily="18" charset="0"/>
                      </a:rPr>
                      <m:t> </m:t>
                    </m:r>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a value of action </a:t>
                </a:r>
                <a14:m>
                  <m:oMath xmlns:m="http://schemas.openxmlformats.org/officeDocument/2006/math">
                    <m:r>
                      <a:rPr lang="en-US" sz="1200" i="1" dirty="0">
                        <a:latin typeface="Cambria Math" panose="02040503050406030204" pitchFamily="18" charset="0"/>
                      </a:rPr>
                      <m:t>𝑎</m:t>
                    </m:r>
                  </m:oMath>
                </a14:m>
                <a:r>
                  <a:rPr lang="en-US" sz="1200" dirty="0"/>
                  <a:t> at which </a:t>
                </a:r>
                <a14:m>
                  <m:oMath xmlns:m="http://schemas.openxmlformats.org/officeDocument/2006/math">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takes its maximal value</a:t>
                </a:r>
              </a:p>
            </p:txBody>
          </p:sp>
        </mc:Choice>
        <mc:Fallback xmlns="">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a:spLocks noRot="1" noChangeAspect="1" noMove="1" noResize="1" noEditPoints="1" noAdjustHandles="1" noChangeArrowheads="1" noChangeShapeType="1" noTextEdit="1"/>
              </p:cNvSpPr>
              <p:nvPr/>
            </p:nvSpPr>
            <p:spPr>
              <a:xfrm>
                <a:off x="822820" y="1124198"/>
                <a:ext cx="5273179" cy="2308324"/>
              </a:xfrm>
              <a:prstGeom prst="rect">
                <a:avLst/>
              </a:prstGeom>
              <a:blipFill>
                <a:blip r:embed="rId3"/>
                <a:stretch>
                  <a:fillRect b="-9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p:cNvSpPr>
              <p:nvPr>
                <p:ph idx="1"/>
              </p:nvPr>
            </p:nvSpPr>
            <p:spPr>
              <a:xfrm>
                <a:off x="822819" y="3700831"/>
                <a:ext cx="5273179" cy="1902124"/>
              </a:xfrm>
            </p:spPr>
            <p:style>
              <a:lnRef idx="2">
                <a:schemeClr val="accent2"/>
              </a:lnRef>
              <a:fillRef idx="1">
                <a:schemeClr val="lt1"/>
              </a:fillRef>
              <a:effectRef idx="0">
                <a:schemeClr val="accent2"/>
              </a:effectRef>
              <a:fontRef idx="minor">
                <a:schemeClr val="dk1"/>
              </a:fontRef>
            </p:style>
            <p:txBody>
              <a:bodyPr>
                <a:spAutoFit/>
              </a:bodyPr>
              <a:lstStyle/>
              <a:p>
                <a:pPr marL="0" indent="0">
                  <a:lnSpc>
                    <a:spcPct val="100000"/>
                  </a:lnSpc>
                  <a:spcBef>
                    <a:spcPts val="0"/>
                  </a:spcBef>
                  <a:buNone/>
                </a:pPr>
                <a:r>
                  <a:rPr lang="en-US" sz="1200" b="1" dirty="0"/>
                  <a:t>Value Function</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𝐺</m:t>
                        </m:r>
                      </m:e>
                      <m:sub>
                        <m:r>
                          <a:rPr lang="en-US" sz="1200" i="1" dirty="0">
                            <a:latin typeface="Cambria Math" panose="02040503050406030204" pitchFamily="18" charset="0"/>
                          </a:rPr>
                          <m:t>𝑡</m:t>
                        </m:r>
                      </m:sub>
                    </m:sSub>
                  </m:oMath>
                </a14:m>
                <a:r>
                  <a:rPr lang="en-US" sz="1200" dirty="0"/>
                  <a:t> 	return (cumulative reward) following time </a:t>
                </a:r>
                <a14:m>
                  <m:oMath xmlns:m="http://schemas.openxmlformats.org/officeDocument/2006/math">
                    <m:r>
                      <a:rPr lang="en-US" sz="1200" i="1" dirty="0">
                        <a:latin typeface="Cambria Math" panose="02040503050406030204" pitchFamily="18" charset="0"/>
                      </a:rPr>
                      <m:t>𝑡</m:t>
                    </m:r>
                  </m:oMath>
                </a14:m>
                <a:endParaRPr lang="en-US" sz="1200" dirty="0"/>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𝐺</m:t>
                        </m:r>
                      </m:e>
                      <m:sub>
                        <m:r>
                          <a:rPr lang="en-US" sz="1200" i="1" dirty="0">
                            <a:solidFill>
                              <a:schemeClr val="tx1"/>
                            </a:solidFill>
                            <a:latin typeface="Cambria Math" panose="02040503050406030204" pitchFamily="18" charset="0"/>
                          </a:rPr>
                          <m:t>𝑡</m:t>
                        </m:r>
                        <m:r>
                          <a:rPr lang="en-US" sz="1200" i="1" dirty="0">
                            <a:solidFill>
                              <a:schemeClr val="tx1"/>
                            </a:solidFill>
                            <a:latin typeface="Cambria Math" panose="02040503050406030204" pitchFamily="18" charset="0"/>
                          </a:rPr>
                          <m:t>:</m:t>
                        </m:r>
                        <m:r>
                          <a:rPr lang="en-US" sz="1200" i="1" dirty="0">
                            <a:solidFill>
                              <a:schemeClr val="tx1"/>
                            </a:solidFill>
                            <a:latin typeface="Cambria Math" panose="02040503050406030204" pitchFamily="18" charset="0"/>
                          </a:rPr>
                          <m:t>ℎ</m:t>
                        </m:r>
                      </m:sub>
                    </m:sSub>
                  </m:oMath>
                </a14:m>
                <a:r>
                  <a:rPr lang="en-US" sz="1200" dirty="0">
                    <a:solidFill>
                      <a:schemeClr val="tx1"/>
                    </a:solidFill>
                  </a:rPr>
                  <a:t>	return from </a:t>
                </a:r>
                <a14:m>
                  <m:oMath xmlns:m="http://schemas.openxmlformats.org/officeDocument/2006/math">
                    <m:r>
                      <a:rPr lang="en-US" sz="1200" i="1" dirty="0">
                        <a:solidFill>
                          <a:schemeClr val="tx1"/>
                        </a:solidFill>
                        <a:latin typeface="Cambria Math" panose="02040503050406030204" pitchFamily="18" charset="0"/>
                      </a:rPr>
                      <m:t>𝑡</m:t>
                    </m:r>
                  </m:oMath>
                </a14:m>
                <a:r>
                  <a:rPr lang="en-US" sz="1200" dirty="0">
                    <a:solidFill>
                      <a:schemeClr val="tx1"/>
                    </a:solidFill>
                  </a:rPr>
                  <a:t> to </a:t>
                </a:r>
                <a14:m>
                  <m:oMath xmlns:m="http://schemas.openxmlformats.org/officeDocument/2006/math">
                    <m:r>
                      <a:rPr lang="en-US" sz="1200" i="1" dirty="0">
                        <a:solidFill>
                          <a:schemeClr val="tx1"/>
                        </a:solidFill>
                        <a:latin typeface="Cambria Math" panose="02040503050406030204" pitchFamily="18" charset="0"/>
                      </a:rPr>
                      <m:t>ℎ</m:t>
                    </m:r>
                  </m:oMath>
                </a14:m>
                <a:r>
                  <a:rPr lang="en-US" sz="1200" dirty="0">
                    <a:solidFill>
                      <a:schemeClr val="tx1"/>
                    </a:solidFill>
                  </a:rPr>
                  <a:t> (discounted and corrected)</a:t>
                </a:r>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a:t>
                </a:r>
                <a14:m>
                  <m:oMath xmlns:m="http://schemas.openxmlformats.org/officeDocument/2006/math">
                    <m:r>
                      <a:rPr lang="en-US" sz="1200" i="1" dirty="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r>
                  <a:rPr lang="en-US" sz="1200" dirty="0"/>
                  <a:t> (expected return)</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s under the optimal policy</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endParaRPr lang="en-US" sz="1200" dirty="0"/>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the optimal policy</a:t>
                </a: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𝑉</m:t>
                    </m:r>
                    <m:r>
                      <a:rPr lang="en-US" sz="1200" i="1" dirty="0">
                        <a:solidFill>
                          <a:schemeClr val="tx1"/>
                        </a:solidFill>
                        <a:latin typeface="Cambria Math" panose="02040503050406030204" pitchFamily="18" charset="0"/>
                      </a:rPr>
                      <m:t>, </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𝑉</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state-value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r>
                      <a:rPr lang="en-US" sz="1200" i="1" dirty="0">
                        <a:solidFill>
                          <a:schemeClr val="tx1"/>
                        </a:solidFill>
                        <a:latin typeface="Cambria Math" panose="02040503050406030204" pitchFamily="18" charset="0"/>
                      </a:rPr>
                      <m:t> </m:t>
                    </m:r>
                  </m:oMath>
                </a14:m>
                <a:endParaRPr lang="en-US" sz="1200" dirty="0">
                  <a:solidFill>
                    <a:schemeClr val="tx1"/>
                  </a:solidFill>
                </a:endParaRP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𝑄</m:t>
                    </m:r>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𝑄</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action-value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𝑞</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oMath>
                </a14:m>
                <a:endParaRPr lang="en-US" sz="1200" dirty="0">
                  <a:solidFill>
                    <a:schemeClr val="tx1"/>
                  </a:solidFill>
                </a:endParaRPr>
              </a:p>
            </p:txBody>
          </p:sp>
        </mc:Choice>
        <mc:Fallback xmlns="">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noRot="1" noChangeAspect="1" noMove="1" noResize="1" noEditPoints="1" noAdjustHandles="1" noChangeArrowheads="1" noChangeShapeType="1" noTextEdit="1"/>
              </p:cNvSpPr>
              <p:nvPr>
                <p:ph idx="1"/>
              </p:nvPr>
            </p:nvSpPr>
            <p:spPr>
              <a:xfrm>
                <a:off x="822819" y="3700831"/>
                <a:ext cx="5273179" cy="1902124"/>
              </a:xfrm>
              <a:blipFill>
                <a:blip r:embed="rId2"/>
                <a:stretch>
                  <a:fillRect b="-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p:cNvSpPr>
              <p:nvPr/>
            </p:nvSpPr>
            <p:spPr>
              <a:xfrm>
                <a:off x="6267338" y="1124198"/>
                <a:ext cx="5273179" cy="3693383"/>
              </a:xfrm>
              <a:prstGeom prst="rect">
                <a:avLst/>
              </a:prstGeom>
            </p:spPr>
            <p:style>
              <a:lnRef idx="2">
                <a:schemeClr val="accent2"/>
              </a:lnRef>
              <a:fillRef idx="1">
                <a:schemeClr val="lt1"/>
              </a:fillRef>
              <a:effectRef idx="0">
                <a:schemeClr val="accent2"/>
              </a:effectRef>
              <a:fontRef idx="minor">
                <a:schemeClr val="dk1"/>
              </a:fontRef>
            </p:style>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t>MDP</a:t>
                </a:r>
              </a:p>
              <a:p>
                <a:pPr marL="0" indent="0">
                  <a:spcBef>
                    <a:spcPts val="0"/>
                  </a:spcBef>
                  <a:buNone/>
                </a:pPr>
                <a14:m>
                  <m:oMath xmlns:m="http://schemas.openxmlformats.org/officeDocument/2006/math">
                    <m:r>
                      <a:rPr lang="en-US" sz="1200" i="1" dirty="0" smtClean="0">
                        <a:latin typeface="Cambria Math" panose="02040503050406030204" pitchFamily="18" charset="0"/>
                      </a:rPr>
                      <m:t>𝑠</m:t>
                    </m:r>
                    <m:r>
                      <a:rPr lang="en-US" sz="1200" i="1" dirty="0" smtClean="0">
                        <a:latin typeface="Cambria Math" panose="02040503050406030204" pitchFamily="18" charset="0"/>
                      </a:rPr>
                      <m:t>, </m:t>
                    </m:r>
                    <m:r>
                      <a:rPr lang="en-US" sz="1200" i="1" dirty="0" smtClean="0">
                        <a:latin typeface="Cambria Math" panose="02040503050406030204" pitchFamily="18" charset="0"/>
                      </a:rPr>
                      <m:t>𝑠</m:t>
                    </m:r>
                    <m:r>
                      <a:rPr lang="en-US" sz="1200" b="0" i="1" dirty="0" smtClean="0">
                        <a:latin typeface="Cambria Math" panose="02040503050406030204" pitchFamily="18" charset="0"/>
                      </a:rPr>
                      <m:t>′</m:t>
                    </m:r>
                  </m:oMath>
                </a14:m>
                <a:r>
                  <a:rPr lang="en-US" sz="1200" dirty="0"/>
                  <a:t> 	states</a:t>
                </a:r>
              </a:p>
              <a:p>
                <a:pPr marL="0" indent="0">
                  <a:spcBef>
                    <a:spcPts val="0"/>
                  </a:spcBef>
                  <a:buNone/>
                </a:pPr>
                <a14:m>
                  <m:oMath xmlns:m="http://schemas.openxmlformats.org/officeDocument/2006/math">
                    <m:r>
                      <a:rPr lang="en-US" sz="1200" i="1" dirty="0" smtClean="0">
                        <a:latin typeface="Cambria Math" panose="02040503050406030204" pitchFamily="18" charset="0"/>
                      </a:rPr>
                      <m:t>𝑎</m:t>
                    </m:r>
                  </m:oMath>
                </a14:m>
                <a:r>
                  <a:rPr lang="en-US" sz="1200" dirty="0"/>
                  <a:t> 	an action</a:t>
                </a:r>
              </a:p>
              <a:p>
                <a:pPr marL="0" indent="0">
                  <a:spcBef>
                    <a:spcPts val="0"/>
                  </a:spcBef>
                  <a:buNone/>
                </a:pPr>
                <a14:m>
                  <m:oMath xmlns:m="http://schemas.openxmlformats.org/officeDocument/2006/math">
                    <m:r>
                      <a:rPr lang="en-US" sz="1200" i="1" dirty="0" smtClean="0">
                        <a:latin typeface="Cambria Math" panose="02040503050406030204" pitchFamily="18" charset="0"/>
                      </a:rPr>
                      <m:t>𝑟</m:t>
                    </m:r>
                  </m:oMath>
                </a14:m>
                <a:r>
                  <a:rPr lang="en-US" sz="1200" dirty="0"/>
                  <a:t> 	a reward</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𝒮</m:t>
                    </m:r>
                  </m:oMath>
                </a14:m>
                <a:r>
                  <a:rPr lang="en-US" sz="1200" dirty="0"/>
                  <a:t> 	set of all (nonterminal) states, </a:t>
                </a:r>
                <a14:m>
                  <m:oMath xmlns:m="http://schemas.openxmlformats.org/officeDocument/2006/math">
                    <m:sSup>
                      <m:sSupPr>
                        <m:ctrlPr>
                          <a:rPr lang="en-US" sz="1200" i="1" dirty="0">
                            <a:latin typeface="Cambria Math" panose="02040503050406030204" pitchFamily="18" charset="0"/>
                            <a:ea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𝒮</m:t>
                        </m:r>
                      </m:e>
                      <m:sup>
                        <m:r>
                          <a:rPr lang="en-US" sz="1200" b="0" i="1" dirty="0" smtClean="0">
                            <a:latin typeface="Cambria Math" panose="02040503050406030204" pitchFamily="18" charset="0"/>
                            <a:ea typeface="Cambria Math" panose="02040503050406030204" pitchFamily="18" charset="0"/>
                          </a:rPr>
                          <m:t>+</m:t>
                        </m:r>
                      </m:sup>
                    </m:sSup>
                  </m:oMath>
                </a14:m>
                <a:r>
                  <a:rPr lang="en-US" sz="1200" dirty="0"/>
                  <a:t> are all states </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𝒜</m:t>
                    </m:r>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set of all actions available in state </a:t>
                </a:r>
                <a14:m>
                  <m:oMath xmlns:m="http://schemas.openxmlformats.org/officeDocument/2006/math">
                    <m:r>
                      <a:rPr lang="en-US" sz="1200" i="1" dirty="0" smtClean="0">
                        <a:latin typeface="Cambria Math" panose="02040503050406030204" pitchFamily="18" charset="0"/>
                      </a:rPr>
                      <m:t>𝑠</m:t>
                    </m:r>
                  </m:oMath>
                </a14:m>
                <a:endParaRPr lang="en-US" sz="1200" dirty="0"/>
              </a:p>
              <a:p>
                <a:pPr marL="0" indent="0">
                  <a:spcBef>
                    <a:spcPts val="0"/>
                  </a:spcBef>
                  <a:buNone/>
                </a:pPr>
                <a14:m>
                  <m:oMath xmlns:m="http://schemas.openxmlformats.org/officeDocument/2006/math">
                    <m:r>
                      <a:rPr lang="en-US" sz="1200" i="1">
                        <a:latin typeface="Cambria Math" panose="02040503050406030204" pitchFamily="18" charset="0"/>
                      </a:rPr>
                      <m:t>𝛾</m:t>
                    </m:r>
                  </m:oMath>
                </a14:m>
                <a:r>
                  <a:rPr lang="en-US" sz="1200" dirty="0"/>
                  <a:t> 	discount-rate parameter</a:t>
                </a: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𝑡</m:t>
                    </m:r>
                  </m:oMath>
                </a14:m>
                <a:r>
                  <a:rPr lang="en-US" sz="1200" dirty="0"/>
                  <a:t> 	discrete time step</a:t>
                </a:r>
              </a:p>
              <a:p>
                <a:pPr marL="0" indent="0">
                  <a:spcBef>
                    <a:spcPts val="0"/>
                  </a:spcBef>
                  <a:buNone/>
                </a:pPr>
                <a14:m>
                  <m:oMath xmlns:m="http://schemas.openxmlformats.org/officeDocument/2006/math">
                    <m:r>
                      <a:rPr lang="en-US" sz="1200" i="1" dirty="0" smtClean="0">
                        <a:latin typeface="Cambria Math" panose="02040503050406030204" pitchFamily="18" charset="0"/>
                      </a:rPr>
                      <m:t>𝑇</m:t>
                    </m:r>
                  </m:oMath>
                </a14:m>
                <a:r>
                  <a:rPr lang="en-US" sz="1200" dirty="0"/>
                  <a:t> 	final time step of an episode (a.k.a. horizon)</a:t>
                </a:r>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𝐴</m:t>
                        </m:r>
                      </m:e>
                      <m:sub>
                        <m:r>
                          <a:rPr lang="en-US" sz="1200" b="0" i="1" dirty="0" smtClean="0">
                            <a:latin typeface="Cambria Math" panose="02040503050406030204" pitchFamily="18" charset="0"/>
                          </a:rPr>
                          <m:t>𝑡</m:t>
                        </m:r>
                      </m:sub>
                    </m:sSub>
                  </m:oMath>
                </a14:m>
                <a:r>
                  <a:rPr lang="en-US" sz="1200" dirty="0"/>
                  <a:t> 	random variable for the action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𝑆</m:t>
                        </m:r>
                      </m:e>
                      <m:sub>
                        <m:r>
                          <a:rPr lang="en-US" sz="1200" b="0" i="1" dirty="0" smtClean="0">
                            <a:latin typeface="Cambria Math" panose="02040503050406030204" pitchFamily="18" charset="0"/>
                          </a:rPr>
                          <m:t>𝑡</m:t>
                        </m:r>
                      </m:sub>
                    </m:sSub>
                  </m:oMath>
                </a14:m>
                <a:r>
                  <a:rPr lang="en-US" sz="1200" dirty="0"/>
                  <a:t>	random variable for the state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𝑅</m:t>
                        </m:r>
                      </m:e>
                      <m:sub>
                        <m:r>
                          <a:rPr lang="en-US" sz="1200" b="0" i="1" dirty="0" smtClean="0">
                            <a:latin typeface="Cambria Math" panose="02040503050406030204" pitchFamily="18" charset="0"/>
                          </a:rPr>
                          <m:t>𝑡</m:t>
                        </m:r>
                      </m:sub>
                    </m:sSub>
                  </m:oMath>
                </a14:m>
                <a:r>
                  <a:rPr lang="en-US" sz="1200" dirty="0"/>
                  <a:t> 	random variable for the reward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r>
                          <a:rPr lang="en-US" sz="1200" b="0" i="1" dirty="0" smtClean="0">
                            <a:latin typeface="Cambria Math" panose="02040503050406030204" pitchFamily="18" charset="0"/>
                          </a:rPr>
                          <m:t>,</m:t>
                        </m:r>
                        <m:r>
                          <a:rPr lang="en-US" sz="1200" b="0" i="1" dirty="0" smtClean="0">
                            <a:latin typeface="Cambria Math" panose="02040503050406030204" pitchFamily="18" charset="0"/>
                          </a:rPr>
                          <m:t>𝑟</m:t>
                        </m:r>
                        <m:r>
                          <a:rPr lang="en-US" sz="1200" i="1" dirty="0">
                            <a:latin typeface="Cambria Math" panose="02040503050406030204" pitchFamily="18" charset="0"/>
                          </a:rPr>
                          <m:t> </m:t>
                        </m:r>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and receiving reward </a:t>
                </a:r>
                <a14:m>
                  <m:oMath xmlns:m="http://schemas.openxmlformats.org/officeDocument/2006/math">
                    <m:r>
                      <a:rPr lang="en-US" sz="1200" b="0" i="1" smtClean="0">
                        <a:latin typeface="Cambria Math" panose="02040503050406030204" pitchFamily="18" charset="0"/>
                      </a:rPr>
                      <m:t>𝑟</m:t>
                    </m:r>
                  </m:oMath>
                </a14:m>
                <a:r>
                  <a:rPr lang="en-US" sz="1200" dirty="0"/>
                  <a:t>, </a:t>
                </a:r>
                <a:br>
                  <a:rPr lang="en-US" sz="1200" dirty="0"/>
                </a:br>
                <a:r>
                  <a:rPr lang="en-US" sz="1200" dirty="0"/>
                  <a:t>	from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fom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b="0" i="1" smtClean="0">
                        <a:latin typeface="Cambria Math" panose="02040503050406030204" pitchFamily="18" charset="0"/>
                      </a:rPr>
                      <m:t>𝑟</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r>
                      <a:rPr lang="en-US" sz="1200" b="0" i="1" smtClean="0">
                        <a:latin typeface="Cambria Math" panose="02040503050406030204" pitchFamily="18" charset="0"/>
                      </a:rPr>
                      <m:t>𝑎</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after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b="0" dirty="0"/>
              </a:p>
              <a:p>
                <a:pPr marL="0" indent="0">
                  <a:lnSpc>
                    <a:spcPct val="100000"/>
                  </a:lnSpc>
                  <a:spcBef>
                    <a:spcPts val="0"/>
                  </a:spcBef>
                  <a:buNone/>
                </a:pPr>
                <a14:m>
                  <m:oMath xmlns:m="http://schemas.openxmlformats.org/officeDocument/2006/math">
                    <m:r>
                      <a:rPr lang="en-US" sz="1200" i="1">
                        <a:latin typeface="Cambria Math" panose="02040503050406030204" pitchFamily="18" charset="0"/>
                      </a:rPr>
                      <m:t>𝑟</m:t>
                    </m:r>
                    <m:r>
                      <a:rPr lang="en-US" sz="1200" i="1">
                        <a:latin typeface="Cambria Math" panose="02040503050406030204" pitchFamily="18" charset="0"/>
                      </a:rPr>
                      <m:t>(</m:t>
                    </m:r>
                    <m:r>
                      <a:rPr lang="en-US" sz="1200" i="1">
                        <a:latin typeface="Cambria Math" panose="02040503050406030204" pitchFamily="18" charset="0"/>
                      </a:rPr>
                      <m:t>𝑠</m:t>
                    </m:r>
                    <m:r>
                      <a:rPr lang="en-US" sz="1200" i="1">
                        <a:latin typeface="Cambria Math" panose="02040503050406030204" pitchFamily="18" charset="0"/>
                      </a:rPr>
                      <m:t>,</m:t>
                    </m:r>
                    <m:r>
                      <a:rPr lang="en-US" sz="1200" i="1">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to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𝑠</m:t>
                        </m:r>
                      </m:e>
                      <m:sup>
                        <m:r>
                          <a:rPr lang="en-US" sz="1200" b="0" i="1" smtClean="0">
                            <a:latin typeface="Cambria Math" panose="02040503050406030204" pitchFamily="18" charset="0"/>
                          </a:rPr>
                          <m:t>′</m:t>
                        </m:r>
                      </m:sup>
                    </m:sSup>
                  </m:oMath>
                </a14:m>
                <a:r>
                  <a:rPr lang="en-US" sz="1200" dirty="0"/>
                  <a:t> with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i="1" dirty="0">
                  <a:latin typeface="Cambria Math" panose="02040503050406030204" pitchFamily="18" charset="0"/>
                </a:endParaRPr>
              </a:p>
              <a:p>
                <a:pPr marL="0" indent="0">
                  <a:spcBef>
                    <a:spcPts val="0"/>
                  </a:spcBef>
                  <a:buNone/>
                </a:pP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a:latin typeface="Cambria Math" panose="02040503050406030204" pitchFamily="18" charset="0"/>
                      </a:rPr>
                      <m:t>𝜋</m:t>
                    </m:r>
                    <m:r>
                      <a:rPr lang="en-US" sz="1200" i="1" dirty="0">
                        <a:latin typeface="Cambria Math" panose="02040503050406030204" pitchFamily="18" charset="0"/>
                      </a:rPr>
                      <m:t>(</m:t>
                    </m:r>
                    <m:r>
                      <a:rPr lang="en-US" sz="1200" i="1" dirty="0" err="1">
                        <a:latin typeface="Cambria Math" panose="02040503050406030204" pitchFamily="18" charset="0"/>
                      </a:rPr>
                      <m:t>𝑎</m:t>
                    </m:r>
                    <m:r>
                      <a:rPr lang="en-US" sz="1200" i="1" dirty="0" err="1">
                        <a:latin typeface="Cambria Math" panose="02040503050406030204" pitchFamily="18" charset="0"/>
                      </a:rPr>
                      <m:t>|</m:t>
                    </m:r>
                    <m:r>
                      <a:rPr lang="en-US" sz="1200" i="1" dirty="0" err="1">
                        <a:latin typeface="Cambria Math" panose="02040503050406030204" pitchFamily="18" charset="0"/>
                      </a:rPr>
                      <m:t>𝑠</m:t>
                    </m:r>
                    <m:r>
                      <a:rPr lang="en-US" sz="1200" i="1" dirty="0">
                        <a:latin typeface="Cambria Math" panose="02040503050406030204" pitchFamily="18" charset="0"/>
                      </a:rPr>
                      <m:t>)</m:t>
                    </m:r>
                  </m:oMath>
                </a14:m>
                <a:r>
                  <a:rPr lang="en-US" sz="1200" dirty="0"/>
                  <a:t>	probability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a:latin typeface="Cambria Math" panose="02040503050406030204" pitchFamily="18" charset="0"/>
                      </a:rPr>
                      <m:t>𝑠</m:t>
                    </m:r>
                  </m:oMath>
                </a14:m>
                <a:r>
                  <a:rPr lang="en-US" sz="1200" dirty="0"/>
                  <a:t> under stochastic policy </a:t>
                </a:r>
                <a14:m>
                  <m:oMath xmlns:m="http://schemas.openxmlformats.org/officeDocument/2006/math">
                    <m:r>
                      <a:rPr lang="en-US" sz="1200" i="1" dirty="0">
                        <a:latin typeface="Cambria Math" panose="02040503050406030204" pitchFamily="18" charset="0"/>
                      </a:rPr>
                      <m:t>𝜋</m:t>
                    </m:r>
                  </m:oMath>
                </a14:m>
                <a:endParaRPr lang="en-US" sz="1200" dirty="0">
                  <a:ea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𝜋</m:t>
                    </m:r>
                    <m:r>
                      <a:rPr lang="en-US" sz="1200" i="1" dirty="0" smtClean="0">
                        <a:latin typeface="Cambria Math" panose="02040503050406030204" pitchFamily="18" charset="0"/>
                      </a:rPr>
                      <m:t>(</m:t>
                    </m:r>
                    <m:r>
                      <a:rPr lang="en-US" sz="1200" i="1" dirty="0" smtClean="0">
                        <a:latin typeface="Cambria Math" panose="02040503050406030204" pitchFamily="18" charset="0"/>
                      </a:rPr>
                      <m:t>𝑠</m:t>
                    </m:r>
                    <m:r>
                      <a:rPr lang="en-US" sz="1200" i="1" dirty="0" smtClean="0">
                        <a:latin typeface="Cambria Math" panose="02040503050406030204" pitchFamily="18" charset="0"/>
                      </a:rPr>
                      <m:t>)</m:t>
                    </m:r>
                  </m:oMath>
                </a14:m>
                <a:r>
                  <a:rPr lang="en-US" sz="1200" dirty="0"/>
                  <a:t>	action taken in state </a:t>
                </a:r>
                <a14:m>
                  <m:oMath xmlns:m="http://schemas.openxmlformats.org/officeDocument/2006/math">
                    <m:r>
                      <a:rPr lang="en-US" sz="1200" i="1" dirty="0" smtClean="0">
                        <a:latin typeface="Cambria Math" panose="02040503050406030204" pitchFamily="18" charset="0"/>
                      </a:rPr>
                      <m:t>𝑠</m:t>
                    </m:r>
                  </m:oMath>
                </a14:m>
                <a:r>
                  <a:rPr lang="en-US" sz="1200" dirty="0"/>
                  <a:t> under deterministic policy </a:t>
                </a:r>
                <a14:m>
                  <m:oMath xmlns:m="http://schemas.openxmlformats.org/officeDocument/2006/math">
                    <m:r>
                      <a:rPr lang="en-US" sz="1200" b="0" i="1" dirty="0" smtClean="0">
                        <a:latin typeface="Cambria Math" panose="02040503050406030204" pitchFamily="18" charset="0"/>
                      </a:rPr>
                      <m:t>𝜋</m:t>
                    </m:r>
                  </m:oMath>
                </a14:m>
                <a:endParaRPr lang="en-US" sz="1200" dirty="0"/>
              </a:p>
            </p:txBody>
          </p:sp>
        </mc:Choice>
        <mc:Fallback xmlns="">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noRot="1" noChangeAspect="1" noMove="1" noResize="1" noEditPoints="1" noAdjustHandles="1" noChangeArrowheads="1" noChangeShapeType="1" noTextEdit="1"/>
              </p:cNvSpPr>
              <p:nvPr/>
            </p:nvSpPr>
            <p:spPr>
              <a:xfrm>
                <a:off x="6267338" y="1124198"/>
                <a:ext cx="5273179" cy="3693383"/>
              </a:xfrm>
              <a:prstGeom prst="rect">
                <a:avLst/>
              </a:prstGeom>
              <a:blipFill>
                <a:blip r:embed="rId4"/>
                <a:stretch>
                  <a:fillRect t="-3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descr="Temporal Difference Learning. U sub t target for estimate at time t. delta sub t TD error">
                <a:extLst>
                  <a:ext uri="{FF2B5EF4-FFF2-40B4-BE49-F238E27FC236}">
                    <a16:creationId xmlns:a16="http://schemas.microsoft.com/office/drawing/2014/main" id="{4C5E539A-F9A7-F959-ACD3-4ADE5900F587}"/>
                  </a:ext>
                </a:extLst>
              </p:cNvPr>
              <p:cNvSpPr txBox="1">
                <a:spLocks/>
              </p:cNvSpPr>
              <p:nvPr/>
            </p:nvSpPr>
            <p:spPr>
              <a:xfrm>
                <a:off x="6267338" y="4947712"/>
                <a:ext cx="5273179" cy="646331"/>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1200" b="1" dirty="0"/>
                  <a:t>Temporal Difference Learning</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𝑈</m:t>
                        </m:r>
                      </m:e>
                      <m:sub>
                        <m:r>
                          <a:rPr lang="en-US" sz="1200" i="1" dirty="0">
                            <a:solidFill>
                              <a:schemeClr val="tx1"/>
                            </a:solidFill>
                            <a:latin typeface="Cambria Math" panose="02040503050406030204" pitchFamily="18" charset="0"/>
                          </a:rPr>
                          <m:t>𝑡</m:t>
                        </m:r>
                      </m:sub>
                    </m:sSub>
                  </m:oMath>
                </a14:m>
                <a:r>
                  <a:rPr lang="en-US" sz="1200" dirty="0">
                    <a:solidFill>
                      <a:schemeClr val="tx1"/>
                    </a:solidFill>
                  </a:rPr>
                  <a:t>	target for estimate at time</a:t>
                </a:r>
                <a14:m>
                  <m:oMath xmlns:m="http://schemas.openxmlformats.org/officeDocument/2006/math">
                    <m:r>
                      <a:rPr lang="en-US" sz="1200" i="1" dirty="0">
                        <a:solidFill>
                          <a:schemeClr val="tx1"/>
                        </a:solidFill>
                        <a:latin typeface="Cambria Math" panose="02040503050406030204" pitchFamily="18" charset="0"/>
                      </a:rPr>
                      <m:t> </m:t>
                    </m:r>
                    <m:r>
                      <a:rPr lang="en-US" sz="1200" i="1" dirty="0">
                        <a:solidFill>
                          <a:schemeClr val="tx1"/>
                        </a:solidFill>
                        <a:latin typeface="Cambria Math" panose="02040503050406030204" pitchFamily="18" charset="0"/>
                      </a:rPr>
                      <m:t>𝑡</m:t>
                    </m:r>
                  </m:oMath>
                </a14:m>
                <a:endParaRPr lang="en-US" sz="1200" dirty="0">
                  <a:solidFill>
                    <a:schemeClr val="tx1"/>
                  </a:solidFill>
                </a:endParaRPr>
              </a:p>
              <a:p>
                <a:pPr marL="0" indent="0">
                  <a:lnSpc>
                    <a:spcPct val="100000"/>
                  </a:lnSpc>
                  <a:spcBef>
                    <a:spcPts val="0"/>
                  </a:spcBef>
                  <a:buNone/>
                </a:pPr>
                <a14:m>
                  <m:oMath xmlns:m="http://schemas.openxmlformats.org/officeDocument/2006/math">
                    <m:sSub>
                      <m:sSubPr>
                        <m:ctrlPr>
                          <a:rPr lang="en-US" sz="1200" b="0" i="1" dirty="0" smtClean="0">
                            <a:solidFill>
                              <a:schemeClr val="tx1"/>
                            </a:solidFill>
                            <a:latin typeface="Cambria Math" panose="02040503050406030204" pitchFamily="18" charset="0"/>
                          </a:rPr>
                        </m:ctrlPr>
                      </m:sSubPr>
                      <m:e>
                        <m:r>
                          <a:rPr lang="en-US" sz="1200" b="0" i="1" dirty="0" smtClean="0">
                            <a:solidFill>
                              <a:schemeClr val="tx1"/>
                            </a:solidFill>
                            <a:latin typeface="Cambria Math" panose="02040503050406030204" pitchFamily="18" charset="0"/>
                          </a:rPr>
                          <m:t>𝛿</m:t>
                        </m:r>
                      </m:e>
                      <m:sub>
                        <m:r>
                          <a:rPr lang="en-US" sz="1200" i="1" dirty="0">
                            <a:solidFill>
                              <a:schemeClr val="tx1"/>
                            </a:solidFill>
                            <a:latin typeface="Cambria Math" panose="02040503050406030204" pitchFamily="18" charset="0"/>
                          </a:rPr>
                          <m:t>𝑡</m:t>
                        </m:r>
                      </m:sub>
                    </m:sSub>
                  </m:oMath>
                </a14:m>
                <a:r>
                  <a:rPr lang="en-US" sz="1200" dirty="0">
                    <a:solidFill>
                      <a:schemeClr val="tx1"/>
                    </a:solidFill>
                  </a:rPr>
                  <a:t>	TD error</a:t>
                </a:r>
              </a:p>
            </p:txBody>
          </p:sp>
        </mc:Choice>
        <mc:Fallback xmlns="">
          <p:sp>
            <p:nvSpPr>
              <p:cNvPr id="4" name="Content Placeholder 2" descr="Temporal Difference Learning. U sub t target for estimate at time t. delta sub t TD error">
                <a:extLst>
                  <a:ext uri="{FF2B5EF4-FFF2-40B4-BE49-F238E27FC236}">
                    <a16:creationId xmlns:a16="http://schemas.microsoft.com/office/drawing/2014/main" id="{4C5E539A-F9A7-F959-ACD3-4ADE5900F587}"/>
                  </a:ext>
                </a:extLst>
              </p:cNvPr>
              <p:cNvSpPr txBox="1">
                <a:spLocks noRot="1" noChangeAspect="1" noMove="1" noResize="1" noEditPoints="1" noAdjustHandles="1" noChangeArrowheads="1" noChangeShapeType="1" noTextEdit="1"/>
              </p:cNvSpPr>
              <p:nvPr/>
            </p:nvSpPr>
            <p:spPr>
              <a:xfrm>
                <a:off x="6267338" y="4947712"/>
                <a:ext cx="5273179" cy="646331"/>
              </a:xfrm>
              <a:prstGeom prst="rect">
                <a:avLst/>
              </a:prstGeom>
              <a:blipFill>
                <a:blip r:embed="rId5"/>
                <a:stretch>
                  <a:fillRect b="-4587"/>
                </a:stretch>
              </a:blipFill>
            </p:spPr>
            <p:txBody>
              <a:bodyPr/>
              <a:lstStyle/>
              <a:p>
                <a:r>
                  <a:rPr lang="en-US">
                    <a:noFill/>
                  </a:rPr>
                  <a:t> </a:t>
                </a:r>
              </a:p>
            </p:txBody>
          </p:sp>
        </mc:Fallback>
      </mc:AlternateContent>
    </p:spTree>
    <p:extLst>
      <p:ext uri="{BB962C8B-B14F-4D97-AF65-F5344CB8AC3E}">
        <p14:creationId xmlns:p14="http://schemas.microsoft.com/office/powerpoint/2010/main" val="920694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BCC76-3EE9-1023-A1BC-58F2159CEF4B}"/>
              </a:ext>
            </a:extLst>
          </p:cNvPr>
          <p:cNvSpPr>
            <a:spLocks noGrp="1"/>
          </p:cNvSpPr>
          <p:nvPr>
            <p:ph type="title"/>
          </p:nvPr>
        </p:nvSpPr>
        <p:spPr/>
        <p:txBody>
          <a:bodyPr/>
          <a:lstStyle/>
          <a:p>
            <a:r>
              <a:rPr lang="en-US" dirty="0"/>
              <a:t>Recap: MDPs, DP and MC</a:t>
            </a:r>
          </a:p>
        </p:txBody>
      </p:sp>
      <p:sp>
        <p:nvSpPr>
          <p:cNvPr id="3" name="Content Placeholder 2">
            <a:extLst>
              <a:ext uri="{FF2B5EF4-FFF2-40B4-BE49-F238E27FC236}">
                <a16:creationId xmlns:a16="http://schemas.microsoft.com/office/drawing/2014/main" id="{EC4D9D80-661F-2E66-0004-1754DDE32270}"/>
              </a:ext>
            </a:extLst>
          </p:cNvPr>
          <p:cNvSpPr>
            <a:spLocks noGrp="1"/>
          </p:cNvSpPr>
          <p:nvPr>
            <p:ph idx="1"/>
          </p:nvPr>
        </p:nvSpPr>
        <p:spPr>
          <a:xfrm>
            <a:off x="838201" y="1397330"/>
            <a:ext cx="6309220" cy="4139404"/>
          </a:xfrm>
        </p:spPr>
        <p:txBody>
          <a:bodyPr>
            <a:noAutofit/>
          </a:bodyPr>
          <a:lstStyle/>
          <a:p>
            <a:r>
              <a:rPr lang="en-US" sz="1600" b="1" dirty="0"/>
              <a:t>Finite MDPs</a:t>
            </a:r>
            <a:r>
              <a:rPr lang="en-US" sz="1600" dirty="0"/>
              <a:t>: </a:t>
            </a:r>
            <a:r>
              <a:rPr lang="en-US" sz="1600" b="1" dirty="0">
                <a:solidFill>
                  <a:schemeClr val="accent2"/>
                </a:solidFill>
              </a:rPr>
              <a:t>Bellman Expectation Equations </a:t>
            </a:r>
            <a:r>
              <a:rPr lang="en-US" sz="1600" dirty="0"/>
              <a:t>convert expected return maximization into an easier value function consistency problem.</a:t>
            </a:r>
          </a:p>
          <a:p>
            <a:endParaRPr lang="en-US" sz="1600" dirty="0"/>
          </a:p>
          <a:p>
            <a:r>
              <a:rPr lang="en-US" sz="1600" b="1" dirty="0"/>
              <a:t>Dynamic Programming (DP)</a:t>
            </a:r>
            <a:r>
              <a:rPr lang="en-US" sz="1600" dirty="0"/>
              <a:t>: </a:t>
            </a:r>
            <a:r>
              <a:rPr lang="en-US" sz="1600" b="1" dirty="0"/>
              <a:t> </a:t>
            </a:r>
            <a:r>
              <a:rPr lang="en-US" sz="1600" b="1" dirty="0">
                <a:solidFill>
                  <a:schemeClr val="accent2"/>
                </a:solidFill>
              </a:rPr>
              <a:t>Policy evaluation </a:t>
            </a:r>
            <a:r>
              <a:rPr lang="en-US" sz="1600" dirty="0"/>
              <a:t>solves the Bellman Expectation Equations by updating the value function iteratively.</a:t>
            </a:r>
          </a:p>
          <a:p>
            <a:endParaRPr lang="en-US" sz="1600" dirty="0"/>
          </a:p>
          <a:p>
            <a:r>
              <a:rPr lang="en-US" sz="1600" b="1" dirty="0"/>
              <a:t>Generalized Policy Iteration (GPI)</a:t>
            </a:r>
            <a:r>
              <a:rPr lang="en-US" sz="1600" dirty="0"/>
              <a:t>:</a:t>
            </a:r>
            <a:r>
              <a:rPr lang="en-US" sz="1600" b="1" dirty="0"/>
              <a:t> </a:t>
            </a:r>
            <a:r>
              <a:rPr lang="en-US" sz="1600" dirty="0"/>
              <a:t>Iterates between policy evaluation and </a:t>
            </a:r>
            <a:r>
              <a:rPr lang="en-US" sz="1600" b="1" dirty="0">
                <a:solidFill>
                  <a:schemeClr val="accent2"/>
                </a:solidFill>
              </a:rPr>
              <a:t>greedy policy improvement </a:t>
            </a:r>
            <a:r>
              <a:rPr lang="en-US" sz="1600" dirty="0"/>
              <a:t>to find the optimal policy.</a:t>
            </a:r>
          </a:p>
          <a:p>
            <a:pPr marL="0" indent="0">
              <a:buNone/>
            </a:pPr>
            <a:endParaRPr lang="en-US" sz="1600" dirty="0"/>
          </a:p>
          <a:p>
            <a:r>
              <a:rPr lang="en-US" sz="1600" b="1" dirty="0"/>
              <a:t>Monte Carlo Methods (MC)</a:t>
            </a:r>
            <a:r>
              <a:rPr lang="en-US" sz="1600" dirty="0"/>
              <a:t>:</a:t>
            </a:r>
            <a:r>
              <a:rPr lang="en-US" sz="1600" b="1" dirty="0"/>
              <a:t> </a:t>
            </a:r>
            <a:r>
              <a:rPr lang="en-US" sz="1600" dirty="0"/>
              <a:t>Uses </a:t>
            </a:r>
            <a:r>
              <a:rPr lang="en-US" sz="1600" b="1" dirty="0">
                <a:solidFill>
                  <a:schemeClr val="accent2"/>
                </a:solidFill>
              </a:rPr>
              <a:t>sample-averaging for policy evaluation</a:t>
            </a:r>
            <a:r>
              <a:rPr lang="en-US" sz="1600" dirty="0"/>
              <a:t> in GPI (update after complete sample episode).</a:t>
            </a:r>
          </a:p>
        </p:txBody>
      </p:sp>
      <p:sp>
        <p:nvSpPr>
          <p:cNvPr id="5" name="TextBox 4">
            <a:extLst>
              <a:ext uri="{FF2B5EF4-FFF2-40B4-BE49-F238E27FC236}">
                <a16:creationId xmlns:a16="http://schemas.microsoft.com/office/drawing/2014/main" id="{0B2D6C2A-6080-9EF7-8BB9-6C15E39B84D4}"/>
              </a:ext>
            </a:extLst>
          </p:cNvPr>
          <p:cNvSpPr txBox="1"/>
          <p:nvPr/>
        </p:nvSpPr>
        <p:spPr>
          <a:xfrm>
            <a:off x="7718304" y="1256166"/>
            <a:ext cx="4106074" cy="107721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US" sz="1600" b="1" dirty="0"/>
              <a:t>Reward hypothesis</a:t>
            </a:r>
            <a:r>
              <a:rPr lang="en-US" sz="1600" dirty="0"/>
              <a:t>: “All goals and purposes of an agent can be represented as the maximization of the expected cumulative reward.”</a:t>
            </a:r>
          </a:p>
        </p:txBody>
      </p:sp>
      <mc:AlternateContent xmlns:mc="http://schemas.openxmlformats.org/markup-compatibility/2006" xmlns:a14="http://schemas.microsoft.com/office/drawing/2010/main">
        <mc:Choice Requires="a14">
          <p:sp>
            <p:nvSpPr>
              <p:cNvPr id="9" name="TextBox 8" descr="Bellman updates converge to the true value function (gamma -contracting Bellman expectation operator)">
                <a:extLst>
                  <a:ext uri="{FF2B5EF4-FFF2-40B4-BE49-F238E27FC236}">
                    <a16:creationId xmlns:a16="http://schemas.microsoft.com/office/drawing/2014/main" id="{93B45C87-9BD1-8FF4-8FDF-AE79A11009A4}"/>
                  </a:ext>
                </a:extLst>
              </p:cNvPr>
              <p:cNvSpPr txBox="1"/>
              <p:nvPr/>
            </p:nvSpPr>
            <p:spPr>
              <a:xfrm>
                <a:off x="7718304" y="2434590"/>
                <a:ext cx="4129923" cy="8309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r>
                  <a:rPr lang="en-US" sz="1600" b="1" dirty="0"/>
                  <a:t>Bellman updates </a:t>
                </a:r>
                <a:r>
                  <a:rPr lang="en-US" sz="1600" dirty="0"/>
                  <a:t>converge to the true value function (</a:t>
                </a:r>
                <a14:m>
                  <m:oMath xmlns:m="http://schemas.openxmlformats.org/officeDocument/2006/math">
                    <m:r>
                      <a:rPr lang="en-US" sz="1600" b="0" i="1" smtClean="0">
                        <a:latin typeface="Cambria Math" panose="02040503050406030204" pitchFamily="18" charset="0"/>
                      </a:rPr>
                      <m:t>𝛾</m:t>
                    </m:r>
                  </m:oMath>
                </a14:m>
                <a:r>
                  <a:rPr lang="en-US" sz="1600" dirty="0"/>
                  <a:t>-contracting Bellman expectation operator).</a:t>
                </a:r>
                <a:r>
                  <a:rPr lang="en-US" sz="1600" b="1" dirty="0"/>
                  <a:t>  </a:t>
                </a:r>
              </a:p>
            </p:txBody>
          </p:sp>
        </mc:Choice>
        <mc:Fallback xmlns="">
          <p:sp>
            <p:nvSpPr>
              <p:cNvPr id="9" name="TextBox 8" descr="Bellman updates converge to the true value function (gamma -contracting Bellman expectation operator)">
                <a:extLst>
                  <a:ext uri="{FF2B5EF4-FFF2-40B4-BE49-F238E27FC236}">
                    <a16:creationId xmlns:a16="http://schemas.microsoft.com/office/drawing/2014/main" id="{93B45C87-9BD1-8FF4-8FDF-AE79A11009A4}"/>
                  </a:ext>
                </a:extLst>
              </p:cNvPr>
              <p:cNvSpPr txBox="1">
                <a:spLocks noRot="1" noChangeAspect="1" noMove="1" noResize="1" noEditPoints="1" noAdjustHandles="1" noChangeArrowheads="1" noChangeShapeType="1" noTextEdit="1"/>
              </p:cNvSpPr>
              <p:nvPr/>
            </p:nvSpPr>
            <p:spPr>
              <a:xfrm>
                <a:off x="7718304" y="2434590"/>
                <a:ext cx="4129923" cy="830997"/>
              </a:xfrm>
              <a:prstGeom prst="rect">
                <a:avLst/>
              </a:prstGeom>
              <a:blipFill>
                <a:blip r:embed="rId2"/>
                <a:stretch>
                  <a:fillRect l="-587" t="-1429" b="-642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67FA0EF3-65C1-3B6F-7966-658F78096C0F}"/>
              </a:ext>
            </a:extLst>
          </p:cNvPr>
          <p:cNvSpPr txBox="1"/>
          <p:nvPr/>
        </p:nvSpPr>
        <p:spPr>
          <a:xfrm>
            <a:off x="7718304" y="3483522"/>
            <a:ext cx="4106074" cy="830997"/>
          </a:xfrm>
          <a:prstGeom prst="rect">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wrap="square">
            <a:spAutoFit/>
          </a:bodyPr>
          <a:lstStyle/>
          <a:p>
            <a:r>
              <a:rPr lang="en-US" sz="1600" b="1" dirty="0"/>
              <a:t>Policy Improvement Theorem</a:t>
            </a:r>
            <a:r>
              <a:rPr lang="en-US" sz="1600" dirty="0"/>
              <a:t>: Greedy action choice leads to policy improvement and convergence.</a:t>
            </a:r>
          </a:p>
        </p:txBody>
      </p:sp>
      <p:sp>
        <p:nvSpPr>
          <p:cNvPr id="11" name="TextBox 10">
            <a:extLst>
              <a:ext uri="{FF2B5EF4-FFF2-40B4-BE49-F238E27FC236}">
                <a16:creationId xmlns:a16="http://schemas.microsoft.com/office/drawing/2014/main" id="{8BAE62F9-9C15-E5C3-9BCE-305DDD34D285}"/>
              </a:ext>
            </a:extLst>
          </p:cNvPr>
          <p:cNvSpPr txBox="1"/>
          <p:nvPr/>
        </p:nvSpPr>
        <p:spPr>
          <a:xfrm>
            <a:off x="7711748" y="4559391"/>
            <a:ext cx="4106074" cy="107721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r>
              <a:rPr lang="en-US" sz="1600" b="1" dirty="0"/>
              <a:t>Greedy in the Limit with Infinite Exploration (GLIE): </a:t>
            </a:r>
            <a:r>
              <a:rPr lang="en-US" sz="1600" dirty="0"/>
              <a:t>Guarantees convergence to the optimal deterministic policy.</a:t>
            </a:r>
          </a:p>
        </p:txBody>
      </p:sp>
      <p:sp>
        <p:nvSpPr>
          <p:cNvPr id="4" name="TextBox 3">
            <a:extLst>
              <a:ext uri="{FF2B5EF4-FFF2-40B4-BE49-F238E27FC236}">
                <a16:creationId xmlns:a16="http://schemas.microsoft.com/office/drawing/2014/main" id="{86CC438B-160D-F8B6-00EB-0A6C2FBD3C59}"/>
              </a:ext>
            </a:extLst>
          </p:cNvPr>
          <p:cNvSpPr txBox="1"/>
          <p:nvPr/>
        </p:nvSpPr>
        <p:spPr>
          <a:xfrm>
            <a:off x="2260833" y="6030203"/>
            <a:ext cx="7503952"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Temporal-Differencing provides another mechanism for </a:t>
            </a:r>
            <a:r>
              <a:rPr lang="en-US" b="1" dirty="0"/>
              <a:t>policy evaluation.</a:t>
            </a:r>
          </a:p>
        </p:txBody>
      </p:sp>
    </p:spTree>
    <p:extLst>
      <p:ext uri="{BB962C8B-B14F-4D97-AF65-F5344CB8AC3E}">
        <p14:creationId xmlns:p14="http://schemas.microsoft.com/office/powerpoint/2010/main" val="197615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7" grpId="0" animBg="1"/>
      <p:bldP spid="11"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10212-5336-C701-866E-6597FCA4C756}"/>
              </a:ext>
            </a:extLst>
          </p:cNvPr>
          <p:cNvSpPr>
            <a:spLocks noGrp="1"/>
          </p:cNvSpPr>
          <p:nvPr>
            <p:ph type="title"/>
          </p:nvPr>
        </p:nvSpPr>
        <p:spPr/>
        <p:txBody>
          <a:bodyPr/>
          <a:lstStyle/>
          <a:p>
            <a:r>
              <a:rPr lang="en-US" dirty="0"/>
              <a:t>Temporal-Difference (TD) Learning</a:t>
            </a:r>
          </a:p>
        </p:txBody>
      </p:sp>
      <p:grpSp>
        <p:nvGrpSpPr>
          <p:cNvPr id="12" name="Group 11" descr="Value function for the 3x4 grid world, one value per cell. Row 3 (top): 0.8516, 0.9078, 0.9578, +1 (terminal). Row 2: 0.8016, wall, 0.7003, −1 (terminal). Row 1 (bottom): 0.7453, 0.6953, 0.6514, 0.4279. Labels: gamma equals 1;r equals minus 0.04; R sub t plus 1; V (s sub t); V (s sub t plus 1); + stochastic transition model.">
            <a:extLst>
              <a:ext uri="{FF2B5EF4-FFF2-40B4-BE49-F238E27FC236}">
                <a16:creationId xmlns:a16="http://schemas.microsoft.com/office/drawing/2014/main" id="{679A8092-0707-5FD9-E091-E06DF5D326A0}"/>
              </a:ext>
            </a:extLst>
          </p:cNvPr>
          <p:cNvGrpSpPr/>
          <p:nvPr/>
        </p:nvGrpSpPr>
        <p:grpSpPr>
          <a:xfrm>
            <a:off x="8832361" y="988815"/>
            <a:ext cx="2631376" cy="2584667"/>
            <a:chOff x="8722424" y="1397329"/>
            <a:chExt cx="2631376" cy="2584667"/>
          </a:xfrm>
        </p:grpSpPr>
        <p:grpSp>
          <p:nvGrpSpPr>
            <p:cNvPr id="10" name="Group 9" descr="Value function for the 3x4 grid world, one value per cell. Row 3 (top): 0.8516, 0.9078, 0.9578, +1 (terminal). Row 2: 0.8016, wall, 0.7003, −1 (terminal). Row 1 (bottom): 0.7453, 0.6953, 0.6514, 0.4279. Labels: gamma equals 1;r equals minus 0.04; R sub t plus 1.">
              <a:extLst>
                <a:ext uri="{FF2B5EF4-FFF2-40B4-BE49-F238E27FC236}">
                  <a16:creationId xmlns:a16="http://schemas.microsoft.com/office/drawing/2014/main" id="{EE77EFFD-0224-23E4-99EB-290564017C6F}"/>
                </a:ext>
              </a:extLst>
            </p:cNvPr>
            <p:cNvGrpSpPr/>
            <p:nvPr/>
          </p:nvGrpSpPr>
          <p:grpSpPr>
            <a:xfrm>
              <a:off x="8722424" y="1397329"/>
              <a:ext cx="2631376" cy="2061447"/>
              <a:chOff x="8564586" y="2398276"/>
              <a:chExt cx="2631376" cy="2061447"/>
            </a:xfrm>
          </p:grpSpPr>
          <p:grpSp>
            <p:nvGrpSpPr>
              <p:cNvPr id="7" name="Group 6" descr="Value function for the 3x4 grid world, one value per cell. Row 3 (top): 0.8516, 0.9078, 0.9578, +1 (terminal). Row 2: 0.8016, wall, 0.7003, −1 (terminal). Row 1 (bottom): 0.7453, 0.6953, 0.6514, 0.4279. Labels: gamma equals 1;r equals minus 0.04.">
                <a:extLst>
                  <a:ext uri="{FF2B5EF4-FFF2-40B4-BE49-F238E27FC236}">
                    <a16:creationId xmlns:a16="http://schemas.microsoft.com/office/drawing/2014/main" id="{BD6B8A70-7CBB-B0CD-8422-D282F46101E2}"/>
                  </a:ext>
                </a:extLst>
              </p:cNvPr>
              <p:cNvGrpSpPr/>
              <p:nvPr/>
            </p:nvGrpSpPr>
            <p:grpSpPr>
              <a:xfrm>
                <a:off x="8850833" y="2398276"/>
                <a:ext cx="2345129" cy="2061447"/>
                <a:chOff x="9234742" y="369649"/>
                <a:chExt cx="2345129" cy="2061447"/>
              </a:xfrm>
            </p:grpSpPr>
            <p:pic>
              <p:nvPicPr>
                <p:cNvPr id="4" name="Picture 3" descr="Value function for the 3x4 grid world, one value per cell. Row 3 (top): 0.8516, 0.9078, 0.9578, +1 (terminal). Row 2: 0.8016, wall, 0.7003, −1 (terminal). Row 1 (bottom): 0.7453, 0.6953, 0.6514, 0.4279.">
                  <a:extLst>
                    <a:ext uri="{FF2B5EF4-FFF2-40B4-BE49-F238E27FC236}">
                      <a16:creationId xmlns:a16="http://schemas.microsoft.com/office/drawing/2014/main" id="{1723B89B-0891-8CC5-A64F-F496DF8A1A43}"/>
                    </a:ext>
                  </a:extLst>
                </p:cNvPr>
                <p:cNvPicPr>
                  <a:picLocks noChangeAspect="1"/>
                </p:cNvPicPr>
                <p:nvPr/>
              </p:nvPicPr>
              <p:blipFill>
                <a:blip r:embed="rId3"/>
                <a:stretch>
                  <a:fillRect/>
                </a:stretch>
              </p:blipFill>
              <p:spPr>
                <a:xfrm>
                  <a:off x="9234742" y="738981"/>
                  <a:ext cx="2345129" cy="1692115"/>
                </a:xfrm>
                <a:prstGeom prst="rect">
                  <a:avLst/>
                </a:prstGeom>
              </p:spPr>
            </p:pic>
            <mc:AlternateContent xmlns:mc="http://schemas.openxmlformats.org/markup-compatibility/2006" xmlns:a14="http://schemas.microsoft.com/office/drawing/2010/main">
              <mc:Choice Requires="a14">
                <p:sp>
                  <p:nvSpPr>
                    <p:cNvPr id="5" name="TextBox 4" descr="Equation: gamma equals 1;r equals minus 0.04">
                      <a:extLst>
                        <a:ext uri="{FF2B5EF4-FFF2-40B4-BE49-F238E27FC236}">
                          <a16:creationId xmlns:a16="http://schemas.microsoft.com/office/drawing/2014/main" id="{66BF1A66-F28D-7EBD-08FD-604FCA8335B9}"/>
                        </a:ext>
                      </a:extLst>
                    </p:cNvPr>
                    <p:cNvSpPr txBox="1"/>
                    <p:nvPr/>
                  </p:nvSpPr>
                  <p:spPr>
                    <a:xfrm>
                      <a:off x="9482412" y="369649"/>
                      <a:ext cx="1891672" cy="36933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𝛾</m:t>
                            </m:r>
                            <m:r>
                              <a:rPr lang="en-US" b="0" i="1" smtClean="0">
                                <a:latin typeface="Cambria Math" panose="02040503050406030204" pitchFamily="18" charset="0"/>
                              </a:rPr>
                              <m:t>=1;</m:t>
                            </m:r>
                            <m:r>
                              <a:rPr lang="en-US" b="0" i="1" smtClean="0">
                                <a:latin typeface="Cambria Math" panose="02040503050406030204" pitchFamily="18" charset="0"/>
                              </a:rPr>
                              <m:t>𝑟</m:t>
                            </m:r>
                            <m:r>
                              <a:rPr lang="en-US" b="0" i="0" smtClean="0">
                                <a:latin typeface="Cambria Math" panose="02040503050406030204" pitchFamily="18" charset="0"/>
                              </a:rPr>
                              <m:t>=−0.04</m:t>
                            </m:r>
                          </m:oMath>
                        </m:oMathPara>
                      </a14:m>
                      <a:endParaRPr lang="en-US" dirty="0"/>
                    </a:p>
                  </p:txBody>
                </p:sp>
              </mc:Choice>
              <mc:Fallback xmlns="">
                <p:sp>
                  <p:nvSpPr>
                    <p:cNvPr id="5" name="TextBox 4" descr="Equation: gamma equals 1;r equals minus 0.04">
                      <a:extLst>
                        <a:ext uri="{FF2B5EF4-FFF2-40B4-BE49-F238E27FC236}">
                          <a16:creationId xmlns:a16="http://schemas.microsoft.com/office/drawing/2014/main" id="{66BF1A66-F28D-7EBD-08FD-604FCA8335B9}"/>
                        </a:ext>
                      </a:extLst>
                    </p:cNvPr>
                    <p:cNvSpPr txBox="1">
                      <a:spLocks noRot="1" noChangeAspect="1" noMove="1" noResize="1" noEditPoints="1" noAdjustHandles="1" noChangeArrowheads="1" noChangeShapeType="1" noTextEdit="1"/>
                    </p:cNvSpPr>
                    <p:nvPr/>
                  </p:nvSpPr>
                  <p:spPr>
                    <a:xfrm>
                      <a:off x="9482412" y="369649"/>
                      <a:ext cx="1891672" cy="369332"/>
                    </a:xfrm>
                    <a:prstGeom prst="rect">
                      <a:avLst/>
                    </a:prstGeom>
                    <a:blipFill>
                      <a:blip r:embed="rId5"/>
                      <a:stretch>
                        <a:fillRect b="-3279"/>
                      </a:stretch>
                    </a:blipFill>
                  </p:spPr>
                  <p:txBody>
                    <a:bodyPr/>
                    <a:lstStyle/>
                    <a:p>
                      <a:r>
                        <a:rPr lang="en-US">
                          <a:noFill/>
                        </a:rPr>
                        <a:t> </a:t>
                      </a:r>
                    </a:p>
                  </p:txBody>
                </p:sp>
              </mc:Fallback>
            </mc:AlternateContent>
            <p:sp>
              <p:nvSpPr>
                <p:cNvPr id="6" name="Freeform: Shape 5">
                  <a:extLst>
                    <a:ext uri="{FF2B5EF4-FFF2-40B4-BE49-F238E27FC236}">
                      <a16:creationId xmlns:a16="http://schemas.microsoft.com/office/drawing/2014/main" id="{FB9A9FCB-5B10-FBD9-6B0F-C0F07D29E7A8}"/>
                    </a:ext>
                    <a:ext uri="{C183D7F6-B498-43B3-948B-1728B52AA6E4}">
                      <adec:decorative xmlns:adec="http://schemas.microsoft.com/office/drawing/2017/decorative" val="1"/>
                    </a:ext>
                  </a:extLst>
                </p:cNvPr>
                <p:cNvSpPr/>
                <p:nvPr/>
              </p:nvSpPr>
              <p:spPr>
                <a:xfrm>
                  <a:off x="9296582" y="1495605"/>
                  <a:ext cx="321332" cy="474650"/>
                </a:xfrm>
                <a:custGeom>
                  <a:avLst/>
                  <a:gdLst>
                    <a:gd name="csX0" fmla="*/ 279451 w 321332"/>
                    <a:gd name="csY0" fmla="*/ 0 h 474650"/>
                    <a:gd name="csX1" fmla="*/ 245 w 321332"/>
                    <a:gd name="csY1" fmla="*/ 265246 h 474650"/>
                    <a:gd name="csX2" fmla="*/ 321332 w 321332"/>
                    <a:gd name="csY2" fmla="*/ 474650 h 474650"/>
                  </a:gdLst>
                  <a:ahLst/>
                  <a:cxnLst>
                    <a:cxn ang="0">
                      <a:pos x="csX0" y="csY0"/>
                    </a:cxn>
                    <a:cxn ang="0">
                      <a:pos x="csX1" y="csY1"/>
                    </a:cxn>
                    <a:cxn ang="0">
                      <a:pos x="csX2" y="csY2"/>
                    </a:cxn>
                  </a:cxnLst>
                  <a:rect l="l" t="t" r="r" b="b"/>
                  <a:pathLst>
                    <a:path w="321332" h="474650">
                      <a:moveTo>
                        <a:pt x="279451" y="0"/>
                      </a:moveTo>
                      <a:cubicBezTo>
                        <a:pt x="136358" y="93069"/>
                        <a:pt x="-6735" y="186138"/>
                        <a:pt x="245" y="265246"/>
                      </a:cubicBezTo>
                      <a:cubicBezTo>
                        <a:pt x="7225" y="344354"/>
                        <a:pt x="164278" y="409502"/>
                        <a:pt x="321332" y="474650"/>
                      </a:cubicBezTo>
                    </a:path>
                  </a:pathLst>
                </a:custGeom>
                <a:ln>
                  <a:headEnd type="none" w="med" len="med"/>
                  <a:tailEnd type="arrow"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9" name="TextBox 8" descr="Equation: R sub t plus 1">
                    <a:extLst>
                      <a:ext uri="{FF2B5EF4-FFF2-40B4-BE49-F238E27FC236}">
                        <a16:creationId xmlns:a16="http://schemas.microsoft.com/office/drawing/2014/main" id="{2A826EBA-9D60-97A3-970F-A18AF78219F1}"/>
                      </a:ext>
                    </a:extLst>
                  </p:cNvPr>
                  <p:cNvSpPr txBox="1"/>
                  <p:nvPr/>
                </p:nvSpPr>
                <p:spPr>
                  <a:xfrm>
                    <a:off x="8564586" y="3460906"/>
                    <a:ext cx="488980" cy="261610"/>
                  </a:xfrm>
                  <a:prstGeom prst="rect">
                    <a:avLst/>
                  </a:prstGeom>
                  <a:noFill/>
                </p:spPr>
                <p:txBody>
                  <a:bodyPr wrap="none" rtlCol="0">
                    <a:spAutoFit/>
                  </a:bodyPr>
                  <a:lstStyle/>
                  <a:p>
                    <a:pPr/>
                    <a14:m>
                      <m:oMathPara xmlns:m="http://schemas.openxmlformats.org/officeDocument/2006/math">
                        <m:oMath>
                          <m:sSub>
                            <m:sSubPr>
                              <m:ctrlPr>
                                <a:rPr lang="en-US" sz="1100" b="0" i="1" dirty="0" smtClean="0">
                                  <a:solidFill>
                                    <a:schemeClr val="accent2"/>
                                  </a:solidFill>
                                  <a:latin typeface="Cambria Math" panose="02040503050406030204" pitchFamily="18" charset="0"/>
                                </a:rPr>
                              </m:ctrlPr>
                            </m:sSubPr>
                            <m:e>
                              <m:r>
                                <a:rPr lang="en-US" sz="1100" b="0" i="1" dirty="0" smtClean="0">
                                  <a:solidFill>
                                    <a:schemeClr val="accent2"/>
                                  </a:solidFill>
                                  <a:latin typeface="Cambria Math" panose="02040503050406030204" pitchFamily="18" charset="0"/>
                                </a:rPr>
                                <m:t>𝑅</m:t>
                              </m:r>
                            </m:e>
                            <m:sub>
                              <m:r>
                                <a:rPr lang="en-US" sz="1100" b="0" i="1" dirty="0" smtClean="0">
                                  <a:solidFill>
                                    <a:schemeClr val="accent2"/>
                                  </a:solidFill>
                                  <a:latin typeface="Cambria Math" panose="02040503050406030204" pitchFamily="18" charset="0"/>
                                </a:rPr>
                                <m:t>𝑡</m:t>
                              </m:r>
                              <m:r>
                                <a:rPr lang="en-US" sz="1100" b="0" i="1" dirty="0" smtClean="0">
                                  <a:solidFill>
                                    <a:schemeClr val="accent2"/>
                                  </a:solidFill>
                                  <a:latin typeface="Cambria Math" panose="02040503050406030204" pitchFamily="18" charset="0"/>
                                </a:rPr>
                                <m:t>+1</m:t>
                              </m:r>
                            </m:sub>
                          </m:sSub>
                        </m:oMath>
                      </m:oMathPara>
                    </a14:m>
                    <a:endParaRPr lang="en-US" sz="1100" dirty="0">
                      <a:solidFill>
                        <a:schemeClr val="accent2"/>
                      </a:solidFill>
                    </a:endParaRPr>
                  </a:p>
                </p:txBody>
              </p:sp>
            </mc:Choice>
            <mc:Fallback xmlns="">
              <p:sp>
                <p:nvSpPr>
                  <p:cNvPr id="9" name="TextBox 8" descr="Equation: R sub t plus 1">
                    <a:extLst>
                      <a:ext uri="{FF2B5EF4-FFF2-40B4-BE49-F238E27FC236}">
                        <a16:creationId xmlns:a16="http://schemas.microsoft.com/office/drawing/2014/main" id="{2A826EBA-9D60-97A3-970F-A18AF78219F1}"/>
                      </a:ext>
                    </a:extLst>
                  </p:cNvPr>
                  <p:cNvSpPr txBox="1">
                    <a:spLocks noRot="1" noChangeAspect="1" noMove="1" noResize="1" noEditPoints="1" noAdjustHandles="1" noChangeArrowheads="1" noChangeShapeType="1" noTextEdit="1"/>
                  </p:cNvSpPr>
                  <p:nvPr/>
                </p:nvSpPr>
                <p:spPr>
                  <a:xfrm>
                    <a:off x="8564586" y="3460906"/>
                    <a:ext cx="488980" cy="261610"/>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1" name="TextBox 10" descr="Equation: V (s sub t)">
                  <a:extLst>
                    <a:ext uri="{FF2B5EF4-FFF2-40B4-BE49-F238E27FC236}">
                      <a16:creationId xmlns:a16="http://schemas.microsoft.com/office/drawing/2014/main" id="{217AC66C-9432-1B60-7D50-04F9A4830697}"/>
                    </a:ext>
                  </a:extLst>
                </p:cNvPr>
                <p:cNvSpPr txBox="1"/>
                <p:nvPr/>
              </p:nvSpPr>
              <p:spPr>
                <a:xfrm>
                  <a:off x="9256341" y="3015021"/>
                  <a:ext cx="567305" cy="261610"/>
                </a:xfrm>
                <a:prstGeom prst="rect">
                  <a:avLst/>
                </a:prstGeom>
                <a:noFill/>
              </p:spPr>
              <p:txBody>
                <a:bodyPr wrap="square">
                  <a:spAutoFit/>
                </a:bodyPr>
                <a:lstStyle/>
                <a:p>
                  <a:pPr/>
                  <a14:m>
                    <m:oMathPara xmlns:m="http://schemas.openxmlformats.org/officeDocument/2006/math">
                      <m:oMath>
                        <m:r>
                          <a:rPr lang="en-US" sz="1100" i="1" smtClean="0">
                            <a:solidFill>
                              <a:schemeClr val="accent2"/>
                            </a:solidFill>
                            <a:latin typeface="Cambria Math" panose="02040503050406030204" pitchFamily="18" charset="0"/>
                          </a:rPr>
                          <m:t>𝑉</m:t>
                        </m:r>
                        <m:d>
                          <m:dPr>
                            <m:ctrlPr>
                              <a:rPr lang="en-US" sz="1100" b="0" i="1" smtClean="0">
                                <a:solidFill>
                                  <a:schemeClr val="accent2"/>
                                </a:solidFill>
                                <a:latin typeface="Cambria Math" panose="02040503050406030204" pitchFamily="18" charset="0"/>
                              </a:rPr>
                            </m:ctrlPr>
                          </m:dPr>
                          <m:e>
                            <m:sSub>
                              <m:sSubPr>
                                <m:ctrlPr>
                                  <a:rPr lang="en-US" sz="1100" b="0" i="1" smtClean="0">
                                    <a:solidFill>
                                      <a:schemeClr val="accent2"/>
                                    </a:solidFill>
                                    <a:latin typeface="Cambria Math" panose="02040503050406030204" pitchFamily="18" charset="0"/>
                                  </a:rPr>
                                </m:ctrlPr>
                              </m:sSubPr>
                              <m:e>
                                <m:r>
                                  <a:rPr lang="en-US" sz="1100" b="0" i="1" smtClean="0">
                                    <a:solidFill>
                                      <a:schemeClr val="accent2"/>
                                    </a:solidFill>
                                    <a:latin typeface="Cambria Math" panose="02040503050406030204" pitchFamily="18" charset="0"/>
                                  </a:rPr>
                                  <m:t>𝑠</m:t>
                                </m:r>
                              </m:e>
                              <m:sub>
                                <m:r>
                                  <a:rPr lang="en-US" sz="1100" i="1">
                                    <a:solidFill>
                                      <a:schemeClr val="accent2"/>
                                    </a:solidFill>
                                    <a:latin typeface="Cambria Math" panose="02040503050406030204" pitchFamily="18" charset="0"/>
                                  </a:rPr>
                                  <m:t>𝑡</m:t>
                                </m:r>
                              </m:sub>
                            </m:sSub>
                          </m:e>
                        </m:d>
                      </m:oMath>
                    </m:oMathPara>
                  </a14:m>
                  <a:endParaRPr lang="en-US" sz="1100" dirty="0">
                    <a:solidFill>
                      <a:schemeClr val="accent2"/>
                    </a:solidFill>
                  </a:endParaRPr>
                </a:p>
              </p:txBody>
            </p:sp>
          </mc:Choice>
          <mc:Fallback xmlns="">
            <p:sp>
              <p:nvSpPr>
                <p:cNvPr id="11" name="TextBox 10" descr="Equation: V (s sub t)">
                  <a:extLst>
                    <a:ext uri="{FF2B5EF4-FFF2-40B4-BE49-F238E27FC236}">
                      <a16:creationId xmlns:a16="http://schemas.microsoft.com/office/drawing/2014/main" id="{217AC66C-9432-1B60-7D50-04F9A4830697}"/>
                    </a:ext>
                  </a:extLst>
                </p:cNvPr>
                <p:cNvSpPr txBox="1">
                  <a:spLocks noRot="1" noChangeAspect="1" noMove="1" noResize="1" noEditPoints="1" noAdjustHandles="1" noChangeArrowheads="1" noChangeShapeType="1" noTextEdit="1"/>
                </p:cNvSpPr>
                <p:nvPr/>
              </p:nvSpPr>
              <p:spPr>
                <a:xfrm>
                  <a:off x="9256341" y="3015021"/>
                  <a:ext cx="567305" cy="26161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descr="Equation: V (s sub t plus 1)">
                  <a:extLst>
                    <a:ext uri="{FF2B5EF4-FFF2-40B4-BE49-F238E27FC236}">
                      <a16:creationId xmlns:a16="http://schemas.microsoft.com/office/drawing/2014/main" id="{229B7864-FE8C-1093-F245-C5E740CDE48C}"/>
                    </a:ext>
                  </a:extLst>
                </p:cNvPr>
                <p:cNvSpPr txBox="1"/>
                <p:nvPr/>
              </p:nvSpPr>
              <p:spPr>
                <a:xfrm>
                  <a:off x="9197625" y="2524589"/>
                  <a:ext cx="567305" cy="261610"/>
                </a:xfrm>
                <a:prstGeom prst="rect">
                  <a:avLst/>
                </a:prstGeom>
                <a:noFill/>
              </p:spPr>
              <p:txBody>
                <a:bodyPr wrap="square">
                  <a:spAutoFit/>
                </a:bodyPr>
                <a:lstStyle/>
                <a:p>
                  <a:pPr/>
                  <a14:m>
                    <m:oMathPara xmlns:m="http://schemas.openxmlformats.org/officeDocument/2006/math">
                      <m:oMath>
                        <m:r>
                          <a:rPr lang="en-US" sz="1100" i="1" smtClean="0">
                            <a:solidFill>
                              <a:schemeClr val="accent2"/>
                            </a:solidFill>
                            <a:latin typeface="Cambria Math" panose="02040503050406030204" pitchFamily="18" charset="0"/>
                          </a:rPr>
                          <m:t>𝑉</m:t>
                        </m:r>
                        <m:d>
                          <m:dPr>
                            <m:ctrlPr>
                              <a:rPr lang="en-US" sz="1100" b="0" i="1" smtClean="0">
                                <a:solidFill>
                                  <a:schemeClr val="accent2"/>
                                </a:solidFill>
                                <a:latin typeface="Cambria Math" panose="02040503050406030204" pitchFamily="18" charset="0"/>
                              </a:rPr>
                            </m:ctrlPr>
                          </m:dPr>
                          <m:e>
                            <m:sSub>
                              <m:sSubPr>
                                <m:ctrlPr>
                                  <a:rPr lang="en-US" sz="1100" b="0" i="1" smtClean="0">
                                    <a:solidFill>
                                      <a:schemeClr val="accent2"/>
                                    </a:solidFill>
                                    <a:latin typeface="Cambria Math" panose="02040503050406030204" pitchFamily="18" charset="0"/>
                                  </a:rPr>
                                </m:ctrlPr>
                              </m:sSubPr>
                              <m:e>
                                <m:r>
                                  <a:rPr lang="en-US" sz="1100" b="0" i="1" smtClean="0">
                                    <a:solidFill>
                                      <a:schemeClr val="accent2"/>
                                    </a:solidFill>
                                    <a:latin typeface="Cambria Math" panose="02040503050406030204" pitchFamily="18" charset="0"/>
                                  </a:rPr>
                                  <m:t>𝑠</m:t>
                                </m:r>
                              </m:e>
                              <m:sub>
                                <m:r>
                                  <a:rPr lang="en-US" sz="1100" i="1">
                                    <a:solidFill>
                                      <a:schemeClr val="accent2"/>
                                    </a:solidFill>
                                    <a:latin typeface="Cambria Math" panose="02040503050406030204" pitchFamily="18" charset="0"/>
                                  </a:rPr>
                                  <m:t>𝑡</m:t>
                                </m:r>
                                <m:r>
                                  <a:rPr lang="en-US" sz="1100" b="0" i="1" smtClean="0">
                                    <a:solidFill>
                                      <a:schemeClr val="accent2"/>
                                    </a:solidFill>
                                    <a:latin typeface="Cambria Math" panose="02040503050406030204" pitchFamily="18" charset="0"/>
                                  </a:rPr>
                                  <m:t>+1</m:t>
                                </m:r>
                              </m:sub>
                            </m:sSub>
                          </m:e>
                        </m:d>
                      </m:oMath>
                    </m:oMathPara>
                  </a14:m>
                  <a:endParaRPr lang="en-US" sz="1100" dirty="0">
                    <a:solidFill>
                      <a:schemeClr val="accent2"/>
                    </a:solidFill>
                  </a:endParaRPr>
                </a:p>
              </p:txBody>
            </p:sp>
          </mc:Choice>
          <mc:Fallback xmlns="">
            <p:sp>
              <p:nvSpPr>
                <p:cNvPr id="14" name="TextBox 13" descr="Equation: V (s sub t plus 1)">
                  <a:extLst>
                    <a:ext uri="{FF2B5EF4-FFF2-40B4-BE49-F238E27FC236}">
                      <a16:creationId xmlns:a16="http://schemas.microsoft.com/office/drawing/2014/main" id="{229B7864-FE8C-1093-F245-C5E740CDE48C}"/>
                    </a:ext>
                  </a:extLst>
                </p:cNvPr>
                <p:cNvSpPr txBox="1">
                  <a:spLocks noRot="1" noChangeAspect="1" noMove="1" noResize="1" noEditPoints="1" noAdjustHandles="1" noChangeArrowheads="1" noChangeShapeType="1" noTextEdit="1"/>
                </p:cNvSpPr>
                <p:nvPr/>
              </p:nvSpPr>
              <p:spPr>
                <a:xfrm>
                  <a:off x="9197625" y="2524589"/>
                  <a:ext cx="567305" cy="261610"/>
                </a:xfrm>
                <a:prstGeom prst="rect">
                  <a:avLst/>
                </a:prstGeom>
                <a:blipFill>
                  <a:blip r:embed="rId8"/>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FA55A951-39C0-4F53-C0D4-E534EF4C3F09}"/>
                </a:ext>
              </a:extLst>
            </p:cNvPr>
            <p:cNvSpPr txBox="1"/>
            <p:nvPr/>
          </p:nvSpPr>
          <p:spPr>
            <a:xfrm>
              <a:off x="9391843" y="3458776"/>
              <a:ext cx="1883328" cy="523220"/>
            </a:xfrm>
            <a:prstGeom prst="rect">
              <a:avLst/>
            </a:prstGeom>
            <a:noFill/>
          </p:spPr>
          <p:txBody>
            <a:bodyPr wrap="square" rtlCol="0">
              <a:spAutoFit/>
            </a:bodyPr>
            <a:lstStyle/>
            <a:p>
              <a:pPr algn="ctr"/>
              <a:r>
                <a:rPr lang="en-US" sz="1400" dirty="0"/>
                <a:t>+ stochastic transition model</a:t>
              </a:r>
            </a:p>
          </p:txBody>
        </p:sp>
      </p:grpSp>
      <mc:AlternateContent xmlns:mc="http://schemas.openxmlformats.org/markup-compatibility/2006" xmlns:a14="http://schemas.microsoft.com/office/drawing/2010/main">
        <mc:Choice Requires="a14">
          <p:sp>
            <p:nvSpPr>
              <p:cNvPr id="3" name="Content Placeholder 2" descr="We will first focus on: On-step, tabular, model-free TD. We know from the Bellman equations, that the value function has a recursive relationship between state values and the value of its successors. v sub pi (s sub t) is defined as E sub pi [R sub t plus 1, plus gamma v sub pi (S sub t plus 1) | S sub t equals s sub t]. TD error: The error for our current tabular estimate V(S sub t) can be evaluated using the reward and value of the next: delta sub t equals R sub t plus 1, plus gamma V(S sub t plus 1) minus V(S sub t). Idea: Reduce the TD error by making the tabular state value estimate V (S sub t) more similar to the TD target:. V (S sub t) squiggly left arrow U sub t equals R sub t plus 1, plus gamma V (S sub t plus 1). Combines ideas from MC and DP. From MC: learn from raw experience (observed S sub t,A sub t,R sub t plus 1,S sub t plus 1 tuples), but only uses one step instead of a whole episode. From DP: calculates the error between two value estimates without waiting for the end of the episode">
                <a:extLst>
                  <a:ext uri="{FF2B5EF4-FFF2-40B4-BE49-F238E27FC236}">
                    <a16:creationId xmlns:a16="http://schemas.microsoft.com/office/drawing/2014/main" id="{5370C313-ED3A-E833-A040-230C55E14A05}"/>
                  </a:ext>
                </a:extLst>
              </p:cNvPr>
              <p:cNvSpPr>
                <a:spLocks noGrp="1"/>
              </p:cNvSpPr>
              <p:nvPr>
                <p:ph idx="1"/>
              </p:nvPr>
            </p:nvSpPr>
            <p:spPr>
              <a:xfrm>
                <a:off x="858634" y="1212209"/>
                <a:ext cx="7956792" cy="5246331"/>
              </a:xfrm>
            </p:spPr>
            <p:txBody>
              <a:bodyPr>
                <a:normAutofit fontScale="62500" lnSpcReduction="20000"/>
              </a:bodyPr>
              <a:lstStyle/>
              <a:p>
                <a:r>
                  <a:rPr lang="en-US" dirty="0"/>
                  <a:t>We will first focus on: On-step, tabular, model-free TD</a:t>
                </a:r>
              </a:p>
              <a:p>
                <a:r>
                  <a:rPr lang="en-US" dirty="0"/>
                  <a:t>We know from the Bellman equations, that the value function has a recursive relationship between state values and the value of its successors.</a:t>
                </a:r>
                <a:br>
                  <a:rPr lang="en-US" dirty="0"/>
                </a:br>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𝑡</m:t>
                            </m:r>
                          </m:sub>
                        </m:sSub>
                      </m:e>
                    </m:d>
                    <m:r>
                      <m:rPr>
                        <m:aln/>
                      </m:rP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𝛾</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𝜋</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d>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oMath>
                </a14:m>
                <a:br>
                  <a:rPr lang="en-US" dirty="0"/>
                </a:br>
                <a:endParaRPr lang="en-US" dirty="0"/>
              </a:p>
              <a:p>
                <a:endParaRPr lang="en-US" b="1" dirty="0"/>
              </a:p>
              <a:p>
                <a:r>
                  <a:rPr lang="en-US" b="1" dirty="0"/>
                  <a:t>TD error: </a:t>
                </a:r>
                <a:r>
                  <a:rPr lang="en-US" dirty="0"/>
                  <a:t>The error for our current tabular estimate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r>
                  <a:rPr lang="en-US" dirty="0"/>
                  <a:t> can be </a:t>
                </a:r>
                <a:r>
                  <a:rPr lang="en-US" b="1" dirty="0"/>
                  <a:t>evaluated</a:t>
                </a:r>
                <a:r>
                  <a:rPr lang="en-US" dirty="0"/>
                  <a:t> using the reward and value of the next:   </a:t>
                </a:r>
                <a:br>
                  <a:rPr lang="en-US" i="1" dirty="0">
                    <a:latin typeface="Cambria Math" panose="02040503050406030204" pitchFamily="18" charset="0"/>
                  </a:rPr>
                </a:br>
                <a:br>
                  <a:rPr lang="en-US" i="1" dirty="0">
                    <a:latin typeface="Cambria Math" panose="02040503050406030204" pitchFamily="18" charset="0"/>
                  </a:rPr>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𝛾</m:t>
                    </m:r>
                    <m:r>
                      <a:rPr lang="en-US" i="1">
                        <a:latin typeface="Cambria Math" panose="02040503050406030204" pitchFamily="18" charset="0"/>
                      </a:rPr>
                      <m:t>𝑉</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oMath>
                </a14:m>
                <a:endParaRPr lang="en-US" dirty="0"/>
              </a:p>
              <a:p>
                <a:pPr marL="0" indent="0">
                  <a:buNone/>
                </a:pPr>
                <a:endParaRPr lang="en-US" b="1" dirty="0"/>
              </a:p>
              <a:p>
                <a:r>
                  <a:rPr lang="en-US" b="1" dirty="0"/>
                  <a:t>Idea</a:t>
                </a:r>
                <a:r>
                  <a:rPr lang="en-US" dirty="0"/>
                  <a:t>: Reduce the TD error by making the tabular state value estimate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i="1">
                                <a:latin typeface="Cambria Math" panose="02040503050406030204" pitchFamily="18" charset="0"/>
                              </a:rPr>
                              <m:t>𝑡</m:t>
                            </m:r>
                          </m:sub>
                        </m:sSub>
                      </m:e>
                    </m:d>
                    <m:r>
                      <a:rPr lang="en-US" i="1">
                        <a:latin typeface="Cambria Math" panose="02040503050406030204" pitchFamily="18" charset="0"/>
                      </a:rPr>
                      <m:t> </m:t>
                    </m:r>
                  </m:oMath>
                </a14:m>
                <a:r>
                  <a:rPr lang="en-US" dirty="0"/>
                  <a:t>more similar to the TD target:</a:t>
                </a:r>
                <a:endParaRPr lang="en-US" i="1" dirty="0">
                  <a:latin typeface="Cambria Math" panose="02040503050406030204" pitchFamily="18" charset="0"/>
                </a:endParaRPr>
              </a:p>
              <a:p>
                <a:pPr marL="0" indent="0">
                  <a:buNone/>
                </a:pPr>
                <a14:m>
                  <m:oMathPara xmlns:m="http://schemas.openxmlformats.org/officeDocument/2006/math">
                    <m:oMath>
                      <m:r>
                        <a:rPr lang="en-US" i="1" smtClean="0">
                          <a:latin typeface="Cambria Math" panose="02040503050406030204" pitchFamily="18" charset="0"/>
                        </a:rPr>
                        <m:t>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e>
                      </m:d>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𝑈</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0"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i="1">
                                  <a:latin typeface="Cambria Math" panose="02040503050406030204" pitchFamily="18" charset="0"/>
                                </a:rPr>
                                <m:t>𝑡</m:t>
                              </m:r>
                              <m:r>
                                <a:rPr lang="en-US" b="0" i="1" smtClean="0">
                                  <a:latin typeface="Cambria Math" panose="02040503050406030204" pitchFamily="18" charset="0"/>
                                </a:rPr>
                                <m:t>+1</m:t>
                              </m:r>
                            </m:sub>
                          </m:sSub>
                        </m:e>
                      </m:d>
                    </m:oMath>
                  </m:oMathPara>
                </a14:m>
                <a:endParaRPr lang="en-US" dirty="0"/>
              </a:p>
              <a:p>
                <a:endParaRPr lang="en-US" dirty="0"/>
              </a:p>
              <a:p>
                <a:r>
                  <a:rPr lang="en-US" dirty="0"/>
                  <a:t>Combines ideas from MC and DP</a:t>
                </a:r>
              </a:p>
              <a:p>
                <a:pPr lvl="1"/>
                <a:r>
                  <a:rPr lang="en-US" dirty="0"/>
                  <a:t>From MC: learn from </a:t>
                </a:r>
                <a:r>
                  <a:rPr lang="en-US" b="1" dirty="0"/>
                  <a:t>raw experience </a:t>
                </a:r>
                <a:r>
                  <a:rPr lang="en-US" dirty="0"/>
                  <a:t>(observed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𝑆</m:t>
                        </m:r>
                      </m:e>
                      <m:sub>
                        <m:r>
                          <a:rPr lang="en-US" b="0" i="1" dirty="0" smtClean="0">
                            <a:latin typeface="Cambria Math" panose="02040503050406030204" pitchFamily="18" charset="0"/>
                          </a:rPr>
                          <m:t>𝑡</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𝐴</m:t>
                        </m:r>
                      </m:e>
                      <m:sub>
                        <m:r>
                          <a:rPr lang="en-US" b="0" i="1" dirty="0" smtClean="0">
                            <a:latin typeface="Cambria Math" panose="02040503050406030204" pitchFamily="18" charset="0"/>
                          </a:rPr>
                          <m:t>𝑡</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𝑆</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oMath>
                </a14:m>
                <a:r>
                  <a:rPr lang="en-US" dirty="0"/>
                  <a:t> tuples), but only uses one step instead of a whole episode. </a:t>
                </a:r>
              </a:p>
              <a:p>
                <a:pPr lvl="1"/>
                <a:r>
                  <a:rPr lang="en-US" dirty="0"/>
                  <a:t>From DP: calculates the error between two value estimates without waiting for the end of the episode. </a:t>
                </a:r>
              </a:p>
            </p:txBody>
          </p:sp>
        </mc:Choice>
        <mc:Fallback xmlns="">
          <p:sp>
            <p:nvSpPr>
              <p:cNvPr id="3" name="Content Placeholder 2" descr="We will first focus on: On-step, tabular, model-free TD. We know from the Bellman equations, that the value function has a recursive relationship between state values and the value of its successors. v sub pi (s sub t) is defined as E sub pi [R sub t plus 1, plus gamma v sub pi (S sub t plus 1) | S sub t equals s sub t]. TD error: The error for our current tabular estimate V(S sub t) can be evaluated using the reward and value of the next: delta sub t equals R sub t plus 1, plus gamma V(S sub t plus 1) minus V(S sub t). Idea: Reduce the TD error by making the tabular state value estimate V (S sub t) more similar to the TD target:. V (S sub t) squiggly left arrow U sub t equals R sub t plus 1, plus gamma V (S sub t plus 1). Combines ideas from MC and DP. From MC: learn from raw experience (observed S sub t,A sub t,R sub t plus 1,S sub t plus 1 tuples), but only uses one step instead of a whole episode. From DP: calculates the error between two value estimates without waiting for the end of the episode">
                <a:extLst>
                  <a:ext uri="{FF2B5EF4-FFF2-40B4-BE49-F238E27FC236}">
                    <a16:creationId xmlns:a16="http://schemas.microsoft.com/office/drawing/2014/main" id="{5370C313-ED3A-E833-A040-230C55E14A05}"/>
                  </a:ext>
                </a:extLst>
              </p:cNvPr>
              <p:cNvSpPr>
                <a:spLocks noGrp="1" noRot="1" noChangeAspect="1" noMove="1" noResize="1" noEditPoints="1" noAdjustHandles="1" noChangeArrowheads="1" noChangeShapeType="1" noTextEdit="1"/>
              </p:cNvSpPr>
              <p:nvPr>
                <p:ph idx="1"/>
              </p:nvPr>
            </p:nvSpPr>
            <p:spPr>
              <a:xfrm>
                <a:off x="858634" y="1212209"/>
                <a:ext cx="7956792" cy="5246331"/>
              </a:xfrm>
              <a:blipFill>
                <a:blip r:embed="rId9"/>
                <a:stretch>
                  <a:fillRect l="-536" t="-1860" r="-613"/>
                </a:stretch>
              </a:blipFill>
            </p:spPr>
            <p:txBody>
              <a:bodyPr/>
              <a:lstStyle/>
              <a:p>
                <a:r>
                  <a:rPr lang="en-US">
                    <a:noFill/>
                  </a:rPr>
                  <a:t> </a:t>
                </a:r>
              </a:p>
            </p:txBody>
          </p:sp>
        </mc:Fallback>
      </mc:AlternateContent>
      <p:grpSp>
        <p:nvGrpSpPr>
          <p:cNvPr id="18" name="Group 17" descr="Brace annotation: A truly online process that can update after each action.">
            <a:extLst>
              <a:ext uri="{FF2B5EF4-FFF2-40B4-BE49-F238E27FC236}">
                <a16:creationId xmlns:a16="http://schemas.microsoft.com/office/drawing/2014/main" id="{DB5338D7-B211-AD8A-DD0B-E59F3739208A}"/>
              </a:ext>
            </a:extLst>
          </p:cNvPr>
          <p:cNvGrpSpPr/>
          <p:nvPr/>
        </p:nvGrpSpPr>
        <p:grpSpPr>
          <a:xfrm>
            <a:off x="9114171" y="5280870"/>
            <a:ext cx="2337445" cy="588315"/>
            <a:chOff x="8819913" y="5280870"/>
            <a:chExt cx="2337445" cy="588315"/>
          </a:xfrm>
        </p:grpSpPr>
        <p:sp>
          <p:nvSpPr>
            <p:cNvPr id="16" name="Right Brace 15">
              <a:extLst>
                <a:ext uri="{FF2B5EF4-FFF2-40B4-BE49-F238E27FC236}">
                  <a16:creationId xmlns:a16="http://schemas.microsoft.com/office/drawing/2014/main" id="{FFEFA3D0-637D-6F0B-EB52-FE9A8D063D3A}"/>
                </a:ext>
                <a:ext uri="{C183D7F6-B498-43B3-948B-1728B52AA6E4}">
                  <adec:decorative xmlns:adec="http://schemas.microsoft.com/office/drawing/2017/decorative" val="1"/>
                </a:ext>
              </a:extLst>
            </p:cNvPr>
            <p:cNvSpPr/>
            <p:nvPr/>
          </p:nvSpPr>
          <p:spPr>
            <a:xfrm>
              <a:off x="8819913" y="5280870"/>
              <a:ext cx="219874" cy="58831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C5A498B4-36BF-3CAD-FCC7-E48DBF8925A3}"/>
                </a:ext>
              </a:extLst>
            </p:cNvPr>
            <p:cNvSpPr txBox="1"/>
            <p:nvPr/>
          </p:nvSpPr>
          <p:spPr>
            <a:xfrm>
              <a:off x="9039787" y="5344194"/>
              <a:ext cx="2117571" cy="461665"/>
            </a:xfrm>
            <a:prstGeom prst="rect">
              <a:avLst/>
            </a:prstGeom>
            <a:noFill/>
          </p:spPr>
          <p:txBody>
            <a:bodyPr wrap="square" rtlCol="0">
              <a:spAutoFit/>
            </a:bodyPr>
            <a:lstStyle/>
            <a:p>
              <a:r>
                <a:rPr lang="en-US" sz="1200" dirty="0"/>
                <a:t>A truly online process that can update after each action</a:t>
              </a:r>
            </a:p>
          </p:txBody>
        </p:sp>
      </p:grpSp>
      <p:sp>
        <p:nvSpPr>
          <p:cNvPr id="13" name="Speech Bubble: Rectangle with Corners Rounded 12">
            <a:extLst>
              <a:ext uri="{FF2B5EF4-FFF2-40B4-BE49-F238E27FC236}">
                <a16:creationId xmlns:a16="http://schemas.microsoft.com/office/drawing/2014/main" id="{543E8B3F-8B96-FA98-CFB2-647034BFE89B}"/>
              </a:ext>
            </a:extLst>
          </p:cNvPr>
          <p:cNvSpPr/>
          <p:nvPr/>
        </p:nvSpPr>
        <p:spPr>
          <a:xfrm>
            <a:off x="9114171" y="3747023"/>
            <a:ext cx="2658546" cy="771993"/>
          </a:xfrm>
          <a:prstGeom prst="wedgeRoundRectCallout">
            <a:avLst>
              <a:gd name="adj1" fmla="val -155885"/>
              <a:gd name="adj2" fmla="val -8158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Note</a:t>
            </a:r>
            <a:r>
              <a:rPr lang="en-US" sz="1200" dirty="0"/>
              <a:t>: The TD error is only a </a:t>
            </a:r>
            <a:r>
              <a:rPr lang="en-US" sz="1200" b="1" dirty="0"/>
              <a:t>sample</a:t>
            </a:r>
            <a:r>
              <a:rPr lang="en-US" sz="1200" dirty="0"/>
              <a:t> from the error distribution because we use an observed step and  ignore the expectation!</a:t>
            </a:r>
          </a:p>
        </p:txBody>
      </p:sp>
      <p:grpSp>
        <p:nvGrpSpPr>
          <p:cNvPr id="21" name="Group 20" descr="Brace annotation: We call this the target U sub t.">
            <a:extLst>
              <a:ext uri="{FF2B5EF4-FFF2-40B4-BE49-F238E27FC236}">
                <a16:creationId xmlns:a16="http://schemas.microsoft.com/office/drawing/2014/main" id="{CC3867AD-AC52-1175-B857-24B68835BCC1}"/>
              </a:ext>
            </a:extLst>
          </p:cNvPr>
          <p:cNvGrpSpPr/>
          <p:nvPr/>
        </p:nvGrpSpPr>
        <p:grpSpPr>
          <a:xfrm>
            <a:off x="3665988" y="3556145"/>
            <a:ext cx="2661288" cy="354689"/>
            <a:chOff x="3973001" y="3944679"/>
            <a:chExt cx="1829849" cy="354689"/>
          </a:xfrm>
        </p:grpSpPr>
        <p:sp>
          <p:nvSpPr>
            <p:cNvPr id="8" name="Right Brace 7">
              <a:extLst>
                <a:ext uri="{FF2B5EF4-FFF2-40B4-BE49-F238E27FC236}">
                  <a16:creationId xmlns:a16="http://schemas.microsoft.com/office/drawing/2014/main" id="{BE2F8909-BE52-3E91-5540-6AF57FC3B934}"/>
                </a:ext>
                <a:ext uri="{C183D7F6-B498-43B3-948B-1728B52AA6E4}">
                  <adec:decorative xmlns:adec="http://schemas.microsoft.com/office/drawing/2017/decorative" val="1"/>
                </a:ext>
              </a:extLst>
            </p:cNvPr>
            <p:cNvSpPr/>
            <p:nvPr/>
          </p:nvSpPr>
          <p:spPr>
            <a:xfrm rot="5400000">
              <a:off x="4535174" y="3461387"/>
              <a:ext cx="128179" cy="109476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descr="We call this the target U sub t">
                  <a:extLst>
                    <a:ext uri="{FF2B5EF4-FFF2-40B4-BE49-F238E27FC236}">
                      <a16:creationId xmlns:a16="http://schemas.microsoft.com/office/drawing/2014/main" id="{2B213CCD-AA29-540B-5B54-FEF9C0A6061A}"/>
                    </a:ext>
                  </a:extLst>
                </p:cNvPr>
                <p:cNvSpPr txBox="1"/>
                <p:nvPr/>
              </p:nvSpPr>
              <p:spPr>
                <a:xfrm>
                  <a:off x="3973001" y="4022369"/>
                  <a:ext cx="1829849" cy="276999"/>
                </a:xfrm>
                <a:prstGeom prst="rect">
                  <a:avLst/>
                </a:prstGeom>
                <a:noFill/>
              </p:spPr>
              <p:txBody>
                <a:bodyPr wrap="square">
                  <a:spAutoFit/>
                </a:bodyPr>
                <a:lstStyle/>
                <a:p>
                  <a:r>
                    <a:rPr lang="en-US" sz="1200" dirty="0">
                      <a:ea typeface="Cambria Math" panose="02040503050406030204" pitchFamily="18" charset="0"/>
                    </a:rPr>
                    <a:t>We call this the target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𝑈</m:t>
                          </m:r>
                        </m:e>
                        <m:sub>
                          <m:r>
                            <a:rPr lang="en-US" sz="1200" b="0" i="1" smtClean="0">
                              <a:latin typeface="Cambria Math" panose="02040503050406030204" pitchFamily="18" charset="0"/>
                              <a:ea typeface="Cambria Math" panose="02040503050406030204" pitchFamily="18" charset="0"/>
                            </a:rPr>
                            <m:t>𝑡</m:t>
                          </m:r>
                        </m:sub>
                      </m:sSub>
                    </m:oMath>
                  </a14:m>
                  <a:endParaRPr lang="en-US" sz="1600" dirty="0"/>
                </a:p>
              </p:txBody>
            </p:sp>
          </mc:Choice>
          <mc:Fallback xmlns="">
            <p:sp>
              <p:nvSpPr>
                <p:cNvPr id="20" name="TextBox 19" descr="We call this the target U sub t">
                  <a:extLst>
                    <a:ext uri="{FF2B5EF4-FFF2-40B4-BE49-F238E27FC236}">
                      <a16:creationId xmlns:a16="http://schemas.microsoft.com/office/drawing/2014/main" id="{2B213CCD-AA29-540B-5B54-FEF9C0A6061A}"/>
                    </a:ext>
                  </a:extLst>
                </p:cNvPr>
                <p:cNvSpPr txBox="1">
                  <a:spLocks noRot="1" noChangeAspect="1" noMove="1" noResize="1" noEditPoints="1" noAdjustHandles="1" noChangeArrowheads="1" noChangeShapeType="1" noTextEdit="1"/>
                </p:cNvSpPr>
                <p:nvPr/>
              </p:nvSpPr>
              <p:spPr>
                <a:xfrm>
                  <a:off x="3973001" y="4022369"/>
                  <a:ext cx="1829849" cy="276999"/>
                </a:xfrm>
                <a:prstGeom prst="rect">
                  <a:avLst/>
                </a:prstGeom>
                <a:blipFill>
                  <a:blip r:embed="rId10"/>
                  <a:stretch>
                    <a:fillRect b="-15217"/>
                  </a:stretch>
                </a:blipFill>
              </p:spPr>
              <p:txBody>
                <a:bodyPr/>
                <a:lstStyle/>
                <a:p>
                  <a:r>
                    <a:rPr lang="en-US">
                      <a:noFill/>
                    </a:rPr>
                    <a:t> </a:t>
                  </a:r>
                </a:p>
              </p:txBody>
            </p:sp>
          </mc:Fallback>
        </mc:AlternateContent>
      </p:grpSp>
    </p:spTree>
    <p:extLst>
      <p:ext uri="{BB962C8B-B14F-4D97-AF65-F5344CB8AC3E}">
        <p14:creationId xmlns:p14="http://schemas.microsoft.com/office/powerpoint/2010/main" val="64796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FB2077-6714-528E-FB23-B2B1BA53E99B}"/>
              </a:ext>
            </a:extLst>
          </p:cNvPr>
          <p:cNvSpPr>
            <a:spLocks noGrp="1"/>
          </p:cNvSpPr>
          <p:nvPr>
            <p:ph type="title"/>
          </p:nvPr>
        </p:nvSpPr>
        <p:spPr/>
        <p:txBody>
          <a:bodyPr/>
          <a:lstStyle/>
          <a:p>
            <a:r>
              <a:rPr lang="en-US" dirty="0"/>
              <a:t>TD Prediction</a:t>
            </a:r>
          </a:p>
        </p:txBody>
      </p:sp>
      <p:sp>
        <p:nvSpPr>
          <p:cNvPr id="5" name="Text Placeholder 4">
            <a:extLst>
              <a:ext uri="{FF2B5EF4-FFF2-40B4-BE49-F238E27FC236}">
                <a16:creationId xmlns:a16="http://schemas.microsoft.com/office/drawing/2014/main" id="{9195BE15-E705-EBDF-2293-CDEA1840E6C0}"/>
              </a:ext>
            </a:extLst>
          </p:cNvPr>
          <p:cNvSpPr>
            <a:spLocks noGrp="1"/>
          </p:cNvSpPr>
          <p:nvPr>
            <p:ph type="body" idx="1"/>
          </p:nvPr>
        </p:nvSpPr>
        <p:spPr/>
        <p:txBody>
          <a:bodyPr/>
          <a:lstStyle/>
          <a:p>
            <a:r>
              <a:rPr lang="en-US" dirty="0"/>
              <a:t>Estimate the value function for a policy by minimizing the TD error.</a:t>
            </a:r>
          </a:p>
        </p:txBody>
      </p:sp>
    </p:spTree>
    <p:extLst>
      <p:ext uri="{BB962C8B-B14F-4D97-AF65-F5344CB8AC3E}">
        <p14:creationId xmlns:p14="http://schemas.microsoft.com/office/powerpoint/2010/main" val="1009425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87989-265D-BCD0-24A2-62684E25360B}"/>
              </a:ext>
            </a:extLst>
          </p:cNvPr>
          <p:cNvSpPr>
            <a:spLocks noGrp="1"/>
          </p:cNvSpPr>
          <p:nvPr>
            <p:ph type="title"/>
          </p:nvPr>
        </p:nvSpPr>
        <p:spPr/>
        <p:txBody>
          <a:bodyPr/>
          <a:lstStyle/>
          <a:p>
            <a:r>
              <a:rPr lang="en-US" dirty="0"/>
              <a:t>TD Prediction </a:t>
            </a:r>
          </a:p>
        </p:txBody>
      </p:sp>
      <mc:AlternateContent xmlns:mc="http://schemas.openxmlformats.org/markup-compatibility/2006" xmlns:a14="http://schemas.microsoft.com/office/drawing/2010/main">
        <mc:Choice Requires="a14">
          <p:sp>
            <p:nvSpPr>
              <p:cNvPr id="3" name="Content Placeholder 2" descr="Follow pi and update the tabular estimate V of v sub pi. V (S sub t) V (S sub t) plus alpha [R sub t plus 1, plus gamma V(S sub t plus 1) minus V(S sub t)]. Bootstrapping: Updating an estimate using another estimate. Introduces an estimation bias towards the biased estimate of V(s sub t plus 1) . Similartiy to MC: V (S sub t) V (S sub t) plus alpha [G sub t minus V(S sub t)]">
                <a:extLst>
                  <a:ext uri="{FF2B5EF4-FFF2-40B4-BE49-F238E27FC236}">
                    <a16:creationId xmlns:a16="http://schemas.microsoft.com/office/drawing/2014/main" id="{B1D19F22-F117-573B-ECD5-0EBA0132CB54}"/>
                  </a:ext>
                </a:extLst>
              </p:cNvPr>
              <p:cNvSpPr>
                <a:spLocks noGrp="1"/>
              </p:cNvSpPr>
              <p:nvPr>
                <p:ph idx="1"/>
              </p:nvPr>
            </p:nvSpPr>
            <p:spPr>
              <a:xfrm>
                <a:off x="838200" y="1397330"/>
                <a:ext cx="8170889" cy="4933668"/>
              </a:xfrm>
            </p:spPr>
            <p:txBody>
              <a:bodyPr>
                <a:normAutofit fontScale="92500" lnSpcReduction="10000"/>
              </a:bodyPr>
              <a:lstStyle/>
              <a:p>
                <a:r>
                  <a:rPr lang="en-US" dirty="0"/>
                  <a:t>Follow </a:t>
                </a:r>
                <a14:m>
                  <m:oMath xmlns:m="http://schemas.openxmlformats.org/officeDocument/2006/math">
                    <m:r>
                      <a:rPr lang="en-US" b="0" i="1" smtClean="0">
                        <a:latin typeface="Cambria Math" panose="02040503050406030204" pitchFamily="18" charset="0"/>
                      </a:rPr>
                      <m:t>𝜋</m:t>
                    </m:r>
                  </m:oMath>
                </a14:m>
                <a:r>
                  <a:rPr lang="en-US" dirty="0"/>
                  <a:t> and update the tabular estimate </a:t>
                </a:r>
                <a14:m>
                  <m:oMath xmlns:m="http://schemas.openxmlformats.org/officeDocument/2006/math">
                    <m:r>
                      <a:rPr lang="en-US" b="0" i="1" smtClean="0">
                        <a:latin typeface="Cambria Math" panose="02040503050406030204" pitchFamily="18" charset="0"/>
                      </a:rPr>
                      <m:t>𝑉</m:t>
                    </m:r>
                  </m:oMath>
                </a14:m>
                <a:r>
                  <a:rPr lang="en-US" dirty="0"/>
                  <a:t>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oMath>
                </a14:m>
                <a:endParaRPr lang="en-US" dirty="0"/>
              </a:p>
              <a:p>
                <a:pPr marL="0" indent="0">
                  <a:buNone/>
                </a:pPr>
                <a:endParaRPr lang="en-US" dirty="0"/>
              </a:p>
              <a:p>
                <a:pPr marL="0" indent="0">
                  <a:buNone/>
                </a:pPr>
                <a14:m>
                  <m:oMathPara xmlns:m="http://schemas.openxmlformats.org/officeDocument/2006/math">
                    <m:oMath>
                      <m:r>
                        <a:rPr lang="en-US" i="1">
                          <a:latin typeface="Cambria Math" panose="02040503050406030204" pitchFamily="18" charset="0"/>
                        </a:rPr>
                        <m:t>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e>
                      </m:d>
                      <m:groupChr>
                        <m:groupChrPr>
                          <m:chr m:val="←"/>
                          <m:pos m:val="top"/>
                          <m:vertJc m:val="top"/>
                          <m:ctrlPr>
                            <a:rPr lang="en-US" i="1">
                              <a:latin typeface="Cambria Math" panose="02040503050406030204" pitchFamily="18" charset="0"/>
                            </a:rPr>
                          </m:ctrlPr>
                        </m:groupChrPr>
                        <m:e/>
                      </m:groupChr>
                      <m:r>
                        <a:rPr lang="en-US" i="1">
                          <a:latin typeface="Cambria Math" panose="02040503050406030204" pitchFamily="18" charset="0"/>
                        </a:rPr>
                        <m:t>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e>
                      </m:d>
                      <m:r>
                        <a:rPr lang="en-US">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oMath>
                  </m:oMathPara>
                </a14:m>
                <a:endParaRPr lang="en-US" dirty="0"/>
              </a:p>
              <a:p>
                <a:endParaRPr lang="en-US" dirty="0"/>
              </a:p>
              <a:p>
                <a:endParaRPr lang="en-US" dirty="0"/>
              </a:p>
              <a:p>
                <a:r>
                  <a:rPr lang="en-US" b="1" dirty="0"/>
                  <a:t>Bootstrapping</a:t>
                </a:r>
                <a:r>
                  <a:rPr lang="en-US" dirty="0"/>
                  <a:t>: Updating an estimate using another estimate. Introduces an </a:t>
                </a:r>
                <a:r>
                  <a:rPr lang="en-US" b="1" dirty="0"/>
                  <a:t>estimation bias</a:t>
                </a:r>
                <a:r>
                  <a:rPr lang="en-US" dirty="0"/>
                  <a:t> towards the biased estimate of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a:t>
                </a:r>
              </a:p>
              <a:p>
                <a:endParaRPr lang="en-US" b="1" dirty="0"/>
              </a:p>
              <a:p>
                <a:endParaRPr lang="en-US" dirty="0"/>
              </a:p>
              <a:p>
                <a:r>
                  <a:rPr lang="en-US" dirty="0"/>
                  <a:t>Similartiy to MC: </a:t>
                </a:r>
                <a14:m>
                  <m:oMath xmlns:m="http://schemas.openxmlformats.org/officeDocument/2006/math">
                    <m:r>
                      <a:rPr lang="en-US" i="1">
                        <a:latin typeface="Cambria Math" panose="02040503050406030204" pitchFamily="18" charset="0"/>
                      </a:rPr>
                      <m:t>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e>
                    </m:d>
                    <m:groupChr>
                      <m:groupChrPr>
                        <m:chr m:val="←"/>
                        <m:pos m:val="top"/>
                        <m:vertJc m:val="top"/>
                        <m:ctrlPr>
                          <a:rPr lang="en-US" i="1">
                            <a:latin typeface="Cambria Math" panose="02040503050406030204" pitchFamily="18" charset="0"/>
                          </a:rPr>
                        </m:ctrlPr>
                      </m:groupChrPr>
                      <m:e/>
                    </m:groupChr>
                    <m:r>
                      <a:rPr lang="en-US" i="1">
                        <a:latin typeface="Cambria Math" panose="02040503050406030204" pitchFamily="18" charset="0"/>
                      </a:rPr>
                      <m:t>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e>
                    </m:d>
                    <m:r>
                      <a:rPr lang="en-US">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oMath>
                </a14:m>
                <a:endParaRPr lang="en-US" dirty="0"/>
              </a:p>
              <a:p>
                <a:pPr marL="0" indent="0">
                  <a:buNone/>
                </a:pPr>
                <a:endParaRPr lang="en-US" dirty="0"/>
              </a:p>
            </p:txBody>
          </p:sp>
        </mc:Choice>
        <mc:Fallback xmlns="">
          <p:sp>
            <p:nvSpPr>
              <p:cNvPr id="3" name="Content Placeholder 2" descr="Follow pi and update the tabular estimate V of v sub pi. V (S sub t) V (S sub t) plus alpha [R sub t plus 1, plus gamma V(S sub t plus 1) minus V(S sub t)]. Bootstrapping: Updating an estimate using another estimate. Introduces an estimation bias towards the biased estimate of V(s sub t plus 1) . Similartiy to MC: V (S sub t) V (S sub t) plus alpha [G sub t minus V(S sub t)]">
                <a:extLst>
                  <a:ext uri="{FF2B5EF4-FFF2-40B4-BE49-F238E27FC236}">
                    <a16:creationId xmlns:a16="http://schemas.microsoft.com/office/drawing/2014/main" id="{B1D19F22-F117-573B-ECD5-0EBA0132CB54}"/>
                  </a:ext>
                </a:extLst>
              </p:cNvPr>
              <p:cNvSpPr>
                <a:spLocks noGrp="1" noRot="1" noChangeAspect="1" noMove="1" noResize="1" noEditPoints="1" noAdjustHandles="1" noChangeArrowheads="1" noChangeShapeType="1" noTextEdit="1"/>
              </p:cNvSpPr>
              <p:nvPr>
                <p:ph idx="1"/>
              </p:nvPr>
            </p:nvSpPr>
            <p:spPr>
              <a:xfrm>
                <a:off x="838200" y="1397330"/>
                <a:ext cx="8170889" cy="4933668"/>
              </a:xfrm>
              <a:blipFill>
                <a:blip r:embed="rId2"/>
                <a:stretch>
                  <a:fillRect l="-1194" t="-2469"/>
                </a:stretch>
              </a:blipFill>
            </p:spPr>
            <p:txBody>
              <a:bodyPr/>
              <a:lstStyle/>
              <a:p>
                <a:r>
                  <a:rPr lang="en-US">
                    <a:noFill/>
                  </a:rPr>
                  <a:t> </a:t>
                </a:r>
              </a:p>
            </p:txBody>
          </p:sp>
        </mc:Fallback>
      </mc:AlternateContent>
      <p:grpSp>
        <p:nvGrpSpPr>
          <p:cNvPr id="8" name="Group 7" descr="Brace annotation: One-step TD Error.">
            <a:extLst>
              <a:ext uri="{FF2B5EF4-FFF2-40B4-BE49-F238E27FC236}">
                <a16:creationId xmlns:a16="http://schemas.microsoft.com/office/drawing/2014/main" id="{00875633-9C72-9EE6-1B64-B7B45913B066}"/>
              </a:ext>
            </a:extLst>
          </p:cNvPr>
          <p:cNvGrpSpPr/>
          <p:nvPr/>
        </p:nvGrpSpPr>
        <p:grpSpPr>
          <a:xfrm>
            <a:off x="4401064" y="1715819"/>
            <a:ext cx="3528733" cy="472063"/>
            <a:chOff x="4699685" y="1985910"/>
            <a:chExt cx="1541724" cy="472063"/>
          </a:xfrm>
        </p:grpSpPr>
        <p:sp>
          <p:nvSpPr>
            <p:cNvPr id="9" name="Right Brace 8">
              <a:extLst>
                <a:ext uri="{FF2B5EF4-FFF2-40B4-BE49-F238E27FC236}">
                  <a16:creationId xmlns:a16="http://schemas.microsoft.com/office/drawing/2014/main" id="{081EF24B-FDDC-57EA-DD46-44587ECCD551}"/>
                </a:ext>
                <a:ext uri="{C183D7F6-B498-43B3-948B-1728B52AA6E4}">
                  <adec:decorative xmlns:adec="http://schemas.microsoft.com/office/drawing/2017/decorative" val="1"/>
                </a:ext>
              </a:extLst>
            </p:cNvPr>
            <p:cNvSpPr/>
            <p:nvPr/>
          </p:nvSpPr>
          <p:spPr>
            <a:xfrm rot="16200000" flipV="1">
              <a:off x="5386274" y="1602838"/>
              <a:ext cx="168546" cy="1541724"/>
            </a:xfrm>
            <a:prstGeom prst="righ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A0154ED7-E9AD-AC50-4A6E-FBD3C1C9365A}"/>
                </a:ext>
              </a:extLst>
            </p:cNvPr>
            <p:cNvSpPr txBox="1"/>
            <p:nvPr/>
          </p:nvSpPr>
          <p:spPr>
            <a:xfrm>
              <a:off x="5042038" y="1985910"/>
              <a:ext cx="857018" cy="369332"/>
            </a:xfrm>
            <a:prstGeom prst="rect">
              <a:avLst/>
            </a:prstGeom>
            <a:noFill/>
          </p:spPr>
          <p:txBody>
            <a:bodyPr wrap="none" rtlCol="0">
              <a:spAutoFit/>
            </a:bodyPr>
            <a:lstStyle/>
            <a:p>
              <a:pPr algn="ctr"/>
              <a:r>
                <a:rPr lang="en-US" dirty="0">
                  <a:solidFill>
                    <a:schemeClr val="accent2"/>
                  </a:solidFill>
                </a:rPr>
                <a:t>One-step TD Error</a:t>
              </a:r>
            </a:p>
          </p:txBody>
        </p:sp>
      </p:grpSp>
      <p:grpSp>
        <p:nvGrpSpPr>
          <p:cNvPr id="11" name="Group 10" descr="Brace annotation: Uses reward + estimate for next state = target U sub t.">
            <a:extLst>
              <a:ext uri="{FF2B5EF4-FFF2-40B4-BE49-F238E27FC236}">
                <a16:creationId xmlns:a16="http://schemas.microsoft.com/office/drawing/2014/main" id="{48CF09A0-818F-5F40-4472-2943AC1A66D9}"/>
              </a:ext>
            </a:extLst>
          </p:cNvPr>
          <p:cNvGrpSpPr/>
          <p:nvPr/>
        </p:nvGrpSpPr>
        <p:grpSpPr>
          <a:xfrm>
            <a:off x="3304308" y="2629245"/>
            <a:ext cx="4924554" cy="549974"/>
            <a:chOff x="4027075" y="2206230"/>
            <a:chExt cx="3018333" cy="549974"/>
          </a:xfrm>
        </p:grpSpPr>
        <p:sp>
          <p:nvSpPr>
            <p:cNvPr id="12" name="Right Brace 11">
              <a:extLst>
                <a:ext uri="{FF2B5EF4-FFF2-40B4-BE49-F238E27FC236}">
                  <a16:creationId xmlns:a16="http://schemas.microsoft.com/office/drawing/2014/main" id="{DB467B9E-487B-7E61-B117-98627BE25B20}"/>
                </a:ext>
                <a:ext uri="{C183D7F6-B498-43B3-948B-1728B52AA6E4}">
                  <adec:decorative xmlns:adec="http://schemas.microsoft.com/office/drawing/2017/decorative" val="1"/>
                </a:ext>
              </a:extLst>
            </p:cNvPr>
            <p:cNvSpPr/>
            <p:nvPr/>
          </p:nvSpPr>
          <p:spPr>
            <a:xfrm rot="16200000" flipH="1" flipV="1">
              <a:off x="5311709" y="1614360"/>
              <a:ext cx="219506" cy="140324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descr="Uses reward + estimate for next state = target U sub t">
                  <a:extLst>
                    <a:ext uri="{FF2B5EF4-FFF2-40B4-BE49-F238E27FC236}">
                      <a16:creationId xmlns:a16="http://schemas.microsoft.com/office/drawing/2014/main" id="{167C0F56-3D54-6751-0D3D-658F027B96FA}"/>
                    </a:ext>
                  </a:extLst>
                </p:cNvPr>
                <p:cNvSpPr txBox="1"/>
                <p:nvPr/>
              </p:nvSpPr>
              <p:spPr>
                <a:xfrm>
                  <a:off x="4027075" y="2386872"/>
                  <a:ext cx="3018333" cy="369332"/>
                </a:xfrm>
                <a:prstGeom prst="rect">
                  <a:avLst/>
                </a:prstGeom>
                <a:noFill/>
              </p:spPr>
              <p:txBody>
                <a:bodyPr wrap="none" rtlCol="0">
                  <a:spAutoFit/>
                </a:bodyPr>
                <a:lstStyle/>
                <a:p>
                  <a:pPr algn="ctr"/>
                  <a:r>
                    <a:rPr lang="en-US" dirty="0">
                      <a:solidFill>
                        <a:schemeClr val="tx2"/>
                      </a:solidFill>
                    </a:rPr>
                    <a:t>Uses reward + estimate for next state = target </a:t>
                  </a:r>
                  <a14:m>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𝑈</m:t>
                          </m:r>
                        </m:e>
                        <m:sub>
                          <m:r>
                            <a:rPr lang="en-US" b="0" i="1" smtClean="0">
                              <a:solidFill>
                                <a:schemeClr val="tx2"/>
                              </a:solidFill>
                              <a:latin typeface="Cambria Math" panose="02040503050406030204" pitchFamily="18" charset="0"/>
                            </a:rPr>
                            <m:t>𝑡</m:t>
                          </m:r>
                        </m:sub>
                      </m:sSub>
                    </m:oMath>
                  </a14:m>
                  <a:endParaRPr lang="en-US" dirty="0">
                    <a:solidFill>
                      <a:schemeClr val="tx2"/>
                    </a:solidFill>
                  </a:endParaRPr>
                </a:p>
              </p:txBody>
            </p:sp>
          </mc:Choice>
          <mc:Fallback xmlns="">
            <p:sp>
              <p:nvSpPr>
                <p:cNvPr id="13" name="TextBox 12" descr="Uses reward + estimate for next state = target U sub t">
                  <a:extLst>
                    <a:ext uri="{FF2B5EF4-FFF2-40B4-BE49-F238E27FC236}">
                      <a16:creationId xmlns:a16="http://schemas.microsoft.com/office/drawing/2014/main" id="{167C0F56-3D54-6751-0D3D-658F027B96FA}"/>
                    </a:ext>
                  </a:extLst>
                </p:cNvPr>
                <p:cNvSpPr txBox="1">
                  <a:spLocks noRot="1" noChangeAspect="1" noMove="1" noResize="1" noEditPoints="1" noAdjustHandles="1" noChangeArrowheads="1" noChangeShapeType="1" noTextEdit="1"/>
                </p:cNvSpPr>
                <p:nvPr/>
              </p:nvSpPr>
              <p:spPr>
                <a:xfrm>
                  <a:off x="4027075" y="2386872"/>
                  <a:ext cx="3018333" cy="369332"/>
                </a:xfrm>
                <a:prstGeom prst="rect">
                  <a:avLst/>
                </a:prstGeom>
                <a:blipFill>
                  <a:blip r:embed="rId3"/>
                  <a:stretch>
                    <a:fillRect l="-495" t="-8197" b="-26230"/>
                  </a:stretch>
                </a:blipFill>
              </p:spPr>
              <p:txBody>
                <a:bodyPr/>
                <a:lstStyle/>
                <a:p>
                  <a:r>
                    <a:rPr lang="en-US">
                      <a:noFill/>
                    </a:rPr>
                    <a:t> </a:t>
                  </a:r>
                </a:p>
              </p:txBody>
            </p:sp>
          </mc:Fallback>
        </mc:AlternateContent>
      </p:grpSp>
      <p:grpSp>
        <p:nvGrpSpPr>
          <p:cNvPr id="7" name="Group 6" descr="Brace annotation: MC Error over complete episode.">
            <a:extLst>
              <a:ext uri="{FF2B5EF4-FFF2-40B4-BE49-F238E27FC236}">
                <a16:creationId xmlns:a16="http://schemas.microsoft.com/office/drawing/2014/main" id="{68A07290-301C-7032-71D6-1CB108C1EAAB}"/>
              </a:ext>
            </a:extLst>
          </p:cNvPr>
          <p:cNvGrpSpPr/>
          <p:nvPr/>
        </p:nvGrpSpPr>
        <p:grpSpPr>
          <a:xfrm>
            <a:off x="3846428" y="5104153"/>
            <a:ext cx="5065602" cy="488182"/>
            <a:chOff x="2334588" y="1969791"/>
            <a:chExt cx="5065602" cy="488182"/>
          </a:xfrm>
        </p:grpSpPr>
        <p:sp>
          <p:nvSpPr>
            <p:cNvPr id="4" name="Right Brace 3">
              <a:extLst>
                <a:ext uri="{FF2B5EF4-FFF2-40B4-BE49-F238E27FC236}">
                  <a16:creationId xmlns:a16="http://schemas.microsoft.com/office/drawing/2014/main" id="{114C8F32-06B0-D869-D536-7BBF5C78D0A5}"/>
                </a:ext>
                <a:ext uri="{C183D7F6-B498-43B3-948B-1728B52AA6E4}">
                  <adec:decorative xmlns:adec="http://schemas.microsoft.com/office/drawing/2017/decorative" val="1"/>
                </a:ext>
              </a:extLst>
            </p:cNvPr>
            <p:cNvSpPr/>
            <p:nvPr/>
          </p:nvSpPr>
          <p:spPr>
            <a:xfrm rot="16200000" flipV="1">
              <a:off x="5386274" y="1602838"/>
              <a:ext cx="168546" cy="1541724"/>
            </a:xfrm>
            <a:prstGeom prst="righ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DCBC98F2-9264-2ADA-BDB4-85BCB1E97F5E}"/>
                </a:ext>
              </a:extLst>
            </p:cNvPr>
            <p:cNvSpPr txBox="1"/>
            <p:nvPr/>
          </p:nvSpPr>
          <p:spPr>
            <a:xfrm>
              <a:off x="2334588" y="1969791"/>
              <a:ext cx="5065602" cy="369332"/>
            </a:xfrm>
            <a:prstGeom prst="rect">
              <a:avLst/>
            </a:prstGeom>
            <a:noFill/>
          </p:spPr>
          <p:txBody>
            <a:bodyPr wrap="square" rtlCol="0">
              <a:spAutoFit/>
            </a:bodyPr>
            <a:lstStyle/>
            <a:p>
              <a:pPr algn="ctr"/>
              <a:r>
                <a:rPr lang="en-US" dirty="0">
                  <a:solidFill>
                    <a:schemeClr val="accent2"/>
                  </a:solidFill>
                </a:rPr>
                <a:t>MC Error over complete episode</a:t>
              </a:r>
            </a:p>
          </p:txBody>
        </p:sp>
      </p:grpSp>
      <mc:AlternateContent xmlns:mc="http://schemas.openxmlformats.org/markup-compatibility/2006">
        <mc:Choice xmlns:a14="http://schemas.microsoft.com/office/drawing/2010/main" Requires="a14">
          <p:sp>
            <p:nvSpPr>
              <p:cNvPr id="5" name="Speech Bubble: Rectangle with Corners Rounded 4">
                <a:extLst>
                  <a:ext uri="{FF2B5EF4-FFF2-40B4-BE49-F238E27FC236}">
                    <a16:creationId xmlns:a16="http://schemas.microsoft.com/office/drawing/2014/main" id="{6A0B74D7-9C8E-74BE-DB63-95D4B6C89ACD}"/>
                  </a:ext>
                  <a:ext uri="{C183D7F6-B498-43B3-948B-1728B52AA6E4}">
                    <adec:decorative xmlns:adec="http://schemas.microsoft.com/office/drawing/2017/decorative" val="1"/>
                  </a:ext>
                </a:extLst>
              </p:cNvPr>
              <p:cNvSpPr/>
              <p:nvPr/>
            </p:nvSpPr>
            <p:spPr>
              <a:xfrm>
                <a:off x="9318406" y="4601981"/>
                <a:ext cx="2513356" cy="1828716"/>
              </a:xfrm>
              <a:prstGeom prst="wedgeRoundRectCallout">
                <a:avLst>
                  <a:gd name="adj1" fmla="val -95767"/>
                  <a:gd name="adj2" fmla="val 959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In MC methods, </a:t>
                </a:r>
                <a:br>
                  <a:rPr lang="en-US" sz="1600" dirty="0"/>
                </a:br>
                <a14:m>
                  <m:oMath xmlns:m="http://schemas.openxmlformats.org/officeDocument/2006/math">
                    <m:r>
                      <a:rPr lang="en-US" sz="1600" i="1">
                        <a:latin typeface="Cambria Math" panose="02040503050406030204" pitchFamily="18" charset="0"/>
                      </a:rPr>
                      <m:t>𝛼</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𝑊</m:t>
                        </m:r>
                      </m:num>
                      <m:den>
                        <m:r>
                          <a:rPr lang="en-US" sz="1600" b="0" i="1" smtClean="0">
                            <a:latin typeface="Cambria Math" panose="02040503050406030204" pitchFamily="18" charset="0"/>
                          </a:rPr>
                          <m:t>𝐶</m:t>
                        </m:r>
                      </m:den>
                    </m:f>
                    <m:r>
                      <a:rPr lang="en-US" sz="1600" i="1">
                        <a:latin typeface="Cambria Math" panose="02040503050406030204" pitchFamily="18" charset="0"/>
                      </a:rPr>
                      <m:t> </m:t>
                    </m:r>
                  </m:oMath>
                </a14:m>
                <a:r>
                  <a:rPr lang="en-US" sz="1600" dirty="0"/>
                  <a:t>represents the weight for incremental updates.</a:t>
                </a:r>
              </a:p>
              <a:p>
                <a:pPr algn="ctr"/>
                <a:r>
                  <a:rPr lang="en-US" sz="1600" b="1" dirty="0"/>
                  <a:t>No Bootstrapping! Unbiased estimate!</a:t>
                </a:r>
              </a:p>
            </p:txBody>
          </p:sp>
        </mc:Choice>
        <mc:Fallback>
          <p:sp>
            <p:nvSpPr>
              <p:cNvPr id="5" name="Speech Bubble: Rectangle with Corners Rounded 4">
                <a:extLst>
                  <a:ext uri="{FF2B5EF4-FFF2-40B4-BE49-F238E27FC236}">
                    <a16:creationId xmlns:a16="http://schemas.microsoft.com/office/drawing/2014/main" id="{6A0B74D7-9C8E-74BE-DB63-95D4B6C89ACD}"/>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9318406" y="4601981"/>
                <a:ext cx="2513356" cy="1828716"/>
              </a:xfrm>
              <a:prstGeom prst="wedgeRoundRectCallout">
                <a:avLst>
                  <a:gd name="adj1" fmla="val -95767"/>
                  <a:gd name="adj2" fmla="val 9599"/>
                  <a:gd name="adj3" fmla="val 16667"/>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7A6B4CE5-F721-CDBA-9DC7-BCE568F3B7C0}"/>
                  </a:ext>
                  <a:ext uri="{C183D7F6-B498-43B3-948B-1728B52AA6E4}">
                    <adec:decorative xmlns:adec="http://schemas.microsoft.com/office/drawing/2017/decorative" val="1"/>
                  </a:ext>
                </a:extLst>
              </p:cNvPr>
              <p:cNvSpPr txBox="1"/>
              <p:nvPr/>
            </p:nvSpPr>
            <p:spPr>
              <a:xfrm>
                <a:off x="9318406" y="1967611"/>
                <a:ext cx="2513356" cy="1200329"/>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TD uses local search with </a:t>
                </a:r>
                <a14:m>
                  <m:oMath xmlns:m="http://schemas.openxmlformats.org/officeDocument/2006/math">
                    <m:r>
                      <a:rPr lang="en-US" b="0" i="1" smtClean="0">
                        <a:latin typeface="Cambria Math" panose="02040503050406030204" pitchFamily="18" charset="0"/>
                      </a:rPr>
                      <m:t>𝛼</m:t>
                    </m:r>
                  </m:oMath>
                </a14:m>
                <a:r>
                  <a:rPr lang="en-US" dirty="0"/>
                  <a:t> as the learning parameter to reduce the TD error.</a:t>
                </a:r>
              </a:p>
            </p:txBody>
          </p:sp>
        </mc:Choice>
        <mc:Fallback>
          <p:sp>
            <p:nvSpPr>
              <p:cNvPr id="14" name="TextBox 13">
                <a:extLst>
                  <a:ext uri="{FF2B5EF4-FFF2-40B4-BE49-F238E27FC236}">
                    <a16:creationId xmlns:a16="http://schemas.microsoft.com/office/drawing/2014/main" id="{7A6B4CE5-F721-CDBA-9DC7-BCE568F3B7C0}"/>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9318406" y="1967611"/>
                <a:ext cx="2513356" cy="1200329"/>
              </a:xfrm>
              <a:prstGeom prst="rect">
                <a:avLst/>
              </a:prstGeom>
              <a:blipFill>
                <a:blip r:embed="rId5"/>
                <a:stretch>
                  <a:fillRect l="-2000" t="-2062" b="-5155"/>
                </a:stretch>
              </a:blipFill>
            </p:spPr>
            <p:txBody>
              <a:bodyPr/>
              <a:lstStyle/>
              <a:p>
                <a:r>
                  <a:rPr lang="en-US">
                    <a:noFill/>
                  </a:rPr>
                  <a:t> </a:t>
                </a:r>
              </a:p>
            </p:txBody>
          </p:sp>
        </mc:Fallback>
      </mc:AlternateContent>
    </p:spTree>
    <p:extLst>
      <p:ext uri="{BB962C8B-B14F-4D97-AF65-F5344CB8AC3E}">
        <p14:creationId xmlns:p14="http://schemas.microsoft.com/office/powerpoint/2010/main" val="123558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E36AA-2655-FFF5-7881-32B8F5909D07}"/>
              </a:ext>
            </a:extLst>
          </p:cNvPr>
          <p:cNvSpPr>
            <a:spLocks noGrp="1"/>
          </p:cNvSpPr>
          <p:nvPr>
            <p:ph type="title"/>
          </p:nvPr>
        </p:nvSpPr>
        <p:spPr/>
        <p:txBody>
          <a:bodyPr/>
          <a:lstStyle/>
          <a:p>
            <a:r>
              <a:rPr lang="en-US" dirty="0"/>
              <a:t>Alg. Tabular TD(0)</a:t>
            </a:r>
          </a:p>
        </p:txBody>
      </p:sp>
      <p:pic>
        <p:nvPicPr>
          <p:cNvPr id="5" name="Content Placeholder 4" descr="Algorithm box: Tabular TD(0) for estimating v pi. Input: the policy pi to be evaluated. Algorithm parameter: step size alpha in (0, 1]. Initialize V(s), for all s in S plus, arbitrarily except that V(terminal) = 0. Loop for each episode: Initialize S; Loop for each step of episode: A ← action given by pi for S; Take action A, observe R, S′; V(S) ← V(S) + alpha [R + gamma V(S′) − V(S)]; S ← S′; until S is terminal.">
            <a:extLst>
              <a:ext uri="{FF2B5EF4-FFF2-40B4-BE49-F238E27FC236}">
                <a16:creationId xmlns:a16="http://schemas.microsoft.com/office/drawing/2014/main" id="{1704425E-63FB-9C5C-D27A-96BE1B7B4461}"/>
              </a:ext>
            </a:extLst>
          </p:cNvPr>
          <p:cNvPicPr>
            <a:picLocks noGrp="1" noChangeAspect="1"/>
          </p:cNvPicPr>
          <p:nvPr>
            <p:ph idx="1"/>
          </p:nvPr>
        </p:nvPicPr>
        <p:blipFill>
          <a:blip r:embed="rId2"/>
          <a:stretch>
            <a:fillRect/>
          </a:stretch>
        </p:blipFill>
        <p:spPr>
          <a:xfrm>
            <a:off x="2136508" y="1337315"/>
            <a:ext cx="7810209" cy="3497737"/>
          </a:xfrm>
          <a:prstGeom prst="rect">
            <a:avLst/>
          </a:prstGeom>
        </p:spPr>
      </p:pic>
      <mc:AlternateContent xmlns:mc="http://schemas.openxmlformats.org/markup-compatibility/2006" xmlns:a14="http://schemas.microsoft.com/office/drawing/2010/main">
        <mc:Choice Requires="a14">
          <p:sp>
            <p:nvSpPr>
              <p:cNvPr id="3" name="Speech Bubble: Rectangle with Corners Rounded 2" descr="Note: We can only update for time t at time t plus 1 since we need to observe a complete S,A,R,S prime interaction and S prime is observed at t plus 1">
                <a:extLst>
                  <a:ext uri="{FF2B5EF4-FFF2-40B4-BE49-F238E27FC236}">
                    <a16:creationId xmlns:a16="http://schemas.microsoft.com/office/drawing/2014/main" id="{7AE4513F-F758-3015-C605-C7D9F007E2D5}"/>
                  </a:ext>
                </a:extLst>
              </p:cNvPr>
              <p:cNvSpPr/>
              <p:nvPr/>
            </p:nvSpPr>
            <p:spPr>
              <a:xfrm>
                <a:off x="5721292" y="5134062"/>
                <a:ext cx="4127246" cy="847014"/>
              </a:xfrm>
              <a:prstGeom prst="wedgeRoundRectCallout">
                <a:avLst>
                  <a:gd name="adj1" fmla="val -70723"/>
                  <a:gd name="adj2" fmla="val -16884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Note</a:t>
                </a:r>
                <a:r>
                  <a:rPr lang="en-US" sz="1400" dirty="0"/>
                  <a:t>: We can only update for time </a:t>
                </a:r>
                <a14:m>
                  <m:oMath xmlns:m="http://schemas.openxmlformats.org/officeDocument/2006/math">
                    <m:r>
                      <a:rPr lang="en-US" sz="1400" i="1">
                        <a:latin typeface="Cambria Math" panose="02040503050406030204" pitchFamily="18" charset="0"/>
                      </a:rPr>
                      <m:t>𝑡</m:t>
                    </m:r>
                  </m:oMath>
                </a14:m>
                <a:r>
                  <a:rPr lang="en-US" sz="1400" dirty="0"/>
                  <a:t> at time </a:t>
                </a:r>
                <a14:m>
                  <m:oMath xmlns:m="http://schemas.openxmlformats.org/officeDocument/2006/math">
                    <m:r>
                      <a:rPr lang="en-US" sz="1400" i="1">
                        <a:latin typeface="Cambria Math" panose="02040503050406030204" pitchFamily="18" charset="0"/>
                      </a:rPr>
                      <m:t>𝑡</m:t>
                    </m:r>
                    <m:r>
                      <a:rPr lang="en-US" sz="1400" i="1">
                        <a:latin typeface="Cambria Math" panose="02040503050406030204" pitchFamily="18" charset="0"/>
                      </a:rPr>
                      <m:t>+1</m:t>
                    </m:r>
                  </m:oMath>
                </a14:m>
                <a:r>
                  <a:rPr lang="en-US" sz="1400" dirty="0"/>
                  <a:t> since we need to observe a complete </a:t>
                </a:r>
                <a14:m>
                  <m:oMath xmlns:m="http://schemas.openxmlformats.org/officeDocument/2006/math">
                    <m:r>
                      <a:rPr lang="en-US" sz="1400" i="1">
                        <a:latin typeface="Cambria Math" panose="02040503050406030204" pitchFamily="18" charset="0"/>
                      </a:rPr>
                      <m:t>𝑆</m:t>
                    </m:r>
                    <m:r>
                      <a:rPr lang="en-US" sz="1400" i="1">
                        <a:latin typeface="Cambria Math" panose="02040503050406030204" pitchFamily="18" charset="0"/>
                      </a:rPr>
                      <m:t>,</m:t>
                    </m:r>
                    <m:r>
                      <a:rPr lang="en-US" sz="1400" i="1">
                        <a:latin typeface="Cambria Math" panose="02040503050406030204" pitchFamily="18" charset="0"/>
                      </a:rPr>
                      <m:t>𝐴</m:t>
                    </m:r>
                    <m:r>
                      <a:rPr lang="en-US" sz="1400" i="1">
                        <a:latin typeface="Cambria Math" panose="02040503050406030204" pitchFamily="18" charset="0"/>
                      </a:rPr>
                      <m:t>,</m:t>
                    </m:r>
                    <m:r>
                      <a:rPr lang="en-US" sz="1400" i="1">
                        <a:latin typeface="Cambria Math" panose="02040503050406030204" pitchFamily="18" charset="0"/>
                      </a:rPr>
                      <m:t>𝑅</m:t>
                    </m:r>
                    <m:r>
                      <a:rPr lang="en-US" sz="1400" i="1">
                        <a:latin typeface="Cambria Math" panose="02040503050406030204" pitchFamily="18" charset="0"/>
                      </a:rPr>
                      <m:t>,</m:t>
                    </m:r>
                    <m:r>
                      <a:rPr lang="en-US" sz="1400" i="1">
                        <a:latin typeface="Cambria Math" panose="02040503050406030204" pitchFamily="18" charset="0"/>
                      </a:rPr>
                      <m:t>𝑆</m:t>
                    </m:r>
                    <m:r>
                      <a:rPr lang="en-US" sz="1400" i="1">
                        <a:latin typeface="Cambria Math" panose="02040503050406030204" pitchFamily="18" charset="0"/>
                      </a:rPr>
                      <m:t>′</m:t>
                    </m:r>
                  </m:oMath>
                </a14:m>
                <a:r>
                  <a:rPr lang="en-US" sz="1400" dirty="0"/>
                  <a:t> interaction and </a:t>
                </a:r>
                <a14:m>
                  <m:oMath xmlns:m="http://schemas.openxmlformats.org/officeDocument/2006/math">
                    <m:r>
                      <a:rPr lang="en-US" sz="1400" i="1">
                        <a:latin typeface="Cambria Math" panose="02040503050406030204" pitchFamily="18" charset="0"/>
                      </a:rPr>
                      <m:t>𝑆</m:t>
                    </m:r>
                    <m:r>
                      <a:rPr lang="en-US" sz="1400" i="1">
                        <a:latin typeface="Cambria Math" panose="02040503050406030204" pitchFamily="18" charset="0"/>
                      </a:rPr>
                      <m:t>′</m:t>
                    </m:r>
                  </m:oMath>
                </a14:m>
                <a:r>
                  <a:rPr lang="en-US" sz="1400" dirty="0"/>
                  <a:t> is observed at </a:t>
                </a:r>
                <a14:m>
                  <m:oMath xmlns:m="http://schemas.openxmlformats.org/officeDocument/2006/math">
                    <m:r>
                      <a:rPr lang="en-US" sz="1400" i="1">
                        <a:latin typeface="Cambria Math" panose="02040503050406030204" pitchFamily="18" charset="0"/>
                      </a:rPr>
                      <m:t>𝑡</m:t>
                    </m:r>
                    <m:r>
                      <a:rPr lang="en-US" sz="1400" i="1">
                        <a:latin typeface="Cambria Math" panose="02040503050406030204" pitchFamily="18" charset="0"/>
                      </a:rPr>
                      <m:t>+1</m:t>
                    </m:r>
                  </m:oMath>
                </a14:m>
                <a:r>
                  <a:rPr lang="en-US" sz="1400" dirty="0"/>
                  <a:t>.</a:t>
                </a:r>
              </a:p>
            </p:txBody>
          </p:sp>
        </mc:Choice>
        <mc:Fallback xmlns="">
          <p:sp>
            <p:nvSpPr>
              <p:cNvPr id="3" name="Speech Bubble: Rectangle with Corners Rounded 2" descr="Note: We can only update for time t at time t plus 1 since we need to observe a complete S,A,R,S prime interaction and S prime is observed at t plus 1">
                <a:extLst>
                  <a:ext uri="{FF2B5EF4-FFF2-40B4-BE49-F238E27FC236}">
                    <a16:creationId xmlns:a16="http://schemas.microsoft.com/office/drawing/2014/main" id="{7AE4513F-F758-3015-C605-C7D9F007E2D5}"/>
                  </a:ext>
                </a:extLst>
              </p:cNvPr>
              <p:cNvSpPr>
                <a:spLocks noRot="1" noChangeAspect="1" noMove="1" noResize="1" noEditPoints="1" noAdjustHandles="1" noChangeArrowheads="1" noChangeShapeType="1" noTextEdit="1"/>
              </p:cNvSpPr>
              <p:nvPr/>
            </p:nvSpPr>
            <p:spPr>
              <a:xfrm>
                <a:off x="5721292" y="5134062"/>
                <a:ext cx="4127246" cy="847014"/>
              </a:xfrm>
              <a:prstGeom prst="wedgeRoundRectCallout">
                <a:avLst>
                  <a:gd name="adj1" fmla="val -70723"/>
                  <a:gd name="adj2" fmla="val -168840"/>
                  <a:gd name="adj3" fmla="val 16667"/>
                </a:avLst>
              </a:prstGeom>
              <a:blipFill>
                <a:blip r:embed="rId3"/>
                <a:stretch>
                  <a:fillRect/>
                </a:stretch>
              </a:blipFill>
            </p:spPr>
            <p:txBody>
              <a:bodyPr/>
              <a:lstStyle/>
              <a:p>
                <a:r>
                  <a:rPr lang="en-US">
                    <a:noFill/>
                  </a:rPr>
                  <a:t> </a:t>
                </a:r>
              </a:p>
            </p:txBody>
          </p:sp>
        </mc:Fallback>
      </mc:AlternateContent>
      <p:sp>
        <p:nvSpPr>
          <p:cNvPr id="4" name="Speech Bubble: Rectangle with Corners Rounded 3">
            <a:extLst>
              <a:ext uri="{FF2B5EF4-FFF2-40B4-BE49-F238E27FC236}">
                <a16:creationId xmlns:a16="http://schemas.microsoft.com/office/drawing/2014/main" id="{52DCCF0C-4960-6A76-B588-637A79AEF859}"/>
              </a:ext>
            </a:extLst>
          </p:cNvPr>
          <p:cNvSpPr/>
          <p:nvPr/>
        </p:nvSpPr>
        <p:spPr>
          <a:xfrm>
            <a:off x="5918664" y="434715"/>
            <a:ext cx="2880564" cy="422339"/>
          </a:xfrm>
          <a:prstGeom prst="wedgeRoundRectCallout">
            <a:avLst>
              <a:gd name="adj1" fmla="val -86295"/>
              <a:gd name="adj2" fmla="val 710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We will later learn what 0 means</a:t>
            </a:r>
          </a:p>
        </p:txBody>
      </p:sp>
      <p:sp>
        <p:nvSpPr>
          <p:cNvPr id="6" name="Rectangle 5">
            <a:extLst>
              <a:ext uri="{FF2B5EF4-FFF2-40B4-BE49-F238E27FC236}">
                <a16:creationId xmlns:a16="http://schemas.microsoft.com/office/drawing/2014/main" id="{505545C4-DEE2-2979-2281-BEF0B4ACEC98}"/>
              </a:ext>
              <a:ext uri="{C183D7F6-B498-43B3-948B-1728B52AA6E4}">
                <adec:decorative xmlns:adec="http://schemas.microsoft.com/office/drawing/2017/decorative" val="1"/>
              </a:ext>
            </a:extLst>
          </p:cNvPr>
          <p:cNvSpPr/>
          <p:nvPr/>
        </p:nvSpPr>
        <p:spPr>
          <a:xfrm>
            <a:off x="2870616" y="3844977"/>
            <a:ext cx="3620125" cy="322289"/>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3896283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81E44-4E5C-32D8-E43F-7C76E6551BCD}"/>
              </a:ext>
            </a:extLst>
          </p:cNvPr>
          <p:cNvSpPr>
            <a:spLocks noGrp="1"/>
          </p:cNvSpPr>
          <p:nvPr>
            <p:ph type="title"/>
          </p:nvPr>
        </p:nvSpPr>
        <p:spPr/>
        <p:txBody>
          <a:bodyPr/>
          <a:lstStyle/>
          <a:p>
            <a:r>
              <a:rPr lang="en-US" dirty="0"/>
              <a:t>Convergence of TD Methods</a:t>
            </a:r>
          </a:p>
        </p:txBody>
      </p:sp>
      <mc:AlternateContent xmlns:mc="http://schemas.openxmlformats.org/markup-compatibility/2006" xmlns:a14="http://schemas.microsoft.com/office/drawing/2010/main">
        <mc:Choice Requires="a14">
          <p:sp>
            <p:nvSpPr>
              <p:cNvPr id="3" name="Content Placeholder 2" descr="Regular conditions on the MDP apply (finite, gamma is less than 1, etc.). The observed TD error delta sub t equals R sub t plus 1, plus gamma V (S sub t plus 1) minus V (S sub t) is a noisy sample of the true difference. Convergence: Stochastic approximation theory guarantees convergence if the learning rate alpha decreases slowly enough. Then the updates V (S sub t) V (S sub t) plus alpha [R sub t plus 1, plus gamma V (S sub t plus 1) minus V (S sub t)] lead to an expected TD error of 0, i.e., the Bellman consistency conditions are met which means convergence. What is slow enough?. Example: alpha sub t equals 1 over t (equivalent to incremental averaging)">
                <a:extLst>
                  <a:ext uri="{FF2B5EF4-FFF2-40B4-BE49-F238E27FC236}">
                    <a16:creationId xmlns:a16="http://schemas.microsoft.com/office/drawing/2014/main" id="{F7F96BBE-14B2-B9B5-FA11-CD799C6C8550}"/>
                  </a:ext>
                </a:extLst>
              </p:cNvPr>
              <p:cNvSpPr>
                <a:spLocks noGrp="1"/>
              </p:cNvSpPr>
              <p:nvPr>
                <p:ph idx="1"/>
              </p:nvPr>
            </p:nvSpPr>
            <p:spPr>
              <a:xfrm>
                <a:off x="838200" y="1288280"/>
                <a:ext cx="10515600" cy="4779633"/>
              </a:xfrm>
            </p:spPr>
            <p:txBody>
              <a:bodyPr>
                <a:noAutofit/>
              </a:bodyPr>
              <a:lstStyle/>
              <a:p>
                <a:r>
                  <a:rPr lang="en-US" sz="1800" dirty="0"/>
                  <a:t>Regular conditions on the MDP apply (finite, </a:t>
                </a:r>
                <a14:m>
                  <m:oMath xmlns:m="http://schemas.openxmlformats.org/officeDocument/2006/math">
                    <m:r>
                      <a:rPr lang="en-US" sz="1800" b="0" i="1" smtClean="0">
                        <a:latin typeface="Cambria Math" panose="02040503050406030204" pitchFamily="18" charset="0"/>
                      </a:rPr>
                      <m:t>𝛾</m:t>
                    </m:r>
                    <m:r>
                      <a:rPr lang="en-US" sz="1800" b="0" i="1" smtClean="0">
                        <a:latin typeface="Cambria Math" panose="02040503050406030204" pitchFamily="18" charset="0"/>
                      </a:rPr>
                      <m:t>&lt;1</m:t>
                    </m:r>
                  </m:oMath>
                </a14:m>
                <a:r>
                  <a:rPr lang="en-US" sz="1800" dirty="0"/>
                  <a:t>, etc.)</a:t>
                </a:r>
              </a:p>
              <a:p>
                <a:r>
                  <a:rPr lang="en-US" sz="1800" dirty="0"/>
                  <a:t>The observed TD error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𝛿</m:t>
                        </m:r>
                      </m:e>
                      <m:sub>
                        <m:r>
                          <a:rPr lang="en-US" sz="1800" i="1">
                            <a:latin typeface="Cambria Math" panose="02040503050406030204" pitchFamily="18" charset="0"/>
                          </a:rPr>
                          <m:t>𝑡</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𝑡</m:t>
                        </m:r>
                        <m:r>
                          <a:rPr lang="en-US" sz="1800" i="1">
                            <a:latin typeface="Cambria Math" panose="02040503050406030204" pitchFamily="18" charset="0"/>
                          </a:rPr>
                          <m:t>+1</m:t>
                        </m:r>
                      </m:sub>
                    </m:sSub>
                    <m:r>
                      <a:rPr lang="en-US" sz="1800" i="1">
                        <a:latin typeface="Cambria Math" panose="02040503050406030204" pitchFamily="18" charset="0"/>
                      </a:rPr>
                      <m:t>+</m:t>
                    </m:r>
                    <m:r>
                      <a:rPr lang="en-US" sz="1800" i="1">
                        <a:latin typeface="Cambria Math" panose="02040503050406030204" pitchFamily="18" charset="0"/>
                      </a:rPr>
                      <m:t>𝛾</m:t>
                    </m:r>
                    <m:r>
                      <a:rPr lang="en-US" sz="1800" i="1">
                        <a:latin typeface="Cambria Math" panose="02040503050406030204" pitchFamily="18" charset="0"/>
                      </a:rPr>
                      <m:t>𝑉</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r>
                              <a:rPr lang="en-US" sz="1800" i="1">
                                <a:latin typeface="Cambria Math" panose="02040503050406030204" pitchFamily="18" charset="0"/>
                              </a:rPr>
                              <m:t>+1</m:t>
                            </m:r>
                          </m:sub>
                        </m:sSub>
                      </m:e>
                    </m:d>
                    <m:r>
                      <a:rPr lang="en-US" sz="1800" i="1">
                        <a:latin typeface="Cambria Math" panose="02040503050406030204" pitchFamily="18" charset="0"/>
                      </a:rPr>
                      <m:t>−</m:t>
                    </m:r>
                    <m:r>
                      <a:rPr lang="en-US" sz="1800" i="1">
                        <a:latin typeface="Cambria Math" panose="02040503050406030204" pitchFamily="18" charset="0"/>
                      </a:rPr>
                      <m:t>𝑉</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sub>
                        </m:sSub>
                      </m:e>
                    </m:d>
                  </m:oMath>
                </a14:m>
                <a:r>
                  <a:rPr lang="en-US" sz="1800" dirty="0"/>
                  <a:t> is a noisy sample of the true difference.</a:t>
                </a:r>
                <a:br>
                  <a:rPr lang="en-US" sz="1800" dirty="0"/>
                </a:br>
                <a:endParaRPr lang="en-US" sz="1800" dirty="0"/>
              </a:p>
              <a:p>
                <a:r>
                  <a:rPr lang="en-US" sz="1800" b="1" dirty="0"/>
                  <a:t>Convergence</a:t>
                </a:r>
                <a:r>
                  <a:rPr lang="en-US" sz="1800" dirty="0"/>
                  <a:t>: Stochastic approximation theory guarantees convergence if the </a:t>
                </a:r>
                <a:r>
                  <a:rPr lang="en-US" sz="1800" b="1" dirty="0"/>
                  <a:t>learning rate </a:t>
                </a:r>
                <a14:m>
                  <m:oMath xmlns:m="http://schemas.openxmlformats.org/officeDocument/2006/math">
                    <m:r>
                      <a:rPr lang="en-US" sz="1800" b="1" i="1" smtClean="0">
                        <a:latin typeface="Cambria Math" panose="02040503050406030204" pitchFamily="18" charset="0"/>
                      </a:rPr>
                      <m:t>𝜶</m:t>
                    </m:r>
                  </m:oMath>
                </a14:m>
                <a:r>
                  <a:rPr lang="en-US" sz="1800" b="1" dirty="0"/>
                  <a:t> decreases slowly enough. </a:t>
                </a:r>
                <a:r>
                  <a:rPr lang="en-US" sz="1800" dirty="0"/>
                  <a:t>Then the updates</a:t>
                </a:r>
                <a:br>
                  <a:rPr lang="en-US" sz="1800" dirty="0"/>
                </a:br>
                <a:br>
                  <a:rPr lang="en-US" sz="1800" dirty="0"/>
                </a:br>
                <a14:m>
                  <m:oMath xmlns:m="http://schemas.openxmlformats.org/officeDocument/2006/math">
                    <m:r>
                      <a:rPr lang="en-US" sz="1800" i="1">
                        <a:latin typeface="Cambria Math" panose="02040503050406030204" pitchFamily="18" charset="0"/>
                      </a:rPr>
                      <m:t>𝑉</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sub>
                        </m:sSub>
                      </m:e>
                    </m:d>
                    <m:groupChr>
                      <m:groupChrPr>
                        <m:chr m:val="←"/>
                        <m:pos m:val="top"/>
                        <m:vertJc m:val="top"/>
                        <m:ctrlPr>
                          <a:rPr lang="en-US" sz="1800" i="1">
                            <a:latin typeface="Cambria Math" panose="02040503050406030204" pitchFamily="18" charset="0"/>
                          </a:rPr>
                        </m:ctrlPr>
                      </m:groupChrPr>
                      <m:e/>
                    </m:groupChr>
                    <m:r>
                      <a:rPr lang="en-US" sz="1800" i="1">
                        <a:latin typeface="Cambria Math" panose="02040503050406030204" pitchFamily="18" charset="0"/>
                      </a:rPr>
                      <m:t>𝑉</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sub>
                        </m:sSub>
                      </m:e>
                    </m:d>
                    <m:r>
                      <a:rPr lang="en-US" sz="1800">
                        <a:latin typeface="Cambria Math" panose="02040503050406030204" pitchFamily="18" charset="0"/>
                      </a:rPr>
                      <m:t>+</m:t>
                    </m:r>
                    <m:r>
                      <a:rPr lang="en-US" sz="1800" i="1">
                        <a:latin typeface="Cambria Math" panose="02040503050406030204" pitchFamily="18" charset="0"/>
                      </a:rPr>
                      <m:t>𝛼</m:t>
                    </m:r>
                    <m:d>
                      <m:dPr>
                        <m:begChr m:val="["/>
                        <m:endChr m:val="]"/>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𝑡</m:t>
                            </m:r>
                            <m:r>
                              <a:rPr lang="en-US" sz="1800" i="1">
                                <a:latin typeface="Cambria Math" panose="02040503050406030204" pitchFamily="18" charset="0"/>
                              </a:rPr>
                              <m:t>+1</m:t>
                            </m:r>
                          </m:sub>
                        </m:sSub>
                        <m:r>
                          <a:rPr lang="en-US" sz="1800" i="1">
                            <a:latin typeface="Cambria Math" panose="02040503050406030204" pitchFamily="18" charset="0"/>
                          </a:rPr>
                          <m:t>+</m:t>
                        </m:r>
                        <m:r>
                          <a:rPr lang="en-US" sz="1800" i="1">
                            <a:latin typeface="Cambria Math" panose="02040503050406030204" pitchFamily="18" charset="0"/>
                          </a:rPr>
                          <m:t>𝛾</m:t>
                        </m:r>
                        <m:r>
                          <a:rPr lang="en-US" sz="1800" i="1">
                            <a:latin typeface="Cambria Math" panose="02040503050406030204" pitchFamily="18" charset="0"/>
                          </a:rPr>
                          <m:t>𝑉</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r>
                                  <a:rPr lang="en-US" sz="1800" i="1">
                                    <a:latin typeface="Cambria Math" panose="02040503050406030204" pitchFamily="18" charset="0"/>
                                  </a:rPr>
                                  <m:t>+1</m:t>
                                </m:r>
                              </m:sub>
                            </m:sSub>
                          </m:e>
                        </m:d>
                        <m:r>
                          <a:rPr lang="en-US" sz="1800" i="1">
                            <a:latin typeface="Cambria Math" panose="02040503050406030204" pitchFamily="18" charset="0"/>
                          </a:rPr>
                          <m:t>−</m:t>
                        </m:r>
                        <m:r>
                          <a:rPr lang="en-US" sz="1800" i="1">
                            <a:latin typeface="Cambria Math" panose="02040503050406030204" pitchFamily="18" charset="0"/>
                          </a:rPr>
                          <m:t>𝑉</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sub>
                            </m:sSub>
                          </m:e>
                        </m:d>
                      </m:e>
                    </m:d>
                  </m:oMath>
                </a14:m>
                <a:br>
                  <a:rPr lang="en-US" sz="1800" dirty="0"/>
                </a:br>
                <a:br>
                  <a:rPr lang="en-US" sz="1800" dirty="0"/>
                </a:br>
                <a:r>
                  <a:rPr lang="en-US" sz="1800" dirty="0"/>
                  <a:t>lead to an expected TD error of 0, i.e., the Bellman consistency conditions are met which means convergence.</a:t>
                </a:r>
              </a:p>
              <a:p>
                <a:endParaRPr lang="en-US" sz="1800" dirty="0"/>
              </a:p>
              <a:p>
                <a:r>
                  <a:rPr lang="en-US" sz="1800" dirty="0"/>
                  <a:t>What is slow enough?</a:t>
                </a:r>
              </a:p>
              <a:p>
                <a:endParaRPr lang="en-US" sz="1800" b="1" dirty="0"/>
              </a:p>
              <a:p>
                <a:endParaRPr lang="en-US" sz="1800" dirty="0"/>
              </a:p>
              <a:p>
                <a:pPr marL="0" indent="0">
                  <a:buNone/>
                </a:pPr>
                <a:endParaRPr lang="en-US" sz="1800" dirty="0"/>
              </a:p>
              <a:p>
                <a:r>
                  <a:rPr lang="en-US" sz="1800" dirty="0"/>
                  <a:t>Example: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𝛼</m:t>
                        </m:r>
                      </m:e>
                      <m:sub>
                        <m:r>
                          <a:rPr lang="en-US" sz="1800" b="0" i="1" smtClean="0">
                            <a:latin typeface="Cambria Math" panose="02040503050406030204" pitchFamily="18" charset="0"/>
                          </a:rPr>
                          <m:t>𝑡</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𝑡</m:t>
                        </m:r>
                      </m:den>
                    </m:f>
                  </m:oMath>
                </a14:m>
                <a:r>
                  <a:rPr lang="en-US" sz="1800" dirty="0"/>
                  <a:t>     (equivalent to incremental averaging)</a:t>
                </a:r>
              </a:p>
            </p:txBody>
          </p:sp>
        </mc:Choice>
        <mc:Fallback xmlns="">
          <p:sp>
            <p:nvSpPr>
              <p:cNvPr id="3" name="Content Placeholder 2" descr="Regular conditions on the MDP apply (finite, gamma is less than 1, etc.). The observed TD error delta sub t equals R sub t plus 1, plus gamma V (S sub t plus 1) minus V (S sub t) is a noisy sample of the true difference. Convergence: Stochastic approximation theory guarantees convergence if the learning rate alpha decreases slowly enough. Then the updates V (S sub t) V (S sub t) plus alpha [R sub t plus 1, plus gamma V (S sub t plus 1) minus V (S sub t)] lead to an expected TD error of 0, i.e., the Bellman consistency conditions are met which means convergence. What is slow enough?. Example: alpha sub t equals 1 over t (equivalent to incremental averaging)">
                <a:extLst>
                  <a:ext uri="{FF2B5EF4-FFF2-40B4-BE49-F238E27FC236}">
                    <a16:creationId xmlns:a16="http://schemas.microsoft.com/office/drawing/2014/main" id="{F7F96BBE-14B2-B9B5-FA11-CD799C6C8550}"/>
                  </a:ext>
                </a:extLst>
              </p:cNvPr>
              <p:cNvSpPr>
                <a:spLocks noGrp="1" noRot="1" noChangeAspect="1" noMove="1" noResize="1" noEditPoints="1" noAdjustHandles="1" noChangeArrowheads="1" noChangeShapeType="1" noTextEdit="1"/>
              </p:cNvSpPr>
              <p:nvPr>
                <p:ph idx="1"/>
              </p:nvPr>
            </p:nvSpPr>
            <p:spPr>
              <a:xfrm>
                <a:off x="838200" y="1288280"/>
                <a:ext cx="10515600" cy="4779633"/>
              </a:xfrm>
              <a:blipFill>
                <a:blip r:embed="rId2"/>
                <a:stretch>
                  <a:fillRect l="-406" t="-1148" b="-10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descr="Robbins-Monro condition:. the sum over t equals 1 to infinity, of alpha sub t equals infinity and the sum over t equals 1 to infinity, of alpha sub t, to the power 2, is less than infinity">
                <a:extLst>
                  <a:ext uri="{FF2B5EF4-FFF2-40B4-BE49-F238E27FC236}">
                    <a16:creationId xmlns:a16="http://schemas.microsoft.com/office/drawing/2014/main" id="{3EA7F590-3C52-83FD-45F1-8275AFC4F785}"/>
                  </a:ext>
                </a:extLst>
              </p:cNvPr>
              <p:cNvSpPr txBox="1"/>
              <p:nvPr/>
            </p:nvSpPr>
            <p:spPr>
              <a:xfrm>
                <a:off x="4230122" y="4681336"/>
                <a:ext cx="3983011" cy="112460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US" b="1" dirty="0"/>
                  <a:t>Robbins-Monro condition</a:t>
                </a:r>
                <a:r>
                  <a:rPr lang="en-US" dirty="0"/>
                  <a:t>:</a:t>
                </a:r>
              </a:p>
              <a:p>
                <a:pPr/>
                <a14:m>
                  <m:oMathPara xmlns:m="http://schemas.openxmlformats.org/officeDocument/2006/math">
                    <m:oMath>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en-US" b="0" i="1" smtClean="0">
                              <a:latin typeface="Cambria Math" panose="02040503050406030204" pitchFamily="18" charset="0"/>
                            </a:rPr>
                            <m:t>=1</m:t>
                          </m:r>
                        </m:sub>
                        <m:sup>
                          <m:r>
                            <a:rPr lang="en-US" b="0" i="1" smtClean="0">
                              <a:latin typeface="Cambria Math" panose="02040503050406030204" pitchFamily="18" charset="0"/>
                            </a:rPr>
                            <m:t>∞</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𝑡</m:t>
                              </m:r>
                            </m:sub>
                          </m:sSub>
                        </m:e>
                      </m:nary>
                      <m:r>
                        <a:rPr lang="en-US" b="0" i="1" smtClean="0">
                          <a:latin typeface="Cambria Math" panose="02040503050406030204" pitchFamily="18" charset="0"/>
                        </a:rPr>
                        <m:t>=∞        </m:t>
                      </m:r>
                      <m:r>
                        <m:rPr>
                          <m:nor/>
                        </m:rPr>
                        <a:rPr lang="en-US" b="0" i="0" smtClean="0">
                          <a:latin typeface="Cambria Math" panose="02040503050406030204" pitchFamily="18" charset="0"/>
                        </a:rPr>
                        <m:t>and</m:t>
                      </m:r>
                      <m:r>
                        <a:rPr lang="en-US" b="0" i="1" smtClean="0">
                          <a:latin typeface="Cambria Math" panose="02040503050406030204" pitchFamily="18" charset="0"/>
                        </a:rPr>
                        <m:t>         </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=1</m:t>
                          </m:r>
                        </m:sub>
                        <m:sup>
                          <m:r>
                            <a:rPr lang="en-US" i="1">
                              <a:latin typeface="Cambria Math" panose="02040503050406030204" pitchFamily="18" charset="0"/>
                            </a:rPr>
                            <m:t>∞</m:t>
                          </m:r>
                        </m:sup>
                        <m:e>
                          <m:sSubSup>
                            <m:sSubSupPr>
                              <m:ctrlPr>
                                <a:rPr lang="en-US" i="1">
                                  <a:latin typeface="Cambria Math" panose="02040503050406030204" pitchFamily="18" charset="0"/>
                                </a:rPr>
                              </m:ctrlPr>
                            </m:sSubSupPr>
                            <m:e>
                              <m:r>
                                <a:rPr lang="en-US" i="1">
                                  <a:latin typeface="Cambria Math" panose="02040503050406030204" pitchFamily="18" charset="0"/>
                                </a:rPr>
                                <m:t>𝛼</m:t>
                              </m:r>
                            </m:e>
                            <m:sub>
                              <m:r>
                                <a:rPr lang="en-US" i="1">
                                  <a:latin typeface="Cambria Math" panose="02040503050406030204" pitchFamily="18" charset="0"/>
                                </a:rPr>
                                <m:t>𝑡</m:t>
                              </m:r>
                            </m:sub>
                            <m:sup>
                              <m:r>
                                <a:rPr lang="en-US" b="0" i="1" smtClean="0">
                                  <a:latin typeface="Cambria Math" panose="02040503050406030204" pitchFamily="18" charset="0"/>
                                </a:rPr>
                                <m:t>2</m:t>
                              </m:r>
                            </m:sup>
                          </m:sSubSup>
                        </m:e>
                      </m:nary>
                      <m:r>
                        <a:rPr lang="en-US" b="0" i="1" smtClean="0">
                          <a:latin typeface="Cambria Math" panose="02040503050406030204" pitchFamily="18" charset="0"/>
                        </a:rPr>
                        <m:t>&lt;</m:t>
                      </m:r>
                      <m:r>
                        <a:rPr lang="en-US" i="1">
                          <a:latin typeface="Cambria Math" panose="02040503050406030204" pitchFamily="18" charset="0"/>
                        </a:rPr>
                        <m:t>∞</m:t>
                      </m:r>
                    </m:oMath>
                  </m:oMathPara>
                </a14:m>
                <a:endParaRPr lang="en-US" dirty="0"/>
              </a:p>
            </p:txBody>
          </p:sp>
        </mc:Choice>
        <mc:Fallback xmlns="">
          <p:sp>
            <p:nvSpPr>
              <p:cNvPr id="6" name="TextBox 5" descr="Robbins-Monro condition:. the sum over t equals 1 to infinity, of alpha sub t equals infinity and the sum over t equals 1 to infinity, of alpha sub t, to the power 2, is less than infinity">
                <a:extLst>
                  <a:ext uri="{FF2B5EF4-FFF2-40B4-BE49-F238E27FC236}">
                    <a16:creationId xmlns:a16="http://schemas.microsoft.com/office/drawing/2014/main" id="{3EA7F590-3C52-83FD-45F1-8275AFC4F785}"/>
                  </a:ext>
                </a:extLst>
              </p:cNvPr>
              <p:cNvSpPr txBox="1">
                <a:spLocks noRot="1" noChangeAspect="1" noMove="1" noResize="1" noEditPoints="1" noAdjustHandles="1" noChangeArrowheads="1" noChangeShapeType="1" noTextEdit="1"/>
              </p:cNvSpPr>
              <p:nvPr/>
            </p:nvSpPr>
            <p:spPr>
              <a:xfrm>
                <a:off x="4230122" y="4681336"/>
                <a:ext cx="3983011" cy="1124603"/>
              </a:xfrm>
              <a:prstGeom prst="rect">
                <a:avLst/>
              </a:prstGeom>
              <a:blipFill>
                <a:blip r:embed="rId3"/>
                <a:stretch>
                  <a:fillRect l="-1220" t="-21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Speech Bubble: Rectangle with Corners Rounded 6" descr="alpha never becomes 0 = keeps learning forever">
                <a:extLst>
                  <a:ext uri="{FF2B5EF4-FFF2-40B4-BE49-F238E27FC236}">
                    <a16:creationId xmlns:a16="http://schemas.microsoft.com/office/drawing/2014/main" id="{D7D45EEA-1908-E049-EF9E-508670B0AA5C}"/>
                  </a:ext>
                </a:extLst>
              </p:cNvPr>
              <p:cNvSpPr/>
              <p:nvPr/>
            </p:nvSpPr>
            <p:spPr>
              <a:xfrm>
                <a:off x="1707328" y="5264098"/>
                <a:ext cx="2048969" cy="625337"/>
              </a:xfrm>
              <a:prstGeom prst="wedgeRoundRectCallout">
                <a:avLst>
                  <a:gd name="adj1" fmla="val 81904"/>
                  <a:gd name="adj2" fmla="val -2838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1400" b="0" i="1" smtClean="0">
                        <a:latin typeface="Cambria Math" panose="02040503050406030204" pitchFamily="18" charset="0"/>
                      </a:rPr>
                      <m:t>𝛼</m:t>
                    </m:r>
                    <m:r>
                      <a:rPr lang="en-US" sz="1400" b="0" i="1" smtClean="0">
                        <a:latin typeface="Cambria Math" panose="02040503050406030204" pitchFamily="18" charset="0"/>
                      </a:rPr>
                      <m:t> </m:t>
                    </m:r>
                  </m:oMath>
                </a14:m>
                <a:r>
                  <a:rPr lang="en-US" sz="1400" dirty="0"/>
                  <a:t>never becomes 0 = keeps learning forever</a:t>
                </a:r>
              </a:p>
            </p:txBody>
          </p:sp>
        </mc:Choice>
        <mc:Fallback xmlns="">
          <p:sp>
            <p:nvSpPr>
              <p:cNvPr id="7" name="Speech Bubble: Rectangle with Corners Rounded 6" descr="alpha never becomes 0 = keeps learning forever">
                <a:extLst>
                  <a:ext uri="{FF2B5EF4-FFF2-40B4-BE49-F238E27FC236}">
                    <a16:creationId xmlns:a16="http://schemas.microsoft.com/office/drawing/2014/main" id="{D7D45EEA-1908-E049-EF9E-508670B0AA5C}"/>
                  </a:ext>
                </a:extLst>
              </p:cNvPr>
              <p:cNvSpPr>
                <a:spLocks noRot="1" noChangeAspect="1" noMove="1" noResize="1" noEditPoints="1" noAdjustHandles="1" noChangeArrowheads="1" noChangeShapeType="1" noTextEdit="1"/>
              </p:cNvSpPr>
              <p:nvPr/>
            </p:nvSpPr>
            <p:spPr>
              <a:xfrm>
                <a:off x="1707328" y="5264098"/>
                <a:ext cx="2048969" cy="625337"/>
              </a:xfrm>
              <a:prstGeom prst="wedgeRoundRectCallout">
                <a:avLst>
                  <a:gd name="adj1" fmla="val 81904"/>
                  <a:gd name="adj2" fmla="val -28387"/>
                  <a:gd name="adj3" fmla="val 16667"/>
                </a:avLst>
              </a:prstGeom>
              <a:blipFill>
                <a:blip r:embed="rId4"/>
                <a:stretch>
                  <a:fillRect/>
                </a:stretch>
              </a:blipFill>
            </p:spPr>
            <p:txBody>
              <a:bodyPr/>
              <a:lstStyle/>
              <a:p>
                <a:r>
                  <a:rPr lang="en-US">
                    <a:noFill/>
                  </a:rPr>
                  <a:t> </a:t>
                </a:r>
              </a:p>
            </p:txBody>
          </p:sp>
        </mc:Fallback>
      </mc:AlternateContent>
      <p:sp>
        <p:nvSpPr>
          <p:cNvPr id="8" name="Speech Bubble: Rectangle with Corners Rounded 7">
            <a:extLst>
              <a:ext uri="{FF2B5EF4-FFF2-40B4-BE49-F238E27FC236}">
                <a16:creationId xmlns:a16="http://schemas.microsoft.com/office/drawing/2014/main" id="{206798B7-F5CB-6720-EE3C-47D8E1C38EBF}"/>
              </a:ext>
            </a:extLst>
          </p:cNvPr>
          <p:cNvSpPr/>
          <p:nvPr/>
        </p:nvSpPr>
        <p:spPr>
          <a:xfrm>
            <a:off x="8641653" y="4789189"/>
            <a:ext cx="2599545" cy="978192"/>
          </a:xfrm>
          <a:prstGeom prst="wedgeRoundRectCallout">
            <a:avLst>
              <a:gd name="adj1" fmla="val -73535"/>
              <a:gd name="adj2" fmla="val 1237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step sizes shrink fast enough so that the random noise in the measurements eventually averages out.</a:t>
            </a:r>
          </a:p>
        </p:txBody>
      </p:sp>
    </p:spTree>
    <p:extLst>
      <p:ext uri="{BB962C8B-B14F-4D97-AF65-F5344CB8AC3E}">
        <p14:creationId xmlns:p14="http://schemas.microsoft.com/office/powerpoint/2010/main" val="3501459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11095-5FFA-CC66-454C-D10676BA2F93}"/>
              </a:ext>
            </a:extLst>
          </p:cNvPr>
          <p:cNvSpPr>
            <a:spLocks noGrp="1"/>
          </p:cNvSpPr>
          <p:nvPr>
            <p:ph type="title"/>
          </p:nvPr>
        </p:nvSpPr>
        <p:spPr/>
        <p:txBody>
          <a:bodyPr/>
          <a:lstStyle/>
          <a:p>
            <a:r>
              <a:rPr lang="en-US" dirty="0"/>
              <a:t>Advantages of TD Prediction Methods</a:t>
            </a:r>
          </a:p>
        </p:txBody>
      </p:sp>
      <mc:AlternateContent xmlns:mc="http://schemas.openxmlformats.org/markup-compatibility/2006" xmlns:a14="http://schemas.microsoft.com/office/drawing/2010/main">
        <mc:Choice Requires="a14">
          <p:sp>
            <p:nvSpPr>
              <p:cNvPr id="3" name="Content Placeholder 2" descr="True online updates: Updates at each step. Bootstraps using estimate V(S prime) for the value of V(S) . The estimate is biased. Model-free: Only needs samples. DP needs the transition probabilities!. Convergence: Converges typically faster than MC prediction. Reasons:. Less variance: Stochasticity in the environment produces large variance in the return of sampled episodes used by MC, but TD only samples the next reward and state. More frequent updates">
                <a:extLst>
                  <a:ext uri="{FF2B5EF4-FFF2-40B4-BE49-F238E27FC236}">
                    <a16:creationId xmlns:a16="http://schemas.microsoft.com/office/drawing/2014/main" id="{D1651C54-F857-A543-AF9A-0826AE484DCE}"/>
                  </a:ext>
                </a:extLst>
              </p:cNvPr>
              <p:cNvSpPr>
                <a:spLocks noGrp="1"/>
              </p:cNvSpPr>
              <p:nvPr>
                <p:ph idx="1"/>
              </p:nvPr>
            </p:nvSpPr>
            <p:spPr>
              <a:xfrm>
                <a:off x="838200" y="1397330"/>
                <a:ext cx="6979170" cy="4779633"/>
              </a:xfrm>
            </p:spPr>
            <p:txBody>
              <a:bodyPr>
                <a:normAutofit lnSpcReduction="10000"/>
              </a:bodyPr>
              <a:lstStyle/>
              <a:p>
                <a:r>
                  <a:rPr lang="en-US" sz="2400" b="1" dirty="0"/>
                  <a:t>True online updates: </a:t>
                </a:r>
                <a:r>
                  <a:rPr lang="en-US" sz="2400" dirty="0"/>
                  <a:t>Updates at each step. Bootstraps using estimate </a:t>
                </a:r>
                <a14:m>
                  <m:oMath xmlns:m="http://schemas.openxmlformats.org/officeDocument/2006/math">
                    <m:r>
                      <m:rPr>
                        <m:sty m:val="p"/>
                      </m:rPr>
                      <a:rPr lang="en-US" sz="2400" b="0" i="0" smtClean="0">
                        <a:latin typeface="Cambria Math" panose="02040503050406030204" pitchFamily="18" charset="0"/>
                      </a:rPr>
                      <m:t>V</m:t>
                    </m:r>
                    <m:r>
                      <a:rPr lang="en-US" sz="2400" b="0" i="0"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𝑆</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oMath>
                </a14:m>
                <a:r>
                  <a:rPr lang="en-US" sz="2400" dirty="0"/>
                  <a:t> for the value of </a:t>
                </a:r>
                <a14:m>
                  <m:oMath xmlns:m="http://schemas.openxmlformats.org/officeDocument/2006/math">
                    <m:r>
                      <a:rPr lang="en-US" sz="2400" b="0" i="1" smtClean="0">
                        <a:latin typeface="Cambria Math" panose="02040503050406030204" pitchFamily="18" charset="0"/>
                      </a:rPr>
                      <m:t>𝑉</m:t>
                    </m:r>
                    <m:r>
                      <a:rPr lang="en-US" sz="2400" b="0" i="1" smtClean="0">
                        <a:latin typeface="Cambria Math" panose="02040503050406030204" pitchFamily="18" charset="0"/>
                      </a:rPr>
                      <m:t>(</m:t>
                    </m:r>
                    <m:r>
                      <a:rPr lang="en-US" sz="2400" b="0" i="1" smtClean="0">
                        <a:latin typeface="Cambria Math" panose="02040503050406030204" pitchFamily="18" charset="0"/>
                      </a:rPr>
                      <m:t>𝑆</m:t>
                    </m:r>
                    <m:r>
                      <a:rPr lang="en-US" sz="2400" b="0" i="1" smtClean="0">
                        <a:latin typeface="Cambria Math" panose="02040503050406030204" pitchFamily="18" charset="0"/>
                      </a:rPr>
                      <m:t>)</m:t>
                    </m:r>
                  </m:oMath>
                </a14:m>
                <a:r>
                  <a:rPr lang="en-US" sz="2400" dirty="0"/>
                  <a:t>. The estimate is biased.</a:t>
                </a:r>
                <a:br>
                  <a:rPr lang="en-US" sz="2400" dirty="0"/>
                </a:br>
                <a:endParaRPr lang="en-US" sz="2400" dirty="0"/>
              </a:p>
              <a:p>
                <a:r>
                  <a:rPr lang="en-US" sz="2400" b="1" dirty="0"/>
                  <a:t>Model-free:</a:t>
                </a:r>
                <a:r>
                  <a:rPr lang="en-US" sz="2400" dirty="0"/>
                  <a:t> Only needs samples.</a:t>
                </a:r>
                <a:br>
                  <a:rPr lang="en-US" sz="2400" dirty="0"/>
                </a:br>
                <a:r>
                  <a:rPr lang="en-US" sz="2400" dirty="0"/>
                  <a:t>DP needs the transition probabilities!</a:t>
                </a:r>
              </a:p>
              <a:p>
                <a:endParaRPr lang="en-US" sz="2400" b="1" dirty="0"/>
              </a:p>
              <a:p>
                <a:r>
                  <a:rPr lang="en-US" sz="2400" b="1" dirty="0"/>
                  <a:t>Convergence</a:t>
                </a:r>
                <a:r>
                  <a:rPr lang="en-US" sz="2400" dirty="0"/>
                  <a:t>: Converges typically faster than MC prediction. Reasons: </a:t>
                </a:r>
              </a:p>
              <a:p>
                <a:pPr lvl="1"/>
                <a:r>
                  <a:rPr lang="en-US" sz="2000" dirty="0"/>
                  <a:t>Less variance: Stochasticity in the environment produces large variance in the return of sampled episodes used by MC, but TD only samples the next reward and state.</a:t>
                </a:r>
              </a:p>
              <a:p>
                <a:pPr lvl="1"/>
                <a:r>
                  <a:rPr lang="en-US" sz="2000" dirty="0"/>
                  <a:t>More frequent updates.</a:t>
                </a:r>
              </a:p>
            </p:txBody>
          </p:sp>
        </mc:Choice>
        <mc:Fallback xmlns="">
          <p:sp>
            <p:nvSpPr>
              <p:cNvPr id="3" name="Content Placeholder 2" descr="True online updates: Updates at each step. Bootstraps using estimate V(S prime) for the value of V(S) . The estimate is biased. Model-free: Only needs samples. DP needs the transition probabilities!. Convergence: Converges typically faster than MC prediction. Reasons:. Less variance: Stochasticity in the environment produces large variance in the return of sampled episodes used by MC, but TD only samples the next reward and state. More frequent updates">
                <a:extLst>
                  <a:ext uri="{FF2B5EF4-FFF2-40B4-BE49-F238E27FC236}">
                    <a16:creationId xmlns:a16="http://schemas.microsoft.com/office/drawing/2014/main" id="{D1651C54-F857-A543-AF9A-0826AE484DCE}"/>
                  </a:ext>
                </a:extLst>
              </p:cNvPr>
              <p:cNvSpPr>
                <a:spLocks noGrp="1" noRot="1" noChangeAspect="1" noMove="1" noResize="1" noEditPoints="1" noAdjustHandles="1" noChangeArrowheads="1" noChangeShapeType="1" noTextEdit="1"/>
              </p:cNvSpPr>
              <p:nvPr>
                <p:ph idx="1"/>
              </p:nvPr>
            </p:nvSpPr>
            <p:spPr>
              <a:xfrm>
                <a:off x="838200" y="1397330"/>
                <a:ext cx="6979170" cy="4779633"/>
              </a:xfrm>
              <a:blipFill>
                <a:blip r:embed="rId2"/>
                <a:stretch>
                  <a:fillRect l="-1224" t="-2296" r="-157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982524D-1B81-6E5C-18C1-DBB7E0D8A0A5}"/>
              </a:ext>
            </a:extLst>
          </p:cNvPr>
          <p:cNvSpPr txBox="1"/>
          <p:nvPr/>
        </p:nvSpPr>
        <p:spPr>
          <a:xfrm>
            <a:off x="8259580" y="1384631"/>
            <a:ext cx="3094220"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panose="020B0604020202020204" pitchFamily="34" charset="0"/>
              <a:buChar char="•"/>
            </a:pPr>
            <a:r>
              <a:rPr lang="en-US" dirty="0"/>
              <a:t>DP plans using the model </a:t>
            </a:r>
          </a:p>
          <a:p>
            <a:pPr marL="285750" indent="-285750">
              <a:buFont typeface="Arial" panose="020B0604020202020204" pitchFamily="34" charset="0"/>
              <a:buChar char="•"/>
            </a:pPr>
            <a:r>
              <a:rPr lang="en-US" dirty="0"/>
              <a:t>MC waits for the end of the episode for an unbiased estimate.</a:t>
            </a:r>
          </a:p>
        </p:txBody>
      </p:sp>
      <p:sp>
        <p:nvSpPr>
          <p:cNvPr id="5" name="TextBox 4">
            <a:extLst>
              <a:ext uri="{FF2B5EF4-FFF2-40B4-BE49-F238E27FC236}">
                <a16:creationId xmlns:a16="http://schemas.microsoft.com/office/drawing/2014/main" id="{9B889EF6-8763-7A9F-2E35-A0EF475053D8}"/>
              </a:ext>
            </a:extLst>
          </p:cNvPr>
          <p:cNvSpPr txBox="1"/>
          <p:nvPr/>
        </p:nvSpPr>
        <p:spPr>
          <a:xfrm>
            <a:off x="8259580" y="2912505"/>
            <a:ext cx="309422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panose="020B0604020202020204" pitchFamily="34" charset="0"/>
              <a:buChar char="•"/>
            </a:pPr>
            <a:r>
              <a:rPr lang="en-US" dirty="0"/>
              <a:t>Same as MC</a:t>
            </a:r>
          </a:p>
          <a:p>
            <a:pPr marL="285750" indent="-285750">
              <a:buFont typeface="Arial" panose="020B0604020202020204" pitchFamily="34" charset="0"/>
              <a:buChar char="•"/>
            </a:pPr>
            <a:r>
              <a:rPr lang="en-US" dirty="0"/>
              <a:t>DP needs the model</a:t>
            </a:r>
          </a:p>
        </p:txBody>
      </p:sp>
    </p:spTree>
    <p:extLst>
      <p:ext uri="{BB962C8B-B14F-4D97-AF65-F5344CB8AC3E}">
        <p14:creationId xmlns:p14="http://schemas.microsoft.com/office/powerpoint/2010/main" val="1388214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CD6C69-A73D-CF25-463F-EC940FC0F12F}"/>
              </a:ext>
            </a:extLst>
          </p:cNvPr>
          <p:cNvSpPr>
            <a:spLocks noGrp="1"/>
          </p:cNvSpPr>
          <p:nvPr>
            <p:ph type="title"/>
          </p:nvPr>
        </p:nvSpPr>
        <p:spPr/>
        <p:txBody>
          <a:bodyPr/>
          <a:lstStyle/>
          <a:p>
            <a:r>
              <a:rPr lang="en-US" dirty="0"/>
              <a:t>On-Policy TD Control: </a:t>
            </a:r>
            <a:br>
              <a:rPr lang="en-US" dirty="0"/>
            </a:br>
            <a:r>
              <a:rPr lang="en-US" dirty="0"/>
              <a:t>Sarsa</a:t>
            </a:r>
          </a:p>
        </p:txBody>
      </p:sp>
      <p:sp>
        <p:nvSpPr>
          <p:cNvPr id="5" name="Text Placeholder 4">
            <a:extLst>
              <a:ext uri="{FF2B5EF4-FFF2-40B4-BE49-F238E27FC236}">
                <a16:creationId xmlns:a16="http://schemas.microsoft.com/office/drawing/2014/main" id="{B50B5B47-1AC0-4A21-D15D-1F7142A40271}"/>
              </a:ext>
            </a:extLst>
          </p:cNvPr>
          <p:cNvSpPr>
            <a:spLocks noGrp="1"/>
          </p:cNvSpPr>
          <p:nvPr>
            <p:ph type="body" idx="1"/>
          </p:nvPr>
        </p:nvSpPr>
        <p:spPr/>
        <p:txBody>
          <a:bodyPr/>
          <a:lstStyle/>
          <a:p>
            <a:r>
              <a:rPr lang="en-US" dirty="0"/>
              <a:t>Find a good policy online while you follow the policy.</a:t>
            </a:r>
          </a:p>
        </p:txBody>
      </p:sp>
    </p:spTree>
    <p:extLst>
      <p:ext uri="{BB962C8B-B14F-4D97-AF65-F5344CB8AC3E}">
        <p14:creationId xmlns:p14="http://schemas.microsoft.com/office/powerpoint/2010/main" val="1896183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17A85-AD27-D78C-6EE7-8EFC9C60F78B}"/>
              </a:ext>
            </a:extLst>
          </p:cNvPr>
          <p:cNvSpPr>
            <a:spLocks noGrp="1"/>
          </p:cNvSpPr>
          <p:nvPr>
            <p:ph type="title"/>
          </p:nvPr>
        </p:nvSpPr>
        <p:spPr/>
        <p:txBody>
          <a:bodyPr/>
          <a:lstStyle/>
          <a:p>
            <a:r>
              <a:rPr lang="en-US" dirty="0"/>
              <a:t>Sarsa</a:t>
            </a:r>
          </a:p>
        </p:txBody>
      </p:sp>
      <p:grpSp>
        <p:nvGrpSpPr>
          <p:cNvPr id="17" name="Group 16" descr="Generalized policy iteration with action values: an evaluation arrow from pi to Q, labelled Q goes to q pi, and an improvement arrow from Q back to pi, labelled pi goes to greedy(Q). Labels: GPI; pi squiggly right arrow epsilon minus greedy(Q); TD prediction.">
            <a:extLst>
              <a:ext uri="{FF2B5EF4-FFF2-40B4-BE49-F238E27FC236}">
                <a16:creationId xmlns:a16="http://schemas.microsoft.com/office/drawing/2014/main" id="{23E3716E-AE83-7DB8-4ED0-8762F896EB02}"/>
              </a:ext>
            </a:extLst>
          </p:cNvPr>
          <p:cNvGrpSpPr/>
          <p:nvPr/>
        </p:nvGrpSpPr>
        <p:grpSpPr>
          <a:xfrm>
            <a:off x="9576769" y="162195"/>
            <a:ext cx="2310430" cy="2154506"/>
            <a:chOff x="9576769" y="162195"/>
            <a:chExt cx="2310430" cy="2154506"/>
          </a:xfrm>
        </p:grpSpPr>
        <p:grpSp>
          <p:nvGrpSpPr>
            <p:cNvPr id="4" name="Group 3" descr="Generalized policy iteration with action values: an evaluation arrow from pi to Q, labelled Q goes to q pi, and an improvement arrow from Q back to pi, labelled pi goes to greedy(Q). Labels: GPI.">
              <a:extLst>
                <a:ext uri="{FF2B5EF4-FFF2-40B4-BE49-F238E27FC236}">
                  <a16:creationId xmlns:a16="http://schemas.microsoft.com/office/drawing/2014/main" id="{834ACF09-360E-2E24-9C97-07D69E85A4F4}"/>
                </a:ext>
              </a:extLst>
            </p:cNvPr>
            <p:cNvGrpSpPr/>
            <p:nvPr/>
          </p:nvGrpSpPr>
          <p:grpSpPr>
            <a:xfrm>
              <a:off x="9576769" y="204828"/>
              <a:ext cx="2310430" cy="2111873"/>
              <a:chOff x="8990601" y="218543"/>
              <a:chExt cx="3001301" cy="2828670"/>
            </a:xfrm>
          </p:grpSpPr>
          <p:pic>
            <p:nvPicPr>
              <p:cNvPr id="5" name="Content Placeholder 4" descr="Generalized policy iteration with action values: an evaluation arrow from pi to Q, labelled Q goes to q pi, and an improvement arrow from Q back to pi, labelled pi goes to greedy(Q).">
                <a:extLst>
                  <a:ext uri="{FF2B5EF4-FFF2-40B4-BE49-F238E27FC236}">
                    <a16:creationId xmlns:a16="http://schemas.microsoft.com/office/drawing/2014/main" id="{14459B7C-6F39-0B15-A90A-5AC1F819BC03}"/>
                  </a:ext>
                </a:extLst>
              </p:cNvPr>
              <p:cNvPicPr>
                <a:picLocks noChangeAspect="1"/>
              </p:cNvPicPr>
              <p:nvPr/>
            </p:nvPicPr>
            <p:blipFill>
              <a:blip r:embed="rId2"/>
              <a:stretch>
                <a:fillRect/>
              </a:stretch>
            </p:blipFill>
            <p:spPr>
              <a:xfrm>
                <a:off x="8990601" y="218543"/>
                <a:ext cx="2936007" cy="2828670"/>
              </a:xfrm>
              <a:prstGeom prst="rect">
                <a:avLst/>
              </a:prstGeom>
            </p:spPr>
          </p:pic>
          <p:sp>
            <p:nvSpPr>
              <p:cNvPr id="6" name="TextBox 5">
                <a:extLst>
                  <a:ext uri="{FF2B5EF4-FFF2-40B4-BE49-F238E27FC236}">
                    <a16:creationId xmlns:a16="http://schemas.microsoft.com/office/drawing/2014/main" id="{915FDFB7-32DA-E7BC-97BA-735B16C98EB2}"/>
                  </a:ext>
                </a:extLst>
              </p:cNvPr>
              <p:cNvSpPr txBox="1"/>
              <p:nvPr/>
            </p:nvSpPr>
            <p:spPr>
              <a:xfrm>
                <a:off x="10107262" y="1309193"/>
                <a:ext cx="687748" cy="453464"/>
              </a:xfrm>
              <a:prstGeom prst="rect">
                <a:avLst/>
              </a:prstGeom>
              <a:solidFill>
                <a:srgbClr val="C35115"/>
              </a:solidFill>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sz="1600" dirty="0"/>
                  <a:t>GPI</a:t>
                </a:r>
              </a:p>
            </p:txBody>
          </p:sp>
          <p:sp>
            <p:nvSpPr>
              <p:cNvPr id="7" name="Rectangle 6">
                <a:extLst>
                  <a:ext uri="{FF2B5EF4-FFF2-40B4-BE49-F238E27FC236}">
                    <a16:creationId xmlns:a16="http://schemas.microsoft.com/office/drawing/2014/main" id="{54C9C71F-1C03-4588-F4B8-107859426DCC}"/>
                  </a:ext>
                  <a:ext uri="{C183D7F6-B498-43B3-948B-1728B52AA6E4}">
                    <adec:decorative xmlns:adec="http://schemas.microsoft.com/office/drawing/2017/decorative" val="1"/>
                  </a:ext>
                </a:extLst>
              </p:cNvPr>
              <p:cNvSpPr/>
              <p:nvPr/>
            </p:nvSpPr>
            <p:spPr>
              <a:xfrm>
                <a:off x="8990601" y="218543"/>
                <a:ext cx="3001301" cy="2727081"/>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
          <p:nvSpPr>
            <p:cNvPr id="15" name="Rectangle 14">
              <a:extLst>
                <a:ext uri="{FF2B5EF4-FFF2-40B4-BE49-F238E27FC236}">
                  <a16:creationId xmlns:a16="http://schemas.microsoft.com/office/drawing/2014/main" id="{97728C36-F1AD-136E-4EFA-48BBFE00FDC6}"/>
                </a:ext>
                <a:ext uri="{C183D7F6-B498-43B3-948B-1728B52AA6E4}">
                  <adec:decorative xmlns:adec="http://schemas.microsoft.com/office/drawing/2017/decorative" val="1"/>
                </a:ext>
              </a:extLst>
            </p:cNvPr>
            <p:cNvSpPr/>
            <p:nvPr/>
          </p:nvSpPr>
          <p:spPr>
            <a:xfrm>
              <a:off x="10088381" y="242303"/>
              <a:ext cx="1304144" cy="1889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84A226A4-3DFB-FDA8-464F-70254B5B0100}"/>
                </a:ext>
                <a:ext uri="{C183D7F6-B498-43B3-948B-1728B52AA6E4}">
                  <adec:decorative xmlns:adec="http://schemas.microsoft.com/office/drawing/2017/decorative" val="1"/>
                </a:ext>
              </a:extLst>
            </p:cNvPr>
            <p:cNvCxnSpPr>
              <a:cxnSpLocks/>
            </p:cNvCxnSpPr>
            <p:nvPr/>
          </p:nvCxnSpPr>
          <p:spPr>
            <a:xfrm flipH="1">
              <a:off x="10196205" y="1556334"/>
              <a:ext cx="978962" cy="171999"/>
            </a:xfrm>
            <a:prstGeom prst="line">
              <a:avLst/>
            </a:prstGeom>
            <a:ln>
              <a:solidFill>
                <a:schemeClr val="accent3"/>
              </a:solidFill>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1" name="TextBox 10" descr="Equation: pi squiggly right arrow epsilon minus greedy(Q)">
                  <a:extLst>
                    <a:ext uri="{FF2B5EF4-FFF2-40B4-BE49-F238E27FC236}">
                      <a16:creationId xmlns:a16="http://schemas.microsoft.com/office/drawing/2014/main" id="{6AC63F2E-A27F-1CB1-63AC-C1EF1A124D1E}"/>
                    </a:ext>
                  </a:extLst>
                </p:cNvPr>
                <p:cNvSpPr txBox="1"/>
                <p:nvPr/>
              </p:nvSpPr>
              <p:spPr>
                <a:xfrm>
                  <a:off x="9777369" y="1338544"/>
                  <a:ext cx="1733565" cy="276999"/>
                </a:xfrm>
                <a:prstGeom prst="rect">
                  <a:avLst/>
                </a:prstGeom>
                <a:noFill/>
              </p:spPr>
              <p:txBody>
                <a:bodyPr wrap="square" rtlCol="0">
                  <a:spAutoFit/>
                </a:bodyPr>
                <a:lstStyle/>
                <a:p>
                  <a:pPr/>
                  <a14:m>
                    <m:oMathPara xmlns:m="http://schemas.openxmlformats.org/officeDocument/2006/math">
                      <m:oMath>
                        <m:r>
                          <m:rPr>
                            <m:sty m:val="p"/>
                          </m:rPr>
                          <a:rPr lang="en-US" sz="1200" b="0" i="1" smtClean="0">
                            <a:solidFill>
                              <a:schemeClr val="accent3"/>
                            </a:solidFill>
                            <a:latin typeface="Cambria Math" panose="02040503050406030204" pitchFamily="18" charset="0"/>
                          </a:rPr>
                          <m:t>π</m:t>
                        </m:r>
                        <m:r>
                          <a:rPr lang="en-US" sz="1200" b="0" i="1" smtClean="0">
                            <a:solidFill>
                              <a:schemeClr val="accent3"/>
                            </a:solidFill>
                            <a:latin typeface="Cambria Math" panose="02040503050406030204" pitchFamily="18" charset="0"/>
                            <a:ea typeface="Cambria Math" panose="02040503050406030204" pitchFamily="18" charset="0"/>
                          </a:rPr>
                          <m:t>⇝</m:t>
                        </m:r>
                        <m:r>
                          <m:rPr>
                            <m:nor/>
                          </m:rPr>
                          <a:rPr lang="en-US" sz="1200" b="0" i="0" smtClean="0">
                            <a:solidFill>
                              <a:schemeClr val="accent3"/>
                            </a:solidFill>
                            <a:latin typeface="Cambria Math" panose="02040503050406030204" pitchFamily="18" charset="0"/>
                            <a:ea typeface="Cambria Math" panose="02040503050406030204" pitchFamily="18" charset="0"/>
                          </a:rPr>
                          <m:t> </m:t>
                        </m:r>
                        <m:r>
                          <m:rPr>
                            <m:sty m:val="p"/>
                          </m:rPr>
                          <a:rPr lang="en-US" sz="1200" b="0" i="1" smtClean="0">
                            <a:solidFill>
                              <a:schemeClr val="accent3"/>
                            </a:solidFill>
                            <a:latin typeface="Cambria Math" panose="02040503050406030204" pitchFamily="18" charset="0"/>
                            <a:ea typeface="Cambria Math" panose="02040503050406030204" pitchFamily="18" charset="0"/>
                          </a:rPr>
                          <m:t>ϵ</m:t>
                        </m:r>
                        <m:r>
                          <m:rPr>
                            <m:nor/>
                          </m:rPr>
                          <a:rPr lang="en-US" sz="1200" b="0" i="0" smtClean="0">
                            <a:solidFill>
                              <a:schemeClr val="accent3"/>
                            </a:solidFill>
                            <a:latin typeface="Cambria Math" panose="02040503050406030204" pitchFamily="18" charset="0"/>
                            <a:ea typeface="Cambria Math" panose="02040503050406030204" pitchFamily="18" charset="0"/>
                          </a:rPr>
                          <m:t>−</m:t>
                        </m:r>
                        <m:r>
                          <m:rPr>
                            <m:nor/>
                          </m:rPr>
                          <a:rPr lang="en-US" sz="1200" b="0" i="0" smtClean="0">
                            <a:solidFill>
                              <a:schemeClr val="accent3"/>
                            </a:solidFill>
                            <a:latin typeface="Cambria Math" panose="02040503050406030204" pitchFamily="18" charset="0"/>
                          </a:rPr>
                          <m:t>greedy</m:t>
                        </m:r>
                        <m:r>
                          <a:rPr lang="en-US" sz="1200" b="0" i="1" smtClean="0">
                            <a:solidFill>
                              <a:schemeClr val="accent3"/>
                            </a:solidFill>
                            <a:latin typeface="Cambria Math" panose="02040503050406030204" pitchFamily="18" charset="0"/>
                          </a:rPr>
                          <m:t>(</m:t>
                        </m:r>
                        <m:r>
                          <a:rPr lang="en-US" sz="1200" b="0" i="1" smtClean="0">
                            <a:solidFill>
                              <a:schemeClr val="accent3"/>
                            </a:solidFill>
                            <a:latin typeface="Cambria Math" panose="02040503050406030204" pitchFamily="18" charset="0"/>
                          </a:rPr>
                          <m:t>𝑄</m:t>
                        </m:r>
                        <m:r>
                          <a:rPr lang="en-US" sz="1200" b="0" i="1" smtClean="0">
                            <a:solidFill>
                              <a:schemeClr val="accent3"/>
                            </a:solidFill>
                            <a:latin typeface="Cambria Math" panose="02040503050406030204" pitchFamily="18" charset="0"/>
                          </a:rPr>
                          <m:t>)</m:t>
                        </m:r>
                      </m:oMath>
                    </m:oMathPara>
                  </a14:m>
                  <a:endParaRPr lang="en-US" sz="1200" dirty="0">
                    <a:solidFill>
                      <a:schemeClr val="accent3"/>
                    </a:solidFill>
                  </a:endParaRPr>
                </a:p>
              </p:txBody>
            </p:sp>
          </mc:Choice>
          <mc:Fallback xmlns="">
            <p:sp>
              <p:nvSpPr>
                <p:cNvPr id="11" name="TextBox 10" descr="Equation: pi squiggly right arrow epsilon minus greedy(Q)">
                  <a:extLst>
                    <a:ext uri="{FF2B5EF4-FFF2-40B4-BE49-F238E27FC236}">
                      <a16:creationId xmlns:a16="http://schemas.microsoft.com/office/drawing/2014/main" id="{6AC63F2E-A27F-1CB1-63AC-C1EF1A124D1E}"/>
                    </a:ext>
                  </a:extLst>
                </p:cNvPr>
                <p:cNvSpPr txBox="1">
                  <a:spLocks noRot="1" noChangeAspect="1" noMove="1" noResize="1" noEditPoints="1" noAdjustHandles="1" noChangeArrowheads="1" noChangeShapeType="1" noTextEdit="1"/>
                </p:cNvSpPr>
                <p:nvPr/>
              </p:nvSpPr>
              <p:spPr>
                <a:xfrm>
                  <a:off x="9777369" y="1338544"/>
                  <a:ext cx="1733565" cy="276999"/>
                </a:xfrm>
                <a:prstGeom prst="rect">
                  <a:avLst/>
                </a:prstGeom>
                <a:blipFill>
                  <a:blip r:embed="rId4"/>
                  <a:stretch>
                    <a:fillRect b="-8889"/>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2BC74A6F-1E51-0870-42BE-148CFD641243}"/>
                </a:ext>
              </a:extLst>
            </p:cNvPr>
            <p:cNvSpPr txBox="1"/>
            <p:nvPr/>
          </p:nvSpPr>
          <p:spPr>
            <a:xfrm>
              <a:off x="9893509" y="162195"/>
              <a:ext cx="1733565" cy="369332"/>
            </a:xfrm>
            <a:prstGeom prst="rect">
              <a:avLst/>
            </a:prstGeom>
            <a:noFill/>
          </p:spPr>
          <p:txBody>
            <a:bodyPr wrap="square" rtlCol="0">
              <a:spAutoFit/>
            </a:bodyPr>
            <a:lstStyle/>
            <a:p>
              <a:r>
                <a:rPr lang="en-US" b="1" dirty="0">
                  <a:solidFill>
                    <a:schemeClr val="accent3"/>
                  </a:solidFill>
                </a:rPr>
                <a:t>TD prediction</a:t>
              </a:r>
            </a:p>
          </p:txBody>
        </p:sp>
      </p:grpSp>
      <mc:AlternateContent xmlns:mc="http://schemas.openxmlformats.org/markup-compatibility/2006" xmlns:a14="http://schemas.microsoft.com/office/drawing/2010/main">
        <mc:Choice Requires="a14">
          <p:sp>
            <p:nvSpPr>
              <p:cNvPr id="3" name="Content Placeholder 2" descr="Idea: Use GPI with TD prediction for policy evaluation. Exploration is guaranteed by learning a soft policy. TD Evaluation: Estimate q sub pi (s,a) using a Q -table with updates:. Q (S sub t,A sub t) Q (S sub t,A sub t) plus alpha [R sub t plus 1, plus gamma Q (S sub t plus 1,A sub t plus 1) minus Q (S sub t,A sub t)]. Q (S sub t plus 1,A sub t plus 1) for a terminal state is defined as 0 . Improvement: Learn a soft (exploring) policy based on Q . Properties:. On-policy means that it learns a soft policy and not the optimal deterministic policy!. Update uses (S sub t,A sub t,R sub t plus 1,S sub t plus 1, A sub t plus 1) which leads to the name Sarsa and requires us to know what A sub t plus 1 will be">
                <a:extLst>
                  <a:ext uri="{FF2B5EF4-FFF2-40B4-BE49-F238E27FC236}">
                    <a16:creationId xmlns:a16="http://schemas.microsoft.com/office/drawing/2014/main" id="{A1E76A2D-11FD-3349-6432-A6DAAA3C05B5}"/>
                  </a:ext>
                </a:extLst>
              </p:cNvPr>
              <p:cNvSpPr>
                <a:spLocks noGrp="1"/>
              </p:cNvSpPr>
              <p:nvPr>
                <p:ph idx="1"/>
              </p:nvPr>
            </p:nvSpPr>
            <p:spPr>
              <a:xfrm>
                <a:off x="838200" y="1397330"/>
                <a:ext cx="8628089" cy="4779633"/>
              </a:xfrm>
            </p:spPr>
            <p:txBody>
              <a:bodyPr>
                <a:normAutofit fontScale="77500" lnSpcReduction="20000"/>
              </a:bodyPr>
              <a:lstStyle/>
              <a:p>
                <a:r>
                  <a:rPr lang="en-US" b="1" dirty="0"/>
                  <a:t>Idea</a:t>
                </a:r>
                <a:r>
                  <a:rPr lang="en-US" dirty="0"/>
                  <a:t>: Use </a:t>
                </a:r>
                <a:r>
                  <a:rPr lang="en-US" b="1" dirty="0"/>
                  <a:t>GPI</a:t>
                </a:r>
                <a:r>
                  <a:rPr lang="en-US" dirty="0"/>
                  <a:t> with TD prediction for policy evaluation. Exploration is guaranteed by learning a </a:t>
                </a:r>
                <a:r>
                  <a:rPr lang="en-US" b="1" dirty="0"/>
                  <a:t>soft policy.</a:t>
                </a:r>
              </a:p>
              <a:p>
                <a:endParaRPr lang="en-US" b="1" dirty="0"/>
              </a:p>
              <a:p>
                <a:r>
                  <a:rPr lang="en-US" b="1" dirty="0"/>
                  <a:t>TD Evaluation</a:t>
                </a:r>
                <a:r>
                  <a:rPr lang="en-US" dirty="0"/>
                  <a:t>: Estimate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using a </a:t>
                </a:r>
                <a14:m>
                  <m:oMath xmlns:m="http://schemas.openxmlformats.org/officeDocument/2006/math">
                    <m:r>
                      <a:rPr lang="en-US" b="0" i="1" smtClean="0">
                        <a:latin typeface="Cambria Math" panose="02040503050406030204" pitchFamily="18" charset="0"/>
                      </a:rPr>
                      <m:t>𝑄</m:t>
                    </m:r>
                  </m:oMath>
                </a14:m>
                <a:r>
                  <a:rPr lang="en-US" dirty="0"/>
                  <a:t>-table with updates:</a:t>
                </a:r>
              </a:p>
              <a:p>
                <a:endParaRPr lang="en-US" dirty="0"/>
              </a:p>
              <a:p>
                <a:pPr marL="0" indent="0" algn="ctr">
                  <a:buNone/>
                </a:pPr>
                <a14:m>
                  <m:oMath xmlns:m="http://schemas.openxmlformats.org/officeDocument/2006/math">
                    <m:r>
                      <a:rPr lang="en-US" b="0" i="1" smtClean="0">
                        <a:latin typeface="Cambria Math" panose="02040503050406030204" pitchFamily="18" charset="0"/>
                      </a:rPr>
                      <m:t>𝑄</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e>
                    </m:d>
                    <m:groupChr>
                      <m:groupChrPr>
                        <m:chr m:val="←"/>
                        <m:pos m:val="top"/>
                        <m:vertJc m:val="top"/>
                        <m:ctrlPr>
                          <a:rPr lang="en-US" b="0" i="1" smtClean="0">
                            <a:latin typeface="Cambria Math" panose="02040503050406030204" pitchFamily="18" charset="0"/>
                          </a:rPr>
                        </m:ctrlPr>
                      </m:groupChrPr>
                      <m:e/>
                    </m:groupChr>
                  </m:oMath>
                </a14:m>
                <a:r>
                  <a:rPr lang="en-US" dirty="0"/>
                  <a:t> </a:t>
                </a:r>
                <a14:m>
                  <m:oMath xmlns:m="http://schemas.openxmlformats.org/officeDocument/2006/math">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𝛾</m:t>
                    </m:r>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r>
                              <a:rPr lang="en-US" b="0" i="1" smtClean="0">
                                <a:latin typeface="Cambria Math" panose="02040503050406030204" pitchFamily="18" charset="0"/>
                              </a:rPr>
                              <m:t>+1</m:t>
                            </m:r>
                          </m:sub>
                        </m:sSub>
                      </m:e>
                    </m:d>
                    <m:r>
                      <a:rPr lang="en-US" b="0" i="1" smtClean="0">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r>
                      <a:rPr lang="en-US" b="0" i="1" smtClean="0">
                        <a:latin typeface="Cambria Math" panose="02040503050406030204" pitchFamily="18" charset="0"/>
                      </a:rPr>
                      <m:t>]</m:t>
                    </m:r>
                  </m:oMath>
                </a14:m>
                <a:endParaRPr lang="en-US" i="1" dirty="0">
                  <a:latin typeface="Cambria Math" panose="02040503050406030204" pitchFamily="18" charset="0"/>
                </a:endParaRPr>
              </a:p>
              <a:p>
                <a:pPr marL="0" indent="0" algn="r">
                  <a:buNone/>
                </a:pPr>
                <a14:m>
                  <m:oMath xmlns:m="http://schemas.openxmlformats.org/officeDocument/2006/math">
                    <m:r>
                      <a:rPr lang="en-US" sz="2000" i="1">
                        <a:latin typeface="Cambria Math" panose="02040503050406030204" pitchFamily="18" charset="0"/>
                      </a:rPr>
                      <m:t>𝑄</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𝑡</m:t>
                            </m:r>
                            <m:r>
                              <a:rPr lang="en-US" sz="2000" i="1">
                                <a:latin typeface="Cambria Math" panose="02040503050406030204" pitchFamily="18" charset="0"/>
                              </a:rPr>
                              <m:t>+1</m:t>
                            </m:r>
                          </m:sub>
                        </m:sSub>
                      </m:e>
                    </m:d>
                  </m:oMath>
                </a14:m>
                <a:r>
                  <a:rPr lang="en-US" sz="2000" dirty="0"/>
                  <a:t> for a terminal state is defined as </a:t>
                </a:r>
                <a14:m>
                  <m:oMath xmlns:m="http://schemas.openxmlformats.org/officeDocument/2006/math">
                    <m:r>
                      <a:rPr lang="en-US" sz="2000" i="1" dirty="0" smtClean="0">
                        <a:latin typeface="Cambria Math" panose="02040503050406030204" pitchFamily="18" charset="0"/>
                      </a:rPr>
                      <m:t>0</m:t>
                    </m:r>
                  </m:oMath>
                </a14:m>
                <a:r>
                  <a:rPr lang="en-US" sz="2000" dirty="0"/>
                  <a:t>.</a:t>
                </a:r>
              </a:p>
              <a:p>
                <a:pPr marL="0" indent="0">
                  <a:buNone/>
                </a:pPr>
                <a:endParaRPr lang="en-US" dirty="0"/>
              </a:p>
              <a:p>
                <a:r>
                  <a:rPr lang="en-US" b="1" dirty="0"/>
                  <a:t>Improvement</a:t>
                </a:r>
                <a:r>
                  <a:rPr lang="en-US" dirty="0"/>
                  <a:t>: Learn a soft (exploring) policy based on </a:t>
                </a:r>
                <a14:m>
                  <m:oMath xmlns:m="http://schemas.openxmlformats.org/officeDocument/2006/math">
                    <m:r>
                      <a:rPr lang="en-US" i="1" dirty="0">
                        <a:latin typeface="Cambria Math" panose="02040503050406030204" pitchFamily="18" charset="0"/>
                      </a:rPr>
                      <m:t>𝑄</m:t>
                    </m:r>
                  </m:oMath>
                </a14:m>
                <a:r>
                  <a:rPr lang="en-US" dirty="0"/>
                  <a:t>. </a:t>
                </a:r>
              </a:p>
              <a:p>
                <a:endParaRPr lang="en-US" dirty="0"/>
              </a:p>
              <a:p>
                <a:r>
                  <a:rPr lang="en-US" b="1" dirty="0"/>
                  <a:t>Properties</a:t>
                </a:r>
                <a:r>
                  <a:rPr lang="en-US" dirty="0"/>
                  <a:t>: </a:t>
                </a:r>
              </a:p>
              <a:p>
                <a:pPr lvl="1"/>
                <a:r>
                  <a:rPr lang="en-US" b="1" dirty="0"/>
                  <a:t>On-policy</a:t>
                </a:r>
                <a:r>
                  <a:rPr lang="en-US" dirty="0"/>
                  <a:t> means that it learns a soft policy and not the optimal deterministic policy!</a:t>
                </a:r>
              </a:p>
              <a:p>
                <a:pPr lvl="1"/>
                <a:r>
                  <a:rPr lang="en-US" dirty="0"/>
                  <a:t>Update uses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1" i="1" smtClean="0">
                            <a:solidFill>
                              <a:schemeClr val="accent2"/>
                            </a:solidFill>
                            <a:latin typeface="Cambria Math" panose="02040503050406030204" pitchFamily="18" charset="0"/>
                          </a:rPr>
                        </m:ctrlPr>
                      </m:sSubPr>
                      <m:e>
                        <m:r>
                          <a:rPr lang="en-US" b="1" i="1" smtClean="0">
                            <a:solidFill>
                              <a:schemeClr val="accent2"/>
                            </a:solidFill>
                            <a:latin typeface="Cambria Math" panose="02040503050406030204" pitchFamily="18" charset="0"/>
                          </a:rPr>
                          <m:t>𝑨</m:t>
                        </m:r>
                      </m:e>
                      <m:sub>
                        <m:r>
                          <a:rPr lang="en-US" b="1" i="1" smtClean="0">
                            <a:solidFill>
                              <a:schemeClr val="accent2"/>
                            </a:solidFill>
                            <a:latin typeface="Cambria Math" panose="02040503050406030204" pitchFamily="18" charset="0"/>
                          </a:rPr>
                          <m:t>𝒕</m:t>
                        </m:r>
                        <m:r>
                          <a:rPr lang="en-US" b="1" i="1" smtClean="0">
                            <a:solidFill>
                              <a:schemeClr val="accent2"/>
                            </a:solidFill>
                            <a:latin typeface="Cambria Math" panose="02040503050406030204" pitchFamily="18" charset="0"/>
                          </a:rPr>
                          <m:t>+</m:t>
                        </m:r>
                        <m:r>
                          <a:rPr lang="en-US" b="1" i="1" smtClean="0">
                            <a:solidFill>
                              <a:schemeClr val="accent2"/>
                            </a:solidFill>
                            <a:latin typeface="Cambria Math" panose="02040503050406030204" pitchFamily="18" charset="0"/>
                          </a:rPr>
                          <m:t>𝟏</m:t>
                        </m:r>
                      </m:sub>
                    </m:sSub>
                    <m:r>
                      <a:rPr lang="en-US" b="0" i="1" smtClean="0">
                        <a:latin typeface="Cambria Math" panose="02040503050406030204" pitchFamily="18" charset="0"/>
                      </a:rPr>
                      <m:t>)</m:t>
                    </m:r>
                  </m:oMath>
                </a14:m>
                <a:r>
                  <a:rPr lang="en-US" dirty="0"/>
                  <a:t> which leads to the name </a:t>
                </a:r>
                <a:r>
                  <a:rPr lang="en-US" b="1" dirty="0"/>
                  <a:t>Sars</a:t>
                </a:r>
                <a:r>
                  <a:rPr lang="en-US" b="1" dirty="0">
                    <a:solidFill>
                      <a:schemeClr val="accent2"/>
                    </a:solidFill>
                  </a:rPr>
                  <a:t>a</a:t>
                </a:r>
                <a:r>
                  <a:rPr lang="en-US" b="1" dirty="0"/>
                  <a:t> </a:t>
                </a:r>
                <a:r>
                  <a:rPr lang="en-US" dirty="0"/>
                  <a:t>and requires us to know what </a:t>
                </a:r>
                <a14:m>
                  <m:oMath xmlns:m="http://schemas.openxmlformats.org/officeDocument/2006/math">
                    <m:sSub>
                      <m:sSubPr>
                        <m:ctrlPr>
                          <a:rPr lang="en-US" b="0"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𝐴</m:t>
                        </m:r>
                      </m:e>
                      <m:sub>
                        <m:r>
                          <a:rPr lang="en-US" b="0" i="1">
                            <a:solidFill>
                              <a:schemeClr val="tx1"/>
                            </a:solidFill>
                            <a:latin typeface="Cambria Math" panose="02040503050406030204" pitchFamily="18" charset="0"/>
                          </a:rPr>
                          <m:t>𝑡</m:t>
                        </m:r>
                        <m:r>
                          <a:rPr lang="en-US" b="0" i="1">
                            <a:solidFill>
                              <a:schemeClr val="tx1"/>
                            </a:solidFill>
                            <a:latin typeface="Cambria Math" panose="02040503050406030204" pitchFamily="18" charset="0"/>
                          </a:rPr>
                          <m:t>+1</m:t>
                        </m:r>
                      </m:sub>
                    </m:sSub>
                  </m:oMath>
                </a14:m>
                <a:r>
                  <a:rPr lang="en-US" dirty="0">
                    <a:solidFill>
                      <a:schemeClr val="tx1"/>
                    </a:solidFill>
                  </a:rPr>
                  <a:t> </a:t>
                </a:r>
                <a:r>
                  <a:rPr lang="en-US" dirty="0"/>
                  <a:t>will be.</a:t>
                </a:r>
              </a:p>
            </p:txBody>
          </p:sp>
        </mc:Choice>
        <mc:Fallback xmlns="">
          <p:sp>
            <p:nvSpPr>
              <p:cNvPr id="3" name="Content Placeholder 2" descr="Idea: Use GPI with TD prediction for policy evaluation. Exploration is guaranteed by learning a soft policy. TD Evaluation: Estimate q sub pi (s,a) using a Q -table with updates:. Q (S sub t,A sub t) Q (S sub t,A sub t) plus alpha [R sub t plus 1, plus gamma Q (S sub t plus 1,A sub t plus 1) minus Q (S sub t,A sub t)]. Q (S sub t plus 1,A sub t plus 1) for a terminal state is defined as 0 . Improvement: Learn a soft (exploring) policy based on Q . Properties:. On-policy means that it learns a soft policy and not the optimal deterministic policy!. Update uses (S sub t,A sub t,R sub t plus 1,S sub t plus 1, A sub t plus 1) which leads to the name Sarsa and requires us to know what A sub t plus 1 will be">
                <a:extLst>
                  <a:ext uri="{FF2B5EF4-FFF2-40B4-BE49-F238E27FC236}">
                    <a16:creationId xmlns:a16="http://schemas.microsoft.com/office/drawing/2014/main" id="{A1E76A2D-11FD-3349-6432-A6DAAA3C05B5}"/>
                  </a:ext>
                </a:extLst>
              </p:cNvPr>
              <p:cNvSpPr>
                <a:spLocks noGrp="1" noRot="1" noChangeAspect="1" noMove="1" noResize="1" noEditPoints="1" noAdjustHandles="1" noChangeArrowheads="1" noChangeShapeType="1" noTextEdit="1"/>
              </p:cNvSpPr>
              <p:nvPr>
                <p:ph idx="1"/>
              </p:nvPr>
            </p:nvSpPr>
            <p:spPr>
              <a:xfrm>
                <a:off x="838200" y="1397330"/>
                <a:ext cx="8628089" cy="4779633"/>
              </a:xfrm>
              <a:blipFill>
                <a:blip r:embed="rId5"/>
                <a:stretch>
                  <a:fillRect l="-848" t="-2551" r="-919" b="-1913"/>
                </a:stretch>
              </a:blipFill>
            </p:spPr>
            <p:txBody>
              <a:bodyPr/>
              <a:lstStyle/>
              <a:p>
                <a:r>
                  <a:rPr lang="en-US">
                    <a:noFill/>
                  </a:rPr>
                  <a:t> </a:t>
                </a:r>
              </a:p>
            </p:txBody>
          </p:sp>
        </mc:Fallback>
      </mc:AlternateContent>
    </p:spTree>
    <p:extLst>
      <p:ext uri="{BB962C8B-B14F-4D97-AF65-F5344CB8AC3E}">
        <p14:creationId xmlns:p14="http://schemas.microsoft.com/office/powerpoint/2010/main" val="355690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65D83-AF66-468C-2BD2-B60F40C3D5C9}"/>
              </a:ext>
            </a:extLst>
          </p:cNvPr>
          <p:cNvSpPr>
            <a:spLocks noGrp="1"/>
          </p:cNvSpPr>
          <p:nvPr>
            <p:ph type="title"/>
          </p:nvPr>
        </p:nvSpPr>
        <p:spPr/>
        <p:txBody>
          <a:bodyPr/>
          <a:lstStyle/>
          <a:p>
            <a:r>
              <a:rPr lang="en-US" dirty="0"/>
              <a:t>Alg. Sarsa: On-Policy TD Control</a:t>
            </a:r>
          </a:p>
        </p:txBody>
      </p:sp>
      <p:pic>
        <p:nvPicPr>
          <p:cNvPr id="3" name="Content Placeholder 4" descr="Algorithm box: Tabular TD(0) for estimating v pi. Input: the policy pi to be evaluated. Algorithm parameter: step size alpha in (0, 1]. Initialize V(s), for all s in S plus, arbitrarily except that V(terminal) = 0. Loop for each episode: Initialize S; Loop for each step of episode: A ← action given by pi for S; Take action A, observe R, S′; V(S) ← V(S) + alpha [R + gamma V(S′) − V(S)]; S ← S′; until S is terminal.">
            <a:extLst>
              <a:ext uri="{FF2B5EF4-FFF2-40B4-BE49-F238E27FC236}">
                <a16:creationId xmlns:a16="http://schemas.microsoft.com/office/drawing/2014/main" id="{318D103E-5321-14FF-CCC2-395C1CC0051F}"/>
              </a:ext>
            </a:extLst>
          </p:cNvPr>
          <p:cNvPicPr>
            <a:picLocks noChangeAspect="1"/>
          </p:cNvPicPr>
          <p:nvPr/>
        </p:nvPicPr>
        <p:blipFill>
          <a:blip r:embed="rId2"/>
          <a:stretch>
            <a:fillRect/>
          </a:stretch>
        </p:blipFill>
        <p:spPr>
          <a:xfrm>
            <a:off x="328648" y="1124198"/>
            <a:ext cx="7810209" cy="3497737"/>
          </a:xfrm>
          <a:prstGeom prst="rect">
            <a:avLst/>
          </a:prstGeom>
        </p:spPr>
      </p:pic>
      <p:pic>
        <p:nvPicPr>
          <p:cNvPr id="5" name="Content Placeholder 4" descr="Algorithm box: Sarsa (on-policy TD control) for estimating Q ≈ q star. Algorithm parameters: step size alpha in (0, 1], small epsilon &gt; 0. Initialize Q(s, a), for all s in S plus, a in A(s), arbitrarily except that Q(terminal, ·) = 0. Loop for each episode: Initialize S; Choose A from S using policy derived from Q (e.g., epsilon-greedy); Loop for each step of episode: Take action A, observe R, S′; Choose A′ from S′ using policy derived from Q (e.g., epsilon-greedy); Q(S, A) ← Q(S, A) + alpha [R + gamma Q(S′, A′) − Q(S, A)]; S ← S′; A ← A′; until S is terminal.">
            <a:extLst>
              <a:ext uri="{FF2B5EF4-FFF2-40B4-BE49-F238E27FC236}">
                <a16:creationId xmlns:a16="http://schemas.microsoft.com/office/drawing/2014/main" id="{D1476306-7294-055F-2284-AF672A56B6F2}"/>
              </a:ext>
            </a:extLst>
          </p:cNvPr>
          <p:cNvPicPr>
            <a:picLocks noGrp="1" noChangeAspect="1"/>
          </p:cNvPicPr>
          <p:nvPr>
            <p:ph idx="1"/>
          </p:nvPr>
        </p:nvPicPr>
        <p:blipFill>
          <a:blip r:embed="rId3"/>
          <a:srcRect l="881" t="2315"/>
          <a:stretch>
            <a:fillRect/>
          </a:stretch>
        </p:blipFill>
        <p:spPr>
          <a:xfrm>
            <a:off x="2778100" y="2303693"/>
            <a:ext cx="8813024" cy="3909253"/>
          </a:xfrm>
          <a:prstGeom prst="rect">
            <a:avLst/>
          </a:prstGeom>
        </p:spPr>
      </p:pic>
      <p:sp>
        <p:nvSpPr>
          <p:cNvPr id="4" name="Arrow: Down 3">
            <a:extLst>
              <a:ext uri="{FF2B5EF4-FFF2-40B4-BE49-F238E27FC236}">
                <a16:creationId xmlns:a16="http://schemas.microsoft.com/office/drawing/2014/main" id="{F0C5B7EE-01C9-2D78-163C-913D0732A91E}"/>
              </a:ext>
              <a:ext uri="{C183D7F6-B498-43B3-948B-1728B52AA6E4}">
                <adec:decorative xmlns:adec="http://schemas.microsoft.com/office/drawing/2017/decorative" val="1"/>
              </a:ext>
            </a:extLst>
          </p:cNvPr>
          <p:cNvSpPr/>
          <p:nvPr/>
        </p:nvSpPr>
        <p:spPr>
          <a:xfrm rot="16930409">
            <a:off x="2168618" y="2756389"/>
            <a:ext cx="868261" cy="7675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peech Bubble: Rectangle with Corners Rounded 5">
            <a:extLst>
              <a:ext uri="{FF2B5EF4-FFF2-40B4-BE49-F238E27FC236}">
                <a16:creationId xmlns:a16="http://schemas.microsoft.com/office/drawing/2014/main" id="{53595906-8F94-26CC-2214-B8E6821BE78C}"/>
              </a:ext>
              <a:ext uri="{C183D7F6-B498-43B3-948B-1728B52AA6E4}">
                <adec:decorative xmlns:adec="http://schemas.microsoft.com/office/drawing/2017/decorative" val="1"/>
              </a:ext>
            </a:extLst>
          </p:cNvPr>
          <p:cNvSpPr/>
          <p:nvPr/>
        </p:nvSpPr>
        <p:spPr>
          <a:xfrm>
            <a:off x="8285441" y="1033063"/>
            <a:ext cx="1703157" cy="921380"/>
          </a:xfrm>
          <a:prstGeom prst="wedgeRoundRectCallout">
            <a:avLst>
              <a:gd name="adj1" fmla="val -48291"/>
              <a:gd name="adj2" fmla="val 9587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The learned and followed policy is expressed as a Q-function.</a:t>
            </a:r>
          </a:p>
        </p:txBody>
      </p:sp>
      <p:sp>
        <p:nvSpPr>
          <p:cNvPr id="7" name="Speech Bubble: Rectangle with Corners Rounded 6">
            <a:extLst>
              <a:ext uri="{FF2B5EF4-FFF2-40B4-BE49-F238E27FC236}">
                <a16:creationId xmlns:a16="http://schemas.microsoft.com/office/drawing/2014/main" id="{42895067-CBCB-93E1-7A6D-13DB95242BA9}"/>
              </a:ext>
              <a:ext uri="{C183D7F6-B498-43B3-948B-1728B52AA6E4}">
                <adec:decorative xmlns:adec="http://schemas.microsoft.com/office/drawing/2017/decorative" val="1"/>
              </a:ext>
            </a:extLst>
          </p:cNvPr>
          <p:cNvSpPr/>
          <p:nvPr/>
        </p:nvSpPr>
        <p:spPr>
          <a:xfrm>
            <a:off x="9520928" y="5182520"/>
            <a:ext cx="2261570" cy="736650"/>
          </a:xfrm>
          <a:prstGeom prst="wedgeRoundRectCallout">
            <a:avLst>
              <a:gd name="adj1" fmla="val -83676"/>
              <a:gd name="adj2" fmla="val -3235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Update the Q-function with the observed next action.</a:t>
            </a:r>
          </a:p>
        </p:txBody>
      </p:sp>
      <mc:AlternateContent xmlns:mc="http://schemas.openxmlformats.org/markup-compatibility/2006">
        <mc:Choice xmlns:a14="http://schemas.microsoft.com/office/drawing/2010/main" Requires="a14">
          <p:sp>
            <p:nvSpPr>
              <p:cNvPr id="8" name="Speech Bubble: Rectangle with Corners Rounded 7">
                <a:extLst>
                  <a:ext uri="{FF2B5EF4-FFF2-40B4-BE49-F238E27FC236}">
                    <a16:creationId xmlns:a16="http://schemas.microsoft.com/office/drawing/2014/main" id="{B14DAA65-91EF-32D6-A741-8E2A5EF879AB}"/>
                  </a:ext>
                  <a:ext uri="{C183D7F6-B498-43B3-948B-1728B52AA6E4}">
                    <adec:decorative xmlns:adec="http://schemas.microsoft.com/office/drawing/2017/decorative" val="1"/>
                  </a:ext>
                </a:extLst>
              </p:cNvPr>
              <p:cNvSpPr/>
              <p:nvPr/>
            </p:nvSpPr>
            <p:spPr>
              <a:xfrm>
                <a:off x="9276040" y="3429000"/>
                <a:ext cx="2624538" cy="488610"/>
              </a:xfrm>
              <a:prstGeom prst="wedgeRoundRectCallout">
                <a:avLst>
                  <a:gd name="adj1" fmla="val -49726"/>
                  <a:gd name="adj2" fmla="val 7448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Follow and learn a soft policy. On-policy means </a:t>
                </a:r>
                <a14:m>
                  <m:oMath xmlns:m="http://schemas.openxmlformats.org/officeDocument/2006/math">
                    <m:r>
                      <m:rPr>
                        <m:sty m:val="p"/>
                      </m:rPr>
                      <a:rPr lang="en-US" sz="1400" b="0" i="0" smtClean="0">
                        <a:latin typeface="Cambria Math" panose="02040503050406030204" pitchFamily="18" charset="0"/>
                      </a:rPr>
                      <m:t>b</m:t>
                    </m:r>
                    <m:r>
                      <a:rPr lang="en-US" sz="1400" b="0" i="0" smtClean="0">
                        <a:latin typeface="Cambria Math" panose="02040503050406030204" pitchFamily="18" charset="0"/>
                      </a:rPr>
                      <m:t>=</m:t>
                    </m:r>
                    <m:r>
                      <a:rPr lang="en-US" sz="1400" b="0" i="1" smtClean="0">
                        <a:latin typeface="Cambria Math" panose="02040503050406030204" pitchFamily="18" charset="0"/>
                      </a:rPr>
                      <m:t>𝜋</m:t>
                    </m:r>
                  </m:oMath>
                </a14:m>
                <a:endParaRPr lang="en-US" sz="1400" dirty="0"/>
              </a:p>
            </p:txBody>
          </p:sp>
        </mc:Choice>
        <mc:Fallback>
          <p:sp>
            <p:nvSpPr>
              <p:cNvPr id="8" name="Speech Bubble: Rectangle with Corners Rounded 7">
                <a:extLst>
                  <a:ext uri="{FF2B5EF4-FFF2-40B4-BE49-F238E27FC236}">
                    <a16:creationId xmlns:a16="http://schemas.microsoft.com/office/drawing/2014/main" id="{B14DAA65-91EF-32D6-A741-8E2A5EF879AB}"/>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9276040" y="3429000"/>
                <a:ext cx="2624538" cy="488610"/>
              </a:xfrm>
              <a:prstGeom prst="wedgeRoundRectCallout">
                <a:avLst>
                  <a:gd name="adj1" fmla="val -49726"/>
                  <a:gd name="adj2" fmla="val 74489"/>
                  <a:gd name="adj3" fmla="val 16667"/>
                </a:avLst>
              </a:prstGeom>
              <a:blipFill>
                <a:blip r:embed="rId4"/>
                <a:stretch>
                  <a:fillRect t="-39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Speech Bubble: Rectangle with Corners Rounded 8">
                <a:extLst>
                  <a:ext uri="{FF2B5EF4-FFF2-40B4-BE49-F238E27FC236}">
                    <a16:creationId xmlns:a16="http://schemas.microsoft.com/office/drawing/2014/main" id="{62697C30-735F-3348-2F69-1CA968C79FD3}"/>
                  </a:ext>
                  <a:ext uri="{C183D7F6-B498-43B3-948B-1728B52AA6E4}">
                    <adec:decorative xmlns:adec="http://schemas.microsoft.com/office/drawing/2017/decorative" val="1"/>
                  </a:ext>
                </a:extLst>
              </p:cNvPr>
              <p:cNvSpPr/>
              <p:nvPr/>
            </p:nvSpPr>
            <p:spPr>
              <a:xfrm>
                <a:off x="9803899" y="4348004"/>
                <a:ext cx="1198881" cy="273931"/>
              </a:xfrm>
              <a:prstGeom prst="wedgeRoundRectCallout">
                <a:avLst>
                  <a:gd name="adj1" fmla="val -107455"/>
                  <a:gd name="adj2" fmla="val 14386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We need </a:t>
                </a:r>
                <a14:m>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𝐴</m:t>
                        </m:r>
                      </m:e>
                      <m:sup>
                        <m:r>
                          <a:rPr lang="en-US" sz="1400" b="0" i="1" smtClean="0">
                            <a:latin typeface="Cambria Math" panose="02040503050406030204" pitchFamily="18" charset="0"/>
                          </a:rPr>
                          <m:t>′</m:t>
                        </m:r>
                      </m:sup>
                    </m:sSup>
                  </m:oMath>
                </a14:m>
                <a:endParaRPr lang="en-US" sz="1400" dirty="0"/>
              </a:p>
            </p:txBody>
          </p:sp>
        </mc:Choice>
        <mc:Fallback>
          <p:sp>
            <p:nvSpPr>
              <p:cNvPr id="9" name="Speech Bubble: Rectangle with Corners Rounded 8">
                <a:extLst>
                  <a:ext uri="{FF2B5EF4-FFF2-40B4-BE49-F238E27FC236}">
                    <a16:creationId xmlns:a16="http://schemas.microsoft.com/office/drawing/2014/main" id="{62697C30-735F-3348-2F69-1CA968C79FD3}"/>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9803899" y="4348004"/>
                <a:ext cx="1198881" cy="273931"/>
              </a:xfrm>
              <a:prstGeom prst="wedgeRoundRectCallout">
                <a:avLst>
                  <a:gd name="adj1" fmla="val -107455"/>
                  <a:gd name="adj2" fmla="val 143862"/>
                  <a:gd name="adj3" fmla="val 16667"/>
                </a:avLst>
              </a:prstGeom>
              <a:blipFill>
                <a:blip r:embed="rId5"/>
                <a:stretch>
                  <a:fillRect t="-217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BB9E2F2-E6A8-1691-D5E9-CD18B9FFD151}"/>
                  </a:ext>
                  <a:ext uri="{C183D7F6-B498-43B3-948B-1728B52AA6E4}">
                    <adec:decorative xmlns:adec="http://schemas.microsoft.com/office/drawing/2017/decorative" val="1"/>
                  </a:ext>
                </a:extLst>
              </p:cNvPr>
              <p:cNvSpPr txBox="1"/>
              <p:nvPr/>
            </p:nvSpPr>
            <p:spPr>
              <a:xfrm>
                <a:off x="3338814" y="6123542"/>
                <a:ext cx="2009163"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 extract </a:t>
                </a:r>
                <a14:m>
                  <m:oMath xmlns:m="http://schemas.openxmlformats.org/officeDocument/2006/math">
                    <m:r>
                      <a:rPr lang="en-US" b="0" i="1" smtClean="0">
                        <a:latin typeface="Cambria Math" panose="02040503050406030204" pitchFamily="18" charset="0"/>
                      </a:rPr>
                      <m:t>𝜋</m:t>
                    </m:r>
                  </m:oMath>
                </a14:m>
                <a:r>
                  <a:rPr lang="en-US" dirty="0"/>
                  <a:t> from </a:t>
                </a:r>
                <a14:m>
                  <m:oMath xmlns:m="http://schemas.openxmlformats.org/officeDocument/2006/math">
                    <m:r>
                      <a:rPr lang="en-US" b="0" i="1" smtClean="0">
                        <a:latin typeface="Cambria Math" panose="02040503050406030204" pitchFamily="18" charset="0"/>
                      </a:rPr>
                      <m:t>𝑄</m:t>
                    </m:r>
                  </m:oMath>
                </a14:m>
                <a:endParaRPr lang="en-US" dirty="0"/>
              </a:p>
            </p:txBody>
          </p:sp>
        </mc:Choice>
        <mc:Fallback>
          <p:sp>
            <p:nvSpPr>
              <p:cNvPr id="10" name="TextBox 9">
                <a:extLst>
                  <a:ext uri="{FF2B5EF4-FFF2-40B4-BE49-F238E27FC236}">
                    <a16:creationId xmlns:a16="http://schemas.microsoft.com/office/drawing/2014/main" id="{0BB9E2F2-E6A8-1691-D5E9-CD18B9FFD151}"/>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338814" y="6123542"/>
                <a:ext cx="2009163" cy="369332"/>
              </a:xfrm>
              <a:prstGeom prst="rect">
                <a:avLst/>
              </a:prstGeom>
              <a:blipFill>
                <a:blip r:embed="rId6"/>
                <a:stretch>
                  <a:fillRect l="-2500" t="-3125" b="-18750"/>
                </a:stretch>
              </a:blipFill>
            </p:spPr>
            <p:txBody>
              <a:bodyPr/>
              <a:lstStyle/>
              <a:p>
                <a:r>
                  <a:rPr lang="en-US">
                    <a:noFill/>
                  </a:rPr>
                  <a:t> </a:t>
                </a:r>
              </a:p>
            </p:txBody>
          </p:sp>
        </mc:Fallback>
      </mc:AlternateContent>
    </p:spTree>
    <p:extLst>
      <p:ext uri="{BB962C8B-B14F-4D97-AF65-F5344CB8AC3E}">
        <p14:creationId xmlns:p14="http://schemas.microsoft.com/office/powerpoint/2010/main" val="1330986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47666C-E544-A8E2-3E86-3E49FE62DD24}"/>
              </a:ext>
            </a:extLst>
          </p:cNvPr>
          <p:cNvSpPr>
            <a:spLocks noGrp="1"/>
          </p:cNvSpPr>
          <p:nvPr>
            <p:ph type="title"/>
          </p:nvPr>
        </p:nvSpPr>
        <p:spPr/>
        <p:txBody>
          <a:bodyPr/>
          <a:lstStyle/>
          <a:p>
            <a:r>
              <a:rPr lang="en-US" dirty="0"/>
              <a:t>Off-policy TD Control: </a:t>
            </a:r>
            <a:br>
              <a:rPr lang="en-US" dirty="0"/>
            </a:br>
            <a:r>
              <a:rPr lang="en-US" dirty="0"/>
              <a:t>Q-Learning</a:t>
            </a:r>
          </a:p>
        </p:txBody>
      </p:sp>
      <p:sp>
        <p:nvSpPr>
          <p:cNvPr id="5" name="Text Placeholder 4">
            <a:extLst>
              <a:ext uri="{FF2B5EF4-FFF2-40B4-BE49-F238E27FC236}">
                <a16:creationId xmlns:a16="http://schemas.microsoft.com/office/drawing/2014/main" id="{51AB6C6B-376F-4E19-AC6C-EECCB099A2D3}"/>
              </a:ext>
            </a:extLst>
          </p:cNvPr>
          <p:cNvSpPr>
            <a:spLocks noGrp="1"/>
          </p:cNvSpPr>
          <p:nvPr>
            <p:ph type="body" idx="1"/>
          </p:nvPr>
        </p:nvSpPr>
        <p:spPr/>
        <p:txBody>
          <a:bodyPr/>
          <a:lstStyle/>
          <a:p>
            <a:r>
              <a:rPr lang="en-US" dirty="0"/>
              <a:t>Learn a deterministic target policy while following an exploring behavior policy.</a:t>
            </a:r>
          </a:p>
        </p:txBody>
      </p:sp>
    </p:spTree>
    <p:extLst>
      <p:ext uri="{BB962C8B-B14F-4D97-AF65-F5344CB8AC3E}">
        <p14:creationId xmlns:p14="http://schemas.microsoft.com/office/powerpoint/2010/main" val="3044567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97FAA-94D1-C411-5F84-BD11DAFEAFA8}"/>
              </a:ext>
            </a:extLst>
          </p:cNvPr>
          <p:cNvSpPr>
            <a:spLocks noGrp="1"/>
          </p:cNvSpPr>
          <p:nvPr>
            <p:ph type="title"/>
          </p:nvPr>
        </p:nvSpPr>
        <p:spPr/>
        <p:txBody>
          <a:bodyPr/>
          <a:lstStyle/>
          <a:p>
            <a:r>
              <a:rPr lang="en-US" dirty="0"/>
              <a:t>Q-Learning</a:t>
            </a:r>
          </a:p>
        </p:txBody>
      </p:sp>
      <mc:AlternateContent xmlns:mc="http://schemas.openxmlformats.org/markup-compatibility/2006" xmlns:a14="http://schemas.microsoft.com/office/drawing/2010/main">
        <mc:Choice Requires="a14">
          <p:sp>
            <p:nvSpPr>
              <p:cNvPr id="3" name="Content Placeholder 2" descr="An extremely influential method developed by Watkins (1989). Update rule only uses observed Sars following the behavior policy:. Q (S sub t,A sub t) gets Q (S sub t,A sub t) plus alpha [R sub t plus 1, plus gamma max over a, of Q (S sub t plus 1,a) minus Q (S sub t,A sub t)]. Off minus policy: Q directly approximates q sub star independent of the behavior policy being followed because it ignores the next behavior action and updates with the next action for the greedy target policy instead. Note: There is no need for importance sampling!. Convergence conditions:. State-action pairs can be independently updated (e.g., represented in a table). All actions are repeatedly sampled in all states (behavior policy keeps exploring)">
                <a:extLst>
                  <a:ext uri="{FF2B5EF4-FFF2-40B4-BE49-F238E27FC236}">
                    <a16:creationId xmlns:a16="http://schemas.microsoft.com/office/drawing/2014/main" id="{793FCB7B-AD2F-2F02-9738-B745C6FBC539}"/>
                  </a:ext>
                </a:extLst>
              </p:cNvPr>
              <p:cNvSpPr>
                <a:spLocks noGrp="1"/>
              </p:cNvSpPr>
              <p:nvPr>
                <p:ph idx="1"/>
              </p:nvPr>
            </p:nvSpPr>
            <p:spPr/>
            <p:txBody>
              <a:bodyPr>
                <a:normAutofit fontScale="77500" lnSpcReduction="20000"/>
              </a:bodyPr>
              <a:lstStyle/>
              <a:p>
                <a:r>
                  <a:rPr lang="en-US" dirty="0"/>
                  <a:t>An extremely influential method developed by Watkins (1989).</a:t>
                </a:r>
              </a:p>
              <a:p>
                <a:r>
                  <a:rPr lang="en-US" dirty="0"/>
                  <a:t>Update rule only uses observed Sars following the behavior policy:</a:t>
                </a:r>
              </a:p>
              <a:p>
                <a:endParaRPr lang="en-US" dirty="0"/>
              </a:p>
              <a:p>
                <a:pPr marL="0" indent="0" algn="ctr">
                  <a:buNone/>
                </a:pPr>
                <a14:m>
                  <m:oMathPara xmlns:m="http://schemas.openxmlformats.org/officeDocument/2006/math">
                    <m:oMath>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r>
                        <a:rPr lang="en-US" b="0" i="1" smtClean="0">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𝛾</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𝑎</m:t>
                              </m:r>
                            </m:lim>
                          </m:limLow>
                        </m:fName>
                        <m:e>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𝑎</m:t>
                              </m:r>
                            </m:e>
                          </m:d>
                        </m:e>
                      </m:func>
                      <m:r>
                        <a:rPr lang="en-US" i="1">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r>
                        <a:rPr lang="en-US" i="1">
                          <a:latin typeface="Cambria Math" panose="02040503050406030204" pitchFamily="18" charset="0"/>
                        </a:rPr>
                        <m:t>]</m:t>
                      </m:r>
                    </m:oMath>
                  </m:oMathPara>
                </a14:m>
                <a:endParaRPr lang="en-US" i="1" dirty="0">
                  <a:latin typeface="Cambria Math" panose="02040503050406030204" pitchFamily="18" charset="0"/>
                </a:endParaRPr>
              </a:p>
              <a:p>
                <a:endParaRPr lang="en-US" dirty="0"/>
              </a:p>
              <a:p>
                <a:pPr marL="0" indent="0" algn="ctr">
                  <a:buNone/>
                </a:pPr>
                <a:endParaRPr lang="en-US" dirty="0"/>
              </a:p>
              <a:p>
                <a:endParaRPr lang="en-US" b="1" dirty="0"/>
              </a:p>
              <a:p>
                <a14:m>
                  <m:oMath xmlns:m="http://schemas.openxmlformats.org/officeDocument/2006/math">
                    <m:r>
                      <m:rPr>
                        <m:nor/>
                      </m:rPr>
                      <a:rPr lang="en-US" b="1" i="0" dirty="0"/>
                      <m:t>Off−policy</m:t>
                    </m:r>
                    <m:r>
                      <m:rPr>
                        <m:nor/>
                      </m:rPr>
                      <a:rPr lang="en-US" b="0" i="0" dirty="0" smtClean="0"/>
                      <m:t>: </m:t>
                    </m:r>
                    <m:r>
                      <a:rPr lang="en-US" i="1" dirty="0" smtClean="0">
                        <a:latin typeface="Cambria Math" panose="02040503050406030204" pitchFamily="18" charset="0"/>
                      </a:rPr>
                      <m:t>𝑄</m:t>
                    </m:r>
                  </m:oMath>
                </a14:m>
                <a:r>
                  <a:rPr lang="en-US" dirty="0"/>
                  <a:t> directly approximates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m:t>
                        </m:r>
                      </m:sub>
                    </m:sSub>
                  </m:oMath>
                </a14:m>
                <a:r>
                  <a:rPr lang="en-US" dirty="0"/>
                  <a:t> independent of the behavior policy being followed because it ignores the next behavior action and updates with the next action for the greedy target policy instead. Note: There is no need for importance sampling!</a:t>
                </a:r>
              </a:p>
              <a:p>
                <a:r>
                  <a:rPr lang="en-US" b="1" dirty="0"/>
                  <a:t>Convergence</a:t>
                </a:r>
                <a:r>
                  <a:rPr lang="en-US" dirty="0"/>
                  <a:t> </a:t>
                </a:r>
                <a:r>
                  <a:rPr lang="en-US" b="1" dirty="0"/>
                  <a:t>conditions</a:t>
                </a:r>
                <a:r>
                  <a:rPr lang="en-US" dirty="0"/>
                  <a:t>: </a:t>
                </a:r>
              </a:p>
              <a:p>
                <a:pPr marL="914400" lvl="1" indent="-457200">
                  <a:buFont typeface="+mj-lt"/>
                  <a:buAutoNum type="alphaLcParenR"/>
                </a:pPr>
                <a:r>
                  <a:rPr lang="en-US" dirty="0"/>
                  <a:t>State-action pairs can be independently updated (e.g., represented in a table).</a:t>
                </a:r>
              </a:p>
              <a:p>
                <a:pPr marL="914400" lvl="1" indent="-457200">
                  <a:buFont typeface="+mj-lt"/>
                  <a:buAutoNum type="alphaLcParenR"/>
                </a:pPr>
                <a:r>
                  <a:rPr lang="en-US" dirty="0"/>
                  <a:t>All actions are repeatedly sampled in all states (behavior policy keeps exploring).</a:t>
                </a:r>
              </a:p>
            </p:txBody>
          </p:sp>
        </mc:Choice>
        <mc:Fallback xmlns="">
          <p:sp>
            <p:nvSpPr>
              <p:cNvPr id="3" name="Content Placeholder 2" descr="An extremely influential method developed by Watkins (1989). Update rule only uses observed Sars following the behavior policy:. Q (S sub t,A sub t) gets Q (S sub t,A sub t) plus alpha [R sub t plus 1, plus gamma max over a, of Q (S sub t plus 1,a) minus Q (S sub t,A sub t)]. Off minus policy: Q directly approximates q sub star independent of the behavior policy being followed because it ignores the next behavior action and updates with the next action for the greedy target policy instead. Note: There is no need for importance sampling!. Convergence conditions:. State-action pairs can be independently updated (e.g., represented in a table). All actions are repeatedly sampled in all states (behavior policy keeps exploring)">
                <a:extLst>
                  <a:ext uri="{FF2B5EF4-FFF2-40B4-BE49-F238E27FC236}">
                    <a16:creationId xmlns:a16="http://schemas.microsoft.com/office/drawing/2014/main" id="{793FCB7B-AD2F-2F02-9738-B745C6FBC539}"/>
                  </a:ext>
                </a:extLst>
              </p:cNvPr>
              <p:cNvSpPr>
                <a:spLocks noGrp="1" noRot="1" noChangeAspect="1" noMove="1" noResize="1" noEditPoints="1" noAdjustHandles="1" noChangeArrowheads="1" noChangeShapeType="1" noTextEdit="1"/>
              </p:cNvSpPr>
              <p:nvPr>
                <p:ph idx="1"/>
              </p:nvPr>
            </p:nvSpPr>
            <p:spPr>
              <a:blipFill>
                <a:blip r:embed="rId2"/>
                <a:stretch>
                  <a:fillRect l="-696" t="-2551"/>
                </a:stretch>
              </a:blipFill>
            </p:spPr>
            <p:txBody>
              <a:bodyPr/>
              <a:lstStyle/>
              <a:p>
                <a:r>
                  <a:rPr lang="en-US">
                    <a:noFill/>
                  </a:rPr>
                  <a:t> </a:t>
                </a:r>
              </a:p>
            </p:txBody>
          </p:sp>
        </mc:Fallback>
      </mc:AlternateContent>
      <p:sp>
        <p:nvSpPr>
          <p:cNvPr id="4" name="Speech Bubble: Rectangle with Corners Rounded 3">
            <a:extLst>
              <a:ext uri="{FF2B5EF4-FFF2-40B4-BE49-F238E27FC236}">
                <a16:creationId xmlns:a16="http://schemas.microsoft.com/office/drawing/2014/main" id="{AEB9BEF0-AB2C-E41A-D1B7-4EEEAD69C231}"/>
              </a:ext>
            </a:extLst>
          </p:cNvPr>
          <p:cNvSpPr/>
          <p:nvPr/>
        </p:nvSpPr>
        <p:spPr>
          <a:xfrm>
            <a:off x="6096000" y="3169820"/>
            <a:ext cx="4541170" cy="432769"/>
          </a:xfrm>
          <a:prstGeom prst="wedgeRoundRectCallout">
            <a:avLst>
              <a:gd name="adj1" fmla="val -17872"/>
              <a:gd name="adj2" fmla="val -14787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The next action has not yet been observed. Updates with the greedy/optimal action for the target policy!</a:t>
            </a:r>
          </a:p>
        </p:txBody>
      </p:sp>
    </p:spTree>
    <p:extLst>
      <p:ext uri="{BB962C8B-B14F-4D97-AF65-F5344CB8AC3E}">
        <p14:creationId xmlns:p14="http://schemas.microsoft.com/office/powerpoint/2010/main" val="903677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01268-36EB-E39E-FDF7-3CEE63747468}"/>
              </a:ext>
            </a:extLst>
          </p:cNvPr>
          <p:cNvSpPr>
            <a:spLocks noGrp="1"/>
          </p:cNvSpPr>
          <p:nvPr>
            <p:ph type="title"/>
          </p:nvPr>
        </p:nvSpPr>
        <p:spPr/>
        <p:txBody>
          <a:bodyPr/>
          <a:lstStyle/>
          <a:p>
            <a:r>
              <a:rPr lang="en-US" dirty="0"/>
              <a:t>Alg. Q-Learning</a:t>
            </a:r>
          </a:p>
        </p:txBody>
      </p:sp>
      <p:pic>
        <p:nvPicPr>
          <p:cNvPr id="3" name="Content Placeholder 4" descr="Algorithm box: Sarsa (on-policy TD control) for estimating Q ≈ q star. Algorithm parameters: step size alpha in (0, 1], small epsilon &gt; 0. Initialize Q(s, a), for all s in S plus, a in A(s), arbitrarily except that Q(terminal, ·) = 0. Loop for each episode: Initialize S; Choose A from S using policy derived from Q (e.g., epsilon-greedy); Loop for each step of episode: Take action A, observe R, S′; Choose A′ from S′ using policy derived from Q (e.g., epsilon-greedy); Q(S, A) ← Q(S, A) + alpha [R + gamma Q(S′, A′) − Q(S, A)]; S ← S′; A ← A′; until S is terminal.">
            <a:extLst>
              <a:ext uri="{FF2B5EF4-FFF2-40B4-BE49-F238E27FC236}">
                <a16:creationId xmlns:a16="http://schemas.microsoft.com/office/drawing/2014/main" id="{ACE9FA26-BA72-1C07-AB30-BF0FA0951771}"/>
              </a:ext>
            </a:extLst>
          </p:cNvPr>
          <p:cNvPicPr>
            <a:picLocks noChangeAspect="1"/>
          </p:cNvPicPr>
          <p:nvPr/>
        </p:nvPicPr>
        <p:blipFill>
          <a:blip r:embed="rId2"/>
          <a:srcRect l="881" t="2315"/>
          <a:stretch>
            <a:fillRect/>
          </a:stretch>
        </p:blipFill>
        <p:spPr>
          <a:xfrm>
            <a:off x="586439" y="1390498"/>
            <a:ext cx="8326425" cy="3693409"/>
          </a:xfrm>
          <a:prstGeom prst="rect">
            <a:avLst/>
          </a:prstGeom>
        </p:spPr>
      </p:pic>
      <p:pic>
        <p:nvPicPr>
          <p:cNvPr id="5" name="Content Placeholder 4" descr="Algorithm box: Q-learning (off-policy TD control) for estimating pi ≈ pi star. Algorithm parameters: step size alpha in (0, 1], small epsilon &gt; 0. Initialize Q(s, a), for all s in S plus, a in A(s), arbitrarily except that Q(terminal, ·) = 0. Loop for each episode: Initialize S; Loop for each step of episode: Choose A from S using policy derived from Q (e.g., epsilon-greedy); Take action A, observe R, S′; Q(S, A) ← Q(S, A) + alpha [R + gamma max over a of Q(S′, a) − Q(S, A)]; S ← S′; until S is terminal.">
            <a:extLst>
              <a:ext uri="{FF2B5EF4-FFF2-40B4-BE49-F238E27FC236}">
                <a16:creationId xmlns:a16="http://schemas.microsoft.com/office/drawing/2014/main" id="{C5B7A3C4-3DE2-A697-7764-609086D4B411}"/>
              </a:ext>
            </a:extLst>
          </p:cNvPr>
          <p:cNvPicPr>
            <a:picLocks noGrp="1" noChangeAspect="1"/>
          </p:cNvPicPr>
          <p:nvPr>
            <p:ph idx="1"/>
          </p:nvPr>
        </p:nvPicPr>
        <p:blipFill>
          <a:blip r:embed="rId3"/>
          <a:srcRect l="735" t="1870"/>
          <a:stretch>
            <a:fillRect/>
          </a:stretch>
        </p:blipFill>
        <p:spPr>
          <a:xfrm>
            <a:off x="3239223" y="2604879"/>
            <a:ext cx="8445114" cy="3509203"/>
          </a:xfrm>
          <a:prstGeom prst="rect">
            <a:avLst/>
          </a:prstGeom>
        </p:spPr>
      </p:pic>
      <p:sp>
        <p:nvSpPr>
          <p:cNvPr id="4" name="Arrow: Down 3">
            <a:extLst>
              <a:ext uri="{FF2B5EF4-FFF2-40B4-BE49-F238E27FC236}">
                <a16:creationId xmlns:a16="http://schemas.microsoft.com/office/drawing/2014/main" id="{50E9F303-0610-DA79-680F-09CEC3B03339}"/>
              </a:ext>
              <a:ext uri="{C183D7F6-B498-43B3-948B-1728B52AA6E4}">
                <adec:decorative xmlns:adec="http://schemas.microsoft.com/office/drawing/2017/decorative" val="1"/>
              </a:ext>
            </a:extLst>
          </p:cNvPr>
          <p:cNvSpPr/>
          <p:nvPr/>
        </p:nvSpPr>
        <p:spPr>
          <a:xfrm rot="16930409">
            <a:off x="2666640" y="2911510"/>
            <a:ext cx="868261" cy="7675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E220D628-0C2D-1B3D-85F4-BBFF28A8CE9F}"/>
              </a:ext>
              <a:ext uri="{C183D7F6-B498-43B3-948B-1728B52AA6E4}">
                <adec:decorative xmlns:adec="http://schemas.microsoft.com/office/drawing/2017/decorative" val="1"/>
              </a:ext>
            </a:extLst>
          </p:cNvPr>
          <p:cNvGrpSpPr/>
          <p:nvPr/>
        </p:nvGrpSpPr>
        <p:grpSpPr>
          <a:xfrm>
            <a:off x="1635871" y="3777583"/>
            <a:ext cx="1298121" cy="285750"/>
            <a:chOff x="1635871" y="3777583"/>
            <a:chExt cx="1298121" cy="285750"/>
          </a:xfrm>
        </p:grpSpPr>
        <p:cxnSp>
          <p:nvCxnSpPr>
            <p:cNvPr id="7" name="Straight Connector 6">
              <a:extLst>
                <a:ext uri="{FF2B5EF4-FFF2-40B4-BE49-F238E27FC236}">
                  <a16:creationId xmlns:a16="http://schemas.microsoft.com/office/drawing/2014/main" id="{975A43C0-3EBD-08A8-4E00-AF9FE5A218CC}"/>
                </a:ext>
                <a:ext uri="{C183D7F6-B498-43B3-948B-1728B52AA6E4}">
                  <adec:decorative xmlns:adec="http://schemas.microsoft.com/office/drawing/2017/decorative" val="1"/>
                </a:ext>
              </a:extLst>
            </p:cNvPr>
            <p:cNvCxnSpPr/>
            <p:nvPr/>
          </p:nvCxnSpPr>
          <p:spPr>
            <a:xfrm>
              <a:off x="1635871" y="3777583"/>
              <a:ext cx="1298121" cy="285750"/>
            </a:xfrm>
            <a:prstGeom prst="line">
              <a:avLst/>
            </a:prstGeom>
          </p:spPr>
          <p:style>
            <a:lnRef idx="2">
              <a:schemeClr val="accent2"/>
            </a:lnRef>
            <a:fillRef idx="0">
              <a:schemeClr val="accent2"/>
            </a:fillRef>
            <a:effectRef idx="1">
              <a:schemeClr val="accent2"/>
            </a:effectRef>
            <a:fontRef idx="minor">
              <a:schemeClr val="tx1"/>
            </a:fontRef>
          </p:style>
        </p:cxnSp>
        <p:cxnSp>
          <p:nvCxnSpPr>
            <p:cNvPr id="8" name="Straight Connector 7">
              <a:extLst>
                <a:ext uri="{FF2B5EF4-FFF2-40B4-BE49-F238E27FC236}">
                  <a16:creationId xmlns:a16="http://schemas.microsoft.com/office/drawing/2014/main" id="{02810518-C59E-4B01-556C-D62FA1F00F4A}"/>
                </a:ext>
                <a:ext uri="{C183D7F6-B498-43B3-948B-1728B52AA6E4}">
                  <adec:decorative xmlns:adec="http://schemas.microsoft.com/office/drawing/2017/decorative" val="1"/>
                </a:ext>
              </a:extLst>
            </p:cNvPr>
            <p:cNvCxnSpPr>
              <a:cxnSpLocks/>
            </p:cNvCxnSpPr>
            <p:nvPr/>
          </p:nvCxnSpPr>
          <p:spPr>
            <a:xfrm flipV="1">
              <a:off x="1635871" y="3777583"/>
              <a:ext cx="1298121" cy="236005"/>
            </a:xfrm>
            <a:prstGeom prst="line">
              <a:avLst/>
            </a:prstGeom>
          </p:spPr>
          <p:style>
            <a:lnRef idx="2">
              <a:schemeClr val="accent2"/>
            </a:lnRef>
            <a:fillRef idx="0">
              <a:schemeClr val="accent2"/>
            </a:fillRef>
            <a:effectRef idx="1">
              <a:schemeClr val="accent2"/>
            </a:effectRef>
            <a:fontRef idx="minor">
              <a:schemeClr val="tx1"/>
            </a:fontRef>
          </p:style>
        </p:cxnSp>
      </p:grpSp>
      <p:cxnSp>
        <p:nvCxnSpPr>
          <p:cNvPr id="13" name="Straight Connector 12">
            <a:extLst>
              <a:ext uri="{FF2B5EF4-FFF2-40B4-BE49-F238E27FC236}">
                <a16:creationId xmlns:a16="http://schemas.microsoft.com/office/drawing/2014/main" id="{4CC62624-3244-ED9B-CD61-A0C791B616E9}"/>
              </a:ext>
              <a:ext uri="{C183D7F6-B498-43B3-948B-1728B52AA6E4}">
                <adec:decorative xmlns:adec="http://schemas.microsoft.com/office/drawing/2017/decorative" val="1"/>
              </a:ext>
            </a:extLst>
          </p:cNvPr>
          <p:cNvCxnSpPr/>
          <p:nvPr/>
        </p:nvCxnSpPr>
        <p:spPr>
          <a:xfrm>
            <a:off x="7022034" y="5374718"/>
            <a:ext cx="1305288" cy="0"/>
          </a:xfrm>
          <a:prstGeom prst="line">
            <a:avLst/>
          </a:prstGeom>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mc:Choice xmlns:a14="http://schemas.microsoft.com/office/drawing/2010/main" Requires="a14">
          <p:sp>
            <p:nvSpPr>
              <p:cNvPr id="14" name="Speech Bubble: Rectangle with Corners Rounded 13">
                <a:extLst>
                  <a:ext uri="{FF2B5EF4-FFF2-40B4-BE49-F238E27FC236}">
                    <a16:creationId xmlns:a16="http://schemas.microsoft.com/office/drawing/2014/main" id="{7E602A33-7788-B630-6EB2-2D579E74980F}"/>
                  </a:ext>
                  <a:ext uri="{C183D7F6-B498-43B3-948B-1728B52AA6E4}">
                    <adec:decorative xmlns:adec="http://schemas.microsoft.com/office/drawing/2017/decorative" val="1"/>
                  </a:ext>
                </a:extLst>
              </p:cNvPr>
              <p:cNvSpPr/>
              <p:nvPr/>
            </p:nvSpPr>
            <p:spPr>
              <a:xfrm>
                <a:off x="6095999" y="5639963"/>
                <a:ext cx="5438932" cy="821605"/>
              </a:xfrm>
              <a:prstGeom prst="wedgeRoundRectCallout">
                <a:avLst>
                  <a:gd name="adj1" fmla="val -21345"/>
                  <a:gd name="adj2" fmla="val -7712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Does not use the actual behavior </a:t>
                </a:r>
                <a14:m>
                  <m:oMath xmlns:m="http://schemas.openxmlformats.org/officeDocument/2006/math">
                    <m:r>
                      <a:rPr lang="en-US" sz="1400" b="0" i="1" smtClean="0">
                        <a:latin typeface="Cambria Math" panose="02040503050406030204" pitchFamily="18" charset="0"/>
                      </a:rPr>
                      <m:t>𝐴</m:t>
                    </m:r>
                    <m:r>
                      <a:rPr lang="en-US" sz="1400" b="0" i="1" smtClean="0">
                        <a:latin typeface="Cambria Math" panose="02040503050406030204" pitchFamily="18" charset="0"/>
                      </a:rPr>
                      <m:t>′</m:t>
                    </m:r>
                  </m:oMath>
                </a14:m>
                <a:r>
                  <a:rPr lang="en-US" sz="1400" dirty="0"/>
                  <a:t> for the update! Uses instead what </a:t>
                </a:r>
                <a14:m>
                  <m:oMath xmlns:m="http://schemas.openxmlformats.org/officeDocument/2006/math">
                    <m:r>
                      <a:rPr lang="en-US" sz="1400" b="0" i="1" smtClean="0">
                        <a:latin typeface="Cambria Math" panose="02040503050406030204" pitchFamily="18" charset="0"/>
                      </a:rPr>
                      <m:t>𝑄</m:t>
                    </m:r>
                  </m:oMath>
                </a14:m>
                <a:r>
                  <a:rPr lang="en-US" sz="1400" dirty="0"/>
                  <a:t> thinks would be the optimal next action. Learns </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𝑞</m:t>
                        </m:r>
                      </m:e>
                      <m:sub>
                        <m:r>
                          <a:rPr lang="en-US" sz="1400" b="0" i="1" smtClean="0">
                            <a:latin typeface="Cambria Math" panose="02040503050406030204" pitchFamily="18" charset="0"/>
                          </a:rPr>
                          <m:t>∗</m:t>
                        </m:r>
                      </m:sub>
                    </m:sSub>
                  </m:oMath>
                </a14:m>
                <a:r>
                  <a:rPr lang="en-US" sz="1400" dirty="0"/>
                  <a:t> and a deterministic target policy </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m:t>
                        </m:r>
                      </m:sub>
                    </m:sSub>
                  </m:oMath>
                </a14:m>
                <a:r>
                  <a:rPr lang="en-US" sz="1400" dirty="0"/>
                  <a:t>!</a:t>
                </a:r>
              </a:p>
            </p:txBody>
          </p:sp>
        </mc:Choice>
        <mc:Fallback>
          <p:sp>
            <p:nvSpPr>
              <p:cNvPr id="14" name="Speech Bubble: Rectangle with Corners Rounded 13">
                <a:extLst>
                  <a:ext uri="{FF2B5EF4-FFF2-40B4-BE49-F238E27FC236}">
                    <a16:creationId xmlns:a16="http://schemas.microsoft.com/office/drawing/2014/main" id="{7E602A33-7788-B630-6EB2-2D579E74980F}"/>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6095999" y="5639963"/>
                <a:ext cx="5438932" cy="821605"/>
              </a:xfrm>
              <a:prstGeom prst="wedgeRoundRectCallout">
                <a:avLst>
                  <a:gd name="adj1" fmla="val -21345"/>
                  <a:gd name="adj2" fmla="val -77125"/>
                  <a:gd name="adj3" fmla="val 16667"/>
                </a:avLst>
              </a:prstGeom>
              <a:blipFill>
                <a:blip r:embed="rId4"/>
                <a:stretch>
                  <a:fillRect b="-2353"/>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6B2F30FF-D3B9-E426-E674-2402ADDD54E3}"/>
              </a:ext>
              <a:ext uri="{C183D7F6-B498-43B3-948B-1728B52AA6E4}">
                <adec:decorative xmlns:adec="http://schemas.microsoft.com/office/drawing/2017/decorative" val="1"/>
              </a:ext>
            </a:extLst>
          </p:cNvPr>
          <p:cNvGrpSpPr/>
          <p:nvPr/>
        </p:nvGrpSpPr>
        <p:grpSpPr>
          <a:xfrm>
            <a:off x="2269363" y="4302597"/>
            <a:ext cx="664630" cy="285750"/>
            <a:chOff x="1635871" y="3777583"/>
            <a:chExt cx="1298121" cy="285750"/>
          </a:xfrm>
        </p:grpSpPr>
        <p:cxnSp>
          <p:nvCxnSpPr>
            <p:cNvPr id="16" name="Straight Connector 15">
              <a:extLst>
                <a:ext uri="{FF2B5EF4-FFF2-40B4-BE49-F238E27FC236}">
                  <a16:creationId xmlns:a16="http://schemas.microsoft.com/office/drawing/2014/main" id="{B6DD8F5B-8EA2-E148-3B92-B869DE6F1A01}"/>
                </a:ext>
                <a:ext uri="{C183D7F6-B498-43B3-948B-1728B52AA6E4}">
                  <adec:decorative xmlns:adec="http://schemas.microsoft.com/office/drawing/2017/decorative" val="1"/>
                </a:ext>
              </a:extLst>
            </p:cNvPr>
            <p:cNvCxnSpPr/>
            <p:nvPr/>
          </p:nvCxnSpPr>
          <p:spPr>
            <a:xfrm>
              <a:off x="1635871" y="3777583"/>
              <a:ext cx="1298121" cy="285750"/>
            </a:xfrm>
            <a:prstGeom prst="line">
              <a:avLst/>
            </a:prstGeom>
          </p:spPr>
          <p:style>
            <a:lnRef idx="2">
              <a:schemeClr val="accent2"/>
            </a:lnRef>
            <a:fillRef idx="0">
              <a:schemeClr val="accent2"/>
            </a:fillRef>
            <a:effectRef idx="1">
              <a:schemeClr val="accent2"/>
            </a:effectRef>
            <a:fontRef idx="minor">
              <a:schemeClr val="tx1"/>
            </a:fontRef>
          </p:style>
        </p:cxnSp>
        <p:cxnSp>
          <p:nvCxnSpPr>
            <p:cNvPr id="17" name="Straight Connector 16">
              <a:extLst>
                <a:ext uri="{FF2B5EF4-FFF2-40B4-BE49-F238E27FC236}">
                  <a16:creationId xmlns:a16="http://schemas.microsoft.com/office/drawing/2014/main" id="{9FEE99F0-86A8-29AC-DC20-F44F476EE9CA}"/>
                </a:ext>
                <a:ext uri="{C183D7F6-B498-43B3-948B-1728B52AA6E4}">
                  <adec:decorative xmlns:adec="http://schemas.microsoft.com/office/drawing/2017/decorative" val="1"/>
                </a:ext>
              </a:extLst>
            </p:cNvPr>
            <p:cNvCxnSpPr>
              <a:cxnSpLocks/>
            </p:cNvCxnSpPr>
            <p:nvPr/>
          </p:nvCxnSpPr>
          <p:spPr>
            <a:xfrm flipV="1">
              <a:off x="1635871" y="3777583"/>
              <a:ext cx="1298121" cy="236005"/>
            </a:xfrm>
            <a:prstGeom prst="line">
              <a:avLst/>
            </a:prstGeom>
          </p:spPr>
          <p:style>
            <a:lnRef idx="2">
              <a:schemeClr val="accent2"/>
            </a:lnRef>
            <a:fillRef idx="0">
              <a:schemeClr val="accent2"/>
            </a:fillRef>
            <a:effectRef idx="1">
              <a:schemeClr val="accent2"/>
            </a:effectRef>
            <a:fontRef idx="minor">
              <a:schemeClr val="tx1"/>
            </a:fontRef>
          </p:style>
        </p:cxnSp>
      </p:grpSp>
      <p:sp>
        <p:nvSpPr>
          <p:cNvPr id="6" name="Speech Bubble: Rectangle with Corners Rounded 5">
            <a:extLst>
              <a:ext uri="{FF2B5EF4-FFF2-40B4-BE49-F238E27FC236}">
                <a16:creationId xmlns:a16="http://schemas.microsoft.com/office/drawing/2014/main" id="{740D809B-3ADB-75D0-F249-2ED243317119}"/>
              </a:ext>
              <a:ext uri="{C183D7F6-B498-43B3-948B-1728B52AA6E4}">
                <adec:decorative xmlns:adec="http://schemas.microsoft.com/office/drawing/2017/decorative" val="1"/>
              </a:ext>
            </a:extLst>
          </p:cNvPr>
          <p:cNvSpPr/>
          <p:nvPr/>
        </p:nvSpPr>
        <p:spPr>
          <a:xfrm>
            <a:off x="8476939" y="4063333"/>
            <a:ext cx="2526784" cy="277159"/>
          </a:xfrm>
          <a:prstGeom prst="wedgeRoundRectCallout">
            <a:avLst>
              <a:gd name="adj1" fmla="val -22496"/>
              <a:gd name="adj2" fmla="val 12530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Exploring behavior policy</a:t>
            </a:r>
          </a:p>
        </p:txBody>
      </p:sp>
      <mc:AlternateContent xmlns:mc="http://schemas.openxmlformats.org/markup-compatibility/2006" xmlns:a14="http://schemas.microsoft.com/office/drawing/2010/main">
        <mc:Choice Requires="a14">
          <p:sp>
            <p:nvSpPr>
              <p:cNvPr id="10" name="TextBox 9" descr="+ extract pi from Q">
                <a:extLst>
                  <a:ext uri="{FF2B5EF4-FFF2-40B4-BE49-F238E27FC236}">
                    <a16:creationId xmlns:a16="http://schemas.microsoft.com/office/drawing/2014/main" id="{DE3D2834-B3E4-7166-3E08-4203F3346418}"/>
                  </a:ext>
                </a:extLst>
              </p:cNvPr>
              <p:cNvSpPr txBox="1"/>
              <p:nvPr/>
            </p:nvSpPr>
            <p:spPr>
              <a:xfrm>
                <a:off x="3745069" y="6123542"/>
                <a:ext cx="2009163"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 extract </a:t>
                </a:r>
                <a14:m>
                  <m:oMath xmlns:m="http://schemas.openxmlformats.org/officeDocument/2006/math">
                    <m:r>
                      <a:rPr lang="en-US" b="0" i="1" smtClean="0">
                        <a:latin typeface="Cambria Math" panose="02040503050406030204" pitchFamily="18" charset="0"/>
                      </a:rPr>
                      <m:t>𝜋</m:t>
                    </m:r>
                  </m:oMath>
                </a14:m>
                <a:r>
                  <a:rPr lang="en-US" dirty="0"/>
                  <a:t> from </a:t>
                </a:r>
                <a14:m>
                  <m:oMath xmlns:m="http://schemas.openxmlformats.org/officeDocument/2006/math">
                    <m:r>
                      <a:rPr lang="en-US" b="0" i="1" smtClean="0">
                        <a:latin typeface="Cambria Math" panose="02040503050406030204" pitchFamily="18" charset="0"/>
                      </a:rPr>
                      <m:t>𝑄</m:t>
                    </m:r>
                  </m:oMath>
                </a14:m>
                <a:endParaRPr lang="en-US" dirty="0"/>
              </a:p>
            </p:txBody>
          </p:sp>
        </mc:Choice>
        <mc:Fallback xmlns="">
          <p:sp>
            <p:nvSpPr>
              <p:cNvPr id="10" name="TextBox 9" descr="+ extract pi from Q">
                <a:extLst>
                  <a:ext uri="{FF2B5EF4-FFF2-40B4-BE49-F238E27FC236}">
                    <a16:creationId xmlns:a16="http://schemas.microsoft.com/office/drawing/2014/main" id="{DE3D2834-B3E4-7166-3E08-4203F3346418}"/>
                  </a:ext>
                </a:extLst>
              </p:cNvPr>
              <p:cNvSpPr txBox="1">
                <a:spLocks noRot="1" noChangeAspect="1" noMove="1" noResize="1" noEditPoints="1" noAdjustHandles="1" noChangeArrowheads="1" noChangeShapeType="1" noTextEdit="1"/>
              </p:cNvSpPr>
              <p:nvPr/>
            </p:nvSpPr>
            <p:spPr>
              <a:xfrm>
                <a:off x="3745069" y="6123542"/>
                <a:ext cx="2009163" cy="369332"/>
              </a:xfrm>
              <a:prstGeom prst="rect">
                <a:avLst/>
              </a:prstGeom>
              <a:blipFill>
                <a:blip r:embed="rId5"/>
                <a:stretch>
                  <a:fillRect l="-2102" t="-6349" b="-23810"/>
                </a:stretch>
              </a:blipFill>
            </p:spPr>
            <p:txBody>
              <a:bodyPr/>
              <a:lstStyle/>
              <a:p>
                <a:r>
                  <a:rPr lang="en-US">
                    <a:noFill/>
                  </a:rPr>
                  <a:t> </a:t>
                </a:r>
              </a:p>
            </p:txBody>
          </p:sp>
        </mc:Fallback>
      </mc:AlternateContent>
    </p:spTree>
    <p:extLst>
      <p:ext uri="{BB962C8B-B14F-4D97-AF65-F5344CB8AC3E}">
        <p14:creationId xmlns:p14="http://schemas.microsoft.com/office/powerpoint/2010/main" val="81018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C6363-9D21-FCAF-D518-75DBE389F9B3}"/>
              </a:ext>
            </a:extLst>
          </p:cNvPr>
          <p:cNvSpPr>
            <a:spLocks noGrp="1"/>
          </p:cNvSpPr>
          <p:nvPr>
            <p:ph type="title"/>
          </p:nvPr>
        </p:nvSpPr>
        <p:spPr/>
        <p:txBody>
          <a:bodyPr/>
          <a:lstStyle/>
          <a:p>
            <a:r>
              <a:rPr lang="en-US" dirty="0"/>
              <a:t>Q-Learning’s Maximization Bias</a:t>
            </a:r>
          </a:p>
        </p:txBody>
      </p:sp>
      <mc:AlternateContent xmlns:mc="http://schemas.openxmlformats.org/markup-compatibility/2006" xmlns:a14="http://schemas.microsoft.com/office/drawing/2010/main">
        <mc:Choice Requires="a14">
          <p:sp>
            <p:nvSpPr>
              <p:cNvPr id="3" name="Content Placeholder 2" descr="Q-learning update:. Q (S sub t,A sub t) gets Q (S sub t,A sub t) plus alpha [R sub t plus 1, plus gamma max over a, of Q (S sub t plus 1,a) minus Q (S sub t,A sub t)]. The next action is not observed, but the best action according to Q is used in the update of Q . This cycle creates a maximization bias that leads to overestimating the Q - values. Solution:. Double learning by learning two independent Q -functions and using one for the action selection and the other one for the bootstrap estimate">
                <a:extLst>
                  <a:ext uri="{FF2B5EF4-FFF2-40B4-BE49-F238E27FC236}">
                    <a16:creationId xmlns:a16="http://schemas.microsoft.com/office/drawing/2014/main" id="{C34E4FF9-9BED-6723-C7F4-56C4276CC291}"/>
                  </a:ext>
                </a:extLst>
              </p:cNvPr>
              <p:cNvSpPr>
                <a:spLocks noGrp="1"/>
              </p:cNvSpPr>
              <p:nvPr>
                <p:ph idx="1"/>
              </p:nvPr>
            </p:nvSpPr>
            <p:spPr>
              <a:xfrm>
                <a:off x="838200" y="1422856"/>
                <a:ext cx="10515600" cy="4012288"/>
              </a:xfrm>
            </p:spPr>
            <p:txBody>
              <a:bodyPr>
                <a:normAutofit fontScale="77500" lnSpcReduction="20000"/>
              </a:bodyPr>
              <a:lstStyle/>
              <a:p>
                <a:r>
                  <a:rPr lang="en-US" dirty="0"/>
                  <a:t>Q-learning update: </a:t>
                </a:r>
                <a:endParaRPr lang="en-US" i="1" dirty="0">
                  <a:latin typeface="Cambria Math" panose="02040503050406030204" pitchFamily="18" charset="0"/>
                </a:endParaRPr>
              </a:p>
              <a:p>
                <a:pPr marL="0" indent="0">
                  <a:buNone/>
                </a:pPr>
                <a14:m>
                  <m:oMathPara xmlns:m="http://schemas.openxmlformats.org/officeDocument/2006/math">
                    <m:oMath>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r>
                        <a:rPr lang="en-US" i="1">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𝛾</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𝑎</m:t>
                              </m:r>
                            </m:lim>
                          </m:limLow>
                        </m:fName>
                        <m:e>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𝑎</m:t>
                              </m:r>
                            </m:e>
                          </m:d>
                        </m:e>
                      </m:func>
                      <m:r>
                        <a:rPr lang="en-US" i="1">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r>
                        <a:rPr lang="en-US" i="1">
                          <a:latin typeface="Cambria Math" panose="02040503050406030204" pitchFamily="18" charset="0"/>
                        </a:rPr>
                        <m:t>]</m:t>
                      </m:r>
                    </m:oMath>
                  </m:oMathPara>
                </a14:m>
                <a:endParaRPr lang="en-US" dirty="0"/>
              </a:p>
              <a:p>
                <a:endParaRPr lang="en-US" dirty="0"/>
              </a:p>
              <a:p>
                <a:r>
                  <a:rPr lang="en-US" dirty="0"/>
                  <a:t>The next action is not observed, but the best action according to </a:t>
                </a:r>
                <a14:m>
                  <m:oMath xmlns:m="http://schemas.openxmlformats.org/officeDocument/2006/math">
                    <m:r>
                      <a:rPr lang="en-US" i="1" dirty="0" smtClean="0">
                        <a:latin typeface="Cambria Math" panose="02040503050406030204" pitchFamily="18" charset="0"/>
                      </a:rPr>
                      <m:t>𝑄</m:t>
                    </m:r>
                  </m:oMath>
                </a14:m>
                <a:r>
                  <a:rPr lang="en-US" dirty="0"/>
                  <a:t> is used in the update of </a:t>
                </a:r>
                <a14:m>
                  <m:oMath xmlns:m="http://schemas.openxmlformats.org/officeDocument/2006/math">
                    <m:r>
                      <a:rPr lang="en-US" b="0" i="1" smtClean="0">
                        <a:latin typeface="Cambria Math" panose="02040503050406030204" pitchFamily="18" charset="0"/>
                      </a:rPr>
                      <m:t>𝑄</m:t>
                    </m:r>
                  </m:oMath>
                </a14:m>
                <a:r>
                  <a:rPr lang="en-US" dirty="0"/>
                  <a:t>. </a:t>
                </a:r>
              </a:p>
              <a:p>
                <a:endParaRPr lang="en-US" dirty="0"/>
              </a:p>
              <a:p>
                <a:r>
                  <a:rPr lang="en-US" dirty="0"/>
                  <a:t>This cycle creates a </a:t>
                </a:r>
                <a:r>
                  <a:rPr lang="en-US" b="1" dirty="0"/>
                  <a:t>maximization bias </a:t>
                </a:r>
                <a:r>
                  <a:rPr lang="en-US" dirty="0"/>
                  <a:t>that leads to overestimating the </a:t>
                </a:r>
                <a14:m>
                  <m:oMath xmlns:m="http://schemas.openxmlformats.org/officeDocument/2006/math">
                    <m:r>
                      <a:rPr lang="en-US" i="1" dirty="0">
                        <a:latin typeface="Cambria Math" panose="02040503050406030204" pitchFamily="18" charset="0"/>
                      </a:rPr>
                      <m:t>𝑄</m:t>
                    </m:r>
                  </m:oMath>
                </a14:m>
                <a:r>
                  <a:rPr lang="en-US" dirty="0"/>
                  <a:t>- values.</a:t>
                </a:r>
              </a:p>
              <a:p>
                <a:endParaRPr lang="en-US" dirty="0"/>
              </a:p>
              <a:p>
                <a:r>
                  <a:rPr lang="en-US" dirty="0"/>
                  <a:t>Solution: </a:t>
                </a:r>
              </a:p>
              <a:p>
                <a:pPr lvl="1"/>
                <a:r>
                  <a:rPr lang="en-US" b="1" dirty="0"/>
                  <a:t>Double learning </a:t>
                </a:r>
                <a:r>
                  <a:rPr lang="en-US" dirty="0"/>
                  <a:t>by learning two independent </a:t>
                </a:r>
                <a14:m>
                  <m:oMath xmlns:m="http://schemas.openxmlformats.org/officeDocument/2006/math">
                    <m:r>
                      <a:rPr lang="en-US" b="0" i="1" smtClean="0">
                        <a:latin typeface="Cambria Math" panose="02040503050406030204" pitchFamily="18" charset="0"/>
                      </a:rPr>
                      <m:t>𝑄</m:t>
                    </m:r>
                  </m:oMath>
                </a14:m>
                <a:r>
                  <a:rPr lang="en-US" dirty="0"/>
                  <a:t>-functions and using one for the action selection and the other one for the bootstrap estimate.</a:t>
                </a:r>
              </a:p>
            </p:txBody>
          </p:sp>
        </mc:Choice>
        <mc:Fallback xmlns="">
          <p:sp>
            <p:nvSpPr>
              <p:cNvPr id="3" name="Content Placeholder 2" descr="Q-learning update:. Q (S sub t,A sub t) gets Q (S sub t,A sub t) plus alpha [R sub t plus 1, plus gamma max over a, of Q (S sub t plus 1,a) minus Q (S sub t,A sub t)]. The next action is not observed, but the best action according to Q is used in the update of Q . This cycle creates a maximization bias that leads to overestimating the Q - values. Solution:. Double learning by learning two independent Q -functions and using one for the action selection and the other one for the bootstrap estimate">
                <a:extLst>
                  <a:ext uri="{FF2B5EF4-FFF2-40B4-BE49-F238E27FC236}">
                    <a16:creationId xmlns:a16="http://schemas.microsoft.com/office/drawing/2014/main" id="{C34E4FF9-9BED-6723-C7F4-56C4276CC291}"/>
                  </a:ext>
                </a:extLst>
              </p:cNvPr>
              <p:cNvSpPr>
                <a:spLocks noGrp="1" noRot="1" noChangeAspect="1" noMove="1" noResize="1" noEditPoints="1" noAdjustHandles="1" noChangeArrowheads="1" noChangeShapeType="1" noTextEdit="1"/>
              </p:cNvSpPr>
              <p:nvPr>
                <p:ph idx="1"/>
              </p:nvPr>
            </p:nvSpPr>
            <p:spPr>
              <a:xfrm>
                <a:off x="838200" y="1422856"/>
                <a:ext cx="10515600" cy="4012288"/>
              </a:xfrm>
              <a:blipFill>
                <a:blip r:embed="rId2"/>
                <a:stretch>
                  <a:fillRect l="-696" t="-2883"/>
                </a:stretch>
              </a:blipFill>
            </p:spPr>
            <p:txBody>
              <a:bodyPr/>
              <a:lstStyle/>
              <a:p>
                <a:r>
                  <a:rPr lang="en-US">
                    <a:noFill/>
                  </a:rPr>
                  <a:t> </a:t>
                </a:r>
              </a:p>
            </p:txBody>
          </p:sp>
        </mc:Fallback>
      </mc:AlternateContent>
    </p:spTree>
    <p:extLst>
      <p:ext uri="{BB962C8B-B14F-4D97-AF65-F5344CB8AC3E}">
        <p14:creationId xmlns:p14="http://schemas.microsoft.com/office/powerpoint/2010/main" val="2764700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A9B86-C713-6476-4BAC-706F7BE18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B1961-CA51-2458-1636-A04654FFC557}"/>
              </a:ext>
            </a:extLst>
          </p:cNvPr>
          <p:cNvSpPr>
            <a:spLocks noGrp="1"/>
          </p:cNvSpPr>
          <p:nvPr>
            <p:ph type="title"/>
          </p:nvPr>
        </p:nvSpPr>
        <p:spPr/>
        <p:txBody>
          <a:bodyPr/>
          <a:lstStyle/>
          <a:p>
            <a:r>
              <a:rPr lang="en-US" dirty="0"/>
              <a:t>Double Q-Learning</a:t>
            </a:r>
          </a:p>
        </p:txBody>
      </p:sp>
      <mc:AlternateContent xmlns:mc="http://schemas.openxmlformats.org/markup-compatibility/2006" xmlns:a14="http://schemas.microsoft.com/office/drawing/2010/main">
        <mc:Choice Requires="a14">
          <p:sp>
            <p:nvSpPr>
              <p:cNvPr id="3" name="Content Placeholder 2" descr="Learns two independent Q -functions. One is used for action selection and the other one for the bootstrap estimate">
                <a:extLst>
                  <a:ext uri="{FF2B5EF4-FFF2-40B4-BE49-F238E27FC236}">
                    <a16:creationId xmlns:a16="http://schemas.microsoft.com/office/drawing/2014/main" id="{DAD73CEC-B27D-5D7D-F62B-D4CB109A78BE}"/>
                  </a:ext>
                </a:extLst>
              </p:cNvPr>
              <p:cNvSpPr>
                <a:spLocks noGrp="1"/>
              </p:cNvSpPr>
              <p:nvPr>
                <p:ph idx="1"/>
              </p:nvPr>
            </p:nvSpPr>
            <p:spPr>
              <a:xfrm>
                <a:off x="838200" y="1173966"/>
                <a:ext cx="10515600" cy="585939"/>
              </a:xfrm>
            </p:spPr>
            <p:txBody>
              <a:bodyPr>
                <a:normAutofit fontScale="77500" lnSpcReduction="20000"/>
              </a:bodyPr>
              <a:lstStyle/>
              <a:p>
                <a:r>
                  <a:rPr lang="en-US" dirty="0"/>
                  <a:t>Learns</a:t>
                </a:r>
                <a:r>
                  <a:rPr lang="en-US" b="1" dirty="0"/>
                  <a:t> </a:t>
                </a:r>
                <a:r>
                  <a:rPr lang="en-US" dirty="0"/>
                  <a:t>two independent </a:t>
                </a:r>
                <a14:m>
                  <m:oMath xmlns:m="http://schemas.openxmlformats.org/officeDocument/2006/math">
                    <m:r>
                      <a:rPr lang="en-US" b="0" i="1" smtClean="0">
                        <a:latin typeface="Cambria Math" panose="02040503050406030204" pitchFamily="18" charset="0"/>
                      </a:rPr>
                      <m:t>𝑄</m:t>
                    </m:r>
                  </m:oMath>
                </a14:m>
                <a:r>
                  <a:rPr lang="en-US" dirty="0"/>
                  <a:t>-functions. One is used for action selection and the other one for the bootstrap estimate.</a:t>
                </a:r>
              </a:p>
            </p:txBody>
          </p:sp>
        </mc:Choice>
        <mc:Fallback xmlns="">
          <p:sp>
            <p:nvSpPr>
              <p:cNvPr id="3" name="Content Placeholder 2" descr="Learns two independent Q -functions. One is used for action selection and the other one for the bootstrap estimate">
                <a:extLst>
                  <a:ext uri="{FF2B5EF4-FFF2-40B4-BE49-F238E27FC236}">
                    <a16:creationId xmlns:a16="http://schemas.microsoft.com/office/drawing/2014/main" id="{DAD73CEC-B27D-5D7D-F62B-D4CB109A78BE}"/>
                  </a:ext>
                </a:extLst>
              </p:cNvPr>
              <p:cNvSpPr>
                <a:spLocks noGrp="1" noRot="1" noChangeAspect="1" noMove="1" noResize="1" noEditPoints="1" noAdjustHandles="1" noChangeArrowheads="1" noChangeShapeType="1" noTextEdit="1"/>
              </p:cNvSpPr>
              <p:nvPr>
                <p:ph idx="1"/>
              </p:nvPr>
            </p:nvSpPr>
            <p:spPr>
              <a:xfrm>
                <a:off x="838200" y="1173966"/>
                <a:ext cx="10515600" cy="585939"/>
              </a:xfrm>
              <a:blipFill>
                <a:blip r:embed="rId2"/>
                <a:stretch>
                  <a:fillRect l="-696" t="-20833" r="-232" b="-19792"/>
                </a:stretch>
              </a:blipFill>
            </p:spPr>
            <p:txBody>
              <a:bodyPr/>
              <a:lstStyle/>
              <a:p>
                <a:r>
                  <a:rPr lang="en-US">
                    <a:noFill/>
                  </a:rPr>
                  <a:t> </a:t>
                </a:r>
              </a:p>
            </p:txBody>
          </p:sp>
        </mc:Fallback>
      </mc:AlternateContent>
      <p:grpSp>
        <p:nvGrpSpPr>
          <p:cNvPr id="10" name="Group 9" descr="Algorithm box: Double Q-learning, for estimating Q_1 ≈ Q_2 ≈ q star. Algorithm parameters: step size alpha in (0, 1], small epsilon &gt; 0. Initialize Q_1(s, a) and Q_2(s, a), for all s in S plus, a in A(s), such that Q(terminal, ·) = 0. Loop for each episode: Initialize S; Loop for each step of episode: Choose A from S using the policy epsilon-greedy in Q_1 + Q_2; Take action A, observe R, S′; With 0.5 probability: Q_1(S, A) ← Q_1(S, A) + alpha (R + gamma Q_2(S′, argmax over a of Q_1(S′, a)) − Q_1(S, A)); else: Q_2(S, A) ← Q_2(S, A) + alpha (R + gamma Q_1(S′, argmax over a of Q_2(S′, a)) − Q_2(S, A)); S ← S′; until S is terminal. Labels: Action selection; Bootstrap estimate.">
            <a:extLst>
              <a:ext uri="{FF2B5EF4-FFF2-40B4-BE49-F238E27FC236}">
                <a16:creationId xmlns:a16="http://schemas.microsoft.com/office/drawing/2014/main" id="{0F54D989-C1C4-B92B-B40B-AAB5F3FF6A71}"/>
              </a:ext>
            </a:extLst>
          </p:cNvPr>
          <p:cNvGrpSpPr/>
          <p:nvPr/>
        </p:nvGrpSpPr>
        <p:grpSpPr>
          <a:xfrm>
            <a:off x="2253317" y="1759905"/>
            <a:ext cx="7811008" cy="4122625"/>
            <a:chOff x="2239357" y="2185695"/>
            <a:chExt cx="7811008" cy="4122625"/>
          </a:xfrm>
        </p:grpSpPr>
        <p:pic>
          <p:nvPicPr>
            <p:cNvPr id="5" name="Picture 4" descr="Algorithm box: Double Q-learning, for estimating Q_1 ≈ Q_2 ≈ q star. Algorithm parameters: step size alpha in (0, 1], small epsilon &gt; 0. Initialize Q_1(s, a) and Q_2(s, a), for all s in S plus, a in A(s), such that Q(terminal, ·) = 0. Loop for each episode: Initialize S; Loop for each step of episode: Choose A from S using the policy epsilon-greedy in Q_1 + Q_2; Take action A, observe R, S′; With 0.5 probability: Q_1(S, A) ← Q_1(S, A) + alpha (R + gamma Q_2(S′, argmax over a of Q_1(S′, a)) − Q_1(S, A)); else: Q_2(S, A) ← Q_2(S, A) + alpha (R + gamma Q_1(S′, argmax over a of Q_2(S′, a)) − Q_2(S, A)); S ← S′; until S is terminal.">
              <a:extLst>
                <a:ext uri="{FF2B5EF4-FFF2-40B4-BE49-F238E27FC236}">
                  <a16:creationId xmlns:a16="http://schemas.microsoft.com/office/drawing/2014/main" id="{C034FF89-75D8-9358-4C07-163A138A5480}"/>
                </a:ext>
              </a:extLst>
            </p:cNvPr>
            <p:cNvPicPr>
              <a:picLocks noChangeAspect="1"/>
            </p:cNvPicPr>
            <p:nvPr/>
          </p:nvPicPr>
          <p:blipFill>
            <a:blip r:embed="rId3"/>
            <a:stretch>
              <a:fillRect/>
            </a:stretch>
          </p:blipFill>
          <p:spPr>
            <a:xfrm>
              <a:off x="2239357" y="2185695"/>
              <a:ext cx="7811008" cy="4051918"/>
            </a:xfrm>
            <a:prstGeom prst="rect">
              <a:avLst/>
            </a:prstGeom>
          </p:spPr>
        </p:pic>
        <p:sp>
          <p:nvSpPr>
            <p:cNvPr id="4" name="Speech Bubble: Rectangle with Corners Rounded 3">
              <a:extLst>
                <a:ext uri="{FF2B5EF4-FFF2-40B4-BE49-F238E27FC236}">
                  <a16:creationId xmlns:a16="http://schemas.microsoft.com/office/drawing/2014/main" id="{81EC9BCF-C1C5-6BB6-41FA-130AD6AA9D1A}"/>
                </a:ext>
              </a:extLst>
            </p:cNvPr>
            <p:cNvSpPr/>
            <p:nvPr/>
          </p:nvSpPr>
          <p:spPr>
            <a:xfrm>
              <a:off x="7308220" y="5947091"/>
              <a:ext cx="816677" cy="361229"/>
            </a:xfrm>
            <a:prstGeom prst="wedgeRoundRectCallout">
              <a:avLst>
                <a:gd name="adj1" fmla="val -15705"/>
                <a:gd name="adj2" fmla="val -13919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Action selection</a:t>
              </a:r>
            </a:p>
          </p:txBody>
        </p:sp>
        <p:sp>
          <p:nvSpPr>
            <p:cNvPr id="6" name="Speech Bubble: Rectangle with Corners Rounded 5">
              <a:extLst>
                <a:ext uri="{FF2B5EF4-FFF2-40B4-BE49-F238E27FC236}">
                  <a16:creationId xmlns:a16="http://schemas.microsoft.com/office/drawing/2014/main" id="{593CB310-66AF-43E6-3435-FE7EEBE22E92}"/>
                </a:ext>
              </a:extLst>
            </p:cNvPr>
            <p:cNvSpPr/>
            <p:nvPr/>
          </p:nvSpPr>
          <p:spPr>
            <a:xfrm>
              <a:off x="5883106" y="5947091"/>
              <a:ext cx="887643" cy="361229"/>
            </a:xfrm>
            <a:prstGeom prst="wedgeRoundRectCallout">
              <a:avLst>
                <a:gd name="adj1" fmla="val -15705"/>
                <a:gd name="adj2" fmla="val -13919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Bootstrap estimate</a:t>
              </a:r>
            </a:p>
          </p:txBody>
        </p:sp>
      </p:grpSp>
      <p:sp>
        <p:nvSpPr>
          <p:cNvPr id="7" name="Right Brace 6">
            <a:extLst>
              <a:ext uri="{FF2B5EF4-FFF2-40B4-BE49-F238E27FC236}">
                <a16:creationId xmlns:a16="http://schemas.microsoft.com/office/drawing/2014/main" id="{938E5689-4071-A24B-9E73-186D9CCF08D3}"/>
              </a:ext>
              <a:ext uri="{C183D7F6-B498-43B3-948B-1728B52AA6E4}">
                <adec:decorative xmlns:adec="http://schemas.microsoft.com/office/drawing/2017/decorative" val="1"/>
              </a:ext>
            </a:extLst>
          </p:cNvPr>
          <p:cNvSpPr/>
          <p:nvPr/>
        </p:nvSpPr>
        <p:spPr>
          <a:xfrm>
            <a:off x="9556434" y="4183269"/>
            <a:ext cx="389744" cy="110927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descr="Eventually Q sub 1 and Q sub 2 should become equal">
                <a:extLst>
                  <a:ext uri="{FF2B5EF4-FFF2-40B4-BE49-F238E27FC236}">
                    <a16:creationId xmlns:a16="http://schemas.microsoft.com/office/drawing/2014/main" id="{E25E97CE-7811-FCD2-DEA6-61E8B80A4590}"/>
                  </a:ext>
                </a:extLst>
              </p:cNvPr>
              <p:cNvSpPr txBox="1"/>
              <p:nvPr/>
            </p:nvSpPr>
            <p:spPr>
              <a:xfrm>
                <a:off x="10064325" y="4322406"/>
                <a:ext cx="1618938" cy="8309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sz="1600" dirty="0"/>
                  <a:t>Eventually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𝑄</m:t>
                        </m:r>
                      </m:e>
                      <m:sub>
                        <m:r>
                          <a:rPr lang="en-US" sz="1600" b="0" i="1" smtClean="0">
                            <a:latin typeface="Cambria Math" panose="02040503050406030204" pitchFamily="18" charset="0"/>
                          </a:rPr>
                          <m:t>1</m:t>
                        </m:r>
                      </m:sub>
                    </m:sSub>
                  </m:oMath>
                </a14:m>
                <a:r>
                  <a:rPr lang="en-US" sz="1600" dirty="0"/>
                  <a:t> and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𝑄</m:t>
                        </m:r>
                      </m:e>
                      <m:sub>
                        <m:r>
                          <a:rPr lang="en-US" sz="1600" b="0" i="1" smtClean="0">
                            <a:latin typeface="Cambria Math" panose="02040503050406030204" pitchFamily="18" charset="0"/>
                          </a:rPr>
                          <m:t>2</m:t>
                        </m:r>
                      </m:sub>
                    </m:sSub>
                  </m:oMath>
                </a14:m>
                <a:r>
                  <a:rPr lang="en-US" sz="1600" dirty="0"/>
                  <a:t> should become equal.</a:t>
                </a:r>
              </a:p>
            </p:txBody>
          </p:sp>
        </mc:Choice>
        <mc:Fallback xmlns="">
          <p:sp>
            <p:nvSpPr>
              <p:cNvPr id="8" name="TextBox 7" descr="Eventually Q sub 1 and Q sub 2 should become equal">
                <a:extLst>
                  <a:ext uri="{FF2B5EF4-FFF2-40B4-BE49-F238E27FC236}">
                    <a16:creationId xmlns:a16="http://schemas.microsoft.com/office/drawing/2014/main" id="{E25E97CE-7811-FCD2-DEA6-61E8B80A4590}"/>
                  </a:ext>
                </a:extLst>
              </p:cNvPr>
              <p:cNvSpPr txBox="1">
                <a:spLocks noRot="1" noChangeAspect="1" noMove="1" noResize="1" noEditPoints="1" noAdjustHandles="1" noChangeArrowheads="1" noChangeShapeType="1" noTextEdit="1"/>
              </p:cNvSpPr>
              <p:nvPr/>
            </p:nvSpPr>
            <p:spPr>
              <a:xfrm>
                <a:off x="10064325" y="4322406"/>
                <a:ext cx="1618938" cy="830997"/>
              </a:xfrm>
              <a:prstGeom prst="rect">
                <a:avLst/>
              </a:prstGeom>
              <a:blipFill>
                <a:blip r:embed="rId4"/>
                <a:stretch>
                  <a:fillRect l="-1859" t="-1439" b="-7194"/>
                </a:stretch>
              </a:blipFill>
            </p:spPr>
            <p:txBody>
              <a:bodyPr/>
              <a:lstStyle/>
              <a:p>
                <a:r>
                  <a:rPr lang="en-US">
                    <a:noFill/>
                  </a:rPr>
                  <a:t> </a:t>
                </a:r>
              </a:p>
            </p:txBody>
          </p:sp>
        </mc:Fallback>
      </mc:AlternateContent>
      <p:sp>
        <p:nvSpPr>
          <p:cNvPr id="9" name="Content Placeholder 2">
            <a:extLst>
              <a:ext uri="{FF2B5EF4-FFF2-40B4-BE49-F238E27FC236}">
                <a16:creationId xmlns:a16="http://schemas.microsoft.com/office/drawing/2014/main" id="{1926431E-CC5D-4EF0-79C5-590919834425}"/>
              </a:ext>
            </a:extLst>
          </p:cNvPr>
          <p:cNvSpPr txBox="1">
            <a:spLocks/>
          </p:cNvSpPr>
          <p:nvPr/>
        </p:nvSpPr>
        <p:spPr>
          <a:xfrm>
            <a:off x="894041" y="6205804"/>
            <a:ext cx="10515600" cy="38391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solidFill>
                  <a:schemeClr val="bg1"/>
                </a:solidFill>
              </a:rPr>
              <a:t>Note</a:t>
            </a:r>
            <a:r>
              <a:rPr lang="en-US" sz="1800" dirty="0">
                <a:solidFill>
                  <a:schemeClr val="bg1"/>
                </a:solidFill>
              </a:rPr>
              <a:t>: Many TD methods have a similar bias, and double learning extensions for these algorithms also exist.</a:t>
            </a:r>
          </a:p>
        </p:txBody>
      </p:sp>
    </p:spTree>
    <p:extLst>
      <p:ext uri="{BB962C8B-B14F-4D97-AF65-F5344CB8AC3E}">
        <p14:creationId xmlns:p14="http://schemas.microsoft.com/office/powerpoint/2010/main" val="4180389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7ACE1-D949-6959-F883-5FFFEC216B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A61C794-2342-ECB0-7D60-69CE67C5AEEE}"/>
              </a:ext>
            </a:extLst>
          </p:cNvPr>
          <p:cNvSpPr>
            <a:spLocks noGrp="1"/>
          </p:cNvSpPr>
          <p:nvPr>
            <p:ph type="title"/>
          </p:nvPr>
        </p:nvSpPr>
        <p:spPr/>
        <p:txBody>
          <a:bodyPr/>
          <a:lstStyle/>
          <a:p>
            <a:r>
              <a:rPr lang="en-US" dirty="0"/>
              <a:t>On-policy TD Control: </a:t>
            </a:r>
            <a:br>
              <a:rPr lang="en-US" dirty="0"/>
            </a:br>
            <a:r>
              <a:rPr lang="en-US" dirty="0"/>
              <a:t>Expected Sarsa</a:t>
            </a:r>
          </a:p>
        </p:txBody>
      </p:sp>
      <p:sp>
        <p:nvSpPr>
          <p:cNvPr id="5" name="Text Placeholder 4">
            <a:extLst>
              <a:ext uri="{FF2B5EF4-FFF2-40B4-BE49-F238E27FC236}">
                <a16:creationId xmlns:a16="http://schemas.microsoft.com/office/drawing/2014/main" id="{CA7666E1-9180-C127-BF1F-38950CF4145B}"/>
              </a:ext>
            </a:extLst>
          </p:cNvPr>
          <p:cNvSpPr>
            <a:spLocks noGrp="1"/>
          </p:cNvSpPr>
          <p:nvPr>
            <p:ph type="body" idx="1"/>
          </p:nvPr>
        </p:nvSpPr>
        <p:spPr/>
        <p:txBody>
          <a:bodyPr/>
          <a:lstStyle/>
          <a:p>
            <a:r>
              <a:rPr lang="en-US" dirty="0"/>
              <a:t>Reduce action sample variation for Sarsa.</a:t>
            </a:r>
          </a:p>
        </p:txBody>
      </p:sp>
    </p:spTree>
    <p:extLst>
      <p:ext uri="{BB962C8B-B14F-4D97-AF65-F5344CB8AC3E}">
        <p14:creationId xmlns:p14="http://schemas.microsoft.com/office/powerpoint/2010/main" val="1438864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C4385-3C91-82A2-B0A7-C06386ED877E}"/>
              </a:ext>
            </a:extLst>
          </p:cNvPr>
          <p:cNvSpPr>
            <a:spLocks noGrp="1"/>
          </p:cNvSpPr>
          <p:nvPr>
            <p:ph type="title"/>
          </p:nvPr>
        </p:nvSpPr>
        <p:spPr/>
        <p:txBody>
          <a:bodyPr/>
          <a:lstStyle/>
          <a:p>
            <a:r>
              <a:rPr lang="en-US" dirty="0"/>
              <a:t>Expected Sarsa</a:t>
            </a:r>
          </a:p>
        </p:txBody>
      </p:sp>
      <mc:AlternateContent xmlns:mc="http://schemas.openxmlformats.org/markup-compatibility/2006" xmlns:a14="http://schemas.microsoft.com/office/drawing/2010/main">
        <mc:Choice Requires="a14">
          <p:sp>
            <p:nvSpPr>
              <p:cNvPr id="3" name="Content Placeholder 2" descr="Learn a soft policy and use the expectation over all possible next actions instead of the observed (Sarsa) or best (Q-Learning) action:. Q (S sub t,A sub t) gets Q (S sub t,A sub t) plus alpha [R sub t plus 1, plus gamma E sub pi [of Q (S sub t plus 1,A sub t plus 1) | S sub t plus 1] minus Q (S sub t,A sub t)]; equals Q (S sub t,A sub t) plus alpha [R sub t plus 1, plus gamma the sum over a, of pi (a given S sub t plus 1)Q (S sub t plus 1,a) minus Q (S sub t,A sub t)]. Properties:. On-policy like Sarsa. Eliminates Sarsa’s variance due to the selection of a single A sub t plus 1 from a soft policy. Typically uses a learning rate alpha equals 1 since it already uses the expectation!. Requires that actions for not affect the next immediate reward">
                <a:extLst>
                  <a:ext uri="{FF2B5EF4-FFF2-40B4-BE49-F238E27FC236}">
                    <a16:creationId xmlns:a16="http://schemas.microsoft.com/office/drawing/2014/main" id="{8385F37D-A373-4729-2DE5-C78B1820DA5E}"/>
                  </a:ext>
                </a:extLst>
              </p:cNvPr>
              <p:cNvSpPr>
                <a:spLocks noGrp="1"/>
              </p:cNvSpPr>
              <p:nvPr>
                <p:ph idx="1"/>
              </p:nvPr>
            </p:nvSpPr>
            <p:spPr/>
            <p:txBody>
              <a:bodyPr>
                <a:normAutofit fontScale="85000" lnSpcReduction="10000"/>
              </a:bodyPr>
              <a:lstStyle/>
              <a:p>
                <a:r>
                  <a:rPr lang="en-US" dirty="0"/>
                  <a:t>Learn a soft policy and use the expectation over all possible next actions instead of the observed (Sarsa) or best (Q-Learning) action:</a:t>
                </a:r>
              </a:p>
              <a:p>
                <a:endParaRPr lang="en-US" dirty="0"/>
              </a:p>
              <a:p>
                <a:pPr marL="0" indent="0">
                  <a:lnSpc>
                    <a:spcPct val="100000"/>
                  </a:lnSpc>
                  <a:buNone/>
                </a:pPr>
                <a14:m>
                  <m:oMathPara xmlns:m="http://schemas.openxmlformats.org/officeDocument/2006/math">
                    <m:oMath>
                      <m:r>
                        <a:rPr lang="en-US" sz="2400" i="1">
                          <a:latin typeface="Cambria Math" panose="02040503050406030204" pitchFamily="18" charset="0"/>
                        </a:rPr>
                        <m:t>𝑄</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𝑡</m:t>
                              </m:r>
                            </m:sub>
                          </m:sSub>
                        </m:e>
                      </m:d>
                      <m:r>
                        <m:rPr>
                          <m:aln/>
                        </m:rPr>
                        <a:rPr lang="en-US" sz="2400" i="1">
                          <a:latin typeface="Cambria Math" panose="02040503050406030204" pitchFamily="18" charset="0"/>
                        </a:rPr>
                        <m:t>←</m:t>
                      </m:r>
                      <m:r>
                        <a:rPr lang="en-US" sz="2400" i="1">
                          <a:latin typeface="Cambria Math" panose="02040503050406030204" pitchFamily="18" charset="0"/>
                        </a:rPr>
                        <m:t>𝑄</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𝑡</m:t>
                              </m:r>
                            </m:sub>
                          </m:sSub>
                        </m:e>
                      </m:d>
                      <m:r>
                        <a:rPr lang="en-US" sz="2400" i="1">
                          <a:latin typeface="Cambria Math" panose="02040503050406030204" pitchFamily="18" charset="0"/>
                        </a:rPr>
                        <m:t>+</m:t>
                      </m:r>
                      <m:r>
                        <a:rPr lang="en-US" sz="2400" i="1">
                          <a:latin typeface="Cambria Math" panose="02040503050406030204" pitchFamily="18" charset="0"/>
                        </a:rPr>
                        <m:t>𝛼</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𝛾</m:t>
                          </m:r>
                          <m:func>
                            <m:funcPr>
                              <m:ctrlPr>
                                <a:rPr lang="en-US" sz="2400" i="1" smtClean="0">
                                  <a:latin typeface="Cambria Math" panose="02040503050406030204" pitchFamily="18" charset="0"/>
                                  <a:ea typeface="Cambria Math" panose="02040503050406030204" pitchFamily="18" charset="0"/>
                                </a:rPr>
                              </m:ctrlPr>
                            </m:funcPr>
                            <m:fName>
                              <m:sSub>
                                <m:sSubPr>
                                  <m:ctrlPr>
                                    <a:rPr lang="en-US" sz="2400" i="1" smtClean="0">
                                      <a:latin typeface="Cambria Math" panose="02040503050406030204" pitchFamily="18" charset="0"/>
                                      <a:ea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𝔼</m:t>
                                  </m:r>
                                </m:e>
                                <m:sub>
                                  <m:r>
                                    <a:rPr lang="en-US" sz="2400" b="0" i="1" smtClean="0">
                                      <a:latin typeface="Cambria Math" panose="02040503050406030204" pitchFamily="18" charset="0"/>
                                      <a:ea typeface="Cambria Math" panose="02040503050406030204" pitchFamily="18" charset="0"/>
                                    </a:rPr>
                                    <m:t>𝜋</m:t>
                                  </m:r>
                                </m:sub>
                              </m:sSub>
                              <m:r>
                                <a:rPr lang="en-US" sz="2400" b="0" i="1" smtClean="0">
                                  <a:latin typeface="Cambria Math" panose="02040503050406030204" pitchFamily="18" charset="0"/>
                                  <a:ea typeface="Cambria Math" panose="02040503050406030204" pitchFamily="18" charset="0"/>
                                </a:rPr>
                                <m:t>[</m:t>
                              </m:r>
                            </m:fName>
                            <m:e>
                              <m:r>
                                <a:rPr lang="en-US" sz="2400" i="1">
                                  <a:latin typeface="Cambria Math" panose="02040503050406030204" pitchFamily="18" charset="0"/>
                                </a:rPr>
                                <m:t>𝑄</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𝐴</m:t>
                                      </m:r>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e>
                              </m:d>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e>
                              </m:d>
                            </m:e>
                          </m:func>
                          <m:r>
                            <a:rPr lang="en-US" sz="2400" i="1">
                              <a:latin typeface="Cambria Math" panose="02040503050406030204" pitchFamily="18" charset="0"/>
                            </a:rPr>
                            <m:t>−</m:t>
                          </m:r>
                          <m:r>
                            <a:rPr lang="en-US" sz="2400" i="1">
                              <a:latin typeface="Cambria Math" panose="02040503050406030204" pitchFamily="18" charset="0"/>
                            </a:rPr>
                            <m:t>𝑄</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𝑡</m:t>
                                  </m:r>
                                </m:sub>
                              </m:sSub>
                            </m:e>
                          </m:d>
                        </m:e>
                      </m:d>
                    </m:oMath>
                    <m:oMath>
                      <m:r>
                        <m:rPr>
                          <m:aln/>
                        </m:rPr>
                        <a:rPr lang="en-US" sz="2000" b="0" i="1" smtClean="0">
                          <a:latin typeface="Cambria Math" panose="02040503050406030204" pitchFamily="18" charset="0"/>
                        </a:rPr>
                        <m:t>=</m:t>
                      </m:r>
                      <m:r>
                        <a:rPr lang="en-US" sz="2400" i="1">
                          <a:latin typeface="Cambria Math" panose="02040503050406030204" pitchFamily="18" charset="0"/>
                        </a:rPr>
                        <m:t>𝑄</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𝑡</m:t>
                              </m:r>
                            </m:sub>
                          </m:sSub>
                        </m:e>
                      </m:d>
                      <m:r>
                        <a:rPr lang="en-US" sz="2400" i="1">
                          <a:latin typeface="Cambria Math" panose="02040503050406030204" pitchFamily="18" charset="0"/>
                        </a:rPr>
                        <m:t>+</m:t>
                      </m:r>
                      <m:r>
                        <a:rPr lang="en-US" sz="2400" i="1">
                          <a:latin typeface="Cambria Math" panose="02040503050406030204" pitchFamily="18" charset="0"/>
                        </a:rPr>
                        <m:t>𝛼</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𝛾</m:t>
                          </m:r>
                          <m:nary>
                            <m:naryPr>
                              <m:chr m:val="∑"/>
                              <m:supHide m:val="on"/>
                              <m:ctrlPr>
                                <a:rPr lang="en-US" sz="2400" b="0" i="1" smtClean="0">
                                  <a:latin typeface="Cambria Math" panose="02040503050406030204" pitchFamily="18" charset="0"/>
                                </a:rPr>
                              </m:ctrlPr>
                            </m:naryPr>
                            <m:sub>
                              <m:r>
                                <a:rPr lang="en-US" sz="2400" b="0" i="1" smtClean="0">
                                  <a:latin typeface="Cambria Math" panose="02040503050406030204" pitchFamily="18" charset="0"/>
                                </a:rPr>
                                <m:t>𝑎</m:t>
                              </m:r>
                            </m:sub>
                            <m:sup/>
                            <m:e>
                              <m:r>
                                <a:rPr lang="en-US" sz="2400" b="0" i="1" smtClean="0">
                                  <a:latin typeface="Cambria Math" panose="02040503050406030204" pitchFamily="18" charset="0"/>
                                </a:rPr>
                                <m:t>𝜋</m:t>
                              </m:r>
                              <m:r>
                                <a:rPr lang="en-US" sz="2400" b="0" i="1" smtClean="0">
                                  <a:latin typeface="Cambria Math" panose="02040503050406030204" pitchFamily="18" charset="0"/>
                                </a:rPr>
                                <m:t>(</m:t>
                              </m:r>
                              <m:r>
                                <a:rPr lang="en-US" sz="2400" b="0" i="1" smtClean="0">
                                  <a:latin typeface="Cambria Math" panose="02040503050406030204" pitchFamily="18" charset="0"/>
                                </a:rPr>
                                <m:t>𝑎</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i="1">
                                  <a:latin typeface="Cambria Math" panose="02040503050406030204" pitchFamily="18" charset="0"/>
                                </a:rPr>
                                <m:t>𝑄</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r>
                                    <a:rPr lang="en-US" sz="2400" b="0" i="1" smtClean="0">
                                      <a:latin typeface="Cambria Math" panose="02040503050406030204" pitchFamily="18" charset="0"/>
                                    </a:rPr>
                                    <m:t>𝑎</m:t>
                                  </m:r>
                                </m:e>
                              </m:d>
                            </m:e>
                          </m:nary>
                          <m:r>
                            <a:rPr lang="en-US" sz="2400" i="1">
                              <a:latin typeface="Cambria Math" panose="02040503050406030204" pitchFamily="18" charset="0"/>
                            </a:rPr>
                            <m:t>−</m:t>
                          </m:r>
                          <m:r>
                            <a:rPr lang="en-US" sz="2400" i="1">
                              <a:latin typeface="Cambria Math" panose="02040503050406030204" pitchFamily="18" charset="0"/>
                            </a:rPr>
                            <m:t>𝑄</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𝑡</m:t>
                                  </m:r>
                                </m:sub>
                              </m:sSub>
                            </m:e>
                          </m:d>
                        </m:e>
                      </m:d>
                    </m:oMath>
                  </m:oMathPara>
                </a14:m>
                <a:endParaRPr lang="en-US" i="1" dirty="0">
                  <a:latin typeface="Cambria Math" panose="02040503050406030204" pitchFamily="18" charset="0"/>
                </a:endParaRPr>
              </a:p>
              <a:p>
                <a:pPr>
                  <a:lnSpc>
                    <a:spcPct val="100000"/>
                  </a:lnSpc>
                </a:pPr>
                <a:endParaRPr lang="en-US" dirty="0"/>
              </a:p>
              <a:p>
                <a:pPr>
                  <a:lnSpc>
                    <a:spcPct val="100000"/>
                  </a:lnSpc>
                </a:pPr>
                <a:r>
                  <a:rPr lang="en-US" b="1" dirty="0"/>
                  <a:t>Properties:</a:t>
                </a:r>
              </a:p>
              <a:p>
                <a:pPr lvl="1">
                  <a:lnSpc>
                    <a:spcPct val="100000"/>
                  </a:lnSpc>
                </a:pPr>
                <a:r>
                  <a:rPr lang="en-US" dirty="0"/>
                  <a:t>On-policy like Sarsa.</a:t>
                </a:r>
              </a:p>
              <a:p>
                <a:pPr lvl="1">
                  <a:lnSpc>
                    <a:spcPct val="100000"/>
                  </a:lnSpc>
                </a:pPr>
                <a:r>
                  <a:rPr lang="en-US" dirty="0"/>
                  <a:t>Eliminates Sarsa’s variance due to the selection of a single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r>
                  <a:rPr lang="en-US" dirty="0"/>
                  <a:t> from a soft policy.</a:t>
                </a:r>
              </a:p>
              <a:p>
                <a:pPr lvl="1">
                  <a:lnSpc>
                    <a:spcPct val="100000"/>
                  </a:lnSpc>
                </a:pPr>
                <a:r>
                  <a:rPr lang="en-US" dirty="0"/>
                  <a:t>Typically uses a learning rate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=1</m:t>
                    </m:r>
                  </m:oMath>
                </a14:m>
                <a:r>
                  <a:rPr lang="en-US" dirty="0"/>
                  <a:t> since it already uses the expectation!</a:t>
                </a:r>
              </a:p>
              <a:p>
                <a:pPr lvl="1">
                  <a:lnSpc>
                    <a:spcPct val="100000"/>
                  </a:lnSpc>
                </a:pPr>
                <a:r>
                  <a:rPr lang="en-US" dirty="0"/>
                  <a:t>Requires that actions for not affect the next immediate reward.</a:t>
                </a:r>
              </a:p>
            </p:txBody>
          </p:sp>
        </mc:Choice>
        <mc:Fallback xmlns="">
          <p:sp>
            <p:nvSpPr>
              <p:cNvPr id="3" name="Content Placeholder 2" descr="Learn a soft policy and use the expectation over all possible next actions instead of the observed (Sarsa) or best (Q-Learning) action:. Q (S sub t,A sub t) gets Q (S sub t,A sub t) plus alpha [R sub t plus 1, plus gamma E sub pi [of Q (S sub t plus 1,A sub t plus 1) | S sub t plus 1] minus Q (S sub t,A sub t)]; equals Q (S sub t,A sub t) plus alpha [R sub t plus 1, plus gamma the sum over a, of pi (a given S sub t plus 1)Q (S sub t plus 1,a) minus Q (S sub t,A sub t)]. Properties:. On-policy like Sarsa. Eliminates Sarsa’s variance due to the selection of a single A sub t plus 1 from a soft policy. Typically uses a learning rate alpha equals 1 since it already uses the expectation!. Requires that actions for not affect the next immediate reward">
                <a:extLst>
                  <a:ext uri="{FF2B5EF4-FFF2-40B4-BE49-F238E27FC236}">
                    <a16:creationId xmlns:a16="http://schemas.microsoft.com/office/drawing/2014/main" id="{8385F37D-A373-4729-2DE5-C78B1820DA5E}"/>
                  </a:ext>
                </a:extLst>
              </p:cNvPr>
              <p:cNvSpPr>
                <a:spLocks noGrp="1" noRot="1" noChangeAspect="1" noMove="1" noResize="1" noEditPoints="1" noAdjustHandles="1" noChangeArrowheads="1" noChangeShapeType="1" noTextEdit="1"/>
              </p:cNvSpPr>
              <p:nvPr>
                <p:ph idx="1"/>
              </p:nvPr>
            </p:nvSpPr>
            <p:spPr>
              <a:blipFill>
                <a:blip r:embed="rId2"/>
                <a:stretch>
                  <a:fillRect l="-812" t="-2296"/>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224043A8-6F47-FD7A-D4EE-95DB317B6A16}"/>
              </a:ext>
              <a:ext uri="{C183D7F6-B498-43B3-948B-1728B52AA6E4}">
                <adec:decorative xmlns:adec="http://schemas.microsoft.com/office/drawing/2017/decorative" val="1"/>
              </a:ext>
            </a:extLst>
          </p:cNvPr>
          <p:cNvSpPr/>
          <p:nvPr/>
        </p:nvSpPr>
        <p:spPr>
          <a:xfrm>
            <a:off x="6006517" y="2319556"/>
            <a:ext cx="2898397" cy="53689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2032243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A947AF-1111-8FC8-9C49-9ED02B2A11D8}"/>
              </a:ext>
            </a:extLst>
          </p:cNvPr>
          <p:cNvSpPr>
            <a:spLocks noGrp="1"/>
          </p:cNvSpPr>
          <p:nvPr>
            <p:ph type="title"/>
          </p:nvPr>
        </p:nvSpPr>
        <p:spPr/>
        <p:txBody>
          <a:bodyPr/>
          <a:lstStyle/>
          <a:p>
            <a:r>
              <a:rPr lang="en-US" dirty="0"/>
              <a:t>Comparison</a:t>
            </a:r>
          </a:p>
        </p:txBody>
      </p:sp>
      <p:sp>
        <p:nvSpPr>
          <p:cNvPr id="5" name="Text Placeholder 4">
            <a:extLst>
              <a:ext uri="{FF2B5EF4-FFF2-40B4-BE49-F238E27FC236}">
                <a16:creationId xmlns:a16="http://schemas.microsoft.com/office/drawing/2014/main" id="{2D455082-DEC7-913B-105C-3428E5E309C1}"/>
              </a:ext>
            </a:extLst>
          </p:cNvPr>
          <p:cNvSpPr>
            <a:spLocks noGrp="1"/>
          </p:cNvSpPr>
          <p:nvPr>
            <p:ph type="body" idx="1"/>
          </p:nvPr>
        </p:nvSpPr>
        <p:spPr/>
        <p:txBody>
          <a:bodyPr/>
          <a:lstStyle/>
          <a:p>
            <a:r>
              <a:rPr lang="en-US" dirty="0"/>
              <a:t>Sarsa vs. Q-Learning vs. Expected Sarsa</a:t>
            </a:r>
          </a:p>
        </p:txBody>
      </p:sp>
    </p:spTree>
    <p:extLst>
      <p:ext uri="{BB962C8B-B14F-4D97-AF65-F5344CB8AC3E}">
        <p14:creationId xmlns:p14="http://schemas.microsoft.com/office/powerpoint/2010/main" val="592175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A2BBB-A726-1EF6-3427-57B33AC4A406}"/>
              </a:ext>
            </a:extLst>
          </p:cNvPr>
          <p:cNvSpPr>
            <a:spLocks noGrp="1"/>
          </p:cNvSpPr>
          <p:nvPr>
            <p:ph type="title"/>
          </p:nvPr>
        </p:nvSpPr>
        <p:spPr/>
        <p:txBody>
          <a:bodyPr/>
          <a:lstStyle/>
          <a:p>
            <a:r>
              <a:rPr lang="en-US" dirty="0"/>
              <a:t>Comparison: 1-step Backup Diagrams</a:t>
            </a:r>
          </a:p>
        </p:txBody>
      </p:sp>
      <p:grpSp>
        <p:nvGrpSpPr>
          <p:cNvPr id="3" name="Group 2" descr="An episode as a sequence: state S_t, action A_t, reward R_t+1, state S_t+1, action A_t+1, reward R_t+2, state S_t+2, action A_t+2, reward R_t+3, state S_t+3, action A_t+3, and so on. Labels: Q(S sub t,A sub t); Q(S sub t plus 1,A sub t plus 1); Update to reduce the TD error; 1-step; Bootstrap estimate of the remaining return G sub t plus 1.">
            <a:extLst>
              <a:ext uri="{FF2B5EF4-FFF2-40B4-BE49-F238E27FC236}">
                <a16:creationId xmlns:a16="http://schemas.microsoft.com/office/drawing/2014/main" id="{DC8187D2-C651-211E-F36F-28F57A9AE11F}"/>
              </a:ext>
            </a:extLst>
          </p:cNvPr>
          <p:cNvGrpSpPr/>
          <p:nvPr/>
        </p:nvGrpSpPr>
        <p:grpSpPr>
          <a:xfrm>
            <a:off x="2712656" y="1307163"/>
            <a:ext cx="5965095" cy="1952829"/>
            <a:chOff x="2637816" y="2846877"/>
            <a:chExt cx="5965095" cy="1952829"/>
          </a:xfrm>
        </p:grpSpPr>
        <p:grpSp>
          <p:nvGrpSpPr>
            <p:cNvPr id="4" name="Group 3" descr="An episode as a sequence: state S_t, action A_t, reward R_t+1, state S_t+1, action A_t+1, reward R_t+2, state S_t+2, action A_t+2, reward R_t+3, state S_t+3, action A_t+3, and so on. Labels: Q(S sub t,A sub t); Q(S sub t plus 1,A sub t plus 1); Update to reduce the TD error; 1-step.">
              <a:extLst>
                <a:ext uri="{FF2B5EF4-FFF2-40B4-BE49-F238E27FC236}">
                  <a16:creationId xmlns:a16="http://schemas.microsoft.com/office/drawing/2014/main" id="{E816A4BA-29C5-E498-E49B-2A5D1934C3AC}"/>
                </a:ext>
              </a:extLst>
            </p:cNvPr>
            <p:cNvGrpSpPr/>
            <p:nvPr/>
          </p:nvGrpSpPr>
          <p:grpSpPr>
            <a:xfrm>
              <a:off x="2637816" y="2846877"/>
              <a:ext cx="5965095" cy="1870236"/>
              <a:chOff x="2373562" y="2582670"/>
              <a:chExt cx="5965095" cy="1870236"/>
            </a:xfrm>
          </p:grpSpPr>
          <p:pic>
            <p:nvPicPr>
              <p:cNvPr id="10" name="Picture 9" descr="An episode as a sequence: state S_t, action A_t, reward R_t+1, state S_t+1, action A_t+1, reward R_t+2, state S_t+2, action A_t+2, reward R_t+3, state S_t+3, action A_t+3, and so on.">
                <a:extLst>
                  <a:ext uri="{FF2B5EF4-FFF2-40B4-BE49-F238E27FC236}">
                    <a16:creationId xmlns:a16="http://schemas.microsoft.com/office/drawing/2014/main" id="{079CA762-1D81-E9C9-CDF2-B465A9EF93D5}"/>
                  </a:ext>
                </a:extLst>
              </p:cNvPr>
              <p:cNvPicPr>
                <a:picLocks noChangeAspect="1"/>
              </p:cNvPicPr>
              <p:nvPr/>
            </p:nvPicPr>
            <p:blipFill>
              <a:blip r:embed="rId2"/>
              <a:stretch>
                <a:fillRect/>
              </a:stretch>
            </p:blipFill>
            <p:spPr>
              <a:xfrm>
                <a:off x="2373562" y="2955408"/>
                <a:ext cx="5965095" cy="606381"/>
              </a:xfrm>
              <a:prstGeom prst="rect">
                <a:avLst/>
              </a:prstGeom>
            </p:spPr>
          </p:pic>
          <p:sp>
            <p:nvSpPr>
              <p:cNvPr id="17" name="Arc 16">
                <a:extLst>
                  <a:ext uri="{FF2B5EF4-FFF2-40B4-BE49-F238E27FC236}">
                    <a16:creationId xmlns:a16="http://schemas.microsoft.com/office/drawing/2014/main" id="{D8A8134D-2B73-F837-EAFB-A58F7D294338}"/>
                  </a:ext>
                  <a:ext uri="{C183D7F6-B498-43B3-948B-1728B52AA6E4}">
                    <adec:decorative xmlns:adec="http://schemas.microsoft.com/office/drawing/2017/decorative" val="1"/>
                  </a:ext>
                </a:extLst>
              </p:cNvPr>
              <p:cNvSpPr/>
              <p:nvPr/>
            </p:nvSpPr>
            <p:spPr>
              <a:xfrm>
                <a:off x="3744294" y="3074530"/>
                <a:ext cx="1514911" cy="854643"/>
              </a:xfrm>
              <a:prstGeom prst="arc">
                <a:avLst>
                  <a:gd name="adj1" fmla="val 942545"/>
                  <a:gd name="adj2" fmla="val 997242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 name="TextBox 17" descr="Equation: Q(S sub t,A sub t)">
                    <a:extLst>
                      <a:ext uri="{FF2B5EF4-FFF2-40B4-BE49-F238E27FC236}">
                        <a16:creationId xmlns:a16="http://schemas.microsoft.com/office/drawing/2014/main" id="{DB63FB16-329F-D55F-9114-898178CEA391}"/>
                      </a:ext>
                    </a:extLst>
                  </p:cNvPr>
                  <p:cNvSpPr txBox="1"/>
                  <p:nvPr/>
                </p:nvSpPr>
                <p:spPr>
                  <a:xfrm>
                    <a:off x="3380142" y="3423317"/>
                    <a:ext cx="1049672" cy="285206"/>
                  </a:xfrm>
                  <a:prstGeom prst="rect">
                    <a:avLst/>
                  </a:prstGeom>
                  <a:noFill/>
                </p:spPr>
                <p:txBody>
                  <a:bodyPr wrap="square">
                    <a:spAutoFit/>
                  </a:bodyPr>
                  <a:lstStyle/>
                  <a:p>
                    <a:pPr/>
                    <a14:m>
                      <m:oMathPara xmlns:m="http://schemas.openxmlformats.org/officeDocument/2006/math">
                        <m:oMath>
                          <m:r>
                            <a:rPr lang="en-US" sz="1200" b="0" i="1" smtClean="0">
                              <a:latin typeface="Cambria Math" panose="02040503050406030204" pitchFamily="18" charset="0"/>
                            </a:rPr>
                            <m:t>𝑄</m:t>
                          </m:r>
                          <m:r>
                            <a:rPr lang="en-US" sz="120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𝐴</m:t>
                              </m:r>
                            </m:e>
                            <m:sub>
                              <m:r>
                                <a:rPr lang="en-US" sz="1200" b="0" i="1" smtClean="0">
                                  <a:latin typeface="Cambria Math" panose="02040503050406030204" pitchFamily="18" charset="0"/>
                                </a:rPr>
                                <m:t>𝑡</m:t>
                              </m:r>
                            </m:sub>
                          </m:sSub>
                          <m:r>
                            <a:rPr lang="en-US" sz="1200" i="1">
                              <a:latin typeface="Cambria Math" panose="02040503050406030204" pitchFamily="18" charset="0"/>
                            </a:rPr>
                            <m:t>)</m:t>
                          </m:r>
                        </m:oMath>
                      </m:oMathPara>
                    </a14:m>
                    <a:endParaRPr lang="en-US" sz="1200" dirty="0"/>
                  </a:p>
                </p:txBody>
              </p:sp>
            </mc:Choice>
            <mc:Fallback xmlns="">
              <p:sp>
                <p:nvSpPr>
                  <p:cNvPr id="18" name="TextBox 17" descr="Equation: Q(S sub t,A sub t)">
                    <a:extLst>
                      <a:ext uri="{FF2B5EF4-FFF2-40B4-BE49-F238E27FC236}">
                        <a16:creationId xmlns:a16="http://schemas.microsoft.com/office/drawing/2014/main" id="{DB63FB16-329F-D55F-9114-898178CEA391}"/>
                      </a:ext>
                    </a:extLst>
                  </p:cNvPr>
                  <p:cNvSpPr txBox="1">
                    <a:spLocks noRot="1" noChangeAspect="1" noMove="1" noResize="1" noEditPoints="1" noAdjustHandles="1" noChangeArrowheads="1" noChangeShapeType="1" noTextEdit="1"/>
                  </p:cNvSpPr>
                  <p:nvPr/>
                </p:nvSpPr>
                <p:spPr>
                  <a:xfrm>
                    <a:off x="3380142" y="3423317"/>
                    <a:ext cx="1049672" cy="285206"/>
                  </a:xfrm>
                  <a:prstGeom prst="rect">
                    <a:avLst/>
                  </a:prstGeom>
                  <a:blipFill>
                    <a:blip r:embed="rId26"/>
                    <a:stretch>
                      <a:fillRect b="-42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descr="Equation: Q(S sub t plus 1,A sub t plus 1)">
                    <a:extLst>
                      <a:ext uri="{FF2B5EF4-FFF2-40B4-BE49-F238E27FC236}">
                        <a16:creationId xmlns:a16="http://schemas.microsoft.com/office/drawing/2014/main" id="{CCC48D9B-D98F-0C33-B10A-3DC1477DEDA2}"/>
                      </a:ext>
                    </a:extLst>
                  </p:cNvPr>
                  <p:cNvSpPr txBox="1"/>
                  <p:nvPr/>
                </p:nvSpPr>
                <p:spPr>
                  <a:xfrm>
                    <a:off x="4614828" y="3421985"/>
                    <a:ext cx="1049672" cy="276999"/>
                  </a:xfrm>
                  <a:prstGeom prst="rect">
                    <a:avLst/>
                  </a:prstGeom>
                  <a:noFill/>
                </p:spPr>
                <p:txBody>
                  <a:bodyPr wrap="square">
                    <a:spAutoFit/>
                  </a:bodyPr>
                  <a:lstStyle/>
                  <a:p>
                    <a:pPr/>
                    <a14:m>
                      <m:oMathPara xmlns:m="http://schemas.openxmlformats.org/officeDocument/2006/math">
                        <m:oMath>
                          <m:r>
                            <a:rPr lang="en-US" sz="1200" b="0" i="1" smtClean="0">
                              <a:latin typeface="Cambria Math" panose="02040503050406030204" pitchFamily="18" charset="0"/>
                            </a:rPr>
                            <m:t>𝑄</m:t>
                          </m:r>
                          <m:r>
                            <a:rPr lang="en-US" sz="120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𝑡</m:t>
                              </m:r>
                              <m:r>
                                <a:rPr lang="en-US" sz="1200" i="1">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𝐴</m:t>
                              </m:r>
                            </m:e>
                            <m:sub>
                              <m:r>
                                <a:rPr lang="en-US" sz="1200" b="0" i="1" smtClean="0">
                                  <a:latin typeface="Cambria Math" panose="02040503050406030204" pitchFamily="18" charset="0"/>
                                </a:rPr>
                                <m:t>𝑡</m:t>
                              </m:r>
                              <m:r>
                                <a:rPr lang="en-US" sz="1200" b="0" i="1" smtClean="0">
                                  <a:latin typeface="Cambria Math" panose="02040503050406030204" pitchFamily="18" charset="0"/>
                                </a:rPr>
                                <m:t>+1</m:t>
                              </m:r>
                            </m:sub>
                          </m:sSub>
                          <m:r>
                            <a:rPr lang="en-US" sz="1200" i="1">
                              <a:latin typeface="Cambria Math" panose="02040503050406030204" pitchFamily="18" charset="0"/>
                            </a:rPr>
                            <m:t>)</m:t>
                          </m:r>
                        </m:oMath>
                      </m:oMathPara>
                    </a14:m>
                    <a:endParaRPr lang="en-US" sz="1200" dirty="0"/>
                  </a:p>
                </p:txBody>
              </p:sp>
            </mc:Choice>
            <mc:Fallback xmlns="">
              <p:sp>
                <p:nvSpPr>
                  <p:cNvPr id="19" name="TextBox 18" descr="Equation: Q(S sub t plus 1,A sub t plus 1)">
                    <a:extLst>
                      <a:ext uri="{FF2B5EF4-FFF2-40B4-BE49-F238E27FC236}">
                        <a16:creationId xmlns:a16="http://schemas.microsoft.com/office/drawing/2014/main" id="{CCC48D9B-D98F-0C33-B10A-3DC1477DEDA2}"/>
                      </a:ext>
                    </a:extLst>
                  </p:cNvPr>
                  <p:cNvSpPr txBox="1">
                    <a:spLocks noRot="1" noChangeAspect="1" noMove="1" noResize="1" noEditPoints="1" noAdjustHandles="1" noChangeArrowheads="1" noChangeShapeType="1" noTextEdit="1"/>
                  </p:cNvSpPr>
                  <p:nvPr/>
                </p:nvSpPr>
                <p:spPr>
                  <a:xfrm>
                    <a:off x="4614828" y="3421985"/>
                    <a:ext cx="1049672" cy="276999"/>
                  </a:xfrm>
                  <a:prstGeom prst="rect">
                    <a:avLst/>
                  </a:prstGeom>
                  <a:blipFill>
                    <a:blip r:embed="rId13"/>
                    <a:stretch>
                      <a:fillRect b="-6522"/>
                    </a:stretch>
                  </a:blipFill>
                </p:spPr>
                <p:txBody>
                  <a:bodyPr/>
                  <a:lstStyle/>
                  <a:p>
                    <a:r>
                      <a:rPr lang="en-US">
                        <a:noFill/>
                      </a:rPr>
                      <a:t> </a:t>
                    </a:r>
                  </a:p>
                </p:txBody>
              </p:sp>
            </mc:Fallback>
          </mc:AlternateContent>
          <p:sp>
            <p:nvSpPr>
              <p:cNvPr id="20" name="Arc 19">
                <a:extLst>
                  <a:ext uri="{FF2B5EF4-FFF2-40B4-BE49-F238E27FC236}">
                    <a16:creationId xmlns:a16="http://schemas.microsoft.com/office/drawing/2014/main" id="{EB6D555F-71D5-466F-AA26-1C0B46F3DF17}"/>
                  </a:ext>
                  <a:ext uri="{C183D7F6-B498-43B3-948B-1728B52AA6E4}">
                    <adec:decorative xmlns:adec="http://schemas.microsoft.com/office/drawing/2017/decorative" val="1"/>
                  </a:ext>
                </a:extLst>
              </p:cNvPr>
              <p:cNvSpPr/>
              <p:nvPr/>
            </p:nvSpPr>
            <p:spPr>
              <a:xfrm>
                <a:off x="3797229" y="2582670"/>
                <a:ext cx="464096" cy="1177771"/>
              </a:xfrm>
              <a:prstGeom prst="arc">
                <a:avLst>
                  <a:gd name="adj1" fmla="val 535615"/>
                  <a:gd name="adj2" fmla="val 6095713"/>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DB447D22-5746-B9E6-4B7F-D58201646AB7}"/>
                  </a:ext>
                </a:extLst>
              </p:cNvPr>
              <p:cNvSpPr txBox="1"/>
              <p:nvPr/>
            </p:nvSpPr>
            <p:spPr>
              <a:xfrm>
                <a:off x="3744294" y="3929686"/>
                <a:ext cx="1514911" cy="523220"/>
              </a:xfrm>
              <a:prstGeom prst="rect">
                <a:avLst/>
              </a:prstGeom>
              <a:noFill/>
            </p:spPr>
            <p:txBody>
              <a:bodyPr wrap="square" rtlCol="0">
                <a:spAutoFit/>
              </a:bodyPr>
              <a:lstStyle/>
              <a:p>
                <a:pPr algn="ctr"/>
                <a:r>
                  <a:rPr lang="en-US" sz="1400" dirty="0">
                    <a:solidFill>
                      <a:schemeClr val="tx2">
                        <a:lumMod val="90000"/>
                        <a:lumOff val="10000"/>
                      </a:schemeClr>
                    </a:solidFill>
                  </a:rPr>
                  <a:t>Update to reduce the TD error</a:t>
                </a:r>
              </a:p>
            </p:txBody>
          </p:sp>
          <p:sp>
            <p:nvSpPr>
              <p:cNvPr id="22" name="Right Brace 21">
                <a:extLst>
                  <a:ext uri="{FF2B5EF4-FFF2-40B4-BE49-F238E27FC236}">
                    <a16:creationId xmlns:a16="http://schemas.microsoft.com/office/drawing/2014/main" id="{E25CDC5A-37CC-002F-E578-D71B185F9446}"/>
                  </a:ext>
                  <a:ext uri="{C183D7F6-B498-43B3-948B-1728B52AA6E4}">
                    <adec:decorative xmlns:adec="http://schemas.microsoft.com/office/drawing/2017/decorative" val="1"/>
                  </a:ext>
                </a:extLst>
              </p:cNvPr>
              <p:cNvSpPr/>
              <p:nvPr/>
            </p:nvSpPr>
            <p:spPr>
              <a:xfrm rot="16200000">
                <a:off x="4138402" y="2045388"/>
                <a:ext cx="202889" cy="173116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77225B51-8649-F146-DE31-A737A77E9A34}"/>
                  </a:ext>
                </a:extLst>
              </p:cNvPr>
              <p:cNvSpPr txBox="1"/>
              <p:nvPr/>
            </p:nvSpPr>
            <p:spPr>
              <a:xfrm>
                <a:off x="3877022" y="2587111"/>
                <a:ext cx="725648" cy="261610"/>
              </a:xfrm>
              <a:prstGeom prst="rect">
                <a:avLst/>
              </a:prstGeom>
              <a:noFill/>
            </p:spPr>
            <p:txBody>
              <a:bodyPr wrap="square" rtlCol="0">
                <a:spAutoFit/>
              </a:bodyPr>
              <a:lstStyle/>
              <a:p>
                <a:pPr algn="ctr"/>
                <a:r>
                  <a:rPr lang="en-US" sz="1100" dirty="0">
                    <a:solidFill>
                      <a:schemeClr val="tx2">
                        <a:lumMod val="90000"/>
                        <a:lumOff val="10000"/>
                      </a:schemeClr>
                    </a:solidFill>
                  </a:rPr>
                  <a:t>1-step</a:t>
                </a:r>
              </a:p>
            </p:txBody>
          </p:sp>
        </p:grpSp>
        <mc:AlternateContent xmlns:mc="http://schemas.openxmlformats.org/markup-compatibility/2006" xmlns:a14="http://schemas.microsoft.com/office/drawing/2010/main">
          <mc:Choice Requires="a14">
            <p:sp>
              <p:nvSpPr>
                <p:cNvPr id="6" name="Speech Bubble: Rectangle with Corners Rounded 5" descr="Bootstrap estimate of the remaining return G sub t plus 1">
                  <a:extLst>
                    <a:ext uri="{FF2B5EF4-FFF2-40B4-BE49-F238E27FC236}">
                      <a16:creationId xmlns:a16="http://schemas.microsoft.com/office/drawing/2014/main" id="{AE3E163A-3FD0-7FFA-C2DB-4366ECEC4DFF}"/>
                    </a:ext>
                  </a:extLst>
                </p:cNvPr>
                <p:cNvSpPr/>
                <p:nvPr/>
              </p:nvSpPr>
              <p:spPr>
                <a:xfrm>
                  <a:off x="6021159" y="4193325"/>
                  <a:ext cx="2320978" cy="606381"/>
                </a:xfrm>
                <a:prstGeom prst="wedgeRoundRectCallout">
                  <a:avLst>
                    <a:gd name="adj1" fmla="val -72489"/>
                    <a:gd name="adj2" fmla="val -8796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Bootstrap estimate of the remaining return </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𝐺</m:t>
                          </m:r>
                        </m:e>
                        <m:sub>
                          <m:r>
                            <a:rPr lang="en-US" sz="1400" b="0" i="1" smtClean="0">
                              <a:latin typeface="Cambria Math" panose="02040503050406030204" pitchFamily="18" charset="0"/>
                            </a:rPr>
                            <m:t>𝑡</m:t>
                          </m:r>
                          <m:r>
                            <a:rPr lang="en-US" sz="1400" b="0" i="1" smtClean="0">
                              <a:latin typeface="Cambria Math" panose="02040503050406030204" pitchFamily="18" charset="0"/>
                            </a:rPr>
                            <m:t>+1</m:t>
                          </m:r>
                        </m:sub>
                      </m:sSub>
                    </m:oMath>
                  </a14:m>
                  <a:endParaRPr lang="en-US" sz="1400" dirty="0"/>
                </a:p>
              </p:txBody>
            </p:sp>
          </mc:Choice>
          <mc:Fallback xmlns="">
            <p:sp>
              <p:nvSpPr>
                <p:cNvPr id="6" name="Speech Bubble: Rectangle with Corners Rounded 5" descr="Bootstrap estimate of the remaining return G sub t plus 1">
                  <a:extLst>
                    <a:ext uri="{FF2B5EF4-FFF2-40B4-BE49-F238E27FC236}">
                      <a16:creationId xmlns:a16="http://schemas.microsoft.com/office/drawing/2014/main" id="{AE3E163A-3FD0-7FFA-C2DB-4366ECEC4DFF}"/>
                    </a:ext>
                  </a:extLst>
                </p:cNvPr>
                <p:cNvSpPr>
                  <a:spLocks noRot="1" noChangeAspect="1" noMove="1" noResize="1" noEditPoints="1" noAdjustHandles="1" noChangeArrowheads="1" noChangeShapeType="1" noTextEdit="1"/>
                </p:cNvSpPr>
                <p:nvPr/>
              </p:nvSpPr>
              <p:spPr>
                <a:xfrm>
                  <a:off x="6021159" y="4193325"/>
                  <a:ext cx="2320978" cy="606381"/>
                </a:xfrm>
                <a:prstGeom prst="wedgeRoundRectCallout">
                  <a:avLst>
                    <a:gd name="adj1" fmla="val -72489"/>
                    <a:gd name="adj2" fmla="val -87969"/>
                    <a:gd name="adj3" fmla="val 16667"/>
                  </a:avLst>
                </a:prstGeom>
                <a:blipFill>
                  <a:blip r:embed="rId14"/>
                  <a:stretch>
                    <a:fillRect b="-699"/>
                  </a:stretch>
                </a:blipFill>
              </p:spPr>
              <p:txBody>
                <a:bodyPr/>
                <a:lstStyle/>
                <a:p>
                  <a:r>
                    <a:rPr lang="en-US">
                      <a:noFill/>
                    </a:rPr>
                    <a:t> </a:t>
                  </a:r>
                </a:p>
              </p:txBody>
            </p:sp>
          </mc:Fallback>
        </mc:AlternateContent>
      </p:grpSp>
      <p:sp>
        <p:nvSpPr>
          <p:cNvPr id="30" name="TextBox 29">
            <a:extLst>
              <a:ext uri="{FF2B5EF4-FFF2-40B4-BE49-F238E27FC236}">
                <a16:creationId xmlns:a16="http://schemas.microsoft.com/office/drawing/2014/main" id="{1E83FA3B-81BD-8362-6C7F-87B12A33FE94}"/>
              </a:ext>
            </a:extLst>
          </p:cNvPr>
          <p:cNvSpPr txBox="1"/>
          <p:nvPr/>
        </p:nvSpPr>
        <p:spPr>
          <a:xfrm>
            <a:off x="602122" y="3429000"/>
            <a:ext cx="903702" cy="369332"/>
          </a:xfrm>
          <a:prstGeom prst="rect">
            <a:avLst/>
          </a:prstGeom>
          <a:noFill/>
        </p:spPr>
        <p:txBody>
          <a:bodyPr wrap="square" rtlCol="0">
            <a:spAutoFit/>
          </a:bodyPr>
          <a:lstStyle/>
          <a:p>
            <a:r>
              <a:rPr lang="en-US" dirty="0"/>
              <a:t>Target:</a:t>
            </a:r>
          </a:p>
        </p:txBody>
      </p:sp>
      <mc:AlternateContent xmlns:mc="http://schemas.openxmlformats.org/markup-compatibility/2006" xmlns:a14="http://schemas.microsoft.com/office/drawing/2010/main">
        <mc:Choice Requires="a14">
          <p:sp>
            <p:nvSpPr>
              <p:cNvPr id="28" name="TextBox 27" descr="Equation: U equals R sub t plus 1, plus gamma Q(S sub t plus 1,A sub t plus 1)">
                <a:extLst>
                  <a:ext uri="{FF2B5EF4-FFF2-40B4-BE49-F238E27FC236}">
                    <a16:creationId xmlns:a16="http://schemas.microsoft.com/office/drawing/2014/main" id="{4BAD7055-DE67-506C-6C69-5BC88E3D54E4}"/>
                  </a:ext>
                </a:extLst>
              </p:cNvPr>
              <p:cNvSpPr txBox="1"/>
              <p:nvPr/>
            </p:nvSpPr>
            <p:spPr>
              <a:xfrm>
                <a:off x="1579111" y="3481304"/>
                <a:ext cx="2464898" cy="307777"/>
              </a:xfrm>
              <a:prstGeom prst="rect">
                <a:avLst/>
              </a:prstGeom>
              <a:noFill/>
            </p:spPr>
            <p:txBody>
              <a:bodyPr wrap="square">
                <a:spAutoFit/>
              </a:bodyPr>
              <a:lstStyle/>
              <a:p>
                <a:pPr/>
                <a14:m>
                  <m:oMathPara xmlns:m="http://schemas.openxmlformats.org/officeDocument/2006/math">
                    <m:oMath>
                      <m:r>
                        <a:rPr lang="en-US" sz="1400" b="0" i="1" smtClean="0">
                          <a:latin typeface="Cambria Math" panose="02040503050406030204" pitchFamily="18" charset="0"/>
                        </a:rPr>
                        <m:t>𝑈</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𝑅</m:t>
                          </m:r>
                        </m:e>
                        <m:sub>
                          <m:r>
                            <a:rPr lang="en-US" sz="1400" b="0" i="1" smtClean="0">
                              <a:latin typeface="Cambria Math" panose="02040503050406030204" pitchFamily="18" charset="0"/>
                            </a:rPr>
                            <m:t>𝑡</m:t>
                          </m:r>
                          <m:r>
                            <a:rPr lang="en-US" sz="1400" b="0" i="1" smtClean="0">
                              <a:latin typeface="Cambria Math" panose="02040503050406030204" pitchFamily="18" charset="0"/>
                            </a:rPr>
                            <m:t>+1</m:t>
                          </m:r>
                        </m:sub>
                      </m:sSub>
                      <m:r>
                        <a:rPr lang="en-US" sz="1400" b="0" i="1" smtClean="0">
                          <a:latin typeface="Cambria Math" panose="02040503050406030204" pitchFamily="18" charset="0"/>
                        </a:rPr>
                        <m:t>+</m:t>
                      </m:r>
                      <m:r>
                        <a:rPr lang="en-US" sz="1400" b="0" i="1" smtClean="0">
                          <a:latin typeface="Cambria Math" panose="02040503050406030204" pitchFamily="18" charset="0"/>
                        </a:rPr>
                        <m:t>𝛾</m:t>
                      </m:r>
                      <m:r>
                        <a:rPr lang="en-US" sz="1400" b="0" i="1" smtClean="0">
                          <a:latin typeface="Cambria Math" panose="02040503050406030204" pitchFamily="18" charset="0"/>
                        </a:rPr>
                        <m:t>𝑄</m:t>
                      </m:r>
                      <m:r>
                        <a:rPr lang="en-US" sz="1400" i="1" smtClean="0">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𝑆</m:t>
                          </m:r>
                        </m:e>
                        <m:sub>
                          <m:r>
                            <a:rPr lang="en-US" sz="1400" i="1">
                              <a:latin typeface="Cambria Math" panose="02040503050406030204" pitchFamily="18" charset="0"/>
                            </a:rPr>
                            <m:t>𝑡</m:t>
                          </m:r>
                          <m:r>
                            <a:rPr lang="en-US" sz="1400" b="0" i="1" smtClean="0">
                              <a:latin typeface="Cambria Math" panose="02040503050406030204" pitchFamily="18" charset="0"/>
                            </a:rPr>
                            <m:t>+1</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𝐴</m:t>
                          </m:r>
                        </m:e>
                        <m:sub>
                          <m:r>
                            <a:rPr lang="en-US" sz="1400" b="0" i="1" smtClean="0">
                              <a:latin typeface="Cambria Math" panose="02040503050406030204" pitchFamily="18" charset="0"/>
                            </a:rPr>
                            <m:t>𝑡</m:t>
                          </m:r>
                          <m:r>
                            <a:rPr lang="en-US" sz="1400" b="0" i="1" smtClean="0">
                              <a:latin typeface="Cambria Math" panose="02040503050406030204" pitchFamily="18" charset="0"/>
                            </a:rPr>
                            <m:t>+1</m:t>
                          </m:r>
                        </m:sub>
                      </m:sSub>
                      <m:r>
                        <a:rPr lang="en-US" sz="1400" i="1">
                          <a:latin typeface="Cambria Math" panose="02040503050406030204" pitchFamily="18" charset="0"/>
                        </a:rPr>
                        <m:t>)</m:t>
                      </m:r>
                    </m:oMath>
                  </m:oMathPara>
                </a14:m>
                <a:endParaRPr lang="en-US" sz="1400" dirty="0"/>
              </a:p>
            </p:txBody>
          </p:sp>
        </mc:Choice>
        <mc:Fallback xmlns="">
          <p:sp>
            <p:nvSpPr>
              <p:cNvPr id="28" name="TextBox 27" descr="Equation: U equals R sub t plus 1, plus gamma Q(S sub t plus 1,A sub t plus 1)">
                <a:extLst>
                  <a:ext uri="{FF2B5EF4-FFF2-40B4-BE49-F238E27FC236}">
                    <a16:creationId xmlns:a16="http://schemas.microsoft.com/office/drawing/2014/main" id="{4BAD7055-DE67-506C-6C69-5BC88E3D54E4}"/>
                  </a:ext>
                </a:extLst>
              </p:cNvPr>
              <p:cNvSpPr txBox="1">
                <a:spLocks noRot="1" noChangeAspect="1" noMove="1" noResize="1" noEditPoints="1" noAdjustHandles="1" noChangeArrowheads="1" noChangeShapeType="1" noTextEdit="1"/>
              </p:cNvSpPr>
              <p:nvPr/>
            </p:nvSpPr>
            <p:spPr>
              <a:xfrm>
                <a:off x="1579111" y="3481304"/>
                <a:ext cx="2464898" cy="307777"/>
              </a:xfrm>
              <a:prstGeom prst="rect">
                <a:avLst/>
              </a:prstGeom>
              <a:blipFill>
                <a:blip r:embed="rId27"/>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descr="Equation: U equals R sub t plus 1, plus gamma max over a, of Q(S sub t plus 1,a)">
                <a:extLst>
                  <a:ext uri="{FF2B5EF4-FFF2-40B4-BE49-F238E27FC236}">
                    <a16:creationId xmlns:a16="http://schemas.microsoft.com/office/drawing/2014/main" id="{910E339F-8641-BC7F-CC47-A19D94CC02F4}"/>
                  </a:ext>
                </a:extLst>
              </p:cNvPr>
              <p:cNvSpPr txBox="1"/>
              <p:nvPr/>
            </p:nvSpPr>
            <p:spPr>
              <a:xfrm>
                <a:off x="4452912" y="3502559"/>
                <a:ext cx="2743202" cy="374205"/>
              </a:xfrm>
              <a:prstGeom prst="rect">
                <a:avLst/>
              </a:prstGeom>
              <a:noFill/>
            </p:spPr>
            <p:txBody>
              <a:bodyPr wrap="square">
                <a:spAutoFit/>
              </a:bodyPr>
              <a:lstStyle/>
              <a:p>
                <a:pPr/>
                <a14:m>
                  <m:oMathPara xmlns:m="http://schemas.openxmlformats.org/officeDocument/2006/math">
                    <m:oMath>
                      <m:r>
                        <a:rPr lang="en-US" sz="1400" b="0" i="1" smtClean="0">
                          <a:latin typeface="Cambria Math" panose="02040503050406030204" pitchFamily="18" charset="0"/>
                        </a:rPr>
                        <m:t>𝑈</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𝑅</m:t>
                          </m:r>
                        </m:e>
                        <m:sub>
                          <m:r>
                            <a:rPr lang="en-US" sz="1400" b="0" i="1" smtClean="0">
                              <a:latin typeface="Cambria Math" panose="02040503050406030204" pitchFamily="18" charset="0"/>
                            </a:rPr>
                            <m:t>𝑡</m:t>
                          </m:r>
                          <m:r>
                            <a:rPr lang="en-US" sz="1400" b="0" i="1" smtClean="0">
                              <a:latin typeface="Cambria Math" panose="02040503050406030204" pitchFamily="18" charset="0"/>
                            </a:rPr>
                            <m:t>+1</m:t>
                          </m:r>
                        </m:sub>
                      </m:sSub>
                      <m:r>
                        <a:rPr lang="en-US" sz="1400" b="0" i="1" smtClean="0">
                          <a:latin typeface="Cambria Math" panose="02040503050406030204" pitchFamily="18" charset="0"/>
                        </a:rPr>
                        <m:t>+</m:t>
                      </m:r>
                      <m:r>
                        <a:rPr lang="en-US" sz="1400" b="0" i="1" smtClean="0">
                          <a:latin typeface="Cambria Math" panose="02040503050406030204" pitchFamily="18" charset="0"/>
                        </a:rPr>
                        <m:t>𝛾</m:t>
                      </m:r>
                      <m:func>
                        <m:funcPr>
                          <m:ctrlPr>
                            <a:rPr lang="en-US" sz="1400" b="0" i="1" smtClean="0">
                              <a:latin typeface="Cambria Math" panose="02040503050406030204" pitchFamily="18" charset="0"/>
                            </a:rPr>
                          </m:ctrlPr>
                        </m:funcPr>
                        <m:fName>
                          <m:limLow>
                            <m:limLowPr>
                              <m:ctrlPr>
                                <a:rPr lang="en-US" sz="1400" b="0" i="0" smtClean="0">
                                  <a:latin typeface="Cambria Math" panose="02040503050406030204" pitchFamily="18" charset="0"/>
                                </a:rPr>
                              </m:ctrlPr>
                            </m:limLowPr>
                            <m:e>
                              <m:r>
                                <m:rPr>
                                  <m:sty m:val="p"/>
                                </m:rPr>
                                <a:rPr lang="en-US" sz="1400" b="0" i="0" smtClean="0">
                                  <a:latin typeface="Cambria Math" panose="02040503050406030204" pitchFamily="18" charset="0"/>
                                </a:rPr>
                                <m:t>max</m:t>
                              </m:r>
                            </m:e>
                            <m:lim>
                              <m:r>
                                <a:rPr lang="en-US" sz="1400" b="0" i="1" smtClean="0">
                                  <a:latin typeface="Cambria Math" panose="02040503050406030204" pitchFamily="18" charset="0"/>
                                </a:rPr>
                                <m:t>𝑎</m:t>
                              </m:r>
                            </m:lim>
                          </m:limLow>
                        </m:fName>
                        <m:e>
                          <m:r>
                            <a:rPr lang="en-US" sz="1400" i="1">
                              <a:latin typeface="Cambria Math" panose="02040503050406030204" pitchFamily="18" charset="0"/>
                            </a:rPr>
                            <m:t>𝑄</m:t>
                          </m:r>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𝑆</m:t>
                              </m:r>
                            </m:e>
                            <m:sub>
                              <m:r>
                                <a:rPr lang="en-US" sz="1400" i="1">
                                  <a:latin typeface="Cambria Math" panose="02040503050406030204" pitchFamily="18" charset="0"/>
                                </a:rPr>
                                <m:t>𝑡</m:t>
                              </m:r>
                              <m:r>
                                <a:rPr lang="en-US" sz="1400" i="1">
                                  <a:latin typeface="Cambria Math" panose="02040503050406030204" pitchFamily="18" charset="0"/>
                                </a:rPr>
                                <m:t>+1</m:t>
                              </m:r>
                            </m:sub>
                          </m:sSub>
                          <m:r>
                            <a:rPr lang="en-US" sz="1400" b="0" i="1" smtClean="0">
                              <a:latin typeface="Cambria Math" panose="02040503050406030204" pitchFamily="18" charset="0"/>
                            </a:rPr>
                            <m:t>,</m:t>
                          </m:r>
                          <m:r>
                            <a:rPr lang="en-US" sz="1400" b="0" i="1" smtClean="0">
                              <a:latin typeface="Cambria Math" panose="02040503050406030204" pitchFamily="18" charset="0"/>
                            </a:rPr>
                            <m:t>𝑎</m:t>
                          </m:r>
                          <m:r>
                            <a:rPr lang="en-US" sz="1400" i="1">
                              <a:latin typeface="Cambria Math" panose="02040503050406030204" pitchFamily="18" charset="0"/>
                            </a:rPr>
                            <m:t>)</m:t>
                          </m:r>
                        </m:e>
                      </m:func>
                    </m:oMath>
                  </m:oMathPara>
                </a14:m>
                <a:endParaRPr lang="en-US" sz="1400" dirty="0"/>
              </a:p>
            </p:txBody>
          </p:sp>
        </mc:Choice>
        <mc:Fallback xmlns="">
          <p:sp>
            <p:nvSpPr>
              <p:cNvPr id="29" name="TextBox 28" descr="Equation: U equals R sub t plus 1, plus gamma max over a, of Q(S sub t plus 1,a)">
                <a:extLst>
                  <a:ext uri="{FF2B5EF4-FFF2-40B4-BE49-F238E27FC236}">
                    <a16:creationId xmlns:a16="http://schemas.microsoft.com/office/drawing/2014/main" id="{910E339F-8641-BC7F-CC47-A19D94CC02F4}"/>
                  </a:ext>
                </a:extLst>
              </p:cNvPr>
              <p:cNvSpPr txBox="1">
                <a:spLocks noRot="1" noChangeAspect="1" noMove="1" noResize="1" noEditPoints="1" noAdjustHandles="1" noChangeArrowheads="1" noChangeShapeType="1" noTextEdit="1"/>
              </p:cNvSpPr>
              <p:nvPr/>
            </p:nvSpPr>
            <p:spPr>
              <a:xfrm>
                <a:off x="4452912" y="3502559"/>
                <a:ext cx="2743202" cy="374205"/>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descr="Equation: U equals R sub t plus 1, plus gamma E sub pi [Q(S sub t plus 1,A sub t plus 1) given S sub t plus 1]">
                <a:extLst>
                  <a:ext uri="{FF2B5EF4-FFF2-40B4-BE49-F238E27FC236}">
                    <a16:creationId xmlns:a16="http://schemas.microsoft.com/office/drawing/2014/main" id="{035652D5-8773-F074-8427-A5AC9770001F}"/>
                  </a:ext>
                </a:extLst>
              </p:cNvPr>
              <p:cNvSpPr txBox="1"/>
              <p:nvPr/>
            </p:nvSpPr>
            <p:spPr>
              <a:xfrm>
                <a:off x="8028263" y="3519297"/>
                <a:ext cx="3020037" cy="307777"/>
              </a:xfrm>
              <a:prstGeom prst="rect">
                <a:avLst/>
              </a:prstGeom>
              <a:noFill/>
            </p:spPr>
            <p:txBody>
              <a:bodyPr wrap="square">
                <a:spAutoFit/>
              </a:bodyPr>
              <a:lstStyle/>
              <a:p>
                <a:pPr/>
                <a14:m>
                  <m:oMathPara xmlns:m="http://schemas.openxmlformats.org/officeDocument/2006/math">
                    <m:oMath>
                      <m:r>
                        <a:rPr lang="en-US" sz="1400" b="0" i="1" smtClean="0">
                          <a:latin typeface="Cambria Math" panose="02040503050406030204" pitchFamily="18" charset="0"/>
                        </a:rPr>
                        <m:t>𝑈</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𝑅</m:t>
                          </m:r>
                        </m:e>
                        <m:sub>
                          <m:r>
                            <a:rPr lang="en-US" sz="1400" b="0" i="1" smtClean="0">
                              <a:latin typeface="Cambria Math" panose="02040503050406030204" pitchFamily="18" charset="0"/>
                            </a:rPr>
                            <m:t>𝑡</m:t>
                          </m:r>
                          <m:r>
                            <a:rPr lang="en-US" sz="1400" b="0" i="1" smtClean="0">
                              <a:latin typeface="Cambria Math" panose="02040503050406030204" pitchFamily="18" charset="0"/>
                            </a:rPr>
                            <m:t>+1</m:t>
                          </m:r>
                        </m:sub>
                      </m:sSub>
                      <m:r>
                        <a:rPr lang="en-US" sz="1400" b="0" i="1" smtClean="0">
                          <a:latin typeface="Cambria Math" panose="02040503050406030204" pitchFamily="18" charset="0"/>
                        </a:rPr>
                        <m:t>+</m:t>
                      </m:r>
                      <m:r>
                        <a:rPr lang="en-US" sz="1400" b="0" i="1" smtClean="0">
                          <a:latin typeface="Cambria Math" panose="02040503050406030204" pitchFamily="18" charset="0"/>
                        </a:rPr>
                        <m:t>𝛾</m:t>
                      </m:r>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𝔼</m:t>
                          </m:r>
                        </m:e>
                        <m:sub>
                          <m:r>
                            <a:rPr lang="en-US" sz="1400" i="1">
                              <a:latin typeface="Cambria Math" panose="02040503050406030204" pitchFamily="18" charset="0"/>
                              <a:ea typeface="Cambria Math" panose="02040503050406030204" pitchFamily="18" charset="0"/>
                            </a:rPr>
                            <m:t>𝜋</m:t>
                          </m:r>
                        </m:sub>
                      </m:sSub>
                      <m:r>
                        <a:rPr lang="en-US" sz="1400" b="0" i="1" smtClean="0">
                          <a:latin typeface="Cambria Math" panose="02040503050406030204" pitchFamily="18" charset="0"/>
                          <a:ea typeface="Cambria Math" panose="02040503050406030204" pitchFamily="18" charset="0"/>
                        </a:rPr>
                        <m:t>[</m:t>
                      </m:r>
                      <m:r>
                        <a:rPr lang="en-US" sz="1400" i="1">
                          <a:latin typeface="Cambria Math" panose="02040503050406030204" pitchFamily="18" charset="0"/>
                        </a:rPr>
                        <m:t>𝑄</m:t>
                      </m:r>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𝑆</m:t>
                          </m:r>
                        </m:e>
                        <m:sub>
                          <m:r>
                            <a:rPr lang="en-US" sz="1400" i="1">
                              <a:latin typeface="Cambria Math" panose="02040503050406030204" pitchFamily="18" charset="0"/>
                            </a:rPr>
                            <m:t>𝑡</m:t>
                          </m:r>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𝐴</m:t>
                          </m:r>
                        </m:e>
                        <m:sub>
                          <m:r>
                            <a:rPr lang="en-US" sz="1400" i="1">
                              <a:latin typeface="Cambria Math" panose="02040503050406030204" pitchFamily="18" charset="0"/>
                            </a:rPr>
                            <m:t>𝑡</m:t>
                          </m:r>
                          <m:r>
                            <a:rPr lang="en-US" sz="1400" i="1">
                              <a:latin typeface="Cambria Math" panose="02040503050406030204" pitchFamily="18" charset="0"/>
                            </a:rPr>
                            <m:t>+1</m:t>
                          </m:r>
                        </m:sub>
                      </m:sSub>
                      <m:r>
                        <a:rPr lang="en-US" sz="1400" i="1">
                          <a:latin typeface="Cambria Math" panose="02040503050406030204" pitchFamily="18" charset="0"/>
                        </a:rPr>
                        <m:t>)</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𝑆</m:t>
                          </m:r>
                        </m:e>
                        <m:sub>
                          <m:r>
                            <a:rPr lang="en-US" sz="1400" b="0" i="1" smtClean="0">
                              <a:latin typeface="Cambria Math" panose="02040503050406030204" pitchFamily="18" charset="0"/>
                            </a:rPr>
                            <m:t>𝑡</m:t>
                          </m:r>
                          <m:r>
                            <a:rPr lang="en-US" sz="1400" b="0" i="1" smtClean="0">
                              <a:latin typeface="Cambria Math" panose="02040503050406030204" pitchFamily="18" charset="0"/>
                            </a:rPr>
                            <m:t>+1</m:t>
                          </m:r>
                        </m:sub>
                      </m:sSub>
                      <m:r>
                        <a:rPr lang="en-US" sz="1400" b="0" i="1" smtClean="0">
                          <a:latin typeface="Cambria Math" panose="02040503050406030204" pitchFamily="18" charset="0"/>
                          <a:ea typeface="Cambria Math" panose="02040503050406030204" pitchFamily="18" charset="0"/>
                        </a:rPr>
                        <m:t>]</m:t>
                      </m:r>
                    </m:oMath>
                  </m:oMathPara>
                </a14:m>
                <a:endParaRPr lang="en-US" sz="1400" dirty="0"/>
              </a:p>
            </p:txBody>
          </p:sp>
        </mc:Choice>
        <mc:Fallback xmlns="">
          <p:sp>
            <p:nvSpPr>
              <p:cNvPr id="31" name="TextBox 30" descr="Equation: U equals R sub t plus 1, plus gamma E sub pi [Q(S sub t plus 1,A sub t plus 1) given S sub t plus 1]">
                <a:extLst>
                  <a:ext uri="{FF2B5EF4-FFF2-40B4-BE49-F238E27FC236}">
                    <a16:creationId xmlns:a16="http://schemas.microsoft.com/office/drawing/2014/main" id="{035652D5-8773-F074-8427-A5AC9770001F}"/>
                  </a:ext>
                </a:extLst>
              </p:cNvPr>
              <p:cNvSpPr txBox="1">
                <a:spLocks noRot="1" noChangeAspect="1" noMove="1" noResize="1" noEditPoints="1" noAdjustHandles="1" noChangeArrowheads="1" noChangeShapeType="1" noTextEdit="1"/>
              </p:cNvSpPr>
              <p:nvPr/>
            </p:nvSpPr>
            <p:spPr>
              <a:xfrm>
                <a:off x="8028263" y="3519297"/>
                <a:ext cx="3020037" cy="307777"/>
              </a:xfrm>
              <a:prstGeom prst="rect">
                <a:avLst/>
              </a:prstGeom>
              <a:blipFill>
                <a:blip r:embed="rId29"/>
                <a:stretch>
                  <a:fillRect b="-7843"/>
                </a:stretch>
              </a:blipFill>
            </p:spPr>
            <p:txBody>
              <a:bodyPr/>
              <a:lstStyle/>
              <a:p>
                <a:r>
                  <a:rPr lang="en-US">
                    <a:noFill/>
                  </a:rPr>
                  <a:t> </a:t>
                </a:r>
              </a:p>
            </p:txBody>
          </p:sp>
        </mc:Fallback>
      </mc:AlternateContent>
      <p:grpSp>
        <p:nvGrpSpPr>
          <p:cNvPr id="26" name="Group 25" descr="Backup diagrams for Q-learning and Expected Sarsa: both start at a state-action pair (filled dot) and lead to the next state (open circle); Q-learning then takes the max over the next actions, while Expected Sarsa averages over all next actions according to the policy. Backup diagram for Sarsa: a state-action pair (filled dot) leads to the next state (open circle) and then the single next action actually chosen (filled dot). Labels: S sub t plus 1; A sub t plus 1; A sub t; R sub t plus 1; max for target policy; E sub pi; Q(S sub t,A sub t); Q(S sub t plus 1,A sub t plus 1).">
            <a:extLst>
              <a:ext uri="{FF2B5EF4-FFF2-40B4-BE49-F238E27FC236}">
                <a16:creationId xmlns:a16="http://schemas.microsoft.com/office/drawing/2014/main" id="{09F3288D-F473-C2C7-1246-80B469AA5262}"/>
              </a:ext>
            </a:extLst>
          </p:cNvPr>
          <p:cNvGrpSpPr/>
          <p:nvPr/>
        </p:nvGrpSpPr>
        <p:grpSpPr>
          <a:xfrm>
            <a:off x="1982784" y="3903929"/>
            <a:ext cx="8738335" cy="1844817"/>
            <a:chOff x="1060946" y="3465626"/>
            <a:chExt cx="9513121" cy="2236901"/>
          </a:xfrm>
        </p:grpSpPr>
        <p:pic>
          <p:nvPicPr>
            <p:cNvPr id="5" name="Picture 4" descr="Backup diagrams for Q-learning and Expected Sarsa: both start at a state-action pair (filled dot) and lead to the next state (open circle); Q-learning then takes the max over the next actions, while Expected Sarsa averages over all next actions according to the policy.">
              <a:extLst>
                <a:ext uri="{FF2B5EF4-FFF2-40B4-BE49-F238E27FC236}">
                  <a16:creationId xmlns:a16="http://schemas.microsoft.com/office/drawing/2014/main" id="{F027D81A-F2A7-9C05-925E-39F3F345BA1A}"/>
                </a:ext>
              </a:extLst>
            </p:cNvPr>
            <p:cNvPicPr>
              <a:picLocks noChangeAspect="1"/>
            </p:cNvPicPr>
            <p:nvPr/>
          </p:nvPicPr>
          <p:blipFill>
            <a:blip r:embed="rId30"/>
            <a:stretch>
              <a:fillRect/>
            </a:stretch>
          </p:blipFill>
          <p:spPr>
            <a:xfrm>
              <a:off x="4839216" y="3473366"/>
              <a:ext cx="5734851" cy="2229161"/>
            </a:xfrm>
            <a:prstGeom prst="rect">
              <a:avLst/>
            </a:prstGeom>
          </p:spPr>
        </p:pic>
        <p:pic>
          <p:nvPicPr>
            <p:cNvPr id="7" name="Picture 6" descr="Backup diagram for Sarsa: a state-action pair (filled dot) leads to the next state (open circle) and then the single next action actually chosen (filled dot).">
              <a:extLst>
                <a:ext uri="{FF2B5EF4-FFF2-40B4-BE49-F238E27FC236}">
                  <a16:creationId xmlns:a16="http://schemas.microsoft.com/office/drawing/2014/main" id="{D1A8F4E1-AA11-EA65-8209-64A2D6CE0DBB}"/>
                </a:ext>
              </a:extLst>
            </p:cNvPr>
            <p:cNvPicPr>
              <a:picLocks noChangeAspect="1"/>
            </p:cNvPicPr>
            <p:nvPr/>
          </p:nvPicPr>
          <p:blipFill>
            <a:blip r:embed="rId31"/>
            <a:stretch>
              <a:fillRect/>
            </a:stretch>
          </p:blipFill>
          <p:spPr>
            <a:xfrm>
              <a:off x="1674287" y="3563867"/>
              <a:ext cx="1038370" cy="2048161"/>
            </a:xfrm>
            <a:prstGeom prst="rect">
              <a:avLst/>
            </a:prstGeom>
          </p:spPr>
        </p:pic>
        <mc:AlternateContent xmlns:mc="http://schemas.openxmlformats.org/markup-compatibility/2006" xmlns:a14="http://schemas.microsoft.com/office/drawing/2010/main">
          <mc:Choice Requires="a14">
            <p:sp>
              <p:nvSpPr>
                <p:cNvPr id="9" name="TextBox 8" descr="Equation: S sub t plus 1">
                  <a:extLst>
                    <a:ext uri="{FF2B5EF4-FFF2-40B4-BE49-F238E27FC236}">
                      <a16:creationId xmlns:a16="http://schemas.microsoft.com/office/drawing/2014/main" id="{7CBB00F4-1A5A-D5B1-1923-30E7AB671293}"/>
                    </a:ext>
                  </a:extLst>
                </p:cNvPr>
                <p:cNvSpPr txBox="1"/>
                <p:nvPr/>
              </p:nvSpPr>
              <p:spPr>
                <a:xfrm>
                  <a:off x="2298329" y="4279191"/>
                  <a:ext cx="650243"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m:oMathPara>
                  </a14:m>
                  <a:endParaRPr lang="en-US" dirty="0"/>
                </a:p>
              </p:txBody>
            </p:sp>
          </mc:Choice>
          <mc:Fallback xmlns="">
            <p:sp>
              <p:nvSpPr>
                <p:cNvPr id="9" name="TextBox 8" descr="Equation: S sub t plus 1">
                  <a:extLst>
                    <a:ext uri="{FF2B5EF4-FFF2-40B4-BE49-F238E27FC236}">
                      <a16:creationId xmlns:a16="http://schemas.microsoft.com/office/drawing/2014/main" id="{7CBB00F4-1A5A-D5B1-1923-30E7AB671293}"/>
                    </a:ext>
                  </a:extLst>
                </p:cNvPr>
                <p:cNvSpPr txBox="1">
                  <a:spLocks noRot="1" noChangeAspect="1" noMove="1" noResize="1" noEditPoints="1" noAdjustHandles="1" noChangeArrowheads="1" noChangeShapeType="1" noTextEdit="1"/>
                </p:cNvSpPr>
                <p:nvPr/>
              </p:nvSpPr>
              <p:spPr>
                <a:xfrm>
                  <a:off x="2298329" y="4279191"/>
                  <a:ext cx="650243"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descr="Equation: A sub t plus 1">
                  <a:extLst>
                    <a:ext uri="{FF2B5EF4-FFF2-40B4-BE49-F238E27FC236}">
                      <a16:creationId xmlns:a16="http://schemas.microsoft.com/office/drawing/2014/main" id="{AAD4DCAB-8567-439C-FC82-BD0F72977E73}"/>
                    </a:ext>
                  </a:extLst>
                </p:cNvPr>
                <p:cNvSpPr txBox="1"/>
                <p:nvPr/>
              </p:nvSpPr>
              <p:spPr>
                <a:xfrm>
                  <a:off x="2298330" y="4928856"/>
                  <a:ext cx="602038"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m:oMathPara>
                  </a14:m>
                  <a:endParaRPr lang="en-US" dirty="0"/>
                </a:p>
              </p:txBody>
            </p:sp>
          </mc:Choice>
          <mc:Fallback xmlns="">
            <p:sp>
              <p:nvSpPr>
                <p:cNvPr id="11" name="TextBox 10" descr="Equation: A sub t plus 1">
                  <a:extLst>
                    <a:ext uri="{FF2B5EF4-FFF2-40B4-BE49-F238E27FC236}">
                      <a16:creationId xmlns:a16="http://schemas.microsoft.com/office/drawing/2014/main" id="{AAD4DCAB-8567-439C-FC82-BD0F72977E73}"/>
                    </a:ext>
                  </a:extLst>
                </p:cNvPr>
                <p:cNvSpPr txBox="1">
                  <a:spLocks noRot="1" noChangeAspect="1" noMove="1" noResize="1" noEditPoints="1" noAdjustHandles="1" noChangeArrowheads="1" noChangeShapeType="1" noTextEdit="1"/>
                </p:cNvSpPr>
                <p:nvPr/>
              </p:nvSpPr>
              <p:spPr>
                <a:xfrm>
                  <a:off x="2298330" y="4928856"/>
                  <a:ext cx="602038"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descr="Equation: A sub t">
                  <a:extLst>
                    <a:ext uri="{FF2B5EF4-FFF2-40B4-BE49-F238E27FC236}">
                      <a16:creationId xmlns:a16="http://schemas.microsoft.com/office/drawing/2014/main" id="{AE811601-E15B-A2EA-6A3C-8E69FECEDE50}"/>
                    </a:ext>
                  </a:extLst>
                </p:cNvPr>
                <p:cNvSpPr txBox="1"/>
                <p:nvPr/>
              </p:nvSpPr>
              <p:spPr>
                <a:xfrm>
                  <a:off x="2186529" y="3608229"/>
                  <a:ext cx="602038" cy="369332"/>
                </a:xfrm>
                <a:prstGeom prst="rect">
                  <a:avLst/>
                </a:prstGeom>
                <a:noFill/>
              </p:spPr>
              <p:txBody>
                <a:bodyPr wrap="square">
                  <a:spAutoFit/>
                </a:bodyPr>
                <a:lstStyle/>
                <a:p>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oMath>
                    </m:oMathPara>
                  </a14:m>
                  <a:endParaRPr lang="en-US" dirty="0"/>
                </a:p>
              </p:txBody>
            </p:sp>
          </mc:Choice>
          <mc:Fallback xmlns="">
            <p:sp>
              <p:nvSpPr>
                <p:cNvPr id="12" name="TextBox 11" descr="Equation: A sub t">
                  <a:extLst>
                    <a:ext uri="{FF2B5EF4-FFF2-40B4-BE49-F238E27FC236}">
                      <a16:creationId xmlns:a16="http://schemas.microsoft.com/office/drawing/2014/main" id="{AE811601-E15B-A2EA-6A3C-8E69FECEDE50}"/>
                    </a:ext>
                  </a:extLst>
                </p:cNvPr>
                <p:cNvSpPr txBox="1">
                  <a:spLocks noRot="1" noChangeAspect="1" noMove="1" noResize="1" noEditPoints="1" noAdjustHandles="1" noChangeArrowheads="1" noChangeShapeType="1" noTextEdit="1"/>
                </p:cNvSpPr>
                <p:nvPr/>
              </p:nvSpPr>
              <p:spPr>
                <a:xfrm>
                  <a:off x="2186529" y="3608229"/>
                  <a:ext cx="602038"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descr="Equation: R sub t plus 1">
                  <a:extLst>
                    <a:ext uri="{FF2B5EF4-FFF2-40B4-BE49-F238E27FC236}">
                      <a16:creationId xmlns:a16="http://schemas.microsoft.com/office/drawing/2014/main" id="{AF84C7A8-3D3A-7BB1-3E84-0C6C6A718B86}"/>
                    </a:ext>
                  </a:extLst>
                </p:cNvPr>
                <p:cNvSpPr txBox="1"/>
                <p:nvPr/>
              </p:nvSpPr>
              <p:spPr>
                <a:xfrm>
                  <a:off x="1565065" y="3840991"/>
                  <a:ext cx="602038" cy="369331"/>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i="1">
                                <a:latin typeface="Cambria Math" panose="02040503050406030204" pitchFamily="18" charset="0"/>
                              </a:rPr>
                              <m:t>𝑡</m:t>
                            </m:r>
                            <m:r>
                              <a:rPr lang="en-US" b="0" i="1" smtClean="0">
                                <a:latin typeface="Cambria Math" panose="02040503050406030204" pitchFamily="18" charset="0"/>
                              </a:rPr>
                              <m:t>+1</m:t>
                            </m:r>
                          </m:sub>
                        </m:sSub>
                      </m:oMath>
                    </m:oMathPara>
                  </a14:m>
                  <a:endParaRPr lang="en-US" dirty="0"/>
                </a:p>
              </p:txBody>
            </p:sp>
          </mc:Choice>
          <mc:Fallback xmlns="">
            <p:sp>
              <p:nvSpPr>
                <p:cNvPr id="13" name="TextBox 12" descr="Equation: R sub t plus 1">
                  <a:extLst>
                    <a:ext uri="{FF2B5EF4-FFF2-40B4-BE49-F238E27FC236}">
                      <a16:creationId xmlns:a16="http://schemas.microsoft.com/office/drawing/2014/main" id="{AF84C7A8-3D3A-7BB1-3E84-0C6C6A718B86}"/>
                    </a:ext>
                  </a:extLst>
                </p:cNvPr>
                <p:cNvSpPr txBox="1">
                  <a:spLocks noRot="1" noChangeAspect="1" noMove="1" noResize="1" noEditPoints="1" noAdjustHandles="1" noChangeArrowheads="1" noChangeShapeType="1" noTextEdit="1"/>
                </p:cNvSpPr>
                <p:nvPr/>
              </p:nvSpPr>
              <p:spPr>
                <a:xfrm>
                  <a:off x="1565065" y="3840991"/>
                  <a:ext cx="602038" cy="369331"/>
                </a:xfrm>
                <a:prstGeom prst="rect">
                  <a:avLst/>
                </a:prstGeom>
                <a:blipFill>
                  <a:blip r:embed="rId20"/>
                  <a:stretch>
                    <a:fillRect r="-5495"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descr="max for target policy">
                  <a:extLst>
                    <a:ext uri="{FF2B5EF4-FFF2-40B4-BE49-F238E27FC236}">
                      <a16:creationId xmlns:a16="http://schemas.microsoft.com/office/drawing/2014/main" id="{89506427-5DBB-46F6-7064-8C167FF27BD1}"/>
                    </a:ext>
                  </a:extLst>
                </p:cNvPr>
                <p:cNvSpPr txBox="1"/>
                <p:nvPr/>
              </p:nvSpPr>
              <p:spPr>
                <a:xfrm>
                  <a:off x="5855865" y="4536817"/>
                  <a:ext cx="1656131" cy="335870"/>
                </a:xfrm>
                <a:prstGeom prst="rect">
                  <a:avLst/>
                </a:prstGeom>
                <a:noFill/>
              </p:spPr>
              <p:txBody>
                <a:bodyPr wrap="none" rtlCol="0">
                  <a:spAutoFit/>
                </a:bodyPr>
                <a:lstStyle/>
                <a:p>
                  <a14:m>
                    <m:oMath xmlns:m="http://schemas.openxmlformats.org/officeDocument/2006/math">
                      <m:r>
                        <m:rPr>
                          <m:nor/>
                        </m:rPr>
                        <a:rPr lang="en-US" sz="1200" b="0" i="0" smtClean="0">
                          <a:latin typeface="Cambria Math" panose="02040503050406030204" pitchFamily="18" charset="0"/>
                        </a:rPr>
                        <m:t>max</m:t>
                      </m:r>
                    </m:oMath>
                  </a14:m>
                  <a:r>
                    <a:rPr lang="en-US" sz="1200" dirty="0"/>
                    <a:t> for target policy</a:t>
                  </a:r>
                </a:p>
              </p:txBody>
            </p:sp>
          </mc:Choice>
          <mc:Fallback xmlns="">
            <p:sp>
              <p:nvSpPr>
                <p:cNvPr id="14" name="TextBox 13" descr="max for target policy">
                  <a:extLst>
                    <a:ext uri="{FF2B5EF4-FFF2-40B4-BE49-F238E27FC236}">
                      <a16:creationId xmlns:a16="http://schemas.microsoft.com/office/drawing/2014/main" id="{89506427-5DBB-46F6-7064-8C167FF27BD1}"/>
                    </a:ext>
                  </a:extLst>
                </p:cNvPr>
                <p:cNvSpPr txBox="1">
                  <a:spLocks noRot="1" noChangeAspect="1" noMove="1" noResize="1" noEditPoints="1" noAdjustHandles="1" noChangeArrowheads="1" noChangeShapeType="1" noTextEdit="1"/>
                </p:cNvSpPr>
                <p:nvPr/>
              </p:nvSpPr>
              <p:spPr>
                <a:xfrm>
                  <a:off x="5855865" y="4536817"/>
                  <a:ext cx="1656131" cy="335870"/>
                </a:xfrm>
                <a:prstGeom prst="rect">
                  <a:avLst/>
                </a:prstGeom>
                <a:blipFill>
                  <a:blip r:embed="rId21"/>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descr="Equation: E sub pi">
                  <a:extLst>
                    <a:ext uri="{FF2B5EF4-FFF2-40B4-BE49-F238E27FC236}">
                      <a16:creationId xmlns:a16="http://schemas.microsoft.com/office/drawing/2014/main" id="{21540664-58DD-C85E-EB0B-3CF84B97E40F}"/>
                    </a:ext>
                  </a:extLst>
                </p:cNvPr>
                <p:cNvSpPr txBox="1"/>
                <p:nvPr/>
              </p:nvSpPr>
              <p:spPr>
                <a:xfrm>
                  <a:off x="9638555" y="4403280"/>
                  <a:ext cx="502381" cy="369331"/>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𝜋</m:t>
                            </m:r>
                          </m:sub>
                        </m:sSub>
                      </m:oMath>
                    </m:oMathPara>
                  </a14:m>
                  <a:endParaRPr lang="en-US" dirty="0"/>
                </a:p>
              </p:txBody>
            </p:sp>
          </mc:Choice>
          <mc:Fallback xmlns="">
            <p:sp>
              <p:nvSpPr>
                <p:cNvPr id="15" name="TextBox 14" descr="Equation: E sub pi">
                  <a:extLst>
                    <a:ext uri="{FF2B5EF4-FFF2-40B4-BE49-F238E27FC236}">
                      <a16:creationId xmlns:a16="http://schemas.microsoft.com/office/drawing/2014/main" id="{21540664-58DD-C85E-EB0B-3CF84B97E40F}"/>
                    </a:ext>
                  </a:extLst>
                </p:cNvPr>
                <p:cNvSpPr txBox="1">
                  <a:spLocks noRot="1" noChangeAspect="1" noMove="1" noResize="1" noEditPoints="1" noAdjustHandles="1" noChangeArrowheads="1" noChangeShapeType="1" noTextEdit="1"/>
                </p:cNvSpPr>
                <p:nvPr/>
              </p:nvSpPr>
              <p:spPr>
                <a:xfrm>
                  <a:off x="9638555" y="4403280"/>
                  <a:ext cx="502381" cy="369331"/>
                </a:xfrm>
                <a:prstGeom prst="rect">
                  <a:avLst/>
                </a:prstGeom>
                <a:blipFill>
                  <a:blip r:embed="rId22"/>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descr="Equation: Q(S sub t,A sub t)">
                  <a:extLst>
                    <a:ext uri="{FF2B5EF4-FFF2-40B4-BE49-F238E27FC236}">
                      <a16:creationId xmlns:a16="http://schemas.microsoft.com/office/drawing/2014/main" id="{717A05C8-9D4E-0A8E-804D-7A3D0FA404D5}"/>
                    </a:ext>
                  </a:extLst>
                </p:cNvPr>
                <p:cNvSpPr txBox="1"/>
                <p:nvPr/>
              </p:nvSpPr>
              <p:spPr>
                <a:xfrm>
                  <a:off x="1438370" y="3465626"/>
                  <a:ext cx="1049672" cy="285206"/>
                </a:xfrm>
                <a:prstGeom prst="rect">
                  <a:avLst/>
                </a:prstGeom>
                <a:noFill/>
              </p:spPr>
              <p:txBody>
                <a:bodyPr wrap="square">
                  <a:spAutoFit/>
                </a:bodyPr>
                <a:lstStyle/>
                <a:p>
                  <a:pPr/>
                  <a14:m>
                    <m:oMathPara xmlns:m="http://schemas.openxmlformats.org/officeDocument/2006/math">
                      <m:oMath>
                        <m:r>
                          <a:rPr lang="en-US" sz="1200" b="0" i="1" smtClean="0">
                            <a:latin typeface="Cambria Math" panose="02040503050406030204" pitchFamily="18" charset="0"/>
                          </a:rPr>
                          <m:t>𝑄</m:t>
                        </m:r>
                        <m:r>
                          <a:rPr lang="en-US" sz="120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𝐴</m:t>
                            </m:r>
                          </m:e>
                          <m:sub>
                            <m:r>
                              <a:rPr lang="en-US" sz="1200" b="0" i="1" smtClean="0">
                                <a:latin typeface="Cambria Math" panose="02040503050406030204" pitchFamily="18" charset="0"/>
                              </a:rPr>
                              <m:t>𝑡</m:t>
                            </m:r>
                          </m:sub>
                        </m:sSub>
                        <m:r>
                          <a:rPr lang="en-US" sz="1200" i="1">
                            <a:latin typeface="Cambria Math" panose="02040503050406030204" pitchFamily="18" charset="0"/>
                          </a:rPr>
                          <m:t>)</m:t>
                        </m:r>
                      </m:oMath>
                    </m:oMathPara>
                  </a14:m>
                  <a:endParaRPr lang="en-US" sz="1200" dirty="0"/>
                </a:p>
              </p:txBody>
            </p:sp>
          </mc:Choice>
          <mc:Fallback xmlns="">
            <p:sp>
              <p:nvSpPr>
                <p:cNvPr id="24" name="TextBox 23" descr="Equation: Q(S sub t,A sub t)">
                  <a:extLst>
                    <a:ext uri="{FF2B5EF4-FFF2-40B4-BE49-F238E27FC236}">
                      <a16:creationId xmlns:a16="http://schemas.microsoft.com/office/drawing/2014/main" id="{717A05C8-9D4E-0A8E-804D-7A3D0FA404D5}"/>
                    </a:ext>
                  </a:extLst>
                </p:cNvPr>
                <p:cNvSpPr txBox="1">
                  <a:spLocks noRot="1" noChangeAspect="1" noMove="1" noResize="1" noEditPoints="1" noAdjustHandles="1" noChangeArrowheads="1" noChangeShapeType="1" noTextEdit="1"/>
                </p:cNvSpPr>
                <p:nvPr/>
              </p:nvSpPr>
              <p:spPr>
                <a:xfrm>
                  <a:off x="1438370" y="3465626"/>
                  <a:ext cx="1049672" cy="285206"/>
                </a:xfrm>
                <a:prstGeom prst="rect">
                  <a:avLst/>
                </a:prstGeom>
                <a:blipFill>
                  <a:blip r:embed="rId23"/>
                  <a:stretch>
                    <a:fillRect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descr="Equation: Q(S sub t plus 1,A sub t plus 1)">
                  <a:extLst>
                    <a:ext uri="{FF2B5EF4-FFF2-40B4-BE49-F238E27FC236}">
                      <a16:creationId xmlns:a16="http://schemas.microsoft.com/office/drawing/2014/main" id="{BEED65E4-42A0-CD95-0366-21CE381124C2}"/>
                    </a:ext>
                  </a:extLst>
                </p:cNvPr>
                <p:cNvSpPr txBox="1"/>
                <p:nvPr/>
              </p:nvSpPr>
              <p:spPr>
                <a:xfrm>
                  <a:off x="1060946" y="4925512"/>
                  <a:ext cx="1049672" cy="276999"/>
                </a:xfrm>
                <a:prstGeom prst="rect">
                  <a:avLst/>
                </a:prstGeom>
                <a:noFill/>
              </p:spPr>
              <p:txBody>
                <a:bodyPr wrap="square">
                  <a:spAutoFit/>
                </a:bodyPr>
                <a:lstStyle/>
                <a:p>
                  <a:pPr/>
                  <a14:m>
                    <m:oMathPara xmlns:m="http://schemas.openxmlformats.org/officeDocument/2006/math">
                      <m:oMath>
                        <m:r>
                          <a:rPr lang="en-US" sz="1200" b="0" i="1" smtClean="0">
                            <a:latin typeface="Cambria Math" panose="02040503050406030204" pitchFamily="18" charset="0"/>
                          </a:rPr>
                          <m:t>𝑄</m:t>
                        </m:r>
                        <m:r>
                          <a:rPr lang="en-US" sz="120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𝑡</m:t>
                            </m:r>
                            <m:r>
                              <a:rPr lang="en-US" sz="1200" i="1">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𝐴</m:t>
                            </m:r>
                          </m:e>
                          <m:sub>
                            <m:r>
                              <a:rPr lang="en-US" sz="1200" b="0" i="1" smtClean="0">
                                <a:latin typeface="Cambria Math" panose="02040503050406030204" pitchFamily="18" charset="0"/>
                              </a:rPr>
                              <m:t>𝑡</m:t>
                            </m:r>
                            <m:r>
                              <a:rPr lang="en-US" sz="1200" b="0" i="1" smtClean="0">
                                <a:latin typeface="Cambria Math" panose="02040503050406030204" pitchFamily="18" charset="0"/>
                              </a:rPr>
                              <m:t>+1</m:t>
                            </m:r>
                          </m:sub>
                        </m:sSub>
                        <m:r>
                          <a:rPr lang="en-US" sz="1200" i="1">
                            <a:latin typeface="Cambria Math" panose="02040503050406030204" pitchFamily="18" charset="0"/>
                          </a:rPr>
                          <m:t>)</m:t>
                        </m:r>
                      </m:oMath>
                    </m:oMathPara>
                  </a14:m>
                  <a:endParaRPr lang="en-US" sz="1200" dirty="0"/>
                </a:p>
              </p:txBody>
            </p:sp>
          </mc:Choice>
          <mc:Fallback xmlns="">
            <p:sp>
              <p:nvSpPr>
                <p:cNvPr id="25" name="TextBox 24" descr="Equation: Q(S sub t plus 1,A sub t plus 1)">
                  <a:extLst>
                    <a:ext uri="{FF2B5EF4-FFF2-40B4-BE49-F238E27FC236}">
                      <a16:creationId xmlns:a16="http://schemas.microsoft.com/office/drawing/2014/main" id="{BEED65E4-42A0-CD95-0366-21CE381124C2}"/>
                    </a:ext>
                  </a:extLst>
                </p:cNvPr>
                <p:cNvSpPr txBox="1">
                  <a:spLocks noRot="1" noChangeAspect="1" noMove="1" noResize="1" noEditPoints="1" noAdjustHandles="1" noChangeArrowheads="1" noChangeShapeType="1" noTextEdit="1"/>
                </p:cNvSpPr>
                <p:nvPr/>
              </p:nvSpPr>
              <p:spPr>
                <a:xfrm>
                  <a:off x="1060946" y="4925512"/>
                  <a:ext cx="1049672" cy="276999"/>
                </a:xfrm>
                <a:prstGeom prst="rect">
                  <a:avLst/>
                </a:prstGeom>
                <a:blipFill>
                  <a:blip r:embed="rId24"/>
                  <a:stretch>
                    <a:fillRect r="-8228" b="-32432"/>
                  </a:stretch>
                </a:blipFill>
              </p:spPr>
              <p:txBody>
                <a:bodyPr/>
                <a:lstStyle/>
                <a:p>
                  <a:r>
                    <a:rPr lang="en-US">
                      <a:noFill/>
                    </a:rPr>
                    <a:t> </a:t>
                  </a:r>
                </a:p>
              </p:txBody>
            </p:sp>
          </mc:Fallback>
        </mc:AlternateContent>
      </p:grpSp>
      <p:sp>
        <p:nvSpPr>
          <p:cNvPr id="8" name="TextBox 7">
            <a:extLst>
              <a:ext uri="{FF2B5EF4-FFF2-40B4-BE49-F238E27FC236}">
                <a16:creationId xmlns:a16="http://schemas.microsoft.com/office/drawing/2014/main" id="{CF719737-7B4F-FA5F-52DC-A6E0F7264BD2}"/>
              </a:ext>
            </a:extLst>
          </p:cNvPr>
          <p:cNvSpPr txBox="1"/>
          <p:nvPr/>
        </p:nvSpPr>
        <p:spPr>
          <a:xfrm>
            <a:off x="1260901" y="5748746"/>
            <a:ext cx="3192011" cy="523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sz="1400" dirty="0"/>
              <a:t>On-policy: Updates with a next action following the learned policy.</a:t>
            </a:r>
          </a:p>
        </p:txBody>
      </p:sp>
      <p:sp>
        <p:nvSpPr>
          <p:cNvPr id="16" name="TextBox 15">
            <a:extLst>
              <a:ext uri="{FF2B5EF4-FFF2-40B4-BE49-F238E27FC236}">
                <a16:creationId xmlns:a16="http://schemas.microsoft.com/office/drawing/2014/main" id="{A36F83D4-BFF1-A102-5C24-A229A3E27595}"/>
              </a:ext>
            </a:extLst>
          </p:cNvPr>
          <p:cNvSpPr txBox="1"/>
          <p:nvPr/>
        </p:nvSpPr>
        <p:spPr>
          <a:xfrm>
            <a:off x="4732910" y="5748746"/>
            <a:ext cx="3058131" cy="523220"/>
          </a:xfrm>
          <a:prstGeom prst="rect">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sz="1400" dirty="0"/>
              <a:t>Off-policy: Updates with the best next action for the target policy.</a:t>
            </a:r>
          </a:p>
        </p:txBody>
      </p:sp>
      <p:sp>
        <p:nvSpPr>
          <p:cNvPr id="27" name="TextBox 26">
            <a:extLst>
              <a:ext uri="{FF2B5EF4-FFF2-40B4-BE49-F238E27FC236}">
                <a16:creationId xmlns:a16="http://schemas.microsoft.com/office/drawing/2014/main" id="{B3A6C9EB-1E75-1DA2-416B-203908B586D6}"/>
              </a:ext>
            </a:extLst>
          </p:cNvPr>
          <p:cNvSpPr txBox="1"/>
          <p:nvPr/>
        </p:nvSpPr>
        <p:spPr>
          <a:xfrm>
            <a:off x="8028264" y="5748746"/>
            <a:ext cx="3460459"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400" dirty="0"/>
              <a:t>On-policy: Updates with the expectation over the action for the learned policy.</a:t>
            </a:r>
          </a:p>
        </p:txBody>
      </p:sp>
    </p:spTree>
    <p:extLst>
      <p:ext uri="{BB962C8B-B14F-4D97-AF65-F5344CB8AC3E}">
        <p14:creationId xmlns:p14="http://schemas.microsoft.com/office/powerpoint/2010/main" val="22334048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8276F-7795-B966-030F-FCC3849991EC}"/>
              </a:ext>
            </a:extLst>
          </p:cNvPr>
          <p:cNvSpPr>
            <a:spLocks noGrp="1"/>
          </p:cNvSpPr>
          <p:nvPr>
            <p:ph type="title"/>
          </p:nvPr>
        </p:nvSpPr>
        <p:spPr>
          <a:xfrm>
            <a:off x="838200" y="365126"/>
            <a:ext cx="5052934" cy="759072"/>
          </a:xfrm>
        </p:spPr>
        <p:txBody>
          <a:bodyPr/>
          <a:lstStyle/>
          <a:p>
            <a:r>
              <a:rPr lang="en-US" dirty="0"/>
              <a:t>Sarsa vs. Q-Learning</a:t>
            </a:r>
          </a:p>
        </p:txBody>
      </p:sp>
      <p:sp>
        <p:nvSpPr>
          <p:cNvPr id="3" name="Content Placeholder 2">
            <a:extLst>
              <a:ext uri="{FF2B5EF4-FFF2-40B4-BE49-F238E27FC236}">
                <a16:creationId xmlns:a16="http://schemas.microsoft.com/office/drawing/2014/main" id="{E6C98B4E-B7CF-E345-6580-CEE34C1DC678}"/>
              </a:ext>
            </a:extLst>
          </p:cNvPr>
          <p:cNvSpPr>
            <a:spLocks noGrp="1"/>
          </p:cNvSpPr>
          <p:nvPr>
            <p:ph idx="1"/>
          </p:nvPr>
        </p:nvSpPr>
        <p:spPr>
          <a:xfrm>
            <a:off x="838200" y="1397330"/>
            <a:ext cx="4403895" cy="4779633"/>
          </a:xfrm>
        </p:spPr>
        <p:txBody>
          <a:bodyPr>
            <a:normAutofit/>
          </a:bodyPr>
          <a:lstStyle/>
          <a:p>
            <a:r>
              <a:rPr lang="en-US" sz="1800" b="1" dirty="0"/>
              <a:t>Cliff Walking</a:t>
            </a:r>
            <a:r>
              <a:rPr lang="en-US" sz="1800" dirty="0"/>
              <a:t>: Consider the grid world shown to the right. </a:t>
            </a:r>
          </a:p>
          <a:p>
            <a:r>
              <a:rPr lang="en-US" sz="1800" dirty="0"/>
              <a:t>This is a standard, undiscounted, episodic task with start and goal states.</a:t>
            </a:r>
          </a:p>
          <a:p>
            <a:r>
              <a:rPr lang="en-US" sz="1800" dirty="0"/>
              <a:t>Actions causing movement up, down, right, and left. </a:t>
            </a:r>
          </a:p>
          <a:p>
            <a:r>
              <a:rPr lang="en-US" sz="1800" dirty="0"/>
              <a:t>Reward is −1 on all transitions except those into the region marked “The Cliff.” Stepping into this region incurs a reward of −100 and sends the agent instantly back to the start.</a:t>
            </a:r>
          </a:p>
        </p:txBody>
      </p:sp>
      <p:pic>
        <p:nvPicPr>
          <p:cNvPr id="5" name="Picture 4" descr="Cliff walking gridworld (Sutton and Barto Example 6.6): a 4 by 12 grid with start S at the bottom left, goal G at the bottom right and the cliff along the bottom row between them. Every step costs a reward of −1; stepping into the cliff gives −100 and sends the agent back to S (green arrows). The optimal path (red) runs along the edge of the cliff; the safer path (blue) goes up to the top row and around.">
            <a:extLst>
              <a:ext uri="{FF2B5EF4-FFF2-40B4-BE49-F238E27FC236}">
                <a16:creationId xmlns:a16="http://schemas.microsoft.com/office/drawing/2014/main" id="{BF19A7B5-A9CC-EE24-F78E-F3E2FA24D35A}"/>
              </a:ext>
            </a:extLst>
          </p:cNvPr>
          <p:cNvPicPr>
            <a:picLocks noChangeAspect="1"/>
          </p:cNvPicPr>
          <p:nvPr/>
        </p:nvPicPr>
        <p:blipFill>
          <a:blip r:embed="rId2"/>
          <a:stretch>
            <a:fillRect/>
          </a:stretch>
        </p:blipFill>
        <p:spPr>
          <a:xfrm>
            <a:off x="5798274" y="240397"/>
            <a:ext cx="5979790" cy="3006931"/>
          </a:xfrm>
          <a:prstGeom prst="rect">
            <a:avLst/>
          </a:prstGeom>
        </p:spPr>
      </p:pic>
      <p:pic>
        <p:nvPicPr>
          <p:cNvPr id="7" name="Picture 6" descr="Line chart of sum of rewards during episode (−100 to about −20) against episodes (0 to 500) on the cliff-walking task. After a quick rise in the first few episodes, Sarsa (blue) stays around −25 and Q-learning (red) stays lower, around −50, because Q-learning learns the optimal path along the cliff edge and occasionally falls off during epsilon-greedy exploration, while Sarsa learns the safer path.">
            <a:extLst>
              <a:ext uri="{FF2B5EF4-FFF2-40B4-BE49-F238E27FC236}">
                <a16:creationId xmlns:a16="http://schemas.microsoft.com/office/drawing/2014/main" id="{703F5773-6D0D-1D71-F1CD-C7746EF7FC07}"/>
              </a:ext>
            </a:extLst>
          </p:cNvPr>
          <p:cNvPicPr>
            <a:picLocks noChangeAspect="1"/>
          </p:cNvPicPr>
          <p:nvPr/>
        </p:nvPicPr>
        <p:blipFill>
          <a:blip r:embed="rId3"/>
          <a:stretch>
            <a:fillRect/>
          </a:stretch>
        </p:blipFill>
        <p:spPr>
          <a:xfrm>
            <a:off x="6697576" y="3812721"/>
            <a:ext cx="4399920" cy="2904072"/>
          </a:xfrm>
          <a:prstGeom prst="rect">
            <a:avLst/>
          </a:prstGeom>
        </p:spPr>
      </p:pic>
      <mc:AlternateContent xmlns:mc="http://schemas.openxmlformats.org/markup-compatibility/2006" xmlns:a14="http://schemas.microsoft.com/office/drawing/2010/main">
        <mc:Choice Requires="a14">
          <p:sp>
            <p:nvSpPr>
              <p:cNvPr id="9" name="TextBox 8" descr="Performance of the Sarsa and Q-learning with epsilon -greedy action selection, epsilon equals 0.1">
                <a:extLst>
                  <a:ext uri="{FF2B5EF4-FFF2-40B4-BE49-F238E27FC236}">
                    <a16:creationId xmlns:a16="http://schemas.microsoft.com/office/drawing/2014/main" id="{586B79D4-4AA8-3E1C-81C7-278DEEA363AF}"/>
                  </a:ext>
                </a:extLst>
              </p:cNvPr>
              <p:cNvSpPr txBox="1"/>
              <p:nvPr/>
            </p:nvSpPr>
            <p:spPr>
              <a:xfrm>
                <a:off x="6499781" y="3494758"/>
                <a:ext cx="5362044" cy="584775"/>
              </a:xfrm>
              <a:prstGeom prst="rect">
                <a:avLst/>
              </a:prstGeom>
              <a:noFill/>
            </p:spPr>
            <p:txBody>
              <a:bodyPr wrap="square">
                <a:spAutoFit/>
              </a:bodyPr>
              <a:lstStyle/>
              <a:p>
                <a:r>
                  <a:rPr lang="en-US" sz="1600" dirty="0"/>
                  <a:t>Performance of the Sarsa and Q-learning with </a:t>
                </a:r>
                <a14:m>
                  <m:oMath xmlns:m="http://schemas.openxmlformats.org/officeDocument/2006/math">
                    <m:r>
                      <a:rPr lang="en-US" sz="1600" b="0" i="1" smtClean="0">
                        <a:latin typeface="Cambria Math" panose="02040503050406030204" pitchFamily="18" charset="0"/>
                      </a:rPr>
                      <m:t>𝜖</m:t>
                    </m:r>
                  </m:oMath>
                </a14:m>
                <a:r>
                  <a:rPr lang="en-US" sz="1600" dirty="0"/>
                  <a:t>-greedy action selection, </a:t>
                </a:r>
                <a14:m>
                  <m:oMath xmlns:m="http://schemas.openxmlformats.org/officeDocument/2006/math">
                    <m:r>
                      <a:rPr lang="en-US" sz="1600" i="1">
                        <a:latin typeface="Cambria Math" panose="02040503050406030204" pitchFamily="18" charset="0"/>
                      </a:rPr>
                      <m:t>𝜖</m:t>
                    </m:r>
                    <m:r>
                      <a:rPr lang="en-US" sz="1600" b="0" i="1" smtClean="0">
                        <a:latin typeface="Cambria Math" panose="02040503050406030204" pitchFamily="18" charset="0"/>
                      </a:rPr>
                      <m:t>=0.1</m:t>
                    </m:r>
                  </m:oMath>
                </a14:m>
                <a:r>
                  <a:rPr lang="en-US" sz="1600" dirty="0"/>
                  <a:t>.</a:t>
                </a:r>
              </a:p>
            </p:txBody>
          </p:sp>
        </mc:Choice>
        <mc:Fallback xmlns="">
          <p:sp>
            <p:nvSpPr>
              <p:cNvPr id="9" name="TextBox 8" descr="Performance of the Sarsa and Q-learning with epsilon -greedy action selection, epsilon equals 0.1">
                <a:extLst>
                  <a:ext uri="{FF2B5EF4-FFF2-40B4-BE49-F238E27FC236}">
                    <a16:creationId xmlns:a16="http://schemas.microsoft.com/office/drawing/2014/main" id="{586B79D4-4AA8-3E1C-81C7-278DEEA363AF}"/>
                  </a:ext>
                </a:extLst>
              </p:cNvPr>
              <p:cNvSpPr txBox="1">
                <a:spLocks noRot="1" noChangeAspect="1" noMove="1" noResize="1" noEditPoints="1" noAdjustHandles="1" noChangeArrowheads="1" noChangeShapeType="1" noTextEdit="1"/>
              </p:cNvSpPr>
              <p:nvPr/>
            </p:nvSpPr>
            <p:spPr>
              <a:xfrm>
                <a:off x="6499781" y="3494758"/>
                <a:ext cx="5362044" cy="584775"/>
              </a:xfrm>
              <a:prstGeom prst="rect">
                <a:avLst/>
              </a:prstGeom>
              <a:blipFill>
                <a:blip r:embed="rId4"/>
                <a:stretch>
                  <a:fillRect l="-568" t="-3125" b="-12500"/>
                </a:stretch>
              </a:blipFill>
            </p:spPr>
            <p:txBody>
              <a:bodyPr/>
              <a:lstStyle/>
              <a:p>
                <a:r>
                  <a:rPr lang="en-US">
                    <a:noFill/>
                  </a:rPr>
                  <a:t> </a:t>
                </a:r>
              </a:p>
            </p:txBody>
          </p:sp>
        </mc:Fallback>
      </mc:AlternateContent>
      <p:sp>
        <p:nvSpPr>
          <p:cNvPr id="10" name="Speech Bubble: Rectangle with Corners Rounded 9">
            <a:extLst>
              <a:ext uri="{FF2B5EF4-FFF2-40B4-BE49-F238E27FC236}">
                <a16:creationId xmlns:a16="http://schemas.microsoft.com/office/drawing/2014/main" id="{C3FCB8B5-813B-D263-F7C1-1BC210D5ED90}"/>
              </a:ext>
              <a:ext uri="{C183D7F6-B498-43B3-948B-1728B52AA6E4}">
                <adec:decorative xmlns:adec="http://schemas.microsoft.com/office/drawing/2017/decorative" val="0"/>
              </a:ext>
            </a:extLst>
          </p:cNvPr>
          <p:cNvSpPr/>
          <p:nvPr/>
        </p:nvSpPr>
        <p:spPr>
          <a:xfrm>
            <a:off x="10016519" y="5264757"/>
            <a:ext cx="1542614" cy="696293"/>
          </a:xfrm>
          <a:prstGeom prst="wedgeRoundRectCallout">
            <a:avLst>
              <a:gd name="adj1" fmla="val -79398"/>
              <a:gd name="adj2" fmla="val -61806"/>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Why does the optimal path perform worse?</a:t>
            </a:r>
          </a:p>
        </p:txBody>
      </p:sp>
      <p:sp>
        <p:nvSpPr>
          <p:cNvPr id="4" name="Speech Bubble: Rectangle with Corners Rounded 3">
            <a:extLst>
              <a:ext uri="{FF2B5EF4-FFF2-40B4-BE49-F238E27FC236}">
                <a16:creationId xmlns:a16="http://schemas.microsoft.com/office/drawing/2014/main" id="{ED148F4B-5A91-1BFA-41CC-F38800350D33}"/>
              </a:ext>
              <a:ext uri="{C183D7F6-B498-43B3-948B-1728B52AA6E4}">
                <adec:decorative xmlns:adec="http://schemas.microsoft.com/office/drawing/2017/decorative" val="0"/>
              </a:ext>
            </a:extLst>
          </p:cNvPr>
          <p:cNvSpPr/>
          <p:nvPr/>
        </p:nvSpPr>
        <p:spPr>
          <a:xfrm>
            <a:off x="9483681" y="2580760"/>
            <a:ext cx="2608289" cy="696293"/>
          </a:xfrm>
          <a:prstGeom prst="wedgeRoundRectCallout">
            <a:avLst>
              <a:gd name="adj1" fmla="val -39279"/>
              <a:gd name="adj2" fmla="val -27441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Why does Sarsa pick the longer path while Q-Learning finds the optimal path?</a:t>
            </a:r>
          </a:p>
        </p:txBody>
      </p:sp>
    </p:spTree>
    <p:extLst>
      <p:ext uri="{BB962C8B-B14F-4D97-AF65-F5344CB8AC3E}">
        <p14:creationId xmlns:p14="http://schemas.microsoft.com/office/powerpoint/2010/main" val="200063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AA1F0-940C-EE3F-D15D-72C7A6538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9EA57-3578-362D-B879-FA8EDF16DDB6}"/>
              </a:ext>
            </a:extLst>
          </p:cNvPr>
          <p:cNvSpPr>
            <a:spLocks noGrp="1"/>
          </p:cNvSpPr>
          <p:nvPr>
            <p:ph type="title"/>
          </p:nvPr>
        </p:nvSpPr>
        <p:spPr>
          <a:xfrm>
            <a:off x="838200" y="365126"/>
            <a:ext cx="5112895" cy="759072"/>
          </a:xfrm>
        </p:spPr>
        <p:txBody>
          <a:bodyPr>
            <a:normAutofit/>
          </a:bodyPr>
          <a:lstStyle/>
          <a:p>
            <a:r>
              <a:rPr lang="en-US" dirty="0"/>
              <a:t>Sarsa vs. Q-Learning </a:t>
            </a:r>
          </a:p>
        </p:txBody>
      </p:sp>
      <p:sp>
        <p:nvSpPr>
          <p:cNvPr id="3" name="Content Placeholder 2">
            <a:extLst>
              <a:ext uri="{FF2B5EF4-FFF2-40B4-BE49-F238E27FC236}">
                <a16:creationId xmlns:a16="http://schemas.microsoft.com/office/drawing/2014/main" id="{79AD4FE8-3C4E-DC95-0476-B5C6788850F3}"/>
              </a:ext>
            </a:extLst>
          </p:cNvPr>
          <p:cNvSpPr>
            <a:spLocks noGrp="1"/>
          </p:cNvSpPr>
          <p:nvPr>
            <p:ph idx="1"/>
          </p:nvPr>
        </p:nvSpPr>
        <p:spPr>
          <a:xfrm>
            <a:off x="838200" y="1397330"/>
            <a:ext cx="4403895" cy="4779633"/>
          </a:xfrm>
        </p:spPr>
        <p:txBody>
          <a:bodyPr>
            <a:normAutofit/>
          </a:bodyPr>
          <a:lstStyle/>
          <a:p>
            <a:r>
              <a:rPr lang="en-US" sz="1800" b="1" dirty="0"/>
              <a:t>Cliff Walking</a:t>
            </a:r>
            <a:r>
              <a:rPr lang="en-US" sz="1800" dirty="0"/>
              <a:t>: Consider the grid world shown to the right. </a:t>
            </a:r>
          </a:p>
          <a:p>
            <a:r>
              <a:rPr lang="en-US" sz="1800" dirty="0"/>
              <a:t>This is a standard, undiscounted, episodic task with start and goal states.</a:t>
            </a:r>
          </a:p>
          <a:p>
            <a:r>
              <a:rPr lang="en-US" sz="1800" dirty="0"/>
              <a:t>Actions causing movement up, down, right, and left. </a:t>
            </a:r>
          </a:p>
          <a:p>
            <a:r>
              <a:rPr lang="en-US" sz="1800" dirty="0"/>
              <a:t>Reward is −1 on all transitions except those into the region marked “The Cliff.” Stepping into this region incurs a reward of −100 and sends the agent instantly back to the start.</a:t>
            </a:r>
          </a:p>
        </p:txBody>
      </p:sp>
      <p:pic>
        <p:nvPicPr>
          <p:cNvPr id="5" name="Picture 4" descr="Cliff walking gridworld (Sutton and Barto Example 6.6): a 4 by 12 grid with start S at the bottom left, goal G at the bottom right and the cliff along the bottom row between them. Every step costs a reward of −1; stepping into the cliff gives −100 and sends the agent back to S (green arrows). The optimal path (red) runs along the edge of the cliff; the safer path (blue) goes up to the top row and around.">
            <a:extLst>
              <a:ext uri="{FF2B5EF4-FFF2-40B4-BE49-F238E27FC236}">
                <a16:creationId xmlns:a16="http://schemas.microsoft.com/office/drawing/2014/main" id="{CF5B5508-DD84-0561-E4B7-B0A2B44DB81F}"/>
              </a:ext>
            </a:extLst>
          </p:cNvPr>
          <p:cNvPicPr>
            <a:picLocks noChangeAspect="1"/>
          </p:cNvPicPr>
          <p:nvPr/>
        </p:nvPicPr>
        <p:blipFill>
          <a:blip r:embed="rId2"/>
          <a:stretch>
            <a:fillRect/>
          </a:stretch>
        </p:blipFill>
        <p:spPr>
          <a:xfrm>
            <a:off x="5798274" y="240397"/>
            <a:ext cx="5979790" cy="3006931"/>
          </a:xfrm>
          <a:prstGeom prst="rect">
            <a:avLst/>
          </a:prstGeom>
        </p:spPr>
      </p:pic>
      <p:pic>
        <p:nvPicPr>
          <p:cNvPr id="7" name="Picture 6" descr="Line chart of sum of rewards during episode (−100 to about −20) against episodes (0 to 500) on the cliff-walking task. After a quick rise in the first few episodes, Sarsa (blue) stays around −25 and Q-learning (red) stays lower, around −50, because Q-learning learns the optimal path along the cliff edge and occasionally falls off during epsilon-greedy exploration, while Sarsa learns the safer path.">
            <a:extLst>
              <a:ext uri="{FF2B5EF4-FFF2-40B4-BE49-F238E27FC236}">
                <a16:creationId xmlns:a16="http://schemas.microsoft.com/office/drawing/2014/main" id="{4C080FFF-E983-662A-907E-6B5CCFAB97B1}"/>
              </a:ext>
            </a:extLst>
          </p:cNvPr>
          <p:cNvPicPr>
            <a:picLocks noChangeAspect="1"/>
          </p:cNvPicPr>
          <p:nvPr/>
        </p:nvPicPr>
        <p:blipFill>
          <a:blip r:embed="rId3"/>
          <a:stretch>
            <a:fillRect/>
          </a:stretch>
        </p:blipFill>
        <p:spPr>
          <a:xfrm>
            <a:off x="6697576" y="3812721"/>
            <a:ext cx="4399920" cy="2904072"/>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1419248-E32C-E1A5-DA88-F07267441E80}"/>
                  </a:ext>
                  <a:ext uri="{C183D7F6-B498-43B3-948B-1728B52AA6E4}">
                    <adec:decorative xmlns:adec="http://schemas.microsoft.com/office/drawing/2017/decorative" val="1"/>
                  </a:ext>
                </a:extLst>
              </p:cNvPr>
              <p:cNvSpPr txBox="1"/>
              <p:nvPr/>
            </p:nvSpPr>
            <p:spPr>
              <a:xfrm>
                <a:off x="6499781" y="3494758"/>
                <a:ext cx="5362044" cy="584775"/>
              </a:xfrm>
              <a:prstGeom prst="rect">
                <a:avLst/>
              </a:prstGeom>
              <a:noFill/>
            </p:spPr>
            <p:txBody>
              <a:bodyPr wrap="square">
                <a:spAutoFit/>
              </a:bodyPr>
              <a:lstStyle/>
              <a:p>
                <a:r>
                  <a:rPr lang="en-US" sz="1600" dirty="0"/>
                  <a:t>Performance of the Sarsa and Q-learning methods with </a:t>
                </a:r>
                <a14:m>
                  <m:oMath xmlns:m="http://schemas.openxmlformats.org/officeDocument/2006/math">
                    <m:r>
                      <a:rPr lang="en-US" sz="1600" b="0" i="1" smtClean="0">
                        <a:latin typeface="Cambria Math" panose="02040503050406030204" pitchFamily="18" charset="0"/>
                      </a:rPr>
                      <m:t>𝜖</m:t>
                    </m:r>
                  </m:oMath>
                </a14:m>
                <a:r>
                  <a:rPr lang="en-US" sz="1600" dirty="0"/>
                  <a:t>-greedy action selection, </a:t>
                </a:r>
                <a14:m>
                  <m:oMath xmlns:m="http://schemas.openxmlformats.org/officeDocument/2006/math">
                    <m:r>
                      <a:rPr lang="en-US" sz="1600" i="1">
                        <a:latin typeface="Cambria Math" panose="02040503050406030204" pitchFamily="18" charset="0"/>
                      </a:rPr>
                      <m:t>𝜖</m:t>
                    </m:r>
                    <m:r>
                      <a:rPr lang="en-US" sz="1600" b="0" i="1" smtClean="0">
                        <a:latin typeface="Cambria Math" panose="02040503050406030204" pitchFamily="18" charset="0"/>
                      </a:rPr>
                      <m:t>=0.1</m:t>
                    </m:r>
                  </m:oMath>
                </a14:m>
                <a:r>
                  <a:rPr lang="en-US" sz="1600" dirty="0"/>
                  <a:t>.</a:t>
                </a:r>
              </a:p>
            </p:txBody>
          </p:sp>
        </mc:Choice>
        <mc:Fallback>
          <p:sp>
            <p:nvSpPr>
              <p:cNvPr id="9" name="TextBox 8">
                <a:extLst>
                  <a:ext uri="{FF2B5EF4-FFF2-40B4-BE49-F238E27FC236}">
                    <a16:creationId xmlns:a16="http://schemas.microsoft.com/office/drawing/2014/main" id="{41419248-E32C-E1A5-DA88-F07267441E80}"/>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499781" y="3494758"/>
                <a:ext cx="5362044" cy="584775"/>
              </a:xfrm>
              <a:prstGeom prst="rect">
                <a:avLst/>
              </a:prstGeom>
              <a:blipFill>
                <a:blip r:embed="rId4"/>
                <a:stretch>
                  <a:fillRect l="-472" t="-4255" b="-10638"/>
                </a:stretch>
              </a:blipFill>
            </p:spPr>
            <p:txBody>
              <a:bodyPr/>
              <a:lstStyle/>
              <a:p>
                <a:r>
                  <a:rPr lang="en-US">
                    <a:noFill/>
                  </a:rPr>
                  <a:t> </a:t>
                </a:r>
              </a:p>
            </p:txBody>
          </p:sp>
        </mc:Fallback>
      </mc:AlternateContent>
      <p:sp>
        <p:nvSpPr>
          <p:cNvPr id="10" name="Speech Bubble: Rectangle with Corners Rounded 9">
            <a:extLst>
              <a:ext uri="{FF2B5EF4-FFF2-40B4-BE49-F238E27FC236}">
                <a16:creationId xmlns:a16="http://schemas.microsoft.com/office/drawing/2014/main" id="{861BC875-C5BF-4D99-E066-2E9E901055E1}"/>
              </a:ext>
              <a:ext uri="{C183D7F6-B498-43B3-948B-1728B52AA6E4}">
                <adec:decorative xmlns:adec="http://schemas.microsoft.com/office/drawing/2017/decorative" val="1"/>
              </a:ext>
            </a:extLst>
          </p:cNvPr>
          <p:cNvSpPr/>
          <p:nvPr/>
        </p:nvSpPr>
        <p:spPr>
          <a:xfrm>
            <a:off x="10174843" y="4685251"/>
            <a:ext cx="1845306" cy="2031542"/>
          </a:xfrm>
          <a:prstGeom prst="wedgeRoundRectCallout">
            <a:avLst>
              <a:gd name="adj1" fmla="val -84969"/>
              <a:gd name="adj2" fmla="val -31455"/>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100" dirty="0"/>
              <a:t>Q-learning learns the optimal policy, but uses a soft behavior policy to explore. Walking along the cliff with a soft policy is dangerous.</a:t>
            </a:r>
          </a:p>
          <a:p>
            <a:pPr algn="ctr"/>
            <a:r>
              <a:rPr lang="en-US" sz="1100" dirty="0"/>
              <a:t>Once we only follow the learned deterministic  policy, the sum of rewards will be optimal.</a:t>
            </a:r>
          </a:p>
        </p:txBody>
      </p:sp>
      <p:sp>
        <p:nvSpPr>
          <p:cNvPr id="4" name="Speech Bubble: Rectangle with Corners Rounded 3">
            <a:extLst>
              <a:ext uri="{FF2B5EF4-FFF2-40B4-BE49-F238E27FC236}">
                <a16:creationId xmlns:a16="http://schemas.microsoft.com/office/drawing/2014/main" id="{A7881373-FF43-8F96-C27F-EE64A3DDB838}"/>
              </a:ext>
              <a:ext uri="{C183D7F6-B498-43B3-948B-1728B52AA6E4}">
                <adec:decorative xmlns:adec="http://schemas.microsoft.com/office/drawing/2017/decorative" val="1"/>
              </a:ext>
            </a:extLst>
          </p:cNvPr>
          <p:cNvSpPr/>
          <p:nvPr/>
        </p:nvSpPr>
        <p:spPr>
          <a:xfrm>
            <a:off x="9584422" y="2485204"/>
            <a:ext cx="2528384" cy="696293"/>
          </a:xfrm>
          <a:prstGeom prst="wedgeRoundRectCallout">
            <a:avLst>
              <a:gd name="adj1" fmla="val -31027"/>
              <a:gd name="adj2" fmla="val -27084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Sarsa is on-policy and learns a soft policy. Walking along the cliff would be dangerous! Q-Learning learns the optimal deterministic policy.</a:t>
            </a:r>
          </a:p>
        </p:txBody>
      </p:sp>
    </p:spTree>
    <p:extLst>
      <p:ext uri="{BB962C8B-B14F-4D97-AF65-F5344CB8AC3E}">
        <p14:creationId xmlns:p14="http://schemas.microsoft.com/office/powerpoint/2010/main" val="3138592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Sutton and Barto Figure 6.3, a line chart of sum of rewards per episode (from about −160 to 0) against step size alpha (0.1 to 1) for TD control on the cliff-walking task. Asymptotic performance (solid lines): Expected Sarsa stays flat at about −20 for every alpha; Sarsa is close to it at small alpha but falls off sharply above 0.8, reaching about −140 at 0.95; Q-learning is flat at about −50. Interim performance over the first 100 episodes (dotted lines) rises with alpha for all three: Expected Sarsa is best, reaching about −45 near alpha = 1, then Sarsa (best about −70 at 0.9) and Q-learning (best about −73 at 0.9). Solid circles mark each method's best interim performance. Caption: Interim and asymptotic performance of TD control methods on the cliff-walking task as a function of alpha. All algorithms used an epsilon-greedy policy with epsilon = 0.1. Asymptotic performance is an average over 100,000 episodes whereas interim performance is an average over the first 100 episodes. These data are averages of over 50,000 and 10 runs for the interim and asymptotic cases respectively. Adapted from van Seijen et al. (2009).">
            <a:extLst>
              <a:ext uri="{FF2B5EF4-FFF2-40B4-BE49-F238E27FC236}">
                <a16:creationId xmlns:a16="http://schemas.microsoft.com/office/drawing/2014/main" id="{4E47B388-9EDE-BEEF-286A-0670BB57C281}"/>
              </a:ext>
            </a:extLst>
          </p:cNvPr>
          <p:cNvPicPr>
            <a:picLocks noChangeAspect="1"/>
          </p:cNvPicPr>
          <p:nvPr/>
        </p:nvPicPr>
        <p:blipFill>
          <a:blip r:embed="rId2"/>
          <a:stretch>
            <a:fillRect/>
          </a:stretch>
        </p:blipFill>
        <p:spPr>
          <a:xfrm>
            <a:off x="1385118" y="706152"/>
            <a:ext cx="8556776" cy="5995665"/>
          </a:xfrm>
          <a:prstGeom prst="rect">
            <a:avLst/>
          </a:prstGeom>
        </p:spPr>
      </p:pic>
      <p:sp>
        <p:nvSpPr>
          <p:cNvPr id="2" name="Title 1">
            <a:extLst>
              <a:ext uri="{FF2B5EF4-FFF2-40B4-BE49-F238E27FC236}">
                <a16:creationId xmlns:a16="http://schemas.microsoft.com/office/drawing/2014/main" id="{DE6EC57F-A3C1-ECE0-DBDD-E93D09AB1002}"/>
              </a:ext>
            </a:extLst>
          </p:cNvPr>
          <p:cNvSpPr>
            <a:spLocks noGrp="1"/>
          </p:cNvSpPr>
          <p:nvPr>
            <p:ph type="title"/>
          </p:nvPr>
        </p:nvSpPr>
        <p:spPr>
          <a:xfrm>
            <a:off x="838200" y="365126"/>
            <a:ext cx="4446864" cy="1551758"/>
          </a:xfrm>
        </p:spPr>
        <p:txBody>
          <a:bodyPr>
            <a:normAutofit fontScale="90000"/>
          </a:bodyPr>
          <a:lstStyle/>
          <a:p>
            <a:br>
              <a:rPr lang="en-US" dirty="0"/>
            </a:br>
            <a:r>
              <a:rPr lang="en-US" dirty="0"/>
              <a:t>Experimental Comparison</a:t>
            </a:r>
          </a:p>
        </p:txBody>
      </p:sp>
      <mc:AlternateContent xmlns:mc="http://schemas.openxmlformats.org/markup-compatibility/2006" xmlns:a14="http://schemas.microsoft.com/office/drawing/2010/main">
        <mc:Choice Requires="a14">
          <p:sp>
            <p:nvSpPr>
              <p:cNvPr id="3" name="TextBox 2" descr="Observations:. Performance measure is for the behavior policy. Q-Learning learns the optimal policy. Sarsa is very sensitive to alpha ! (asymptotic performance). Expected Sarsa should use alpha equals 1 . For the other methods, alpha is a problem-dependent tuning parameter (solid circles)">
                <a:extLst>
                  <a:ext uri="{FF2B5EF4-FFF2-40B4-BE49-F238E27FC236}">
                    <a16:creationId xmlns:a16="http://schemas.microsoft.com/office/drawing/2014/main" id="{F74FF679-D413-08CA-FBED-60646BE34532}"/>
                  </a:ext>
                </a:extLst>
              </p:cNvPr>
              <p:cNvSpPr txBox="1"/>
              <p:nvPr/>
            </p:nvSpPr>
            <p:spPr>
              <a:xfrm>
                <a:off x="9105053" y="1229193"/>
                <a:ext cx="2660754" cy="353943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Observations</a:t>
                </a:r>
                <a:r>
                  <a:rPr lang="en-US" sz="1600" dirty="0"/>
                  <a:t>:</a:t>
                </a:r>
              </a:p>
              <a:p>
                <a:pPr marL="285750" indent="-285750">
                  <a:buFont typeface="Arial" panose="020B0604020202020204" pitchFamily="34" charset="0"/>
                  <a:buChar char="•"/>
                </a:pPr>
                <a:r>
                  <a:rPr lang="en-US" sz="1600" dirty="0"/>
                  <a:t>Performance measure is for the behavior policy. Q-Learning learns the optimal policy.</a:t>
                </a:r>
              </a:p>
              <a:p>
                <a:pPr marL="285750" indent="-285750">
                  <a:buFont typeface="Arial" panose="020B0604020202020204" pitchFamily="34" charset="0"/>
                  <a:buChar char="•"/>
                </a:pPr>
                <a:r>
                  <a:rPr lang="en-US" sz="1600" dirty="0"/>
                  <a:t>Sarsa is very sensitive to </a:t>
                </a:r>
                <a14:m>
                  <m:oMath xmlns:m="http://schemas.openxmlformats.org/officeDocument/2006/math">
                    <m:r>
                      <a:rPr lang="en-US" sz="1600" b="0" i="1" smtClean="0">
                        <a:latin typeface="Cambria Math" panose="02040503050406030204" pitchFamily="18" charset="0"/>
                      </a:rPr>
                      <m:t>𝛼</m:t>
                    </m:r>
                  </m:oMath>
                </a14:m>
                <a:r>
                  <a:rPr lang="en-US" sz="1600" dirty="0"/>
                  <a:t>! (asymptotic performance).</a:t>
                </a:r>
              </a:p>
              <a:p>
                <a:pPr marL="285750" indent="-285750">
                  <a:buFont typeface="Arial" panose="020B0604020202020204" pitchFamily="34" charset="0"/>
                  <a:buChar char="•"/>
                </a:pPr>
                <a:r>
                  <a:rPr lang="en-US" sz="1600" dirty="0"/>
                  <a:t>Expected Sarsa should use </a:t>
                </a:r>
                <a14:m>
                  <m:oMath xmlns:m="http://schemas.openxmlformats.org/officeDocument/2006/math">
                    <m:r>
                      <a:rPr lang="en-US" sz="1600" b="0" i="1" smtClean="0">
                        <a:latin typeface="Cambria Math" panose="02040503050406030204" pitchFamily="18" charset="0"/>
                      </a:rPr>
                      <m:t>𝛼</m:t>
                    </m:r>
                    <m:r>
                      <a:rPr lang="en-US" sz="1600" b="0" i="1" smtClean="0">
                        <a:latin typeface="Cambria Math" panose="02040503050406030204" pitchFamily="18" charset="0"/>
                      </a:rPr>
                      <m:t>=1</m:t>
                    </m:r>
                  </m:oMath>
                </a14:m>
                <a:r>
                  <a:rPr lang="en-US" sz="1600" dirty="0"/>
                  <a:t>. For the other methods, </a:t>
                </a:r>
                <a14:m>
                  <m:oMath xmlns:m="http://schemas.openxmlformats.org/officeDocument/2006/math">
                    <m:r>
                      <a:rPr lang="en-US" sz="1600" b="0" i="1" smtClean="0">
                        <a:latin typeface="Cambria Math" panose="02040503050406030204" pitchFamily="18" charset="0"/>
                      </a:rPr>
                      <m:t>𝛼</m:t>
                    </m:r>
                  </m:oMath>
                </a14:m>
                <a:r>
                  <a:rPr lang="en-US" sz="1600" dirty="0"/>
                  <a:t> is a problem-dependent tuning parameter (solid circles).</a:t>
                </a:r>
              </a:p>
            </p:txBody>
          </p:sp>
        </mc:Choice>
        <mc:Fallback xmlns="">
          <p:sp>
            <p:nvSpPr>
              <p:cNvPr id="3" name="TextBox 2" descr="Observations:. Performance measure is for the behavior policy. Q-Learning learns the optimal policy. Sarsa is very sensitive to alpha ! (asymptotic performance). Expected Sarsa should use alpha equals 1 . For the other methods, alpha is a problem-dependent tuning parameter (solid circles)">
                <a:extLst>
                  <a:ext uri="{FF2B5EF4-FFF2-40B4-BE49-F238E27FC236}">
                    <a16:creationId xmlns:a16="http://schemas.microsoft.com/office/drawing/2014/main" id="{F74FF679-D413-08CA-FBED-60646BE34532}"/>
                  </a:ext>
                </a:extLst>
              </p:cNvPr>
              <p:cNvSpPr txBox="1">
                <a:spLocks noRot="1" noChangeAspect="1" noMove="1" noResize="1" noEditPoints="1" noAdjustHandles="1" noChangeArrowheads="1" noChangeShapeType="1" noTextEdit="1"/>
              </p:cNvSpPr>
              <p:nvPr/>
            </p:nvSpPr>
            <p:spPr>
              <a:xfrm>
                <a:off x="9105053" y="1229193"/>
                <a:ext cx="2660754" cy="3539430"/>
              </a:xfrm>
              <a:prstGeom prst="rect">
                <a:avLst/>
              </a:prstGeom>
              <a:blipFill>
                <a:blip r:embed="rId3"/>
                <a:stretch>
                  <a:fillRect l="-1139" t="-343" b="-1029"/>
                </a:stretch>
              </a:blipFill>
            </p:spPr>
            <p:txBody>
              <a:bodyPr/>
              <a:lstStyle/>
              <a:p>
                <a:r>
                  <a:rPr lang="en-US">
                    <a:noFill/>
                  </a:rPr>
                  <a:t> </a:t>
                </a:r>
              </a:p>
            </p:txBody>
          </p:sp>
        </mc:Fallback>
      </mc:AlternateContent>
    </p:spTree>
    <p:extLst>
      <p:ext uri="{BB962C8B-B14F-4D97-AF65-F5344CB8AC3E}">
        <p14:creationId xmlns:p14="http://schemas.microsoft.com/office/powerpoint/2010/main" val="3892503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18276" y="729523"/>
            <a:ext cx="6858000" cy="5398953"/>
          </a:xfrm>
          <a:prstGeom prst="rect">
            <a:avLst/>
          </a:prstGeom>
          <a:ln>
            <a:noFill/>
          </a:ln>
          <a:effectLst>
            <a:outerShdw blurRad="419100" dist="152400" sx="94000" sy="94000" algn="l"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915B90-DA12-5311-A694-71F1513664CE}"/>
              </a:ext>
            </a:extLst>
          </p:cNvPr>
          <p:cNvSpPr>
            <a:spLocks noGrp="1"/>
          </p:cNvSpPr>
          <p:nvPr>
            <p:ph type="title"/>
          </p:nvPr>
        </p:nvSpPr>
        <p:spPr>
          <a:xfrm>
            <a:off x="758952" y="785366"/>
            <a:ext cx="4069055" cy="2072853"/>
          </a:xfrm>
        </p:spPr>
        <p:txBody>
          <a:bodyPr anchor="t">
            <a:normAutofit/>
          </a:bodyPr>
          <a:lstStyle/>
          <a:p>
            <a:r>
              <a:rPr lang="en-US" sz="4000" dirty="0"/>
              <a:t>What You Should Know</a:t>
            </a:r>
          </a:p>
        </p:txBody>
      </p:sp>
      <mc:AlternateContent xmlns:mc="http://schemas.openxmlformats.org/markup-compatibility/2006" xmlns:a14="http://schemas.microsoft.com/office/drawing/2010/main">
        <mc:Choice Requires="a14">
          <p:sp>
            <p:nvSpPr>
              <p:cNvPr id="3" name="Content Placeholder 2" descr="Time difference (TD) learning is an alternative to MC for the prediction problem (policy evaluation). Method: Stepwise reduces the TD error for the next step. Popular and most widely used RL methods:. On-policy: Sarsa. Off-policy: Q-learning. Advantages:. Model-free: Uses only experience. Truly online learning after each observation. Simple with minimal computation. Challenges:. Bootstrapping introduces bias. Maximation bias (especially Q-learning). Behavior policy needs to keep exploring. Not sample efficient: uses observations only once. Tabular: Requires too much memory and does not generalize between states. We will extend the one-step tabular TD ideas from this chapter to n -steps and function approximation">
                <a:extLst>
                  <a:ext uri="{FF2B5EF4-FFF2-40B4-BE49-F238E27FC236}">
                    <a16:creationId xmlns:a16="http://schemas.microsoft.com/office/drawing/2014/main" id="{76BBA507-BEF2-070A-4241-AF2BA1803534}"/>
                  </a:ext>
                </a:extLst>
              </p:cNvPr>
              <p:cNvSpPr>
                <a:spLocks noGrp="1"/>
              </p:cNvSpPr>
              <p:nvPr>
                <p:ph idx="1"/>
              </p:nvPr>
            </p:nvSpPr>
            <p:spPr>
              <a:xfrm>
                <a:off x="5575712" y="785365"/>
                <a:ext cx="6408924" cy="5563725"/>
              </a:xfrm>
            </p:spPr>
            <p:txBody>
              <a:bodyPr anchor="ctr">
                <a:normAutofit lnSpcReduction="10000"/>
              </a:bodyPr>
              <a:lstStyle/>
              <a:p>
                <a:r>
                  <a:rPr lang="en-US" sz="1600" dirty="0"/>
                  <a:t>Time difference (TD) learning is an alternative to MC for the prediction problem (policy evaluation).</a:t>
                </a:r>
              </a:p>
              <a:p>
                <a:r>
                  <a:rPr lang="en-US" sz="1600" b="1" dirty="0"/>
                  <a:t>Method</a:t>
                </a:r>
                <a:r>
                  <a:rPr lang="en-US" sz="1600" dirty="0"/>
                  <a:t>: Stepwise reduces the TD error for the next step.</a:t>
                </a:r>
              </a:p>
              <a:p>
                <a:r>
                  <a:rPr lang="en-US" sz="1600" b="1" dirty="0"/>
                  <a:t>Popular and most widely used RL methods</a:t>
                </a:r>
                <a:r>
                  <a:rPr lang="en-US" sz="1600" dirty="0"/>
                  <a:t>:</a:t>
                </a:r>
              </a:p>
              <a:p>
                <a:pPr lvl="1"/>
                <a:r>
                  <a:rPr lang="en-US" sz="1600" dirty="0"/>
                  <a:t>On-policy: Sarsa</a:t>
                </a:r>
              </a:p>
              <a:p>
                <a:pPr lvl="1"/>
                <a:r>
                  <a:rPr lang="en-US" sz="1600" dirty="0"/>
                  <a:t>Off-policy: Q-learning</a:t>
                </a:r>
              </a:p>
              <a:p>
                <a:r>
                  <a:rPr lang="en-US" sz="1600" b="1" dirty="0"/>
                  <a:t>Advantages</a:t>
                </a:r>
                <a:r>
                  <a:rPr lang="en-US" sz="1600" dirty="0"/>
                  <a:t>:</a:t>
                </a:r>
              </a:p>
              <a:p>
                <a:pPr lvl="1"/>
                <a:r>
                  <a:rPr lang="en-US" sz="1600" dirty="0"/>
                  <a:t>Model-free: Uses only experience.</a:t>
                </a:r>
              </a:p>
              <a:p>
                <a:pPr lvl="1"/>
                <a:r>
                  <a:rPr lang="en-US" sz="1600" dirty="0"/>
                  <a:t>Truly online learning after each observation.</a:t>
                </a:r>
              </a:p>
              <a:p>
                <a:pPr lvl="1"/>
                <a:r>
                  <a:rPr lang="en-US" sz="1600" dirty="0"/>
                  <a:t>Simple with minimal computation.</a:t>
                </a:r>
              </a:p>
              <a:p>
                <a:r>
                  <a:rPr lang="en-US" sz="1600" b="1" dirty="0"/>
                  <a:t>Challenges</a:t>
                </a:r>
                <a:r>
                  <a:rPr lang="en-US" sz="1600" dirty="0"/>
                  <a:t>:</a:t>
                </a:r>
              </a:p>
              <a:p>
                <a:pPr lvl="1"/>
                <a:r>
                  <a:rPr lang="en-US" sz="1600" dirty="0"/>
                  <a:t>Bootstrapping introduces bias.</a:t>
                </a:r>
              </a:p>
              <a:p>
                <a:pPr lvl="1"/>
                <a:r>
                  <a:rPr lang="en-US" sz="1600" dirty="0"/>
                  <a:t>Maximation bias (especially Q-learning).</a:t>
                </a:r>
              </a:p>
              <a:p>
                <a:pPr lvl="1"/>
                <a:r>
                  <a:rPr lang="en-US" sz="1600" dirty="0"/>
                  <a:t>Behavior policy needs to keep exploring.</a:t>
                </a:r>
              </a:p>
              <a:p>
                <a:pPr lvl="1"/>
                <a:r>
                  <a:rPr lang="en-US" sz="1600" dirty="0"/>
                  <a:t>Not sample efficient: uses observations only once.</a:t>
                </a:r>
              </a:p>
              <a:p>
                <a:pPr lvl="1"/>
                <a:r>
                  <a:rPr lang="en-US" sz="1600" dirty="0"/>
                  <a:t>Tabular: Requires too much memory and does not generalize between states.</a:t>
                </a:r>
              </a:p>
              <a:p>
                <a:pPr marL="0" indent="0">
                  <a:buNone/>
                </a:pPr>
                <a:endParaRPr lang="en-US" sz="1600" dirty="0"/>
              </a:p>
              <a:p>
                <a:r>
                  <a:rPr lang="en-US" sz="1600" dirty="0"/>
                  <a:t>We will extend the one-step tabular TD ideas from this chapter to </a:t>
                </a:r>
                <a14:m>
                  <m:oMath xmlns:m="http://schemas.openxmlformats.org/officeDocument/2006/math">
                    <m:r>
                      <a:rPr lang="en-US" sz="1600" b="1" i="1">
                        <a:latin typeface="Cambria Math" panose="02040503050406030204" pitchFamily="18" charset="0"/>
                      </a:rPr>
                      <m:t>𝒏</m:t>
                    </m:r>
                  </m:oMath>
                </a14:m>
                <a:r>
                  <a:rPr lang="en-US" sz="1600" b="1" dirty="0"/>
                  <a:t>-steps </a:t>
                </a:r>
                <a:r>
                  <a:rPr lang="en-US" sz="1600" dirty="0"/>
                  <a:t>and </a:t>
                </a:r>
                <a:r>
                  <a:rPr lang="en-US" sz="1600" b="1" dirty="0"/>
                  <a:t>function approximation</a:t>
                </a:r>
                <a:r>
                  <a:rPr lang="en-US" sz="1600" dirty="0"/>
                  <a:t>.</a:t>
                </a:r>
              </a:p>
            </p:txBody>
          </p:sp>
        </mc:Choice>
        <mc:Fallback xmlns="">
          <p:sp>
            <p:nvSpPr>
              <p:cNvPr id="3" name="Content Placeholder 2" descr="Time difference (TD) learning is an alternative to MC for the prediction problem (policy evaluation). Method: Stepwise reduces the TD error for the next step. Popular and most widely used RL methods:. On-policy: Sarsa. Off-policy: Q-learning. Advantages:. Model-free: Uses only experience. Truly online learning after each observation. Simple with minimal computation. Challenges:. Bootstrapping introduces bias. Maximation bias (especially Q-learning). Behavior policy needs to keep exploring. Not sample efficient: uses observations only once. Tabular: Requires too much memory and does not generalize between states. We will extend the one-step tabular TD ideas from this chapter to n -steps and function approximation">
                <a:extLst>
                  <a:ext uri="{FF2B5EF4-FFF2-40B4-BE49-F238E27FC236}">
                    <a16:creationId xmlns:a16="http://schemas.microsoft.com/office/drawing/2014/main" id="{76BBA507-BEF2-070A-4241-AF2BA1803534}"/>
                  </a:ext>
                </a:extLst>
              </p:cNvPr>
              <p:cNvSpPr>
                <a:spLocks noGrp="1" noRot="1" noChangeAspect="1" noMove="1" noResize="1" noEditPoints="1" noAdjustHandles="1" noChangeArrowheads="1" noChangeShapeType="1" noTextEdit="1"/>
              </p:cNvSpPr>
              <p:nvPr>
                <p:ph idx="1"/>
              </p:nvPr>
            </p:nvSpPr>
            <p:spPr>
              <a:xfrm>
                <a:off x="5575712" y="785365"/>
                <a:ext cx="6408924" cy="5563725"/>
              </a:xfrm>
              <a:blipFill>
                <a:blip r:embed="rId3"/>
                <a:stretch>
                  <a:fillRect l="-38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C0016F98-4E8E-CBB1-A610-58AFEB8B6E7F}"/>
              </a:ext>
              <a:ext uri="{C183D7F6-B498-43B3-948B-1728B52AA6E4}">
                <adec:decorative xmlns:adec="http://schemas.microsoft.com/office/drawing/2017/decorative" val="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110" b="-1"/>
          <a:stretch>
            <a:fillRect/>
          </a:stretch>
        </p:blipFill>
        <p:spPr bwMode="auto">
          <a:xfrm>
            <a:off x="724708" y="3429000"/>
            <a:ext cx="3951110" cy="2666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8802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8353</TotalTime>
  <Words>2699</Words>
  <Application>Microsoft Macintosh PowerPoint</Application>
  <PresentationFormat>Widescreen</PresentationFormat>
  <Paragraphs>278</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Display</vt:lpstr>
      <vt:lpstr>Arial</vt:lpstr>
      <vt:lpstr>Calibri</vt:lpstr>
      <vt:lpstr>Cambria Math</vt:lpstr>
      <vt:lpstr>Office Theme</vt:lpstr>
      <vt:lpstr>Reinforcement Learning  Temporal-Difference Learning Sutton/Barto* Chapter 6</vt:lpstr>
      <vt:lpstr>Topics of this Course</vt:lpstr>
      <vt:lpstr>Summary of Notation</vt:lpstr>
      <vt:lpstr>Recap: MDPs, DP and MC</vt:lpstr>
      <vt:lpstr>Temporal-Difference (TD) Learning</vt:lpstr>
      <vt:lpstr>TD Prediction</vt:lpstr>
      <vt:lpstr>TD Prediction </vt:lpstr>
      <vt:lpstr>Alg. Tabular TD(0)</vt:lpstr>
      <vt:lpstr>Convergence of TD Methods</vt:lpstr>
      <vt:lpstr>Advantages of TD Prediction Methods</vt:lpstr>
      <vt:lpstr>On-Policy TD Control:  Sarsa</vt:lpstr>
      <vt:lpstr>Sarsa</vt:lpstr>
      <vt:lpstr>Alg. Sarsa: On-Policy TD Control</vt:lpstr>
      <vt:lpstr>Off-policy TD Control:  Q-Learning</vt:lpstr>
      <vt:lpstr>Q-Learning</vt:lpstr>
      <vt:lpstr>Alg. Q-Learning</vt:lpstr>
      <vt:lpstr>Q-Learning’s Maximization Bias</vt:lpstr>
      <vt:lpstr>Double Q-Learning</vt:lpstr>
      <vt:lpstr>On-policy TD Control:  Expected Sarsa</vt:lpstr>
      <vt:lpstr>Expected Sarsa</vt:lpstr>
      <vt:lpstr>Comparison</vt:lpstr>
      <vt:lpstr>Comparison: 1-step Backup Diagrams</vt:lpstr>
      <vt:lpstr>Sarsa vs. Q-Learning</vt:lpstr>
      <vt:lpstr>Sarsa vs. Q-Learning </vt:lpstr>
      <vt:lpstr> Experimental Comparison</vt:lpstr>
      <vt:lpstr>What You Should Know</vt:lpstr>
    </vt:vector>
  </TitlesOfParts>
  <Company>Southern Methodist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Munoth, Prerna</cp:lastModifiedBy>
  <cp:revision>176</cp:revision>
  <dcterms:created xsi:type="dcterms:W3CDTF">2025-09-08T14:44:49Z</dcterms:created>
  <dcterms:modified xsi:type="dcterms:W3CDTF">2026-10-15T22:46:47Z</dcterms:modified>
</cp:coreProperties>
</file>