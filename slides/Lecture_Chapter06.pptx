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82" r:id="rId4"/>
    <p:sldId id="389" r:id="rId5"/>
    <p:sldId id="383" r:id="rId6"/>
    <p:sldId id="385" r:id="rId7"/>
    <p:sldId id="386" r:id="rId8"/>
    <p:sldId id="388" r:id="rId9"/>
    <p:sldId id="387" r:id="rId10"/>
    <p:sldId id="390" r:id="rId11"/>
    <p:sldId id="391" r:id="rId12"/>
    <p:sldId id="402" r:id="rId13"/>
    <p:sldId id="393" r:id="rId14"/>
    <p:sldId id="398" r:id="rId15"/>
    <p:sldId id="403" r:id="rId16"/>
    <p:sldId id="404" r:id="rId17"/>
    <p:sldId id="397" r:id="rId18"/>
    <p:sldId id="399" r:id="rId19"/>
    <p:sldId id="394" r:id="rId20"/>
    <p:sldId id="396" r:id="rId21"/>
    <p:sldId id="479" r:id="rId22"/>
    <p:sldId id="401" r:id="rId23"/>
    <p:sldId id="4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dea of Remporal-Difference Learning" id="{2380860D-C062-4E40-AEF2-F4A84DAD8EB2}">
          <p14:sldIdLst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1.png"/><Relationship Id="rId18" Type="http://schemas.openxmlformats.org/officeDocument/2006/relationships/image" Target="../media/image32.png"/><Relationship Id="rId21" Type="http://schemas.openxmlformats.org/officeDocument/2006/relationships/image" Target="../media/image35.png"/><Relationship Id="rId12" Type="http://schemas.openxmlformats.org/officeDocument/2006/relationships/image" Target="../media/image280.png"/><Relationship Id="rId17" Type="http://schemas.openxmlformats.org/officeDocument/2006/relationships/image" Target="../media/image31.png"/><Relationship Id="rId2" Type="http://schemas.openxmlformats.org/officeDocument/2006/relationships/image" Target="../media/image27.png"/><Relationship Id="rId16" Type="http://schemas.openxmlformats.org/officeDocument/2006/relationships/image" Target="../media/image29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8.png"/><Relationship Id="rId15" Type="http://schemas.openxmlformats.org/officeDocument/2006/relationships/image" Target="../media/image28.png"/><Relationship Id="rId23" Type="http://schemas.openxmlformats.org/officeDocument/2006/relationships/image" Target="../media/image37.png"/><Relationship Id="rId19" Type="http://schemas.openxmlformats.org/officeDocument/2006/relationships/image" Target="../media/image33.png"/><Relationship Id="rId14" Type="http://schemas.openxmlformats.org/officeDocument/2006/relationships/image" Target="../media/image300.png"/><Relationship Id="rId22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We know from the Bellman equation, that the value function has a recursive relationship. </a:t>
                </a:r>
                <a:br>
                  <a:rPr lang="en-US" dirty="0"/>
                </a:br>
                <a:r>
                  <a:rPr lang="en-US" dirty="0"/>
                  <a:t>Make the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immediate reward plus the discounted, estimated value of the next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difference is called the </a:t>
                </a:r>
                <a:r>
                  <a:rPr lang="en-US" b="1" dirty="0"/>
                  <a:t>DT error</a:t>
                </a:r>
                <a:r>
                  <a:rPr lang="en-US" dirty="0"/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2"/>
                <a:stretch>
                  <a:fillRect l="-53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EE77EFFD-0224-23E4-99EB-290564017C6F}"/>
              </a:ext>
            </a:extLst>
          </p:cNvPr>
          <p:cNvGrpSpPr/>
          <p:nvPr/>
        </p:nvGrpSpPr>
        <p:grpSpPr>
          <a:xfrm>
            <a:off x="8600352" y="2398276"/>
            <a:ext cx="2595610" cy="2061447"/>
            <a:chOff x="8600352" y="2398276"/>
            <a:chExt cx="2595610" cy="206144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D6B8A70-7CBB-B0CD-8422-D282F46101E2}"/>
                </a:ext>
              </a:extLst>
            </p:cNvPr>
            <p:cNvGrpSpPr/>
            <p:nvPr/>
          </p:nvGrpSpPr>
          <p:grpSpPr>
            <a:xfrm>
              <a:off x="8850833" y="2398276"/>
              <a:ext cx="2345129" cy="2061447"/>
              <a:chOff x="9234742" y="369649"/>
              <a:chExt cx="2345129" cy="2061447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1723B89B-0891-8CC5-A64F-F496DF8A1A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34742" y="738981"/>
                <a:ext cx="2345129" cy="1692115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/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=−0.04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32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B9A9FCB-5B10-FBD9-6B0F-C0F07D29E7A8}"/>
                  </a:ext>
                </a:extLst>
              </p:cNvPr>
              <p:cNvSpPr/>
              <p:nvPr/>
            </p:nvSpPr>
            <p:spPr>
              <a:xfrm>
                <a:off x="9296582" y="1495605"/>
                <a:ext cx="321332" cy="474650"/>
              </a:xfrm>
              <a:custGeom>
                <a:avLst/>
                <a:gdLst>
                  <a:gd name="csX0" fmla="*/ 279451 w 321332"/>
                  <a:gd name="csY0" fmla="*/ 0 h 474650"/>
                  <a:gd name="csX1" fmla="*/ 245 w 321332"/>
                  <a:gd name="csY1" fmla="*/ 265246 h 474650"/>
                  <a:gd name="csX2" fmla="*/ 321332 w 321332"/>
                  <a:gd name="csY2" fmla="*/ 474650 h 474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21332" h="474650">
                    <a:moveTo>
                      <a:pt x="279451" y="0"/>
                    </a:moveTo>
                    <a:cubicBezTo>
                      <a:pt x="136358" y="93069"/>
                      <a:pt x="-6735" y="186138"/>
                      <a:pt x="245" y="265246"/>
                    </a:cubicBezTo>
                    <a:cubicBezTo>
                      <a:pt x="7225" y="344354"/>
                      <a:pt x="164278" y="409502"/>
                      <a:pt x="321332" y="474650"/>
                    </a:cubicBezTo>
                  </a:path>
                </a:pathLst>
              </a:custGeom>
              <a:ln>
                <a:headEnd type="none" w="med" len="med"/>
                <a:tailEnd type="arrow" w="med" len="med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826EBA-9D60-97A3-970F-A18AF78219F1}"/>
                    </a:ext>
                  </a:extLst>
                </p:cNvPr>
                <p:cNvSpPr txBox="1"/>
                <p:nvPr/>
              </p:nvSpPr>
              <p:spPr>
                <a:xfrm>
                  <a:off x="8600352" y="3479369"/>
                  <a:ext cx="4451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826EBA-9D60-97A3-970F-A18AF7821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0352" y="3479369"/>
                  <a:ext cx="44512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7AC66C-9432-1B60-7D50-04F9A4830697}"/>
                  </a:ext>
                </a:extLst>
              </p:cNvPr>
              <p:cNvSpPr txBox="1"/>
              <p:nvPr/>
            </p:nvSpPr>
            <p:spPr>
              <a:xfrm>
                <a:off x="9098503" y="4015968"/>
                <a:ext cx="56730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7AC66C-9432-1B60-7D50-04F9A4830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503" y="4015968"/>
                <a:ext cx="567305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B7864-FE8C-1093-F245-C5E740CDE48C}"/>
                  </a:ext>
                </a:extLst>
              </p:cNvPr>
              <p:cNvSpPr txBox="1"/>
              <p:nvPr/>
            </p:nvSpPr>
            <p:spPr>
              <a:xfrm>
                <a:off x="9039787" y="3525536"/>
                <a:ext cx="56730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B7864-FE8C-1093-F245-C5E740CDE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787" y="3525536"/>
                <a:ext cx="567305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FA55A951-39C0-4F53-C0D4-E534EF4C3F09}"/>
              </a:ext>
            </a:extLst>
          </p:cNvPr>
          <p:cNvSpPr txBox="1"/>
          <p:nvPr/>
        </p:nvSpPr>
        <p:spPr>
          <a:xfrm>
            <a:off x="9323439" y="4493896"/>
            <a:ext cx="1883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+ stochastic transition model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819913" y="5280870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Truly online process that can update after each action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MC: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Remember: Updating an estimate using another estimate is called </a:t>
                </a:r>
                <a:r>
                  <a:rPr lang="en-US" b="1" dirty="0"/>
                  <a:t>“bootstrapping.”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  <a:blipFill>
                <a:blip r:embed="rId2"/>
                <a:stretch>
                  <a:fillRect l="-1043" t="-2716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4029524" y="1879051"/>
            <a:ext cx="3370666" cy="488182"/>
            <a:chOff x="4029524" y="1969791"/>
            <a:chExt cx="3370666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4029524" y="1969791"/>
              <a:ext cx="33706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512329" y="3273328"/>
            <a:ext cx="3725659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421385" y="4333971"/>
            <a:ext cx="4924554" cy="570118"/>
            <a:chOff x="4021326" y="2257187"/>
            <a:chExt cx="3018333" cy="57011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414044" y="1562984"/>
              <a:ext cx="168547" cy="155695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8958642" y="1153115"/>
                <a:ext cx="2352312" cy="1451871"/>
              </a:xfrm>
              <a:prstGeom prst="wedgeRoundRectCallout">
                <a:avLst>
                  <a:gd name="adj1" fmla="val -153311"/>
                  <a:gd name="adj2" fmla="val 4355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  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8642" y="1153115"/>
                <a:ext cx="2352312" cy="1451871"/>
              </a:xfrm>
              <a:prstGeom prst="wedgeRoundRectCallout">
                <a:avLst>
                  <a:gd name="adj1" fmla="val -153311"/>
                  <a:gd name="adj2" fmla="val 4355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092062" y="3519094"/>
                <a:ext cx="2168554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make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“a little” more similar.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2062" y="3519094"/>
                <a:ext cx="2168554" cy="1200329"/>
              </a:xfrm>
              <a:prstGeom prst="rect">
                <a:avLst/>
              </a:prstGeom>
              <a:blipFill>
                <a:blip r:embed="rId5"/>
                <a:stretch>
                  <a:fillRect l="-1950" t="-15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1"/>
                <a:ext cx="3586293" cy="1019263"/>
              </a:xfrm>
              <a:prstGeom prst="wedgeRoundRectCallout">
                <a:avLst>
                  <a:gd name="adj1" fmla="val -74173"/>
                  <a:gd name="adj2" fmla="val -1502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1"/>
                <a:ext cx="3586293" cy="1019263"/>
              </a:xfrm>
              <a:prstGeom prst="wedgeRoundRectCallout">
                <a:avLst>
                  <a:gd name="adj1" fmla="val -74173"/>
                  <a:gd name="adj2" fmla="val -150257"/>
                  <a:gd name="adj3" fmla="val 16667"/>
                </a:avLst>
              </a:prstGeom>
              <a:blipFill>
                <a:blip r:embed="rId3"/>
                <a:stretch>
                  <a:fillRect b="-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</a:t>
                </a:r>
                <a:br>
                  <a:rPr lang="en-US" dirty="0"/>
                </a:br>
                <a:r>
                  <a:rPr lang="en-US" dirty="0"/>
                  <a:t>MC has to wait for the end of the episode.</a:t>
                </a:r>
              </a:p>
              <a:p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For any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TD(0)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with probability 1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decreases sufficiently slowly over time. </a:t>
                </a:r>
                <a:br>
                  <a:rPr lang="en-US" dirty="0"/>
                </a:br>
                <a:r>
                  <a:rPr lang="en-US" dirty="0"/>
                  <a:t>Converges typically faster than MC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use it.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8883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GPI with TD prediction for policy evaluation.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Leans a greedy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To keep exploring, but actions are chosen from a soft policy based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88835" cy="4779633"/>
              </a:xfrm>
              <a:blipFill>
                <a:blip r:embed="rId2"/>
                <a:stretch>
                  <a:fillRect l="-960" t="-2806" r="-412" b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81F00B50-A0E2-9E3B-7B98-93FC2A8B8005}"/>
              </a:ext>
            </a:extLst>
          </p:cNvPr>
          <p:cNvGrpSpPr/>
          <p:nvPr/>
        </p:nvGrpSpPr>
        <p:grpSpPr>
          <a:xfrm>
            <a:off x="9576769" y="166945"/>
            <a:ext cx="2310430" cy="2149756"/>
            <a:chOff x="9576769" y="166945"/>
            <a:chExt cx="2310430" cy="214975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777369" y="166945"/>
              <a:ext cx="4949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11396C4-8FFA-4AAF-B2FC-EF4174161DA8}"/>
                  </a:ext>
                </a:extLst>
              </p:cNvPr>
              <p:cNvSpPr txBox="1"/>
              <p:nvPr/>
            </p:nvSpPr>
            <p:spPr>
              <a:xfrm>
                <a:off x="9758861" y="804757"/>
                <a:ext cx="9731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nor/>
                        </m:rPr>
                        <a:rPr lang="en-US" sz="1200" b="0" i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soft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11396C4-8FFA-4AAF-B2FC-EF4174161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8861" y="804757"/>
                <a:ext cx="973123" cy="276999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04E290-C7A8-249A-84EF-A94577E33ECB}"/>
                  </a:ext>
                </a:extLst>
              </p:cNvPr>
              <p:cNvSpPr txBox="1"/>
              <p:nvPr/>
            </p:nvSpPr>
            <p:spPr>
              <a:xfrm>
                <a:off x="10566073" y="602266"/>
                <a:ext cx="601468" cy="47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𝑠𝑜𝑓𝑡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sz="1200" b="0" dirty="0">
                  <a:solidFill>
                    <a:schemeClr val="accent3"/>
                  </a:solidFill>
                </a:endParaRPr>
              </a:p>
              <a:p>
                <a:endParaRPr 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04E290-C7A8-249A-84EF-A94577E33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6073" y="602266"/>
                <a:ext cx="601468" cy="479490"/>
              </a:xfrm>
              <a:prstGeom prst="rect">
                <a:avLst/>
              </a:prstGeom>
              <a:blipFill>
                <a:blip r:embed="rId5"/>
                <a:stretch>
                  <a:fillRect r="-4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226A4-3DFB-FDA8-464F-70254B5B0100}"/>
              </a:ext>
            </a:extLst>
          </p:cNvPr>
          <p:cNvCxnSpPr/>
          <p:nvPr/>
        </p:nvCxnSpPr>
        <p:spPr>
          <a:xfrm flipH="1">
            <a:off x="10763079" y="619042"/>
            <a:ext cx="173383" cy="10660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observed Sars from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chooses the next action greedy for the target policy.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are represented discretely (e.g.,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638" b="-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749808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It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212361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Does not use the actual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2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200" dirty="0"/>
                  <a:t> and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2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212361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  <a:blipFill>
                <a:blip r:embed="rId4"/>
                <a:stretch>
                  <a:fillRect b="-10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7280245" y="4246538"/>
            <a:ext cx="1331053" cy="198934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next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812" t="-3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Like Q-learning, but use the expectation over all possible next actions instead of the currently best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Moves in the direction of Sarsa (in expectation).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set the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uses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Off-policy since it does not use the behavior policy’s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771647"/>
            <a:chOff x="2637816" y="2846877"/>
            <a:chExt cx="5965095" cy="177164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634769"/>
              <a:chOff x="2373562" y="2582670"/>
              <a:chExt cx="5965095" cy="163476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4229624" y="3955829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107503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63897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  <a:blipFill>
                  <a:blip r:embed="rId14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203764" y="3465626"/>
            <a:ext cx="9110026" cy="2236901"/>
            <a:chOff x="1203764" y="3465626"/>
            <a:chExt cx="9110026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78940" y="3473366"/>
              <a:ext cx="5734850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674286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598300" y="4493782"/>
                  <a:ext cx="6479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300" y="4493782"/>
                  <a:ext cx="647933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887061" y="5748746"/>
            <a:ext cx="298692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On-policy: Updates with a next action following the behavior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374750" y="5748746"/>
            <a:ext cx="2861646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7654424" y="5748746"/>
            <a:ext cx="2861646" cy="92333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Off-policy: Updates with the expectation over the action for the target policy.</a:t>
            </a:r>
          </a:p>
        </p:txBody>
      </p:sp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10016519" y="2443259"/>
            <a:ext cx="1542614" cy="696293"/>
          </a:xfrm>
          <a:prstGeom prst="wedgeRoundRectCallout">
            <a:avLst>
              <a:gd name="adj1" fmla="val -36980"/>
              <a:gd name="adj2" fmla="val -2690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Sarsa pick the longer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879" y="593726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88479" y="432707"/>
                <a:ext cx="6074228" cy="5916384"/>
              </a:xfrm>
            </p:spPr>
            <p:txBody>
              <a:bodyPr anchor="ctr">
                <a:normAutofit/>
              </a:bodyPr>
              <a:lstStyle/>
              <a:p>
                <a:r>
                  <a:rPr lang="en-US" sz="1600" dirty="0"/>
                  <a:t>Time difference (TD) learning is an alternative to MC for the prediction (policy evaluation) problem.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Popular and most widely used RL methods: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dirty="0"/>
                  <a:t>Advantages:</a:t>
                </a:r>
              </a:p>
              <a:p>
                <a:pPr lvl="1"/>
                <a:r>
                  <a:rPr lang="en-US" sz="1600" dirty="0"/>
                  <a:t>Model-free: Uses experience.</a:t>
                </a:r>
              </a:p>
              <a:p>
                <a:pPr lvl="1"/>
                <a:r>
                  <a:rPr lang="en-US" sz="1600" dirty="0"/>
                  <a:t>Learn online (after each observation).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dirty="0"/>
                  <a:t>Challenges:</a:t>
                </a:r>
              </a:p>
              <a:p>
                <a:pPr lvl="1"/>
                <a:r>
                  <a:rPr lang="en-US" sz="1600" dirty="0"/>
                  <a:t>Maximation bias.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very sample efficient.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88479" y="432707"/>
                <a:ext cx="6074228" cy="5916384"/>
              </a:xfrm>
              <a:blipFill>
                <a:blip r:embed="rId3"/>
                <a:stretch>
                  <a:fillRect l="-402" r="-803" b="-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7687</TotalTime>
  <Words>2007</Words>
  <Application>Microsoft Office PowerPoint</Application>
  <PresentationFormat>Widescreen</PresentationFormat>
  <Paragraphs>214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Summary of Notation</vt:lpstr>
      <vt:lpstr>Temporal-Difference (TD) Learning</vt:lpstr>
      <vt:lpstr>TD Prediction</vt:lpstr>
      <vt:lpstr>TD Prediction</vt:lpstr>
      <vt:lpstr>Alg. Tabular TD(0)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Off-policy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152</cp:revision>
  <dcterms:created xsi:type="dcterms:W3CDTF">2025-09-08T14:44:49Z</dcterms:created>
  <dcterms:modified xsi:type="dcterms:W3CDTF">2026-02-04T00:17:15Z</dcterms:modified>
</cp:coreProperties>
</file>