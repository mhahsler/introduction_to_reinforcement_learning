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81" r:id="rId3"/>
    <p:sldId id="382" r:id="rId4"/>
    <p:sldId id="389" r:id="rId5"/>
    <p:sldId id="383" r:id="rId6"/>
    <p:sldId id="385" r:id="rId7"/>
    <p:sldId id="386" r:id="rId8"/>
    <p:sldId id="388" r:id="rId9"/>
    <p:sldId id="387" r:id="rId10"/>
    <p:sldId id="390" r:id="rId11"/>
    <p:sldId id="391" r:id="rId12"/>
    <p:sldId id="402" r:id="rId13"/>
    <p:sldId id="393" r:id="rId14"/>
    <p:sldId id="404" r:id="rId15"/>
    <p:sldId id="397" r:id="rId16"/>
    <p:sldId id="405" r:id="rId17"/>
    <p:sldId id="398" r:id="rId18"/>
    <p:sldId id="403" r:id="rId19"/>
    <p:sldId id="399" r:id="rId20"/>
    <p:sldId id="394" r:id="rId21"/>
    <p:sldId id="396" r:id="rId22"/>
    <p:sldId id="401" r:id="rId23"/>
    <p:sldId id="400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81"/>
            <p14:sldId id="382"/>
            <p14:sldId id="389"/>
            <p14:sldId id="383"/>
            <p14:sldId id="385"/>
            <p14:sldId id="386"/>
            <p14:sldId id="388"/>
            <p14:sldId id="387"/>
            <p14:sldId id="390"/>
            <p14:sldId id="391"/>
            <p14:sldId id="402"/>
            <p14:sldId id="393"/>
            <p14:sldId id="404"/>
            <p14:sldId id="397"/>
            <p14:sldId id="405"/>
            <p14:sldId id="398"/>
            <p14:sldId id="403"/>
            <p14:sldId id="399"/>
            <p14:sldId id="394"/>
            <p14:sldId id="396"/>
            <p14:sldId id="401"/>
            <p14:sldId id="4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91" d="100"/>
          <a:sy n="91" d="100"/>
        </p:scale>
        <p:origin x="34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0.png"/><Relationship Id="rId13" Type="http://schemas.openxmlformats.org/officeDocument/2006/relationships/image" Target="../media/image29.png"/><Relationship Id="rId3" Type="http://schemas.openxmlformats.org/officeDocument/2006/relationships/image" Target="../media/image25.png"/><Relationship Id="rId7" Type="http://schemas.openxmlformats.org/officeDocument/2006/relationships/image" Target="../media/image220.png"/><Relationship Id="rId12" Type="http://schemas.openxmlformats.org/officeDocument/2006/relationships/image" Target="../media/image28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0.png"/><Relationship Id="rId11" Type="http://schemas.openxmlformats.org/officeDocument/2006/relationships/image" Target="../media/image27.png"/><Relationship Id="rId5" Type="http://schemas.openxmlformats.org/officeDocument/2006/relationships/image" Target="../media/image200.png"/><Relationship Id="rId15" Type="http://schemas.openxmlformats.org/officeDocument/2006/relationships/image" Target="../media/image31.png"/><Relationship Id="rId10" Type="http://schemas.openxmlformats.org/officeDocument/2006/relationships/image" Target="../media/image26.png"/><Relationship Id="rId9" Type="http://schemas.openxmlformats.org/officeDocument/2006/relationships/image" Target="../media/image240.png"/><Relationship Id="rId1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Temporal-Difference Learning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17359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1735924"/>
              </a:xfrm>
              <a:blipFill>
                <a:blip r:embed="rId2"/>
                <a:stretch>
                  <a:fillRect b="-10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</a:t>
                </a:r>
                <a14:m>
                  <m:oMath xmlns:m="http://schemas.openxmlformats.org/officeDocument/2006/math">
                    <m: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</a:t>
                </a:r>
                <a:r>
                  <a:rPr lang="en-US" sz="1200"/>
                  <a:t>all states </a:t>
                </a:r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F4C60C7-0132-6EC0-3150-3FC296CE2D6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11474" y="3010149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F4C60C7-0132-6EC0-3150-3FC296CE2D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1474" y="3010149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54715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10212-5336-C701-866E-6597FCA4C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Temporal-Difference (TD) 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956792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We will first focus on:</a:t>
                </a:r>
              </a:p>
              <a:p>
                <a:pPr lvl="1"/>
                <a:r>
                  <a:rPr lang="en-US" dirty="0"/>
                  <a:t>On-step</a:t>
                </a:r>
              </a:p>
              <a:p>
                <a:pPr lvl="1"/>
                <a:r>
                  <a:rPr lang="en-US" dirty="0"/>
                  <a:t>Tabular</a:t>
                </a:r>
              </a:p>
              <a:p>
                <a:pPr lvl="1"/>
                <a:r>
                  <a:rPr lang="en-US" dirty="0"/>
                  <a:t>Model-free TD</a:t>
                </a:r>
              </a:p>
              <a:p>
                <a:pPr lvl="1"/>
                <a:endParaRPr lang="en-US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Make the state value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more similar to the immediate reward plus the discounted, estimated value of the next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difference is called the </a:t>
                </a:r>
                <a:r>
                  <a:rPr lang="en-US" b="1" dirty="0"/>
                  <a:t>DT error</a:t>
                </a:r>
                <a:r>
                  <a:rPr lang="en-US" dirty="0"/>
                  <a:t>: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Combines ideas from MC and DP</a:t>
                </a:r>
              </a:p>
              <a:p>
                <a:pPr lvl="1"/>
                <a:r>
                  <a:rPr lang="en-US" dirty="0"/>
                  <a:t>From MC: learn from raw experience (observed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From DP: calculates the error between two value estimates without waiting for the end of the episode via bootstrapping.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956792" cy="4779633"/>
              </a:xfrm>
              <a:blipFill>
                <a:blip r:embed="rId2"/>
                <a:stretch>
                  <a:fillRect l="-690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EE77EFFD-0224-23E4-99EB-290564017C6F}"/>
              </a:ext>
            </a:extLst>
          </p:cNvPr>
          <p:cNvGrpSpPr/>
          <p:nvPr/>
        </p:nvGrpSpPr>
        <p:grpSpPr>
          <a:xfrm>
            <a:off x="8630392" y="2398276"/>
            <a:ext cx="2565570" cy="2061447"/>
            <a:chOff x="8630392" y="2398276"/>
            <a:chExt cx="2565570" cy="206144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D6B8A70-7CBB-B0CD-8422-D282F46101E2}"/>
                </a:ext>
              </a:extLst>
            </p:cNvPr>
            <p:cNvGrpSpPr/>
            <p:nvPr/>
          </p:nvGrpSpPr>
          <p:grpSpPr>
            <a:xfrm>
              <a:off x="8850833" y="2398276"/>
              <a:ext cx="2345129" cy="2061447"/>
              <a:chOff x="9234742" y="369649"/>
              <a:chExt cx="2345129" cy="2061447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1723B89B-0891-8CC5-A64F-F496DF8A1A4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234742" y="738981"/>
                <a:ext cx="2345129" cy="1692115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66BF1A66-F28D-7EBD-08FD-604FCA8335B9}"/>
                      </a:ext>
                    </a:extLst>
                  </p:cNvPr>
                  <p:cNvSpPr txBox="1"/>
                  <p:nvPr/>
                </p:nvSpPr>
                <p:spPr>
                  <a:xfrm>
                    <a:off x="9482412" y="369649"/>
                    <a:ext cx="189167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r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=−0.04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66BF1A66-F28D-7EBD-08FD-604FCA8335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82412" y="369649"/>
                    <a:ext cx="189167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327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FB9A9FCB-5B10-FBD9-6B0F-C0F07D29E7A8}"/>
                  </a:ext>
                </a:extLst>
              </p:cNvPr>
              <p:cNvSpPr/>
              <p:nvPr/>
            </p:nvSpPr>
            <p:spPr>
              <a:xfrm>
                <a:off x="9321746" y="1495605"/>
                <a:ext cx="321332" cy="474650"/>
              </a:xfrm>
              <a:custGeom>
                <a:avLst/>
                <a:gdLst>
                  <a:gd name="csX0" fmla="*/ 279451 w 321332"/>
                  <a:gd name="csY0" fmla="*/ 0 h 474650"/>
                  <a:gd name="csX1" fmla="*/ 245 w 321332"/>
                  <a:gd name="csY1" fmla="*/ 265246 h 474650"/>
                  <a:gd name="csX2" fmla="*/ 321332 w 321332"/>
                  <a:gd name="csY2" fmla="*/ 474650 h 4746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21332" h="474650">
                    <a:moveTo>
                      <a:pt x="279451" y="0"/>
                    </a:moveTo>
                    <a:cubicBezTo>
                      <a:pt x="136358" y="93069"/>
                      <a:pt x="-6735" y="186138"/>
                      <a:pt x="245" y="265246"/>
                    </a:cubicBezTo>
                    <a:cubicBezTo>
                      <a:pt x="7225" y="344354"/>
                      <a:pt x="164278" y="409502"/>
                      <a:pt x="321332" y="474650"/>
                    </a:cubicBezTo>
                  </a:path>
                </a:pathLst>
              </a:custGeom>
              <a:ln>
                <a:headEnd type="none" w="med" len="med"/>
                <a:tailEnd type="arrow" w="med" len="med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A826EBA-9D60-97A3-970F-A18AF78219F1}"/>
                </a:ext>
              </a:extLst>
            </p:cNvPr>
            <p:cNvSpPr txBox="1"/>
            <p:nvPr/>
          </p:nvSpPr>
          <p:spPr>
            <a:xfrm>
              <a:off x="8630392" y="3576891"/>
              <a:ext cx="3850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/>
                  </a:solidFill>
                </a:rPr>
                <a:t>+r</a:t>
              </a:r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7B5373B-567B-6DB6-134B-218624E26CFF}"/>
              </a:ext>
            </a:extLst>
          </p:cNvPr>
          <p:cNvCxnSpPr/>
          <p:nvPr/>
        </p:nvCxnSpPr>
        <p:spPr>
          <a:xfrm>
            <a:off x="6724810" y="4438188"/>
            <a:ext cx="1905582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E7A2074D-7DF3-B2BC-A123-9B06DAFA337A}"/>
              </a:ext>
            </a:extLst>
          </p:cNvPr>
          <p:cNvSpPr/>
          <p:nvPr/>
        </p:nvSpPr>
        <p:spPr>
          <a:xfrm>
            <a:off x="7627033" y="4650955"/>
            <a:ext cx="1811274" cy="565392"/>
          </a:xfrm>
          <a:prstGeom prst="wedgeRoundRectCallout">
            <a:avLst>
              <a:gd name="adj1" fmla="val -39716"/>
              <a:gd name="adj2" fmla="val -73302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Value at different time steps</a:t>
            </a:r>
          </a:p>
        </p:txBody>
      </p:sp>
    </p:spTree>
    <p:extLst>
      <p:ext uri="{BB962C8B-B14F-4D97-AF65-F5344CB8AC3E}">
        <p14:creationId xmlns:p14="http://schemas.microsoft.com/office/powerpoint/2010/main" val="647968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FB2077-6714-528E-FB23-B2B1BA53E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95BE15-E705-EBDF-2293-CDEA1840E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policy.</a:t>
            </a:r>
          </a:p>
        </p:txBody>
      </p:sp>
    </p:spTree>
    <p:extLst>
      <p:ext uri="{BB962C8B-B14F-4D97-AF65-F5344CB8AC3E}">
        <p14:creationId xmlns:p14="http://schemas.microsoft.com/office/powerpoint/2010/main" val="10094257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87989-265D-BCD0-24A2-62684E253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3366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Follow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update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MC: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TD: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Updating an estimate using another estimate is called </a:t>
                </a:r>
                <a:r>
                  <a:rPr lang="en-US" b="1" dirty="0"/>
                  <a:t>“bootstrapping.”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33668"/>
              </a:xfrm>
              <a:blipFill>
                <a:blip r:embed="rId2"/>
                <a:stretch>
                  <a:fillRect l="-1043" t="-27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68A07290-301C-7032-71D6-1CB108C1EAAB}"/>
              </a:ext>
            </a:extLst>
          </p:cNvPr>
          <p:cNvGrpSpPr/>
          <p:nvPr/>
        </p:nvGrpSpPr>
        <p:grpSpPr>
          <a:xfrm>
            <a:off x="4029524" y="1879051"/>
            <a:ext cx="3370666" cy="488182"/>
            <a:chOff x="4029524" y="1969791"/>
            <a:chExt cx="3370666" cy="488182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114C8F32-06B0-D869-D536-7BBF5C78D0A5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CBC98F2-9264-2ADA-BDB4-85BCB1E97F5E}"/>
                </a:ext>
              </a:extLst>
            </p:cNvPr>
            <p:cNvSpPr txBox="1"/>
            <p:nvPr/>
          </p:nvSpPr>
          <p:spPr>
            <a:xfrm>
              <a:off x="4029524" y="1969791"/>
              <a:ext cx="33706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MC Error over complete episode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0875633-9C72-9EE6-1B64-B7B45913B066}"/>
              </a:ext>
            </a:extLst>
          </p:cNvPr>
          <p:cNvGrpSpPr/>
          <p:nvPr/>
        </p:nvGrpSpPr>
        <p:grpSpPr>
          <a:xfrm>
            <a:off x="4512329" y="3273328"/>
            <a:ext cx="3725659" cy="537879"/>
            <a:chOff x="4699685" y="1920094"/>
            <a:chExt cx="1541724" cy="537879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081EF24B-FDDC-57EA-DD46-44587ECCD551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0154ED7-E9AD-AC50-4A6E-FBD3C1C9365A}"/>
                </a:ext>
              </a:extLst>
            </p:cNvPr>
            <p:cNvSpPr txBox="1"/>
            <p:nvPr/>
          </p:nvSpPr>
          <p:spPr>
            <a:xfrm>
              <a:off x="5014554" y="1920094"/>
              <a:ext cx="911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TD Error for one step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CF09A0-818F-5F40-4472-2943AC1A66D9}"/>
              </a:ext>
            </a:extLst>
          </p:cNvPr>
          <p:cNvGrpSpPr/>
          <p:nvPr/>
        </p:nvGrpSpPr>
        <p:grpSpPr>
          <a:xfrm>
            <a:off x="3421385" y="4333971"/>
            <a:ext cx="4924554" cy="570118"/>
            <a:chOff x="4021326" y="2257187"/>
            <a:chExt cx="3018333" cy="570118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DB467B9E-487B-7E61-B117-98627BE25B20}"/>
                </a:ext>
              </a:extLst>
            </p:cNvPr>
            <p:cNvSpPr/>
            <p:nvPr/>
          </p:nvSpPr>
          <p:spPr>
            <a:xfrm rot="16200000" flipH="1" flipV="1">
              <a:off x="5414044" y="1562984"/>
              <a:ext cx="168547" cy="155695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/>
                <p:nvPr/>
              </p:nvSpPr>
              <p:spPr>
                <a:xfrm>
                  <a:off x="4021326" y="2457973"/>
                  <a:ext cx="30183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chemeClr val="tx2"/>
                      </a:solidFill>
                    </a:rPr>
                    <a:t>Uses reward + estimate for next state = target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dirty="0">
                    <a:solidFill>
                      <a:schemeClr val="tx2"/>
                    </a:solidFill>
                  </a:endParaRPr>
                </a:p>
              </p:txBody>
            </p:sp>
          </mc:Choice>
          <mc:Fallback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1326" y="2457973"/>
                  <a:ext cx="3018333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495"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6A0B74D7-9C8E-74BE-DB63-95D4B6C89ACD}"/>
              </a:ext>
            </a:extLst>
          </p:cNvPr>
          <p:cNvSpPr/>
          <p:nvPr/>
        </p:nvSpPr>
        <p:spPr>
          <a:xfrm>
            <a:off x="8753111" y="1221527"/>
            <a:ext cx="2352312" cy="1451871"/>
          </a:xfrm>
          <a:prstGeom prst="wedgeRoundRectCallout">
            <a:avLst>
              <a:gd name="adj1" fmla="val -143682"/>
              <a:gd name="adj2" fmla="val 4471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Compare with the incremental update  Implementation of MC methods.</a:t>
            </a:r>
          </a:p>
        </p:txBody>
      </p:sp>
    </p:spTree>
    <p:extLst>
      <p:ext uri="{BB962C8B-B14F-4D97-AF65-F5344CB8AC3E}">
        <p14:creationId xmlns:p14="http://schemas.microsoft.com/office/powerpoint/2010/main" val="1235585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E36AA-2655-FFF5-7881-32B8F5909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TD(0)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04425E-63FB-9C5C-D27A-96BE1B7B44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36508" y="1337315"/>
            <a:ext cx="7810209" cy="349773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935ACD8-755A-24FF-8EB6-4204F3F1C9E3}"/>
                  </a:ext>
                </a:extLst>
              </p:cNvPr>
              <p:cNvSpPr txBox="1"/>
              <p:nvPr/>
            </p:nvSpPr>
            <p:spPr>
              <a:xfrm>
                <a:off x="1081924" y="5151353"/>
                <a:ext cx="1027187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Note</a:t>
                </a:r>
                <a:r>
                  <a:rPr lang="en-US" dirty="0"/>
                  <a:t>: We can only update for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 since we need to observe a complete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interaction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is observed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935ACD8-755A-24FF-8EB6-4204F3F1C9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924" y="5151353"/>
                <a:ext cx="10271876" cy="646331"/>
              </a:xfrm>
              <a:prstGeom prst="rect">
                <a:avLst/>
              </a:prstGeom>
              <a:blipFill>
                <a:blip r:embed="rId3"/>
                <a:stretch>
                  <a:fillRect l="-474" t="-3774" b="-150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62833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11095-5FFA-CC66-454C-D10676BA2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of TD Prediction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b="1" dirty="0"/>
                  <a:t>Online updates </a:t>
                </a:r>
                <a:r>
                  <a:rPr lang="en-US" dirty="0"/>
                  <a:t>at each step. Bootstraps using estimate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the value of the next state. </a:t>
                </a:r>
                <a:br>
                  <a:rPr lang="en-US" dirty="0"/>
                </a:br>
                <a:r>
                  <a:rPr lang="en-US" dirty="0"/>
                  <a:t>MC has to wait for the end of the episode.</a:t>
                </a:r>
              </a:p>
              <a:p>
                <a:endParaRPr lang="en-US" dirty="0"/>
              </a:p>
              <a:p>
                <a:r>
                  <a:rPr lang="en-US" b="1" dirty="0"/>
                  <a:t>Model-free:</a:t>
                </a:r>
                <a:r>
                  <a:rPr lang="en-US" dirty="0"/>
                  <a:t> Only needs samples.</a:t>
                </a:r>
                <a:br>
                  <a:rPr lang="en-US" dirty="0"/>
                </a:br>
                <a:r>
                  <a:rPr lang="en-US" dirty="0"/>
                  <a:t>DP needs the transition probabilities!</a:t>
                </a:r>
              </a:p>
              <a:p>
                <a:endParaRPr lang="en-US" b="1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For any fixed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TD(0)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with probability 1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decreases sufficiently slowly over time. </a:t>
                </a:r>
                <a:br>
                  <a:rPr lang="en-US" dirty="0"/>
                </a:br>
                <a:r>
                  <a:rPr lang="en-US" dirty="0"/>
                  <a:t>Converges typically faster than MC prediction.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8214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CD6C69-A73D-CF25-463F-EC940FC0F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Sarsa: On-policy TD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0B5B47-1AC0-4A21-D15D-1F7142A402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online while you use it.</a:t>
            </a:r>
          </a:p>
        </p:txBody>
      </p:sp>
    </p:spTree>
    <p:extLst>
      <p:ext uri="{BB962C8B-B14F-4D97-AF65-F5344CB8AC3E}">
        <p14:creationId xmlns:p14="http://schemas.microsoft.com/office/powerpoint/2010/main" val="18961835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17A85-AD27-D78C-6EE7-8EFC9C60F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815351" cy="4779633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b="1" dirty="0"/>
                  <a:t>Idea</a:t>
                </a:r>
                <a:r>
                  <a:rPr lang="en-US" dirty="0"/>
                  <a:t>: Use GPI with TD methods for policy evaluation.</a:t>
                </a:r>
              </a:p>
              <a:p>
                <a:endParaRPr lang="en-US" b="1" dirty="0"/>
              </a:p>
              <a:p>
                <a:r>
                  <a:rPr lang="en-US" b="1" dirty="0"/>
                  <a:t>Evaluation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using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-table with updates: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 algn="r">
                  <a:buNone/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dirty="0"/>
                  <a:t> for a terminal state is defined as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Improvement</a:t>
                </a:r>
                <a:r>
                  <a:rPr lang="en-US" dirty="0"/>
                  <a:t>: Create a soft policy based 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Note</a:t>
                </a:r>
                <a:r>
                  <a:rPr lang="en-US" dirty="0"/>
                  <a:t>: Update uses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which leads to the name </a:t>
                </a:r>
                <a:r>
                  <a:rPr lang="en-US" b="1" dirty="0"/>
                  <a:t>Sarsa.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815351" cy="4779633"/>
              </a:xfrm>
              <a:blipFill>
                <a:blip r:embed="rId2"/>
                <a:stretch>
                  <a:fillRect l="-1107" t="-2551" r="-968" b="-24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834ACF09-360E-2E24-9C97-07D69E85A4F4}"/>
              </a:ext>
            </a:extLst>
          </p:cNvPr>
          <p:cNvGrpSpPr/>
          <p:nvPr/>
        </p:nvGrpSpPr>
        <p:grpSpPr>
          <a:xfrm>
            <a:off x="9576769" y="204828"/>
            <a:ext cx="2310430" cy="2111873"/>
            <a:chOff x="8990601" y="218543"/>
            <a:chExt cx="3001301" cy="2828670"/>
          </a:xfrm>
        </p:grpSpPr>
        <p:pic>
          <p:nvPicPr>
            <p:cNvPr id="5" name="Content Placeholder 4">
              <a:extLst>
                <a:ext uri="{FF2B5EF4-FFF2-40B4-BE49-F238E27FC236}">
                  <a16:creationId xmlns:a16="http://schemas.microsoft.com/office/drawing/2014/main" id="{14459B7C-6F39-0B15-A90A-5AC1F819BC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990601" y="218543"/>
              <a:ext cx="2936007" cy="282867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15FDFB7-32DA-E7BC-97BA-735B16C98EB2}"/>
                </a:ext>
              </a:extLst>
            </p:cNvPr>
            <p:cNvSpPr txBox="1"/>
            <p:nvPr/>
          </p:nvSpPr>
          <p:spPr>
            <a:xfrm>
              <a:off x="10107262" y="1309193"/>
              <a:ext cx="687748" cy="453464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GPI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4C9C71F-1C03-4588-F4B8-107859426DCC}"/>
                </a:ext>
              </a:extLst>
            </p:cNvPr>
            <p:cNvSpPr/>
            <p:nvPr/>
          </p:nvSpPr>
          <p:spPr>
            <a:xfrm>
              <a:off x="8990601" y="218543"/>
              <a:ext cx="3001301" cy="2727081"/>
            </a:xfrm>
            <a:prstGeom prst="rect">
              <a:avLst/>
            </a:prstGeom>
            <a:noFill/>
            <a:ln w="2857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569032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65D83-AF66-468C-2BD2-B60F40C3D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Sarsa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318D103E-5321-14FF-CCC2-395C1CC00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648" y="1124198"/>
            <a:ext cx="7810209" cy="3497737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1476306-7294-055F-2284-AF672A56B6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881" t="2315"/>
          <a:stretch>
            <a:fillRect/>
          </a:stretch>
        </p:blipFill>
        <p:spPr>
          <a:xfrm>
            <a:off x="2778100" y="2303693"/>
            <a:ext cx="8813024" cy="3909253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F0C5B7EE-01C9-2D78-163C-913D0732A91E}"/>
              </a:ext>
            </a:extLst>
          </p:cNvPr>
          <p:cNvSpPr/>
          <p:nvPr/>
        </p:nvSpPr>
        <p:spPr>
          <a:xfrm rot="16930409">
            <a:off x="2168618" y="2756389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53595906-8F94-26CC-2214-B8E6821BE78C}"/>
              </a:ext>
            </a:extLst>
          </p:cNvPr>
          <p:cNvSpPr/>
          <p:nvPr/>
        </p:nvSpPr>
        <p:spPr>
          <a:xfrm>
            <a:off x="8285441" y="1033063"/>
            <a:ext cx="1703157" cy="921380"/>
          </a:xfrm>
          <a:prstGeom prst="wedgeRoundRectCallout">
            <a:avLst>
              <a:gd name="adj1" fmla="val -48291"/>
              <a:gd name="adj2" fmla="val 9587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learned and followed policy is expressed as a Q-function.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42895067-CBCB-93E1-7A6D-13DB95242BA9}"/>
              </a:ext>
            </a:extLst>
          </p:cNvPr>
          <p:cNvSpPr/>
          <p:nvPr/>
        </p:nvSpPr>
        <p:spPr>
          <a:xfrm>
            <a:off x="9520928" y="5646943"/>
            <a:ext cx="2261570" cy="638683"/>
          </a:xfrm>
          <a:prstGeom prst="wedgeRoundRectCallout">
            <a:avLst>
              <a:gd name="adj1" fmla="val -76886"/>
              <a:gd name="adj2" fmla="val -11567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Follow the policy derived from the Q-function + update the Q-function.</a:t>
            </a:r>
          </a:p>
        </p:txBody>
      </p:sp>
    </p:spTree>
    <p:extLst>
      <p:ext uri="{BB962C8B-B14F-4D97-AF65-F5344CB8AC3E}">
        <p14:creationId xmlns:p14="http://schemas.microsoft.com/office/powerpoint/2010/main" val="13309866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47666C-E544-A8E2-3E86-3E49FE62D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Q-Learning: Off-policy TD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AB6C6B-376F-4E19-AC6C-EECCB099A2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policy.</a:t>
            </a:r>
          </a:p>
        </p:txBody>
      </p:sp>
    </p:spTree>
    <p:extLst>
      <p:ext uri="{BB962C8B-B14F-4D97-AF65-F5344CB8AC3E}">
        <p14:creationId xmlns:p14="http://schemas.microsoft.com/office/powerpoint/2010/main" val="30445675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7FAA-94D1-C411-5F84-BD11DAFE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An extremely influential method developed by Watkins (1989).</a:t>
                </a:r>
              </a:p>
              <a:p>
                <a:r>
                  <a:rPr lang="en-US" dirty="0"/>
                  <a:t>Update rule only uses observed Sars: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1" dirty="0"/>
                      <m:t>Off</m:t>
                    </m:r>
                    <m:r>
                      <m:rPr>
                        <m:nor/>
                      </m:rPr>
                      <a:rPr lang="en-US" b="1" dirty="0"/>
                      <m:t>-</m:t>
                    </m:r>
                    <m:r>
                      <m:rPr>
                        <m:nor/>
                      </m:rPr>
                      <a:rPr lang="en-US" b="1" dirty="0"/>
                      <m:t>policy</m:t>
                    </m:r>
                    <m:r>
                      <m:rPr>
                        <m:nor/>
                      </m:rPr>
                      <a:rPr lang="en-US" b="0" i="0" dirty="0" smtClean="0"/>
                      <m:t>: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directly approximates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independent of the behavior policy being followed! </a:t>
                </a:r>
              </a:p>
              <a:p>
                <a:r>
                  <a:rPr lang="en-US" b="1" dirty="0"/>
                  <a:t>Converges</a:t>
                </a:r>
                <a:r>
                  <a:rPr lang="en-US" dirty="0"/>
                  <a:t> to the optimal value function if: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State-action pairs are represented discretely (in a table).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All action are repeatedly sampled in all states (behavior policy keeps exploring).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EB9BEF0-AB2C-E41A-D1B7-4EEEAD69C231}"/>
              </a:ext>
            </a:extLst>
          </p:cNvPr>
          <p:cNvSpPr/>
          <p:nvPr/>
        </p:nvSpPr>
        <p:spPr>
          <a:xfrm>
            <a:off x="7147676" y="3354377"/>
            <a:ext cx="4143302" cy="432769"/>
          </a:xfrm>
          <a:prstGeom prst="wedgeRoundRectCallout">
            <a:avLst>
              <a:gd name="adj1" fmla="val -17411"/>
              <a:gd name="adj2" fmla="val -15754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next action has not yet been observed. It assumes the greedy/optimal action will be chosen!</a:t>
            </a:r>
          </a:p>
        </p:txBody>
      </p:sp>
    </p:spTree>
    <p:extLst>
      <p:ext uri="{BB962C8B-B14F-4D97-AF65-F5344CB8AC3E}">
        <p14:creationId xmlns:p14="http://schemas.microsoft.com/office/powerpoint/2010/main" val="9036772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01268-36EB-E39E-FDF7-3CEE63747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Q-Learning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ACE9FA26-BA72-1C07-AB30-BF0FA09517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1" t="2315"/>
          <a:stretch>
            <a:fillRect/>
          </a:stretch>
        </p:blipFill>
        <p:spPr>
          <a:xfrm>
            <a:off x="586439" y="1390498"/>
            <a:ext cx="8326425" cy="3693409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B7A3C4-3DE2-A697-7764-609086D4B4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735" t="1870"/>
          <a:stretch>
            <a:fillRect/>
          </a:stretch>
        </p:blipFill>
        <p:spPr>
          <a:xfrm>
            <a:off x="3233926" y="2661557"/>
            <a:ext cx="8445114" cy="3509203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50E9F303-0610-DA79-680F-09CEC3B03339}"/>
              </a:ext>
            </a:extLst>
          </p:cNvPr>
          <p:cNvSpPr/>
          <p:nvPr/>
        </p:nvSpPr>
        <p:spPr>
          <a:xfrm rot="16930409">
            <a:off x="2666640" y="2911510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220D628-0C2D-1B3D-85F4-BBFF28A8CE9F}"/>
              </a:ext>
            </a:extLst>
          </p:cNvPr>
          <p:cNvGrpSpPr/>
          <p:nvPr/>
        </p:nvGrpSpPr>
        <p:grpSpPr>
          <a:xfrm>
            <a:off x="1635871" y="3777583"/>
            <a:ext cx="1298121" cy="285750"/>
            <a:chOff x="1635871" y="3777583"/>
            <a:chExt cx="1298121" cy="28575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75A43C0-3EBD-08A8-4E00-AF9FE5A218CC}"/>
                </a:ext>
              </a:extLst>
            </p:cNvPr>
            <p:cNvCxnSpPr/>
            <p:nvPr/>
          </p:nvCxnSpPr>
          <p:spPr>
            <a:xfrm>
              <a:off x="1635871" y="3777583"/>
              <a:ext cx="1298121" cy="28575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2810518-C59E-4B01-556C-D62FA1F00F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5871" y="3777583"/>
              <a:ext cx="1298121" cy="23600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CC62624-3244-ED9B-CD61-A0C791B616E9}"/>
              </a:ext>
            </a:extLst>
          </p:cNvPr>
          <p:cNvCxnSpPr/>
          <p:nvPr/>
        </p:nvCxnSpPr>
        <p:spPr>
          <a:xfrm>
            <a:off x="7022034" y="5374718"/>
            <a:ext cx="130528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7E602A33-7788-B630-6EB2-2D579E74980F}"/>
                  </a:ext>
                </a:extLst>
              </p:cNvPr>
              <p:cNvSpPr/>
              <p:nvPr/>
            </p:nvSpPr>
            <p:spPr>
              <a:xfrm>
                <a:off x="6096000" y="5639963"/>
                <a:ext cx="3864677" cy="397869"/>
              </a:xfrm>
              <a:prstGeom prst="wedgeRoundRectCallout">
                <a:avLst>
                  <a:gd name="adj1" fmla="val -8272"/>
                  <a:gd name="adj2" fmla="val -10978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Does not use the actual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for the update! Uses instead what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200" dirty="0"/>
                  <a:t> thinks would be the optimal next action.</a:t>
                </a:r>
              </a:p>
            </p:txBody>
          </p:sp>
        </mc:Choice>
        <mc:Fallback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7E602A33-7788-B630-6EB2-2D579E7498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5639963"/>
                <a:ext cx="3864677" cy="397869"/>
              </a:xfrm>
              <a:prstGeom prst="wedgeRoundRectCallout">
                <a:avLst>
                  <a:gd name="adj1" fmla="val -8272"/>
                  <a:gd name="adj2" fmla="val -109788"/>
                  <a:gd name="adj3" fmla="val 16667"/>
                </a:avLst>
              </a:prstGeom>
              <a:blipFill>
                <a:blip r:embed="rId4"/>
                <a:stretch>
                  <a:fillRect b="-101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6B2F30FF-D3B9-E426-E674-2402ADDD54E3}"/>
              </a:ext>
            </a:extLst>
          </p:cNvPr>
          <p:cNvGrpSpPr/>
          <p:nvPr/>
        </p:nvGrpSpPr>
        <p:grpSpPr>
          <a:xfrm>
            <a:off x="2269363" y="4302597"/>
            <a:ext cx="664630" cy="285750"/>
            <a:chOff x="1635871" y="3777583"/>
            <a:chExt cx="1298121" cy="28575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6DD8F5B-8EA2-E148-3B92-B869DE6F1A01}"/>
                </a:ext>
              </a:extLst>
            </p:cNvPr>
            <p:cNvCxnSpPr/>
            <p:nvPr/>
          </p:nvCxnSpPr>
          <p:spPr>
            <a:xfrm>
              <a:off x="1635871" y="3777583"/>
              <a:ext cx="1298121" cy="28575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FEE99F0-86A8-29AC-DC20-F44F476EE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5871" y="3777583"/>
              <a:ext cx="1298121" cy="23600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0181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7ACE1-D949-6959-F883-5FFFEC216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61C794-2342-ECB0-7D60-69CE67C5A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Sarsa: Off-policy TD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7666E1-9180-C127-BF1F-38950CF41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policy.</a:t>
            </a:r>
          </a:p>
        </p:txBody>
      </p:sp>
    </p:spTree>
    <p:extLst>
      <p:ext uri="{BB962C8B-B14F-4D97-AF65-F5344CB8AC3E}">
        <p14:creationId xmlns:p14="http://schemas.microsoft.com/office/powerpoint/2010/main" val="14388641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C4385-3C91-82A2-B0A7-C06386ED8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Sarsa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Like Q-learning, but use the expectation over all possible next actions instead of the currently best action:</a:t>
                </a:r>
              </a:p>
              <a:p>
                <a:endParaRPr lang="en-US" dirty="0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</m:fNam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|"/>
                                  <m:endChr m:val="]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:endParaRPr lang="en-US" dirty="0"/>
              </a:p>
              <a:p>
                <a:pPr>
                  <a:lnSpc>
                    <a:spcPct val="100000"/>
                  </a:lnSpc>
                </a:pPr>
                <a:r>
                  <a:rPr lang="en-US" b="1" dirty="0"/>
                  <a:t>Properties: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Moves in the direction of Sarsa (in expectation).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Eliminates Sarsa’s variance due to the selection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from a soft policy.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Can set the learning rate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since it uses expectation!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Can be used off-policy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generalizes Q-learning. 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 b="-5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22439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4B85368-75FE-0ABE-A947-10367985D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Maximization Bias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BF81C1-38C4-6FA3-D28D-0B1044ACA6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9497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C6363-9D21-FCAF-D518-75DBE389F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Q-Learning’s Maximization Bias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3965"/>
                <a:ext cx="10515600" cy="4012288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Q-learning update: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next action is not observed, but the next best action according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is used in the update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dirty="0"/>
                  <a:t>This cycle creates a </a:t>
                </a:r>
                <a:r>
                  <a:rPr lang="en-US" b="1" dirty="0"/>
                  <a:t>maximization bias </a:t>
                </a:r>
                <a:r>
                  <a:rPr lang="en-US" dirty="0"/>
                  <a:t>that leads to overestimating the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 values.</a:t>
                </a:r>
              </a:p>
              <a:p>
                <a:endParaRPr lang="en-US" dirty="0"/>
              </a:p>
              <a:p>
                <a:r>
                  <a:rPr lang="en-US" dirty="0"/>
                  <a:t>Solution: </a:t>
                </a:r>
              </a:p>
              <a:p>
                <a:pPr lvl="1"/>
                <a:r>
                  <a:rPr lang="en-US" b="1" dirty="0"/>
                  <a:t>Double learning </a:t>
                </a:r>
                <a:r>
                  <a:rPr lang="en-US" dirty="0"/>
                  <a:t>by learning two independent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-functions and using one for the action selection and the other one for the bootstrap estimate.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3965"/>
                <a:ext cx="10515600" cy="4012288"/>
              </a:xfrm>
              <a:blipFill>
                <a:blip r:embed="rId2"/>
                <a:stretch>
                  <a:fillRect l="-812" t="-33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4700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A9B86-C713-6476-4BAC-706F7BE18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B1961-CA51-2458-1636-A04654FFC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Q-Learning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73CEC-B27D-5D7D-F62B-D4CB109A78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3966"/>
                <a:ext cx="10515600" cy="585939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Learns</a:t>
                </a:r>
                <a:r>
                  <a:rPr lang="en-US" b="1" dirty="0"/>
                  <a:t> </a:t>
                </a:r>
                <a:r>
                  <a:rPr lang="en-US" dirty="0"/>
                  <a:t>two independent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-functions. One is used for action selection and the other one for the bootstrap estimate.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73CEC-B27D-5D7D-F62B-D4CB109A78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3966"/>
                <a:ext cx="10515600" cy="585939"/>
              </a:xfrm>
              <a:blipFill>
                <a:blip r:embed="rId2"/>
                <a:stretch>
                  <a:fillRect l="-696" t="-20833" r="-232" b="-19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0F54D989-C1C4-B92B-B40B-AAB5F3FF6A71}"/>
              </a:ext>
            </a:extLst>
          </p:cNvPr>
          <p:cNvGrpSpPr/>
          <p:nvPr/>
        </p:nvGrpSpPr>
        <p:grpSpPr>
          <a:xfrm>
            <a:off x="2253317" y="1759905"/>
            <a:ext cx="7811008" cy="4122625"/>
            <a:chOff x="2239357" y="2185695"/>
            <a:chExt cx="7811008" cy="412262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034FF89-75D8-9358-4C07-163A138A54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9357" y="2185695"/>
              <a:ext cx="7811008" cy="4051918"/>
            </a:xfrm>
            <a:prstGeom prst="rect">
              <a:avLst/>
            </a:prstGeom>
          </p:spPr>
        </p:pic>
        <p:sp>
          <p:nvSpPr>
            <p:cNvPr id="4" name="Speech Bubble: Rectangle with Corners Rounded 3">
              <a:extLst>
                <a:ext uri="{FF2B5EF4-FFF2-40B4-BE49-F238E27FC236}">
                  <a16:creationId xmlns:a16="http://schemas.microsoft.com/office/drawing/2014/main" id="{81EC9BCF-C1C5-6BB6-41FA-130AD6AA9D1A}"/>
                </a:ext>
              </a:extLst>
            </p:cNvPr>
            <p:cNvSpPr/>
            <p:nvPr/>
          </p:nvSpPr>
          <p:spPr>
            <a:xfrm>
              <a:off x="7308220" y="5947091"/>
              <a:ext cx="816677" cy="361229"/>
            </a:xfrm>
            <a:prstGeom prst="wedgeRoundRectCallout">
              <a:avLst>
                <a:gd name="adj1" fmla="val -15705"/>
                <a:gd name="adj2" fmla="val -13919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Action selection</a:t>
              </a:r>
            </a:p>
          </p:txBody>
        </p:sp>
        <p:sp>
          <p:nvSpPr>
            <p:cNvPr id="6" name="Speech Bubble: Rectangle with Corners Rounded 5">
              <a:extLst>
                <a:ext uri="{FF2B5EF4-FFF2-40B4-BE49-F238E27FC236}">
                  <a16:creationId xmlns:a16="http://schemas.microsoft.com/office/drawing/2014/main" id="{593CB310-66AF-43E6-3435-FE7EEBE22E92}"/>
                </a:ext>
              </a:extLst>
            </p:cNvPr>
            <p:cNvSpPr/>
            <p:nvPr/>
          </p:nvSpPr>
          <p:spPr>
            <a:xfrm>
              <a:off x="5883106" y="5947091"/>
              <a:ext cx="887643" cy="361229"/>
            </a:xfrm>
            <a:prstGeom prst="wedgeRoundRectCallout">
              <a:avLst>
                <a:gd name="adj1" fmla="val -15705"/>
                <a:gd name="adj2" fmla="val -13919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Bootstrap estimate</a:t>
              </a:r>
            </a:p>
          </p:txBody>
        </p:sp>
      </p:grp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926431E-CC5D-4EF0-79C5-590919834425}"/>
              </a:ext>
            </a:extLst>
          </p:cNvPr>
          <p:cNvSpPr txBox="1">
            <a:spLocks/>
          </p:cNvSpPr>
          <p:nvPr/>
        </p:nvSpPr>
        <p:spPr>
          <a:xfrm>
            <a:off x="838200" y="6035201"/>
            <a:ext cx="10515600" cy="585939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Sarsa and Expected Sarsa have a similar bias and double learning extension for these algorithms also exist, </a:t>
            </a:r>
          </a:p>
        </p:txBody>
      </p:sp>
    </p:spTree>
    <p:extLst>
      <p:ext uri="{BB962C8B-B14F-4D97-AF65-F5344CB8AC3E}">
        <p14:creationId xmlns:p14="http://schemas.microsoft.com/office/powerpoint/2010/main" val="41803898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9A947AF-1111-8FC8-9C49-9ED02B2A1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455082-DEC7-913B-105C-3428E5E3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Sarsa vs. Q-Learning vs. Expected Sarsa</a:t>
            </a:r>
          </a:p>
        </p:txBody>
      </p:sp>
    </p:spTree>
    <p:extLst>
      <p:ext uri="{BB962C8B-B14F-4D97-AF65-F5344CB8AC3E}">
        <p14:creationId xmlns:p14="http://schemas.microsoft.com/office/powerpoint/2010/main" val="5921753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A2BBB-A726-1EF6-3427-57B33AC4A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Comparison: 1-step Backup Diagrams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27D81A-F2A7-9C05-925E-39F3F345B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8940" y="3640886"/>
            <a:ext cx="5734850" cy="22291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1A8F4E1-AA11-EA65-8209-64A2D6CE0D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286" y="3731387"/>
            <a:ext cx="1038370" cy="20481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BB00F4-1A5A-D5B1-1923-30E7AB671293}"/>
                  </a:ext>
                </a:extLst>
              </p:cNvPr>
              <p:cNvSpPr txBox="1"/>
              <p:nvPr/>
            </p:nvSpPr>
            <p:spPr>
              <a:xfrm>
                <a:off x="2298329" y="4446711"/>
                <a:ext cx="65024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BB00F4-1A5A-D5B1-1923-30E7AB671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8329" y="4446711"/>
                <a:ext cx="65024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AD4DCAB-8567-439C-FC82-BD0F72977E73}"/>
                  </a:ext>
                </a:extLst>
              </p:cNvPr>
              <p:cNvSpPr txBox="1"/>
              <p:nvPr/>
            </p:nvSpPr>
            <p:spPr>
              <a:xfrm>
                <a:off x="2298330" y="5096376"/>
                <a:ext cx="6020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AD4DCAB-8567-439C-FC82-BD0F72977E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8330" y="5096376"/>
                <a:ext cx="60203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E811601-E15B-A2EA-6A3C-8E69FECEDE50}"/>
                  </a:ext>
                </a:extLst>
              </p:cNvPr>
              <p:cNvSpPr txBox="1"/>
              <p:nvPr/>
            </p:nvSpPr>
            <p:spPr>
              <a:xfrm>
                <a:off x="2186529" y="3775749"/>
                <a:ext cx="6020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E811601-E15B-A2EA-6A3C-8E69FECEDE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6529" y="3775749"/>
                <a:ext cx="60203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F84C7A8-3D3A-7BB1-3E84-0C6C6A718B86}"/>
                  </a:ext>
                </a:extLst>
              </p:cNvPr>
              <p:cNvSpPr txBox="1"/>
              <p:nvPr/>
            </p:nvSpPr>
            <p:spPr>
              <a:xfrm>
                <a:off x="1698460" y="4013981"/>
                <a:ext cx="6020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F84C7A8-3D3A-7BB1-3E84-0C6C6A718B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8460" y="4013981"/>
                <a:ext cx="602038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9506427-5DBB-46F6-7064-8C167FF27BD1}"/>
                  </a:ext>
                </a:extLst>
              </p:cNvPr>
              <p:cNvSpPr txBox="1"/>
              <p:nvPr/>
            </p:nvSpPr>
            <p:spPr>
              <a:xfrm>
                <a:off x="5598300" y="4661302"/>
                <a:ext cx="6479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max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9506427-5DBB-46F6-7064-8C167FF27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8300" y="4661302"/>
                <a:ext cx="647933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1540664-58DD-C85E-EB0B-3CF84B97E40F}"/>
                  </a:ext>
                </a:extLst>
              </p:cNvPr>
              <p:cNvSpPr txBox="1"/>
              <p:nvPr/>
            </p:nvSpPr>
            <p:spPr>
              <a:xfrm>
                <a:off x="9403340" y="4661302"/>
                <a:ext cx="50238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1540664-58DD-C85E-EB0B-3CF84B97E4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3340" y="4661302"/>
                <a:ext cx="502381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DC8187D2-C651-211E-F36F-28F57A9AE11F}"/>
              </a:ext>
            </a:extLst>
          </p:cNvPr>
          <p:cNvGrpSpPr/>
          <p:nvPr/>
        </p:nvGrpSpPr>
        <p:grpSpPr>
          <a:xfrm>
            <a:off x="2712656" y="1307163"/>
            <a:ext cx="5965095" cy="1771647"/>
            <a:chOff x="2637816" y="2846877"/>
            <a:chExt cx="5965095" cy="177164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816A4BA-29C5-E498-E49B-2A5D1934C3AC}"/>
                </a:ext>
              </a:extLst>
            </p:cNvPr>
            <p:cNvGrpSpPr/>
            <p:nvPr/>
          </p:nvGrpSpPr>
          <p:grpSpPr>
            <a:xfrm>
              <a:off x="2637816" y="2846877"/>
              <a:ext cx="5965095" cy="1634769"/>
              <a:chOff x="2373562" y="2582670"/>
              <a:chExt cx="5965095" cy="1634769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079CA762-1D81-E9C9-CDF2-B465A9EF93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D8A8134D-2B73-F837-EAFB-A58F7D294338}"/>
                  </a:ext>
                </a:extLst>
              </p:cNvPr>
              <p:cNvSpPr/>
              <p:nvPr/>
            </p:nvSpPr>
            <p:spPr>
              <a:xfrm>
                <a:off x="3744294" y="3074530"/>
                <a:ext cx="1514911" cy="854643"/>
              </a:xfrm>
              <a:prstGeom prst="arc">
                <a:avLst>
                  <a:gd name="adj1" fmla="val 942545"/>
                  <a:gd name="adj2" fmla="val 9972429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/>
                  <p:nvPr/>
                </p:nvSpPr>
                <p:spPr>
                  <a:xfrm>
                    <a:off x="3262007" y="3422428"/>
                    <a:ext cx="1049672" cy="285206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62007" y="3422428"/>
                    <a:ext cx="1049672" cy="285206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42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/>
                  <p:nvPr/>
                </p:nvSpPr>
                <p:spPr>
                  <a:xfrm>
                    <a:off x="4614828" y="3421985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4828" y="3421985"/>
                    <a:ext cx="1049672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652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EB6D555F-71D5-466F-AA26-1C0B46F3DF17}"/>
                  </a:ext>
                </a:extLst>
              </p:cNvPr>
              <p:cNvSpPr/>
              <p:nvPr/>
            </p:nvSpPr>
            <p:spPr>
              <a:xfrm>
                <a:off x="3797229" y="2582670"/>
                <a:ext cx="464096" cy="1177771"/>
              </a:xfrm>
              <a:prstGeom prst="arc">
                <a:avLst>
                  <a:gd name="adj1" fmla="val 535615"/>
                  <a:gd name="adj2" fmla="val 609571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B447D22-5746-B9E6-4B7F-D58201646AB7}"/>
                  </a:ext>
                </a:extLst>
              </p:cNvPr>
              <p:cNvSpPr txBox="1"/>
              <p:nvPr/>
            </p:nvSpPr>
            <p:spPr>
              <a:xfrm>
                <a:off x="4229624" y="3955829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</a:t>
                </a:r>
              </a:p>
            </p:txBody>
          </p:sp>
          <p:sp>
            <p:nvSpPr>
              <p:cNvPr id="22" name="Right Brace 21">
                <a:extLst>
                  <a:ext uri="{FF2B5EF4-FFF2-40B4-BE49-F238E27FC236}">
                    <a16:creationId xmlns:a16="http://schemas.microsoft.com/office/drawing/2014/main" id="{E25CDC5A-37CC-002F-E578-D71B185F9446}"/>
                  </a:ext>
                </a:extLst>
              </p:cNvPr>
              <p:cNvSpPr/>
              <p:nvPr/>
            </p:nvSpPr>
            <p:spPr>
              <a:xfrm rot="16200000">
                <a:off x="4138402" y="2107503"/>
                <a:ext cx="202889" cy="173116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7225B51-8649-F146-DE31-A737A77E9A34}"/>
                  </a:ext>
                </a:extLst>
              </p:cNvPr>
              <p:cNvSpPr txBox="1"/>
              <p:nvPr/>
            </p:nvSpPr>
            <p:spPr>
              <a:xfrm>
                <a:off x="3877022" y="2638971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/>
                <p:nvPr/>
              </p:nvSpPr>
              <p:spPr>
                <a:xfrm>
                  <a:off x="6021160" y="4193325"/>
                  <a:ext cx="1781788" cy="425199"/>
                </a:xfrm>
                <a:prstGeom prst="wedgeRoundRectCallout">
                  <a:avLst>
                    <a:gd name="adj1" fmla="val -75291"/>
                    <a:gd name="adj2" fmla="val -108207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Used to bootstrap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200" dirty="0"/>
                </a:p>
              </p:txBody>
            </p:sp>
          </mc:Choice>
          <mc:Fallback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1160" y="4193325"/>
                  <a:ext cx="1781788" cy="425199"/>
                </a:xfrm>
                <a:prstGeom prst="wedgeRoundRectCallout">
                  <a:avLst>
                    <a:gd name="adj1" fmla="val -75291"/>
                    <a:gd name="adj2" fmla="val -108207"/>
                    <a:gd name="adj3" fmla="val 16667"/>
                  </a:avLst>
                </a:prstGeom>
                <a:blipFill>
                  <a:blip r:embed="rId14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17A05C8-9D4E-0A8E-804D-7A3D0FA404D5}"/>
                  </a:ext>
                </a:extLst>
              </p:cNvPr>
              <p:cNvSpPr txBox="1"/>
              <p:nvPr/>
            </p:nvSpPr>
            <p:spPr>
              <a:xfrm>
                <a:off x="1438370" y="3633146"/>
                <a:ext cx="1049672" cy="2852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17A05C8-9D4E-0A8E-804D-7A3D0FA404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8370" y="3633146"/>
                <a:ext cx="1049672" cy="285206"/>
              </a:xfrm>
              <a:prstGeom prst="rect">
                <a:avLst/>
              </a:prstGeom>
              <a:blipFill>
                <a:blip r:embed="rId12"/>
                <a:stretch>
                  <a:fillRect b="-4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EED65E4-42A0-CD95-0366-21CE381124C2}"/>
                  </a:ext>
                </a:extLst>
              </p:cNvPr>
              <p:cNvSpPr txBox="1"/>
              <p:nvPr/>
            </p:nvSpPr>
            <p:spPr>
              <a:xfrm>
                <a:off x="1203764" y="5004043"/>
                <a:ext cx="104967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EED65E4-42A0-CD95-0366-21CE381124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3764" y="5004043"/>
                <a:ext cx="1049672" cy="276999"/>
              </a:xfrm>
              <a:prstGeom prst="rect">
                <a:avLst/>
              </a:prstGeom>
              <a:blipFill>
                <a:blip r:embed="rId15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34048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8276F-7795-B966-030F-FCC384999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 vs.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98B4E-B7CF-E345-6580-CEE34C1DC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403895" cy="4779633"/>
          </a:xfrm>
        </p:spPr>
        <p:txBody>
          <a:bodyPr>
            <a:normAutofit/>
          </a:bodyPr>
          <a:lstStyle/>
          <a:p>
            <a:r>
              <a:rPr lang="en-US" sz="1800" b="1" dirty="0"/>
              <a:t>Cliff Walking</a:t>
            </a:r>
            <a:r>
              <a:rPr lang="en-US" sz="1800" dirty="0"/>
              <a:t>: Consider the </a:t>
            </a:r>
            <a:r>
              <a:rPr lang="en-US" sz="1800" dirty="0" err="1"/>
              <a:t>gridworld</a:t>
            </a:r>
            <a:r>
              <a:rPr lang="en-US" sz="1800" dirty="0"/>
              <a:t> shown to the right. </a:t>
            </a:r>
          </a:p>
          <a:p>
            <a:r>
              <a:rPr lang="en-US" sz="1800" dirty="0"/>
              <a:t>This is a standard undiscounted, episodic task, with start and goal states.</a:t>
            </a:r>
          </a:p>
          <a:p>
            <a:r>
              <a:rPr lang="en-US" sz="1800" dirty="0"/>
              <a:t>Actions causing movement up, down, right, and left. </a:t>
            </a:r>
          </a:p>
          <a:p>
            <a:r>
              <a:rPr lang="en-US" sz="1800" dirty="0"/>
              <a:t>Reward is −1 on all transitions except those into the region marked “The Cliff.” Stepping into this region incurs a reward of −100 and sends the sends the agent instantly back to the start.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19A7B5-A9CC-EE24-F78E-F3E2FA24D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274" y="240397"/>
            <a:ext cx="5979790" cy="300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3F5773-6D0D-1D71-F1CD-C7746EF7F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76" y="3812721"/>
            <a:ext cx="4399920" cy="2904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/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Performance of the Sarsa and Q-learning methods 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action selection,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blipFill>
                <a:blip r:embed="rId4"/>
                <a:stretch>
                  <a:fillRect l="-56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C3FCB8B5-813B-D263-F7C1-1BC210D5ED90}"/>
              </a:ext>
            </a:extLst>
          </p:cNvPr>
          <p:cNvSpPr/>
          <p:nvPr/>
        </p:nvSpPr>
        <p:spPr>
          <a:xfrm>
            <a:off x="10016519" y="5264757"/>
            <a:ext cx="1542614" cy="696293"/>
          </a:xfrm>
          <a:prstGeom prst="wedgeRoundRectCallout">
            <a:avLst>
              <a:gd name="adj1" fmla="val -79398"/>
              <a:gd name="adj2" fmla="val -6180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Why does the optimal path perform worse?</a:t>
            </a:r>
          </a:p>
        </p:txBody>
      </p:sp>
    </p:spTree>
    <p:extLst>
      <p:ext uri="{BB962C8B-B14F-4D97-AF65-F5344CB8AC3E}">
        <p14:creationId xmlns:p14="http://schemas.microsoft.com/office/powerpoint/2010/main" val="20006315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E47B388-9EDE-BEEF-286A-0670BB57C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879" y="593726"/>
            <a:ext cx="8556776" cy="59956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6EC57F-A3C1-ECE0-DBDD-E93D09AB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446864" cy="1551758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Experimental Comparison</a:t>
            </a:r>
          </a:p>
        </p:txBody>
      </p:sp>
    </p:spTree>
    <p:extLst>
      <p:ext uri="{BB962C8B-B14F-4D97-AF65-F5344CB8AC3E}">
        <p14:creationId xmlns:p14="http://schemas.microsoft.com/office/powerpoint/2010/main" val="38925032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15B90-DA12-5311-A694-71F151366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You Should Know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5095544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Time difference (TD) learning is an alternative to MC for the prediction (policy evaluation) problem.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Method</a:t>
                </a:r>
                <a:r>
                  <a:rPr lang="en-US" dirty="0"/>
                  <a:t>: Stepwise reduces the TD error for the next step.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Popular and most widely used RL methods:</a:t>
                </a:r>
              </a:p>
              <a:p>
                <a:pPr lvl="1"/>
                <a:r>
                  <a:rPr lang="en-US" dirty="0"/>
                  <a:t>On-policy: Sarsa</a:t>
                </a:r>
              </a:p>
              <a:p>
                <a:pPr lvl="1"/>
                <a:r>
                  <a:rPr lang="en-US" dirty="0"/>
                  <a:t>Off-policy: Q-learning</a:t>
                </a:r>
              </a:p>
              <a:p>
                <a:r>
                  <a:rPr lang="en-US" dirty="0"/>
                  <a:t>Advantages:</a:t>
                </a:r>
              </a:p>
              <a:p>
                <a:pPr lvl="1"/>
                <a:r>
                  <a:rPr lang="en-US" dirty="0"/>
                  <a:t>Model-free: Uses experience.</a:t>
                </a:r>
              </a:p>
              <a:p>
                <a:pPr lvl="1"/>
                <a:r>
                  <a:rPr lang="en-US" dirty="0"/>
                  <a:t>Learn online (after each observation).</a:t>
                </a:r>
              </a:p>
              <a:p>
                <a:pPr lvl="1"/>
                <a:r>
                  <a:rPr lang="en-US" dirty="0"/>
                  <a:t>Simple with minimal computation.</a:t>
                </a:r>
              </a:p>
              <a:p>
                <a:r>
                  <a:rPr lang="en-US" dirty="0"/>
                  <a:t>Challenges:</a:t>
                </a:r>
              </a:p>
              <a:p>
                <a:pPr lvl="1"/>
                <a:r>
                  <a:rPr lang="en-US" dirty="0"/>
                  <a:t>Maximation bias.</a:t>
                </a:r>
              </a:p>
              <a:p>
                <a:pPr lvl="1"/>
                <a:r>
                  <a:rPr lang="en-US" dirty="0"/>
                  <a:t>Behavior policy needs to keep exploring.</a:t>
                </a:r>
              </a:p>
              <a:p>
                <a:pPr lvl="1"/>
                <a:r>
                  <a:rPr lang="en-US" dirty="0"/>
                  <a:t>Not very sample efficient.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We will extend the one-step tabular TD ideas from this chapter to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-steps </a:t>
                </a:r>
                <a:r>
                  <a:rPr lang="en-US" dirty="0"/>
                  <a:t>and </a:t>
                </a:r>
                <a:r>
                  <a:rPr lang="en-US" b="1" dirty="0"/>
                  <a:t>function approximation</a:t>
                </a:r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5095544"/>
              </a:xfrm>
              <a:blipFill>
                <a:blip r:embed="rId2"/>
                <a:stretch>
                  <a:fillRect l="-406" t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4880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6955</TotalTime>
  <Words>1604</Words>
  <Application>Microsoft Office PowerPoint</Application>
  <PresentationFormat>Widescreen</PresentationFormat>
  <Paragraphs>186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Temporal-Difference Learning Sutton/Barto* Chapter 6</vt:lpstr>
      <vt:lpstr>Summary of Notation</vt:lpstr>
      <vt:lpstr>Temporal-Difference (TD) Learning</vt:lpstr>
      <vt:lpstr>TD Prediction</vt:lpstr>
      <vt:lpstr>TD Prediction</vt:lpstr>
      <vt:lpstr>Alg. Tabular TD(0)</vt:lpstr>
      <vt:lpstr>Advantages of TD Prediction Methods</vt:lpstr>
      <vt:lpstr>Sarsa: On-policy TD Control</vt:lpstr>
      <vt:lpstr>Sarsa</vt:lpstr>
      <vt:lpstr>Alg. Sarsa</vt:lpstr>
      <vt:lpstr>Q-Learning: Off-policy TD Control</vt:lpstr>
      <vt:lpstr>Q-Learning</vt:lpstr>
      <vt:lpstr>Alg. Q-Learning</vt:lpstr>
      <vt:lpstr>Expected Sarsa: Off-policy TD Control</vt:lpstr>
      <vt:lpstr>Expected Sarsa</vt:lpstr>
      <vt:lpstr>Maximization Bias</vt:lpstr>
      <vt:lpstr>Q-Learning’s Maximization Bias</vt:lpstr>
      <vt:lpstr>Double Q-Learning</vt:lpstr>
      <vt:lpstr>Comparison</vt:lpstr>
      <vt:lpstr>Comparison: 1-step Backup Diagrams</vt:lpstr>
      <vt:lpstr>Sarsa vs. Q-Learning</vt:lpstr>
      <vt:lpstr> Experimental Comparison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143</cp:revision>
  <dcterms:created xsi:type="dcterms:W3CDTF">2025-09-08T14:44:49Z</dcterms:created>
  <dcterms:modified xsi:type="dcterms:W3CDTF">2026-01-09T23:33:08Z</dcterms:modified>
</cp:coreProperties>
</file>