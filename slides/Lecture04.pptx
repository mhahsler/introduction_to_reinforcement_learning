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403" r:id="rId3"/>
    <p:sldId id="368" r:id="rId4"/>
    <p:sldId id="382" r:id="rId5"/>
    <p:sldId id="385" r:id="rId6"/>
    <p:sldId id="384" r:id="rId7"/>
    <p:sldId id="386" r:id="rId8"/>
    <p:sldId id="387" r:id="rId9"/>
    <p:sldId id="391" r:id="rId10"/>
    <p:sldId id="388" r:id="rId11"/>
    <p:sldId id="390" r:id="rId12"/>
    <p:sldId id="392" r:id="rId13"/>
    <p:sldId id="395" r:id="rId14"/>
    <p:sldId id="393" r:id="rId15"/>
    <p:sldId id="394" r:id="rId16"/>
    <p:sldId id="396" r:id="rId17"/>
    <p:sldId id="397" r:id="rId18"/>
    <p:sldId id="399" r:id="rId19"/>
    <p:sldId id="398" r:id="rId20"/>
    <p:sldId id="400" r:id="rId21"/>
    <p:sldId id="401" r:id="rId22"/>
    <p:sldId id="402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403"/>
            <p14:sldId id="368"/>
            <p14:sldId id="382"/>
            <p14:sldId id="385"/>
            <p14:sldId id="384"/>
            <p14:sldId id="386"/>
            <p14:sldId id="387"/>
            <p14:sldId id="391"/>
            <p14:sldId id="388"/>
            <p14:sldId id="390"/>
            <p14:sldId id="392"/>
            <p14:sldId id="395"/>
            <p14:sldId id="393"/>
            <p14:sldId id="394"/>
            <p14:sldId id="396"/>
            <p14:sldId id="397"/>
            <p14:sldId id="399"/>
            <p14:sldId id="398"/>
            <p14:sldId id="400"/>
            <p14:sldId id="401"/>
            <p14:sldId id="4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91" d="100"/>
          <a:sy n="91" d="100"/>
        </p:scale>
        <p:origin x="34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653200" y="-18278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Monte Carlo Methods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expected approximate action value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  <a:blipFill>
                <a:blip r:embed="rId2"/>
                <a:stretch>
                  <a:fillRect b="-8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  <a:blipFill>
                <a:blip r:embed="rId4"/>
                <a:stretch>
                  <a:fillRect t="-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2229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FE431-EDDE-8F36-4640-902EF247D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BC304-9F53-1D52-E987-0090E5073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7740408" cy="4779633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No complete knowledge of the environment (the MDP). This is called a “</a:t>
            </a:r>
            <a:r>
              <a:rPr lang="en-US" b="1" dirty="0"/>
              <a:t>model-free</a:t>
            </a:r>
            <a:r>
              <a:rPr lang="en-US" dirty="0"/>
              <a:t>” method.</a:t>
            </a:r>
          </a:p>
          <a:p>
            <a:r>
              <a:rPr lang="en-US" dirty="0"/>
              <a:t>Use instead “experience” = </a:t>
            </a:r>
            <a:r>
              <a:rPr lang="en-US" b="1" dirty="0"/>
              <a:t>sample sequences </a:t>
            </a:r>
            <a:r>
              <a:rPr lang="en-US" dirty="0"/>
              <a:t>of states, actions, and rewards from actual or simulated interactions with the environment.</a:t>
            </a:r>
          </a:p>
          <a:p>
            <a:r>
              <a:rPr lang="en-US" b="1" dirty="0"/>
              <a:t>Note</a:t>
            </a:r>
            <a:r>
              <a:rPr lang="en-US" dirty="0"/>
              <a:t>: It is easier to simulate transitions than to specify the complete MDP for DP.</a:t>
            </a:r>
          </a:p>
          <a:p>
            <a:endParaRPr lang="en-US" dirty="0"/>
          </a:p>
          <a:p>
            <a:r>
              <a:rPr lang="en-US" b="1" dirty="0"/>
              <a:t>Monte Carlo (MC) methods</a:t>
            </a:r>
            <a:r>
              <a:rPr lang="en-US" dirty="0"/>
              <a:t>: a family of algorithms that rely on repeated random sampling to obtain numerical results.</a:t>
            </a:r>
          </a:p>
          <a:p>
            <a:endParaRPr lang="en-US" dirty="0"/>
          </a:p>
          <a:p>
            <a:r>
              <a:rPr lang="en-US" b="1" dirty="0"/>
              <a:t>Applied to value function approximation</a:t>
            </a:r>
            <a:r>
              <a:rPr lang="en-US" dirty="0"/>
              <a:t>: average sample returns for each state-action pair obtained from sampled sequences (called episodes or trajectories).</a:t>
            </a:r>
          </a:p>
          <a:p>
            <a:r>
              <a:rPr lang="en-US" b="1" dirty="0"/>
              <a:t>Note</a:t>
            </a:r>
            <a:r>
              <a:rPr lang="en-US" dirty="0"/>
              <a:t>: Value estimates or the policy are only updated after a whole episode is sampled. This is not a step-by-step online method!</a:t>
            </a:r>
          </a:p>
          <a:p>
            <a:pPr lvl="1"/>
            <a:endParaRPr lang="en-US" sz="14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E5BBE28-6746-AC67-4CA0-832813EC39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9447" y="1706406"/>
            <a:ext cx="3143250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C250BAF-41C6-59F7-4096-81676F51238E}"/>
              </a:ext>
            </a:extLst>
          </p:cNvPr>
          <p:cNvSpPr txBox="1"/>
          <p:nvPr/>
        </p:nvSpPr>
        <p:spPr>
          <a:xfrm>
            <a:off x="8785832" y="5530632"/>
            <a:ext cx="3143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Monte Carlo method applied to approximating the value of π</a:t>
            </a:r>
            <a:br>
              <a:rPr lang="en-US" sz="1200" dirty="0"/>
            </a:br>
            <a:r>
              <a:rPr lang="en-US" sz="1200" dirty="0"/>
              <a:t>Source: Wikipedia</a:t>
            </a:r>
          </a:p>
        </p:txBody>
      </p:sp>
    </p:spTree>
    <p:extLst>
      <p:ext uri="{BB962C8B-B14F-4D97-AF65-F5344CB8AC3E}">
        <p14:creationId xmlns:p14="http://schemas.microsoft.com/office/powerpoint/2010/main" val="14339409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F6F97-103E-18B6-D51A-B1397057E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Prediction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BAB409-1629-3E3D-C6F3-95E5076FBB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7808892" cy="1377568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Learn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for a 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by averaging the observed returns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(for the rest of the episode) after a visit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The average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(since it is defined as an expected value).</a:t>
                </a:r>
              </a:p>
              <a:p>
                <a:r>
                  <a:rPr lang="en-US" b="1" dirty="0"/>
                  <a:t>Note</a:t>
                </a:r>
                <a:r>
                  <a:rPr lang="en-US" dirty="0"/>
                  <a:t>: Using only the first visit of a state in the episode ensures that the sample returns are </a:t>
                </a:r>
                <a:r>
                  <a:rPr lang="en-US" dirty="0" err="1"/>
                  <a:t>i.i.d.</a:t>
                </a:r>
                <a:r>
                  <a:rPr lang="en-US" dirty="0"/>
                  <a:t> distributed.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BAB409-1629-3E3D-C6F3-95E5076FBB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7808892" cy="1377568"/>
              </a:xfrm>
              <a:blipFill>
                <a:blip r:embed="rId2"/>
                <a:stretch>
                  <a:fillRect l="-547" t="-6637" r="-1094" b="-30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F3AA409A-0E38-4BF6-9AF1-1A02E65EEE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856" y="2774899"/>
            <a:ext cx="7808892" cy="3534014"/>
          </a:xfrm>
          <a:prstGeom prst="rect">
            <a:avLst/>
          </a:prstGeom>
        </p:spPr>
      </p:pic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F2DD0D71-F2B2-BEC4-25BD-FAAF319BD235}"/>
              </a:ext>
            </a:extLst>
          </p:cNvPr>
          <p:cNvSpPr/>
          <p:nvPr/>
        </p:nvSpPr>
        <p:spPr>
          <a:xfrm>
            <a:off x="5611456" y="4772363"/>
            <a:ext cx="1995181" cy="195743"/>
          </a:xfrm>
          <a:prstGeom prst="wedgeRoundRectCallout">
            <a:avLst>
              <a:gd name="adj1" fmla="val -50798"/>
              <a:gd name="adj2" fmla="val 1035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Update in reverse order!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73AD72F-8E95-D55F-A9F4-C0F86BA548C2}"/>
              </a:ext>
            </a:extLst>
          </p:cNvPr>
          <p:cNvGrpSpPr/>
          <p:nvPr/>
        </p:nvGrpSpPr>
        <p:grpSpPr>
          <a:xfrm>
            <a:off x="8647092" y="1089546"/>
            <a:ext cx="3395272" cy="2339454"/>
            <a:chOff x="8647092" y="860592"/>
            <a:chExt cx="3395272" cy="2339454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7491103-8D73-5D3D-2433-794079801876}"/>
                </a:ext>
              </a:extLst>
            </p:cNvPr>
            <p:cNvGrpSpPr/>
            <p:nvPr/>
          </p:nvGrpSpPr>
          <p:grpSpPr>
            <a:xfrm>
              <a:off x="8647092" y="860592"/>
              <a:ext cx="3395272" cy="2048562"/>
              <a:chOff x="9222954" y="2685293"/>
              <a:chExt cx="2700748" cy="179704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CA2481C-8ED4-DB1B-21D6-675BE4F2BE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74345" y="3490076"/>
                <a:ext cx="226157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4061FCFD-11D6-B030-C651-EBEA48458734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9898142" y="3183258"/>
                    <a:ext cx="432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4061FCFD-11D6-B030-C651-EBEA4845873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9898142" y="3183258"/>
                    <a:ext cx="432770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Right Brace 7">
                <a:extLst>
                  <a:ext uri="{FF2B5EF4-FFF2-40B4-BE49-F238E27FC236}">
                    <a16:creationId xmlns:a16="http://schemas.microsoft.com/office/drawing/2014/main" id="{21DEF1FA-AFA5-27CF-87FA-8DDF794C57A4}"/>
                  </a:ext>
                </a:extLst>
              </p:cNvPr>
              <p:cNvSpPr/>
              <p:nvPr/>
            </p:nvSpPr>
            <p:spPr>
              <a:xfrm rot="5400000">
                <a:off x="10764997" y="2901526"/>
                <a:ext cx="251570" cy="1539123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AD4AC01B-7124-E966-1619-BF05F604FDDD}"/>
                      </a:ext>
                    </a:extLst>
                  </p:cNvPr>
                  <p:cNvSpPr txBox="1"/>
                  <p:nvPr/>
                </p:nvSpPr>
                <p:spPr>
                  <a:xfrm>
                    <a:off x="9857862" y="3697445"/>
                    <a:ext cx="2065840" cy="78489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nary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AD4AC01B-7124-E966-1619-BF05F604FDD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57862" y="3697445"/>
                    <a:ext cx="2065840" cy="78489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0792711-75B9-95C4-586A-00B6CEC74B7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9222954" y="3159290"/>
                    <a:ext cx="432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0792711-75B9-95C4-586A-00B6CEC74B7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9222954" y="3159290"/>
                    <a:ext cx="43277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63583111-077E-2325-A6DE-3D2D5231244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1419530" y="3152001"/>
                    <a:ext cx="432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63583111-077E-2325-A6DE-3D2D5231244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1419530" y="3152001"/>
                    <a:ext cx="43277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B452B02-D962-94A5-1424-E76206AB059D}"/>
                  </a:ext>
                </a:extLst>
              </p:cNvPr>
              <p:cNvSpPr txBox="1"/>
              <p:nvPr/>
            </p:nvSpPr>
            <p:spPr>
              <a:xfrm>
                <a:off x="9719863" y="2685293"/>
                <a:ext cx="1570534" cy="3239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Episode</a:t>
                </a:r>
              </a:p>
            </p:txBody>
          </p:sp>
        </p:grp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8A699FD2-C753-722C-19C4-5AACDD9E28F9}"/>
                </a:ext>
              </a:extLst>
            </p:cNvPr>
            <p:cNvSpPr/>
            <p:nvPr/>
          </p:nvSpPr>
          <p:spPr>
            <a:xfrm flipH="1">
              <a:off x="8837415" y="2832017"/>
              <a:ext cx="2873866" cy="368029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update</a:t>
              </a:r>
            </a:p>
          </p:txBody>
        </p:sp>
      </p:grp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0271B4BA-988D-9708-7511-B6936ED95186}"/>
              </a:ext>
            </a:extLst>
          </p:cNvPr>
          <p:cNvSpPr/>
          <p:nvPr/>
        </p:nvSpPr>
        <p:spPr>
          <a:xfrm>
            <a:off x="5519550" y="5741440"/>
            <a:ext cx="1995181" cy="195743"/>
          </a:xfrm>
          <a:prstGeom prst="wedgeRoundRectCallout">
            <a:avLst>
              <a:gd name="adj1" fmla="val -87182"/>
              <a:gd name="adj2" fmla="val -16394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Uses only the first visit.</a:t>
            </a:r>
          </a:p>
        </p:txBody>
      </p:sp>
    </p:spTree>
    <p:extLst>
      <p:ext uri="{BB962C8B-B14F-4D97-AF65-F5344CB8AC3E}">
        <p14:creationId xmlns:p14="http://schemas.microsoft.com/office/powerpoint/2010/main" val="3000484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19E24D1-8C10-D360-A975-395DD150B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Monte Carlo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F5D3AF-E874-2E5E-C9AF-8FCA74423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84277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14C81-3730-01C4-0178-B5F501F1B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MC Control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6118BD-0FDD-CEBC-47C4-EDC305760B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Find the optimal policy. </a:t>
                </a:r>
              </a:p>
              <a:p>
                <a:r>
                  <a:rPr lang="en-US" b="1" dirty="0"/>
                  <a:t>Issue</a:t>
                </a:r>
                <a:r>
                  <a:rPr lang="en-US" dirty="0"/>
                  <a:t>: If no model is available, State values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are not sufficient to extract the policy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)=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)=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)[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We need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to determine the greedy policy.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Need</a:t>
                </a:r>
                <a:r>
                  <a:rPr lang="en-US" dirty="0"/>
                  <a:t>: Methods to estimate state-action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for a 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6118BD-0FDD-CEBC-47C4-EDC305760B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 b="-1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97736B57-32A4-8061-59E8-4A8B0884BBE9}"/>
              </a:ext>
            </a:extLst>
          </p:cNvPr>
          <p:cNvGrpSpPr/>
          <p:nvPr/>
        </p:nvGrpSpPr>
        <p:grpSpPr>
          <a:xfrm>
            <a:off x="6361504" y="3723503"/>
            <a:ext cx="4771840" cy="515511"/>
            <a:chOff x="2458533" y="3098314"/>
            <a:chExt cx="1699913" cy="515511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7D54A4FA-9978-C0D7-9A96-C09807FEC7CA}"/>
                </a:ext>
              </a:extLst>
            </p:cNvPr>
            <p:cNvSpPr/>
            <p:nvPr/>
          </p:nvSpPr>
          <p:spPr>
            <a:xfrm rot="5400000">
              <a:off x="3099931" y="2531679"/>
              <a:ext cx="257767" cy="139103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23F1C6B4-152C-31C0-996A-32097CDCA179}"/>
                    </a:ext>
                  </a:extLst>
                </p:cNvPr>
                <p:cNvSpPr txBox="1"/>
                <p:nvPr/>
              </p:nvSpPr>
              <p:spPr>
                <a:xfrm>
                  <a:off x="2458533" y="3306048"/>
                  <a:ext cx="169991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/>
                    <a:t>This is called a one-step look-ahead which requires </a:t>
                  </a:r>
                  <a14:m>
                    <m:oMath xmlns:m="http://schemas.openxmlformats.org/officeDocument/2006/math"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23F1C6B4-152C-31C0-996A-32097CDCA1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8533" y="3306048"/>
                  <a:ext cx="1699913" cy="307777"/>
                </a:xfrm>
                <a:prstGeom prst="rect">
                  <a:avLst/>
                </a:prstGeom>
                <a:blipFill>
                  <a:blip r:embed="rId3"/>
                  <a:stretch>
                    <a:fillRect t="-4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5605775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AB7F5-DC53-0B92-5EC4-6EE0D3EC5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87CEA-5458-FD9C-AEE9-7C8998BD7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Estimate of Action Values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4C16CC-EFEF-3BC0-5891-9B82A93F4F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This is policy evaluation to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endParaRPr lang="en-US" b="0" dirty="0"/>
              </a:p>
              <a:p>
                <a:r>
                  <a:rPr lang="en-US" dirty="0"/>
                  <a:t>Same as regular MC prediction, but record returns for action-state pairs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Guarantee</a:t>
                </a:r>
                <a:r>
                  <a:rPr lang="en-US" dirty="0"/>
                  <a:t>: Converges after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episodes.</a:t>
                </a:r>
              </a:p>
              <a:p>
                <a:r>
                  <a:rPr lang="en-US" b="1" dirty="0"/>
                  <a:t>Complication</a:t>
                </a:r>
                <a:r>
                  <a:rPr lang="en-US" dirty="0"/>
                  <a:t>: Many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-pairs will never be visited when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We need to keep exploring! Options: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Exploring starts</a:t>
                </a:r>
                <a:r>
                  <a:rPr lang="en-US" dirty="0"/>
                  <a:t>: choose the starting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for each episode randomly.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Only consider </a:t>
                </a:r>
                <a:r>
                  <a:rPr lang="en-US" b="1" dirty="0"/>
                  <a:t>soft policies </a:t>
                </a:r>
                <a:r>
                  <a:rPr lang="en-US" dirty="0"/>
                  <a:t>like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-greedy. Soft policies have non-zero probabilities for all actions.</a:t>
                </a:r>
              </a:p>
              <a:p>
                <a:pPr marL="1371600" lvl="2" indent="-457200">
                  <a:buFont typeface="+mj-lt"/>
                  <a:buAutoNum type="alphaLcParenR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4C16CC-EFEF-3BC0-5891-9B82A93F4F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1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26845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19699-7616-F15A-0A6C-D07DB4DC6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Control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3A23392-2FBB-B567-0DB9-4AC01AA43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9499406" cy="4779633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Approx.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using ideas from GPI.</a:t>
                </a:r>
              </a:p>
              <a:p>
                <a:endParaRPr lang="en-US" dirty="0"/>
              </a:p>
              <a:p>
                <a:r>
                  <a:rPr lang="en-US" dirty="0"/>
                  <a:t>MC policy iteration: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r>
                        <a:rPr lang="en-US" i="1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Start with an arbitrary policy.</a:t>
                </a:r>
              </a:p>
              <a:p>
                <a:r>
                  <a:rPr lang="en-US" dirty="0"/>
                  <a:t>Evaluation: Improve the MC estimate by sampling an episode using the current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r>
                  <a:rPr lang="en-US" dirty="0"/>
                  <a:t>Improvement: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greedy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means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3A23392-2FBB-B567-0DB9-4AC01AA43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9499406" cy="4779633"/>
              </a:xfrm>
              <a:blipFill>
                <a:blip r:embed="rId2"/>
                <a:stretch>
                  <a:fillRect l="-1155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F3DB8754-B65E-E3AC-7CAD-78AE15FCE1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0601" y="218543"/>
            <a:ext cx="2936007" cy="2828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4673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0090D-4EE5-1B7F-A3DC-4FF28643D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Remember: Policy Improvement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3A96F1-4BA7-4E3F-1BDC-24F7A5DC29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is better (equal)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Assumptions:</a:t>
                </a:r>
              </a:p>
              <a:p>
                <a:pPr lvl="1"/>
                <a:r>
                  <a:rPr lang="en-US" dirty="0"/>
                  <a:t>All states are reached (e.g., start episodes with exploring states)</a:t>
                </a:r>
              </a:p>
              <a:p>
                <a:pPr lvl="1"/>
                <a:r>
                  <a:rPr lang="en-US" dirty="0"/>
                  <a:t>Perfect policy evaluation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many episodes.</a:t>
                </a:r>
              </a:p>
              <a:p>
                <a:r>
                  <a:rPr lang="en-US" dirty="0"/>
                  <a:t>Options for imperfect policy evaluation:</a:t>
                </a:r>
              </a:p>
              <a:p>
                <a:pPr lvl="1"/>
                <a:r>
                  <a:rPr lang="en-US" dirty="0"/>
                  <a:t>Get bounds for the error and use sufficiently many episodes to reach an acceptable level of error.</a:t>
                </a:r>
              </a:p>
              <a:p>
                <a:pPr lvl="1"/>
                <a:r>
                  <a:rPr lang="en-US" dirty="0"/>
                  <a:t>Instead of complete policy evaluation just move a little closer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3A96F1-4BA7-4E3F-1BDC-24F7A5DC29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84005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48361-4CE7-7B20-B8C4-E9B2E517C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MC Control with Exploring Starts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B0E9B77-552E-54B7-59E3-0A167A5B53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52020" y="1438741"/>
            <a:ext cx="8487960" cy="4696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02700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7B18F-AF51-E791-9C62-EEAA55F75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Control without Exploring Starts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FD2A1-20FF-E2C2-87CE-EFFEE51F9F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Need: a guarantee that all state-action combinations are tried.</a:t>
            </a:r>
          </a:p>
          <a:p>
            <a:endParaRPr lang="en-US" dirty="0"/>
          </a:p>
          <a:p>
            <a:r>
              <a:rPr lang="en-US" dirty="0"/>
              <a:t>Options: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US" dirty="0"/>
              <a:t>On-policy control: use a soft policy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US" dirty="0"/>
              <a:t>Off-policy control: use a behavior policy for sampling that tries all state-action pairs.</a:t>
            </a:r>
          </a:p>
        </p:txBody>
      </p:sp>
    </p:spTree>
    <p:extLst>
      <p:ext uri="{BB962C8B-B14F-4D97-AF65-F5344CB8AC3E}">
        <p14:creationId xmlns:p14="http://schemas.microsoft.com/office/powerpoint/2010/main" val="17335212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22310-FA64-2841-526C-6FAEAF816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Soft Policies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DA1106-4AD5-CBFF-5625-E1729EDA40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Soft policy</a:t>
                </a:r>
                <a:r>
                  <a:rPr lang="en-US" dirty="0"/>
                  <a:t>: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  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+ gradually shifts closer to the optimal deterministic policy.</a:t>
                </a:r>
              </a:p>
              <a:p>
                <a:pPr marL="0" indent="0" algn="ctr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𝝐</m:t>
                    </m:r>
                  </m:oMath>
                </a14:m>
                <a:r>
                  <a:rPr lang="en-US" b="1" dirty="0"/>
                  <a:t>-soft policy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)|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𝝐</m:t>
                    </m:r>
                  </m:oMath>
                </a14:m>
                <a:r>
                  <a:rPr lang="en-US" b="1" dirty="0"/>
                  <a:t>-greedy policy</a:t>
                </a:r>
                <a:r>
                  <a:rPr lang="en-US" dirty="0"/>
                  <a:t>: follows a greedy policy but chooses a random action with probability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greedy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action</m:t>
                              </m:r>
                            </m:e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)|</m:t>
                                  </m:r>
                                </m:den>
                              </m:f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                 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greedy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action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DA1106-4AD5-CBFF-5625-E1729EDA40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57543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F8418-5E9C-7F49-C4BB-FCAD076E7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5E1DF-EC1A-55FD-95F8-47678C894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MC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7EB18D3-DD9C-49AA-2B12-C3590A60FE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Like Monte Carlo ES except:</a:t>
                </a:r>
              </a:p>
              <a:p>
                <a:pPr lvl="1"/>
                <a:r>
                  <a:rPr lang="en-US" dirty="0"/>
                  <a:t>Start with an arbitrary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-soft policy.</a:t>
                </a:r>
              </a:p>
              <a:p>
                <a:pPr lvl="1"/>
                <a:r>
                  <a:rPr lang="en-US" dirty="0"/>
                  <a:t>After each update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, instead of a greedy deterministic policy, construct 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7EB18D3-DD9C-49AA-2B12-C3590A60FE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114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E4376-2408-766E-C11B-2CB70FB9E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On-Policy MC Control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D02F365C-A50B-8950-7636-B2CF14BC8E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69461" y="1397000"/>
            <a:ext cx="7453078" cy="4779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8483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7482D-FBE8-E8AF-A0D6-5E553AFB0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vs. On-Policy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824046-78CD-3868-7C6F-2A610ED245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5045415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Dilemma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Learn action values depending on subsequent optimal behavior</a:t>
                </a:r>
              </a:p>
              <a:p>
                <a:pPr lvl="1"/>
                <a:r>
                  <a:rPr lang="en-US" dirty="0"/>
                  <a:t>Need to explore which is non-optimal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On-policy</a:t>
                </a:r>
                <a:r>
                  <a:rPr lang="en-US" dirty="0"/>
                  <a:t>: Learns a near-optimal policy that still explores (i.e.,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with a 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).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Off-policy</a:t>
                </a:r>
                <a:r>
                  <a:rPr lang="en-US" dirty="0"/>
                  <a:t>: Use two policies</a:t>
                </a:r>
              </a:p>
              <a:p>
                <a:pPr lvl="1"/>
                <a:r>
                  <a:rPr lang="en-US" dirty="0"/>
                  <a:t>Target policy: learn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which will become optimal.</a:t>
                </a:r>
              </a:p>
              <a:p>
                <a:pPr lvl="1"/>
                <a:r>
                  <a:rPr lang="en-US" dirty="0"/>
                  <a:t>Behavior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: guarantees exploration.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dirty="0"/>
                  <a:t>Called “off-policy” because the generated data follows a different policy than the target policy. </a:t>
                </a:r>
              </a:p>
              <a:p>
                <a:endParaRPr lang="en-US" dirty="0"/>
              </a:p>
              <a:p>
                <a:r>
                  <a:rPr lang="en-US" dirty="0"/>
                  <a:t>Off-policy methods are typically:</a:t>
                </a:r>
              </a:p>
              <a:p>
                <a:pPr lvl="1"/>
                <a:r>
                  <a:rPr lang="en-US" dirty="0"/>
                  <a:t>More complicated</a:t>
                </a:r>
              </a:p>
              <a:p>
                <a:pPr lvl="1"/>
                <a:r>
                  <a:rPr lang="en-US" dirty="0"/>
                  <a:t>Converge slower</a:t>
                </a:r>
              </a:p>
              <a:p>
                <a:pPr lvl="1"/>
                <a:r>
                  <a:rPr lang="en-US" dirty="0"/>
                  <a:t>Often more powerful</a:t>
                </a:r>
              </a:p>
              <a:p>
                <a:pPr lvl="1"/>
                <a:r>
                  <a:rPr lang="en-US" dirty="0"/>
                  <a:t>Can be applied to data externally generated using a fixed, potentially unknown, behavior policy.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Note</a:t>
                </a:r>
                <a:r>
                  <a:rPr lang="en-US" dirty="0"/>
                  <a:t>: On-policy is a special case of off-policy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824046-78CD-3868-7C6F-2A610ED245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5045415"/>
              </a:xfrm>
              <a:blipFill>
                <a:blip r:embed="rId2"/>
                <a:stretch>
                  <a:fillRect l="-522" t="-1812" b="-8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05065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367F2-824B-66B4-F5DA-53698C240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</a:t>
            </a:r>
            <a:r>
              <a:rPr lang="en-US" dirty="0" err="1"/>
              <a:t>Prediciton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9A0C7-966D-7B88-E622-3D38B5FC99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given episodes generated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Assumptions</a:t>
                </a:r>
                <a:r>
                  <a:rPr lang="en-US" dirty="0"/>
                  <a:t>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are fixed</a:t>
                </a:r>
              </a:p>
              <a:p>
                <a:pPr lvl="1"/>
                <a:r>
                  <a:rPr lang="en-US" dirty="0"/>
                  <a:t>Coverage: Every action taken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will occasionally also be taken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needs to be stochastic for states where it differs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(typically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-greedy)</a:t>
                </a:r>
              </a:p>
              <a:p>
                <a:endParaRPr lang="en-US" dirty="0"/>
              </a:p>
              <a:p>
                <a:r>
                  <a:rPr lang="en-US" dirty="0"/>
                  <a:t>We are typically interested in the best deterministic greedy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with respect to the current estimate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9A0C7-966D-7B88-E622-3D38B5FC99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6" b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44559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7F096-7449-FAFB-94B3-93534D791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Importance Sampling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1A07B9-CE87-BFDE-9DAE-A426D89766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878"/>
                <a:ext cx="10515600" cy="4779633"/>
              </a:xfrm>
            </p:spPr>
            <p:txBody>
              <a:bodyPr>
                <a:noAutofit/>
              </a:bodyPr>
              <a:lstStyle/>
              <a:p>
                <a:r>
                  <a:rPr lang="en-US" sz="1800" b="1" dirty="0"/>
                  <a:t>Idea</a:t>
                </a:r>
                <a:r>
                  <a:rPr lang="en-US" sz="1800" dirty="0"/>
                  <a:t>: Estimate the expected values under a desired distribution given samples from another distribution </a:t>
                </a:r>
              </a:p>
              <a:p>
                <a:pPr lvl="1"/>
                <a:r>
                  <a:rPr lang="en-US" sz="1400" dirty="0"/>
                  <a:t>Desired distribution: actions are chosen according to the target policy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400" dirty="0"/>
              </a:p>
              <a:p>
                <a:pPr lvl="1"/>
                <a:r>
                  <a:rPr lang="en-US" sz="1400" dirty="0"/>
                  <a:t>Sampled distribution: actions are chosen by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sz="1400" dirty="0"/>
              </a:p>
              <a:p>
                <a:r>
                  <a:rPr lang="en-US" sz="1800" b="1" dirty="0"/>
                  <a:t>Use in off-policy prediction</a:t>
                </a:r>
                <a:r>
                  <a:rPr lang="en-US" sz="1800" dirty="0"/>
                  <a:t>: weight returns observed under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800" dirty="0"/>
                  <a:t> to estimate returns for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800" dirty="0"/>
                  <a:t> using the probability of trajectories under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800" dirty="0"/>
                  <a:t>.</a:t>
                </a:r>
              </a:p>
              <a:p>
                <a:r>
                  <a:rPr lang="en-US" sz="1800" dirty="0"/>
                  <a:t>Probability of a trajectory starting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800" dirty="0"/>
                  <a:t> under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8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b="0" i="0" smtClean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−1, </m:t>
                                      </m:r>
                                    </m:sub>
                                  </m:s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~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d>
                        </m:e>
                      </m:func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1800" dirty="0"/>
              </a:p>
              <a:p>
                <a:r>
                  <a:rPr lang="en-US" sz="1800" b="1" dirty="0"/>
                  <a:t>Importance sampling ratio </a:t>
                </a:r>
                <a:r>
                  <a:rPr lang="en-US" sz="1800" dirty="0"/>
                  <a:t>(probability that 𝑏 chooses the same actions as 𝜋):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≝</m:t>
                      </m:r>
                      <m:f>
                        <m:f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∏"/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nary>
                            <m:naryPr>
                              <m:chr m:val="∏"/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en-US" sz="1800" dirty="0"/>
              </a:p>
              <a:p>
                <a:pPr marL="0" indent="0">
                  <a:buNone/>
                </a:pPr>
                <a:endParaRPr lang="en-US" sz="1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800" dirty="0"/>
              </a:p>
              <a:p>
                <a:pPr marL="0" indent="0">
                  <a:buNone/>
                </a:pPr>
                <a:r>
                  <a:rPr lang="en-US" sz="1800" b="1" dirty="0"/>
                  <a:t>Note: </a:t>
                </a:r>
                <a:r>
                  <a:rPr lang="en-US" sz="1800" dirty="0"/>
                  <a:t>The ratio has to be calculated for the remainder of each sampled trajectory.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1A07B9-CE87-BFDE-9DAE-A426D89766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878"/>
                <a:ext cx="10515600" cy="4779633"/>
              </a:xfrm>
              <a:blipFill>
                <a:blip r:embed="rId2"/>
                <a:stretch>
                  <a:fillRect l="-522" t="-1148" b="-3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FA0F39-D96C-AC90-D24E-DB92BD3DFCA8}"/>
              </a:ext>
            </a:extLst>
          </p:cNvPr>
          <p:cNvCxnSpPr>
            <a:cxnSpLocks/>
          </p:cNvCxnSpPr>
          <p:nvPr/>
        </p:nvCxnSpPr>
        <p:spPr>
          <a:xfrm flipV="1">
            <a:off x="5709769" y="4425414"/>
            <a:ext cx="1598455" cy="221624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9D49D-EC81-4C18-EAE0-16C729A0D7AA}"/>
              </a:ext>
            </a:extLst>
          </p:cNvPr>
          <p:cNvCxnSpPr>
            <a:cxnSpLocks/>
          </p:cNvCxnSpPr>
          <p:nvPr/>
        </p:nvCxnSpPr>
        <p:spPr>
          <a:xfrm flipV="1">
            <a:off x="5758630" y="4767441"/>
            <a:ext cx="1549594" cy="254781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5AFBF7E4-845B-DA38-E9A5-723C0A4CB58B}"/>
              </a:ext>
            </a:extLst>
          </p:cNvPr>
          <p:cNvSpPr/>
          <p:nvPr/>
        </p:nvSpPr>
        <p:spPr>
          <a:xfrm>
            <a:off x="9471194" y="4357357"/>
            <a:ext cx="2101026" cy="750367"/>
          </a:xfrm>
          <a:prstGeom prst="wedgeRoundRectCallout">
            <a:avLst>
              <a:gd name="adj1" fmla="val -76807"/>
              <a:gd name="adj2" fmla="val -3547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Luckily, the unknown transition probabilities cancel out!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5B72F090-DC2E-C8B9-3321-C68747FD6B15}"/>
              </a:ext>
            </a:extLst>
          </p:cNvPr>
          <p:cNvSpPr/>
          <p:nvPr/>
        </p:nvSpPr>
        <p:spPr>
          <a:xfrm>
            <a:off x="9471194" y="2917700"/>
            <a:ext cx="2101026" cy="520435"/>
          </a:xfrm>
          <a:prstGeom prst="wedgeRoundRectCallout">
            <a:avLst>
              <a:gd name="adj1" fmla="val -76475"/>
              <a:gd name="adj2" fmla="val 5257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Needs unknown transition probabilities!</a:t>
            </a: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12E2FEED-5945-68CE-0EE6-B01BEE371736}"/>
              </a:ext>
            </a:extLst>
          </p:cNvPr>
          <p:cNvSpPr/>
          <p:nvPr/>
        </p:nvSpPr>
        <p:spPr>
          <a:xfrm>
            <a:off x="9471194" y="5409617"/>
            <a:ext cx="2101026" cy="966952"/>
          </a:xfrm>
          <a:prstGeom prst="wedgeRoundRectCallout">
            <a:avLst>
              <a:gd name="adj1" fmla="val -145246"/>
              <a:gd name="adj2" fmla="val -30674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we need to do is correct the returns by multiplying them with the ratio.</a:t>
            </a:r>
          </a:p>
        </p:txBody>
      </p:sp>
    </p:spTree>
    <p:extLst>
      <p:ext uri="{BB962C8B-B14F-4D97-AF65-F5344CB8AC3E}">
        <p14:creationId xmlns:p14="http://schemas.microsoft.com/office/powerpoint/2010/main" val="31623255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0A4A6-BE76-606A-C91C-C516CF322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vs. Weighted Importance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CF3B7-D5FB-96F8-28FE-3036E19FCB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Ordinary importance sampling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)≝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𝒯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)|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Gives an unbiased estimate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but variance is extreme for low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)|</m:t>
                    </m:r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dirty="0"/>
                  <a:t>Weighted importance sampling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)≝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Set 0 if denominator is 0</a:t>
                </a:r>
              </a:p>
              <a:p>
                <a:pPr lvl="1"/>
                <a:r>
                  <a:rPr lang="en-US" dirty="0"/>
                  <a:t>Initially biased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US" dirty="0"/>
                  <a:t>. Bias falls asymptotically with more visits.</a:t>
                </a:r>
              </a:p>
              <a:p>
                <a:pPr lvl="1"/>
                <a:r>
                  <a:rPr lang="en-US" dirty="0"/>
                  <a:t>Preferred method with much lower errors at lower number of episodes.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CF3B7-D5FB-96F8-28FE-3036E19FCB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b="-15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729DC6-6293-777D-0E8A-BF19CD2D75FC}"/>
                  </a:ext>
                </a:extLst>
              </p:cNvPr>
              <p:cNvSpPr txBox="1"/>
              <p:nvPr/>
            </p:nvSpPr>
            <p:spPr>
              <a:xfrm>
                <a:off x="8749716" y="1537174"/>
                <a:ext cx="2956421" cy="307777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</m:t>
                    </m:r>
                  </m:oMath>
                </a14:m>
                <a:r>
                  <a:rPr lang="en-US" sz="1400" dirty="0">
                    <a:solidFill>
                      <a:schemeClr val="tx1"/>
                    </a:solidFill>
                  </a:rPr>
                  <a:t>time steps that s was visited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729DC6-6293-777D-0E8A-BF19CD2D75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49716" y="1537174"/>
                <a:ext cx="2956421" cy="307777"/>
              </a:xfrm>
              <a:prstGeom prst="rect">
                <a:avLst/>
              </a:prstGeom>
              <a:blipFill>
                <a:blip r:embed="rId3"/>
                <a:stretch>
                  <a:fillRect t="-1852" b="-14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39863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6E673-7BE2-C7DB-FDB9-3F97190C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Incremental Implementation using </a:t>
            </a:r>
            <a:br>
              <a:rPr lang="en-US" dirty="0"/>
            </a:br>
            <a:r>
              <a:rPr lang="en-US" dirty="0"/>
              <a:t>Weighted Importance Sampling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6124268-92F3-21D3-714E-81C827A575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47441" y="1397000"/>
            <a:ext cx="8297118" cy="47799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00122CB-5042-9A2C-2C7B-E89FEF68B1CE}"/>
                  </a:ext>
                </a:extLst>
              </p:cNvPr>
              <p:cNvSpPr/>
              <p:nvPr/>
            </p:nvSpPr>
            <p:spPr>
              <a:xfrm>
                <a:off x="5591262" y="2504114"/>
                <a:ext cx="1593908" cy="440422"/>
              </a:xfrm>
              <a:prstGeom prst="wedgeRoundRectCallout">
                <a:avLst>
                  <a:gd name="adj1" fmla="val -157675"/>
                  <a:gd name="adj2" fmla="val 5773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/>
                  <a:t>cumulative sum of weights for </a:t>
                </a:r>
                <a14:m>
                  <m:oMath xmlns:m="http://schemas.openxmlformats.org/officeDocument/2006/math">
                    <m:r>
                      <a:rPr lang="en-US" sz="11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1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100" i="1" dirty="0" err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1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1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100" dirty="0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00122CB-5042-9A2C-2C7B-E89FEF68B1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1262" y="2504114"/>
                <a:ext cx="1593908" cy="440422"/>
              </a:xfrm>
              <a:prstGeom prst="wedgeRoundRectCallout">
                <a:avLst>
                  <a:gd name="adj1" fmla="val -157675"/>
                  <a:gd name="adj2" fmla="val 57738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02054287-BBE2-A27E-1B12-1B0E41F29443}"/>
              </a:ext>
            </a:extLst>
          </p:cNvPr>
          <p:cNvSpPr/>
          <p:nvPr/>
        </p:nvSpPr>
        <p:spPr>
          <a:xfrm>
            <a:off x="6930704" y="4137170"/>
            <a:ext cx="1995181" cy="195743"/>
          </a:xfrm>
          <a:prstGeom prst="wedgeRoundRectCallout">
            <a:avLst>
              <a:gd name="adj1" fmla="val -50798"/>
              <a:gd name="adj2" fmla="val 13916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Update in Reverse order!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F6850AEC-92A1-9747-9C72-EC0B580331BC}"/>
              </a:ext>
            </a:extLst>
          </p:cNvPr>
          <p:cNvSpPr/>
          <p:nvPr/>
        </p:nvSpPr>
        <p:spPr>
          <a:xfrm>
            <a:off x="6442745" y="5684706"/>
            <a:ext cx="1431720" cy="195743"/>
          </a:xfrm>
          <a:prstGeom prst="wedgeRoundRectCallout">
            <a:avLst>
              <a:gd name="adj1" fmla="val -79457"/>
              <a:gd name="adj2" fmla="val -14583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Correct the update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1557B3F2-5E6A-602A-6628-DB351997E873}"/>
                  </a:ext>
                </a:extLst>
              </p:cNvPr>
              <p:cNvSpPr/>
              <p:nvPr/>
            </p:nvSpPr>
            <p:spPr>
              <a:xfrm>
                <a:off x="5937307" y="3167659"/>
                <a:ext cx="1995181" cy="195743"/>
              </a:xfrm>
              <a:prstGeom prst="wedgeRoundRectCallout">
                <a:avLst>
                  <a:gd name="adj1" fmla="val -50798"/>
                  <a:gd name="adj2" fmla="val 13916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100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100" dirty="0"/>
                  <a:t> can change every episode!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1557B3F2-5E6A-602A-6628-DB351997E8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7307" y="3167659"/>
                <a:ext cx="1995181" cy="195743"/>
              </a:xfrm>
              <a:prstGeom prst="wedgeRoundRectCallout">
                <a:avLst>
                  <a:gd name="adj1" fmla="val -50798"/>
                  <a:gd name="adj2" fmla="val 139167"/>
                  <a:gd name="adj3" fmla="val 16667"/>
                </a:avLst>
              </a:prstGeom>
              <a:blipFill>
                <a:blip r:embed="rId4"/>
                <a:stretch>
                  <a:fillRect t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18457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66720-F8A3-4C51-FD0A-FF05EFB94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MC Control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334DF6-0DA3-8FE0-3113-4988FBB48D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Remember</a:t>
                </a:r>
                <a:r>
                  <a:rPr lang="en-US" dirty="0"/>
                  <a:t>: on-policy tries to estimate a policy while using it for control. The behavior changes while learning.</a:t>
                </a:r>
              </a:p>
              <a:p>
                <a:endParaRPr lang="en-US" dirty="0"/>
              </a:p>
              <a:p>
                <a:r>
                  <a:rPr lang="en-US" dirty="0"/>
                  <a:t>Off-policy control uses two policies:</a:t>
                </a:r>
              </a:p>
              <a:p>
                <a:pPr lvl="1"/>
                <a:r>
                  <a:rPr lang="en-US" dirty="0"/>
                  <a:t>Behavior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: needs to be soft (have coverage)</a:t>
                </a:r>
              </a:p>
              <a:p>
                <a:pPr lvl="1"/>
                <a:r>
                  <a:rPr lang="en-US" dirty="0"/>
                  <a:t>Target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: can be deterministic (e.g., greedy)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334DF6-0DA3-8FE0-3113-4988FBB48D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06857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E8716-FCC4-28C6-4F3D-DEB381529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Off-Policy MC Control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607C0C5-74BA-782D-88D3-D9D60C1E24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43338" y="1397000"/>
            <a:ext cx="7905323" cy="47799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090382D3-79E5-3716-A073-9249102C1E9A}"/>
                  </a:ext>
                </a:extLst>
              </p:cNvPr>
              <p:cNvSpPr/>
              <p:nvPr/>
            </p:nvSpPr>
            <p:spPr>
              <a:xfrm>
                <a:off x="222308" y="4345498"/>
                <a:ext cx="2399251" cy="1367405"/>
              </a:xfrm>
              <a:prstGeom prst="wedgeRoundRectCallout">
                <a:avLst>
                  <a:gd name="adj1" fmla="val 69726"/>
                  <a:gd name="adj2" fmla="val 3765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Only uses the end of the episode that uses greedy actions for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br>
                  <a:rPr lang="en-US" sz="1400" dirty="0"/>
                </a:br>
                <a:r>
                  <a:rPr lang="en-US" sz="1400" b="1" dirty="0"/>
                  <a:t>Issue</a:t>
                </a:r>
                <a:r>
                  <a:rPr lang="en-US" sz="1400" dirty="0"/>
                  <a:t>: Does not use all data</a:t>
                </a:r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090382D3-79E5-3716-A073-9249102C1E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308" y="4345498"/>
                <a:ext cx="2399251" cy="1367405"/>
              </a:xfrm>
              <a:prstGeom prst="wedgeRoundRectCallout">
                <a:avLst>
                  <a:gd name="adj1" fmla="val 69726"/>
                  <a:gd name="adj2" fmla="val 37653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ight Brace 6">
            <a:extLst>
              <a:ext uri="{FF2B5EF4-FFF2-40B4-BE49-F238E27FC236}">
                <a16:creationId xmlns:a16="http://schemas.microsoft.com/office/drawing/2014/main" id="{BB16960E-59AF-722F-F148-C1628038A5CE}"/>
              </a:ext>
            </a:extLst>
          </p:cNvPr>
          <p:cNvSpPr/>
          <p:nvPr/>
        </p:nvSpPr>
        <p:spPr>
          <a:xfrm>
            <a:off x="8544187" y="5196980"/>
            <a:ext cx="180363" cy="51592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C9F0F300-7EDD-4067-628D-126C67D34BFA}"/>
              </a:ext>
            </a:extLst>
          </p:cNvPr>
          <p:cNvSpPr/>
          <p:nvPr/>
        </p:nvSpPr>
        <p:spPr>
          <a:xfrm>
            <a:off x="9511091" y="5228167"/>
            <a:ext cx="2399251" cy="262777"/>
          </a:xfrm>
          <a:prstGeom prst="wedgeRoundRectCallout">
            <a:avLst>
              <a:gd name="adj1" fmla="val -81134"/>
              <a:gd name="adj2" fmla="val 4013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This is added to prediction</a:t>
            </a:r>
          </a:p>
        </p:txBody>
      </p:sp>
    </p:spTree>
    <p:extLst>
      <p:ext uri="{BB962C8B-B14F-4D97-AF65-F5344CB8AC3E}">
        <p14:creationId xmlns:p14="http://schemas.microsoft.com/office/powerpoint/2010/main" val="32484463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E525A-4DE7-57BC-63B4-AAC868992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F28751-2020-D237-0D4A-7383D2745E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Advantages of MC methods:</a:t>
            </a:r>
          </a:p>
          <a:p>
            <a:pPr lvl="1"/>
            <a:r>
              <a:rPr lang="en-US" dirty="0"/>
              <a:t>Works with sample episodes</a:t>
            </a:r>
          </a:p>
          <a:p>
            <a:pPr lvl="2"/>
            <a:r>
              <a:rPr lang="en-US" dirty="0"/>
              <a:t>No need for an environment model.</a:t>
            </a:r>
          </a:p>
          <a:p>
            <a:pPr lvl="2"/>
            <a:r>
              <a:rPr lang="en-US" dirty="0"/>
              <a:t>Simulation is often easy.</a:t>
            </a:r>
          </a:p>
          <a:p>
            <a:pPr lvl="2"/>
            <a:r>
              <a:rPr lang="en-US" dirty="0"/>
              <a:t>Can focus on a small subset of states.</a:t>
            </a:r>
          </a:p>
          <a:p>
            <a:pPr lvl="2"/>
            <a:r>
              <a:rPr lang="en-US" dirty="0"/>
              <a:t>May be less harmed by violations of the Markov property because it </a:t>
            </a:r>
            <a:r>
              <a:rPr lang="en-US" b="1" dirty="0"/>
              <a:t>does not bootstrap </a:t>
            </a:r>
            <a:r>
              <a:rPr lang="en-US" dirty="0"/>
              <a:t>(use predicted successor states) but uses observed states.</a:t>
            </a:r>
          </a:p>
          <a:p>
            <a:endParaRPr lang="en-US" dirty="0"/>
          </a:p>
          <a:p>
            <a:r>
              <a:rPr lang="en-US" dirty="0"/>
              <a:t>Policy Evaluation: Averages many returns starting in a state with a specific action.</a:t>
            </a:r>
          </a:p>
          <a:p>
            <a:endParaRPr lang="en-US" dirty="0"/>
          </a:p>
          <a:p>
            <a:r>
              <a:rPr lang="en-US" dirty="0"/>
              <a:t>Control: Interleaves pol. eval. and pol. improvement on an episode-by-episode basis.</a:t>
            </a:r>
          </a:p>
          <a:p>
            <a:endParaRPr lang="en-US" dirty="0"/>
          </a:p>
          <a:p>
            <a:r>
              <a:rPr lang="en-US" dirty="0"/>
              <a:t>Issues:</a:t>
            </a:r>
          </a:p>
          <a:p>
            <a:pPr lvl="1"/>
            <a:r>
              <a:rPr lang="en-US" b="1" dirty="0"/>
              <a:t>Maintain sufficient exploration</a:t>
            </a:r>
            <a:r>
              <a:rPr lang="en-US" dirty="0"/>
              <a:t>. Needs exploring starts or a behavioral policy with coverage (e.g., a soft policy).</a:t>
            </a:r>
          </a:p>
        </p:txBody>
      </p:sp>
    </p:spTree>
    <p:extLst>
      <p:ext uri="{BB962C8B-B14F-4D97-AF65-F5344CB8AC3E}">
        <p14:creationId xmlns:p14="http://schemas.microsoft.com/office/powerpoint/2010/main" val="33914825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5576</TotalTime>
  <Words>1856</Words>
  <Application>Microsoft Office PowerPoint</Application>
  <PresentationFormat>Widescreen</PresentationFormat>
  <Paragraphs>213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Monte Carlo Methods Sutton/Barto* Chapter 5</vt:lpstr>
      <vt:lpstr>Summary of Notation</vt:lpstr>
      <vt:lpstr>Idea</vt:lpstr>
      <vt:lpstr>MC Prediction</vt:lpstr>
      <vt:lpstr>Monte Carlo Control</vt:lpstr>
      <vt:lpstr>MC Control</vt:lpstr>
      <vt:lpstr>MC Estimate of Action Values</vt:lpstr>
      <vt:lpstr>MC Control</vt:lpstr>
      <vt:lpstr>Remember: Policy Improvement Theorem</vt:lpstr>
      <vt:lpstr>Alg. MC Control with Exploring Starts</vt:lpstr>
      <vt:lpstr>MC Control without Exploring Starts</vt:lpstr>
      <vt:lpstr>Types of Soft Policies</vt:lpstr>
      <vt:lpstr>On-Policy MC</vt:lpstr>
      <vt:lpstr>Alg. On-Policy MC Control</vt:lpstr>
      <vt:lpstr>Off-Policy vs. On-Policy</vt:lpstr>
      <vt:lpstr>Off-Policy Prediciton</vt:lpstr>
      <vt:lpstr>Importance Sampling</vt:lpstr>
      <vt:lpstr>Ordinary vs. Weighted Importance Sampling</vt:lpstr>
      <vt:lpstr>Incremental Implementation using  Weighted Importance Sampling</vt:lpstr>
      <vt:lpstr>Off-Policy MC Control</vt:lpstr>
      <vt:lpstr>Alg. Off-Policy MC Control</vt:lpstr>
      <vt:lpstr>Summary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120</cp:revision>
  <dcterms:created xsi:type="dcterms:W3CDTF">2025-09-08T14:44:49Z</dcterms:created>
  <dcterms:modified xsi:type="dcterms:W3CDTF">2025-09-20T20:30:49Z</dcterms:modified>
</cp:coreProperties>
</file>