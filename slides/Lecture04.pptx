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1" r:id="rId3"/>
    <p:sldId id="368" r:id="rId4"/>
    <p:sldId id="382" r:id="rId5"/>
    <p:sldId id="385" r:id="rId6"/>
    <p:sldId id="384" r:id="rId7"/>
    <p:sldId id="386" r:id="rId8"/>
    <p:sldId id="387" r:id="rId9"/>
    <p:sldId id="391" r:id="rId10"/>
    <p:sldId id="388" r:id="rId11"/>
    <p:sldId id="390" r:id="rId12"/>
    <p:sldId id="392" r:id="rId13"/>
    <p:sldId id="395" r:id="rId14"/>
    <p:sldId id="393" r:id="rId15"/>
    <p:sldId id="394" r:id="rId16"/>
    <p:sldId id="396" r:id="rId17"/>
    <p:sldId id="397" r:id="rId18"/>
    <p:sldId id="399" r:id="rId19"/>
    <p:sldId id="3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86E67-F0F0-421C-8F74-7B93ABA17FBF}">
          <p14:sldIdLst>
            <p14:sldId id="256"/>
            <p14:sldId id="381"/>
            <p14:sldId id="368"/>
            <p14:sldId id="382"/>
            <p14:sldId id="385"/>
            <p14:sldId id="384"/>
            <p14:sldId id="386"/>
            <p14:sldId id="387"/>
            <p14:sldId id="391"/>
            <p14:sldId id="388"/>
            <p14:sldId id="390"/>
            <p14:sldId id="392"/>
            <p14:sldId id="395"/>
            <p14:sldId id="393"/>
            <p14:sldId id="394"/>
            <p14:sldId id="396"/>
            <p14:sldId id="397"/>
            <p14:sldId id="399"/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2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653200" y="-18278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EE42B-57B4-EB74-A37C-6675858E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463968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Reinforcement Learning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Monte Carlo Methods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Sutton/Barto*</a:t>
            </a:r>
            <a:r>
              <a:rPr lang="en-US" sz="2700" dirty="0">
                <a:solidFill>
                  <a:schemeClr val="bg1"/>
                </a:solidFill>
              </a:rPr>
              <a:t> Chapter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23">
            <a:hlinkClick r:id="rId3"/>
            <a:extLst>
              <a:ext uri="{FF2B5EF4-FFF2-40B4-BE49-F238E27FC236}">
                <a16:creationId xmlns:a16="http://schemas.microsoft.com/office/drawing/2014/main" id="{3CBD6548-3D4E-9A40-CA35-355261D4E9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′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,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  <a:blipFill>
                <a:blip r:embed="rId3"/>
                <a:stretch>
                  <a:fillRect t="-1875" b="-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D475E5-BE3B-5594-57DC-46A17411F2F9}"/>
              </a:ext>
            </a:extLst>
          </p:cNvPr>
          <p:cNvSpPr txBox="1"/>
          <p:nvPr/>
        </p:nvSpPr>
        <p:spPr>
          <a:xfrm>
            <a:off x="822820" y="1124198"/>
            <a:ext cx="5273179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Capital letters          random variables</a:t>
            </a:r>
            <a:br>
              <a:rPr lang="en-US" sz="1200" dirty="0"/>
            </a:br>
            <a:r>
              <a:rPr lang="en-US" sz="1200" dirty="0"/>
              <a:t>Lower case letters realizations of random variables and for scalar functions</a:t>
            </a:r>
          </a:p>
          <a:p>
            <a:r>
              <a:rPr lang="en-US" sz="1200" dirty="0"/>
              <a:t>Bold lower case letters real-valued vectors (even if random variables)</a:t>
            </a:r>
          </a:p>
          <a:p>
            <a:r>
              <a:rPr lang="en-US" sz="1200" dirty="0"/>
              <a:t>Bold capitals           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	policy (decision-making rule)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  <a:blipFill>
                <a:blip r:embed="rId4"/>
                <a:stretch>
                  <a:fillRect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expected approximate action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  <a:blipFill>
                <a:blip r:embed="rId5"/>
                <a:stretch>
                  <a:fillRect t="-2362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47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E431-EDDE-8F36-4640-902EF247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C304-9F53-1D52-E987-0090E5073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 complete knowledge of the environment (the MDP).</a:t>
            </a:r>
          </a:p>
          <a:p>
            <a:r>
              <a:rPr lang="en-US" dirty="0"/>
              <a:t>Use “experience” = sample sequences of states, actions, and rewards from actual or simulated interactions with the environment.</a:t>
            </a:r>
          </a:p>
          <a:p>
            <a:r>
              <a:rPr lang="en-US" b="1" dirty="0"/>
              <a:t>Note</a:t>
            </a:r>
            <a:r>
              <a:rPr lang="en-US" dirty="0"/>
              <a:t>: It is easier to simulate transitions than to specify the complete MDP for DP.</a:t>
            </a:r>
          </a:p>
          <a:p>
            <a:endParaRPr lang="en-US" dirty="0"/>
          </a:p>
          <a:p>
            <a:r>
              <a:rPr lang="en-US" b="1" dirty="0"/>
              <a:t>Monte Carlo (MC) methods</a:t>
            </a:r>
            <a:r>
              <a:rPr lang="en-US" dirty="0"/>
              <a:t>: algorithms that rely on repeated random sampling to obtain numerical results.</a:t>
            </a:r>
          </a:p>
          <a:p>
            <a:endParaRPr lang="en-US" dirty="0"/>
          </a:p>
          <a:p>
            <a:r>
              <a:rPr lang="en-US" b="1" dirty="0"/>
              <a:t>Idea</a:t>
            </a:r>
            <a:r>
              <a:rPr lang="en-US" dirty="0"/>
              <a:t>: average sample returns for each state-action pair obtained from sampled sequences (called episodes).</a:t>
            </a:r>
          </a:p>
          <a:p>
            <a:r>
              <a:rPr lang="en-US" b="1" dirty="0"/>
              <a:t>Restriction</a:t>
            </a:r>
            <a:r>
              <a:rPr lang="en-US" dirty="0"/>
              <a:t>: Value estimates or the policy are only updated after a whole episode is sampled. This is not a step-by-step online method!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394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6F97-103E-18B6-D51A-B1397057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AB409-1629-3E3D-C6F3-95E5076FBB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7808892" cy="119230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for a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by averaging the observed returns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(for the rest of the episode) after visits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average converges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(since it is defined as an expected value).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AB409-1629-3E3D-C6F3-95E5076FBB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7808892" cy="1192306"/>
              </a:xfrm>
              <a:blipFill>
                <a:blip r:embed="rId2"/>
                <a:stretch>
                  <a:fillRect l="-938" t="-10204" r="-1094" b="-9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AA409A-0E38-4BF6-9AF1-1A02E65E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20" y="2739395"/>
            <a:ext cx="8735644" cy="39534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7491103-8D73-5D3D-2433-794079801876}"/>
              </a:ext>
            </a:extLst>
          </p:cNvPr>
          <p:cNvGrpSpPr/>
          <p:nvPr/>
        </p:nvGrpSpPr>
        <p:grpSpPr>
          <a:xfrm>
            <a:off x="8647092" y="860592"/>
            <a:ext cx="3395272" cy="2048562"/>
            <a:chOff x="9222954" y="2685293"/>
            <a:chExt cx="2700748" cy="179704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CA2481C-8ED4-DB1B-21D6-675BE4F2BEE7}"/>
                </a:ext>
              </a:extLst>
            </p:cNvPr>
            <p:cNvCxnSpPr>
              <a:cxnSpLocks/>
            </p:cNvCxnSpPr>
            <p:nvPr/>
          </p:nvCxnSpPr>
          <p:spPr>
            <a:xfrm>
              <a:off x="9374345" y="3490076"/>
              <a:ext cx="2261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61FCFD-11D6-B030-C651-EBEA48458734}"/>
                    </a:ext>
                  </a:extLst>
                </p:cNvPr>
                <p:cNvSpPr txBox="1"/>
                <p:nvPr/>
              </p:nvSpPr>
              <p:spPr>
                <a:xfrm flipH="1">
                  <a:off x="9898142" y="3183258"/>
                  <a:ext cx="4327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61FCFD-11D6-B030-C651-EBEA48458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98142" y="3183258"/>
                  <a:ext cx="43277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21DEF1FA-AFA5-27CF-87FA-8DDF794C57A4}"/>
                </a:ext>
              </a:extLst>
            </p:cNvPr>
            <p:cNvSpPr/>
            <p:nvPr/>
          </p:nvSpPr>
          <p:spPr>
            <a:xfrm rot="5400000">
              <a:off x="10764997" y="2901526"/>
              <a:ext cx="251570" cy="153912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4AC01B-7124-E966-1619-BF05F604FDDD}"/>
                    </a:ext>
                  </a:extLst>
                </p:cNvPr>
                <p:cNvSpPr txBox="1"/>
                <p:nvPr/>
              </p:nvSpPr>
              <p:spPr>
                <a:xfrm>
                  <a:off x="9857862" y="3697445"/>
                  <a:ext cx="2065840" cy="784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4AC01B-7124-E966-1619-BF05F604F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7862" y="3697445"/>
                  <a:ext cx="2065840" cy="7848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0792711-75B9-95C4-586A-00B6CEC74B7A}"/>
                    </a:ext>
                  </a:extLst>
                </p:cNvPr>
                <p:cNvSpPr txBox="1"/>
                <p:nvPr/>
              </p:nvSpPr>
              <p:spPr>
                <a:xfrm flipH="1">
                  <a:off x="9222954" y="3159290"/>
                  <a:ext cx="4327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0792711-75B9-95C4-586A-00B6CEC74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222954" y="3159290"/>
                  <a:ext cx="4327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3583111-077E-2325-A6DE-3D2D5231244B}"/>
                    </a:ext>
                  </a:extLst>
                </p:cNvPr>
                <p:cNvSpPr txBox="1"/>
                <p:nvPr/>
              </p:nvSpPr>
              <p:spPr>
                <a:xfrm flipH="1">
                  <a:off x="11419530" y="3152001"/>
                  <a:ext cx="4327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3583111-077E-2325-A6DE-3D2D52312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419530" y="3152001"/>
                  <a:ext cx="43277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452B02-D962-94A5-1424-E76206AB059D}"/>
                </a:ext>
              </a:extLst>
            </p:cNvPr>
            <p:cNvSpPr txBox="1"/>
            <p:nvPr/>
          </p:nvSpPr>
          <p:spPr>
            <a:xfrm>
              <a:off x="9719863" y="2685293"/>
              <a:ext cx="1570534" cy="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Episode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04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9E24D1-8C10-D360-A975-395DD150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5D3AF-E874-2E5E-C9AF-8FCA74423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2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4C81-3730-01C4-0178-B5F501F1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Monte Carlo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118BD-0FDD-CEBC-47C4-EDC305760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Find the optimal policy. </a:t>
                </a:r>
              </a:p>
              <a:p>
                <a:r>
                  <a:rPr lang="en-US" b="1" dirty="0"/>
                  <a:t>Issue</a:t>
                </a:r>
                <a:r>
                  <a:rPr lang="en-US" dirty="0"/>
                  <a:t>: If no model is available, State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are not sufficient to extract the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determine the greedy policy.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Need</a:t>
                </a:r>
                <a:r>
                  <a:rPr lang="en-US" dirty="0"/>
                  <a:t>: Methods to estimate state-action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for a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6118BD-0FDD-CEBC-47C4-EDC305760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189" b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7736B57-32A4-8061-59E8-4A8B0884BBE9}"/>
              </a:ext>
            </a:extLst>
          </p:cNvPr>
          <p:cNvGrpSpPr/>
          <p:nvPr/>
        </p:nvGrpSpPr>
        <p:grpSpPr>
          <a:xfrm>
            <a:off x="6361504" y="3723503"/>
            <a:ext cx="4771840" cy="515511"/>
            <a:chOff x="2458533" y="3098314"/>
            <a:chExt cx="1699913" cy="515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7D54A4FA-9978-C0D7-9A96-C09807FEC7CA}"/>
                </a:ext>
              </a:extLst>
            </p:cNvPr>
            <p:cNvSpPr/>
            <p:nvPr/>
          </p:nvSpPr>
          <p:spPr>
            <a:xfrm rot="5400000">
              <a:off x="3099931" y="2531679"/>
              <a:ext cx="257767" cy="139103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3F1C6B4-152C-31C0-996A-32097CDCA179}"/>
                    </a:ext>
                  </a:extLst>
                </p:cNvPr>
                <p:cNvSpPr txBox="1"/>
                <p:nvPr/>
              </p:nvSpPr>
              <p:spPr>
                <a:xfrm>
                  <a:off x="2458533" y="3306048"/>
                  <a:ext cx="16999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This is called a one-step look-ahead which requires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3F1C6B4-152C-31C0-996A-32097CDCA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8533" y="3306048"/>
                  <a:ext cx="1699913" cy="307777"/>
                </a:xfrm>
                <a:prstGeom prst="rect">
                  <a:avLst/>
                </a:prstGeom>
                <a:blipFill>
                  <a:blip r:embed="rId3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6057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B7F5-DC53-0B92-5EC4-6EE0D3EC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7CEA-5458-FD9C-AEE9-7C8998BD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Estimate of Action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C16CC-EFEF-3BC0-5891-9B82A93F4F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policy evaluation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Same as regular MC prediction, but record returns for action-state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/>
                  <a:t>Guarantee</a:t>
                </a:r>
                <a:r>
                  <a:rPr lang="en-US" dirty="0"/>
                  <a:t>: Converges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episodes.</a:t>
                </a:r>
              </a:p>
              <a:p>
                <a:r>
                  <a:rPr lang="en-US" b="1" dirty="0"/>
                  <a:t>Complication</a:t>
                </a:r>
                <a:r>
                  <a:rPr lang="en-US" dirty="0"/>
                  <a:t>: Many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-pairs will never be visited when following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We need to keep exploring! Options: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b="1" dirty="0"/>
                  <a:t>Exploring starts</a:t>
                </a:r>
                <a:r>
                  <a:rPr lang="en-US" dirty="0"/>
                  <a:t>: choose the starting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for each episode randomly.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Only consider </a:t>
                </a:r>
                <a:r>
                  <a:rPr lang="en-US" b="1" dirty="0"/>
                  <a:t>soft policies </a:t>
                </a:r>
                <a:r>
                  <a:rPr lang="en-US" dirty="0"/>
                  <a:t>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-greedy. Soft policies have non-zero probabilities for all actions.</a:t>
                </a:r>
              </a:p>
              <a:p>
                <a:pPr marL="1371600" lvl="2" indent="-457200">
                  <a:buFont typeface="+mj-lt"/>
                  <a:buAutoNum type="alphaLcParenR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C16CC-EFEF-3BC0-5891-9B82A93F4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68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699-7616-F15A-0A6C-D07DB4DC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A23392-2FBB-B567-0DB9-4AC01AA43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0"/>
                <a:ext cx="9499406" cy="477963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Approx.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using ideas from GPI.</a:t>
                </a:r>
              </a:p>
              <a:p>
                <a:endParaRPr lang="en-US" dirty="0"/>
              </a:p>
              <a:p>
                <a:r>
                  <a:rPr lang="en-US" dirty="0"/>
                  <a:t>MC policy iteration: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Start with an arbitrary policy.</a:t>
                </a:r>
              </a:p>
              <a:p>
                <a:r>
                  <a:rPr lang="en-US" dirty="0"/>
                  <a:t>Evaluation: Improve the MC estimate by sampling an episode using the current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Improvement: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greedy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A23392-2FBB-B567-0DB9-4AC01AA43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0"/>
                <a:ext cx="9499406" cy="4779633"/>
              </a:xfrm>
              <a:blipFill>
                <a:blip r:embed="rId2"/>
                <a:stretch>
                  <a:fillRect l="-1155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3DB8754-B65E-E3AC-7CAD-78AE15FCE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601" y="218543"/>
            <a:ext cx="2936007" cy="28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6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090D-4EE5-1B7F-A3DC-4FF28643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Remember: Policy Improvement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3A96F1-4BA7-4E3F-1BDC-24F7A5DC2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is better (equal)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converges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Assumptions:</a:t>
                </a:r>
              </a:p>
              <a:p>
                <a:pPr lvl="1"/>
                <a:r>
                  <a:rPr lang="en-US" dirty="0"/>
                  <a:t>All states are reached (e.g., start episodes with exploring states)</a:t>
                </a:r>
              </a:p>
              <a:p>
                <a:pPr lvl="1"/>
                <a:r>
                  <a:rPr lang="en-US" dirty="0"/>
                  <a:t>Perfect policy evaluation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many episodes.</a:t>
                </a:r>
              </a:p>
              <a:p>
                <a:r>
                  <a:rPr lang="en-US" dirty="0"/>
                  <a:t>Options for imperfect policy evaluation:</a:t>
                </a:r>
              </a:p>
              <a:p>
                <a:pPr lvl="1"/>
                <a:r>
                  <a:rPr lang="en-US" dirty="0"/>
                  <a:t>Get bounds for the error and use sufficiently many episodes to reach an acceptable level of error.</a:t>
                </a:r>
              </a:p>
              <a:p>
                <a:pPr lvl="1"/>
                <a:r>
                  <a:rPr lang="en-US" dirty="0"/>
                  <a:t>Instead of complete policy evaluation just move a little 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3A96F1-4BA7-4E3F-1BDC-24F7A5DC2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40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361-4CE7-7B20-B8C4-E9B2E517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Monte Carlo Control with Exploring Starts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0E9B77-552E-54B7-59E3-0A167A5B5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020" y="1438741"/>
            <a:ext cx="8487960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7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B18F-AF51-E791-9C62-EEAA55F7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Control without Exploring Starts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FD2A1-20FF-E2C2-87CE-EFFEE51F9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Need: a guarantee that all state-action combinations are tried.</a:t>
            </a:r>
          </a:p>
          <a:p>
            <a:endParaRPr lang="en-US" dirty="0"/>
          </a:p>
          <a:p>
            <a:r>
              <a:rPr lang="en-US" dirty="0"/>
              <a:t>Options: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On-policy control: use a soft policy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Off-policy control: use a behavior policy for sampling that tries all state-action pairs.</a:t>
            </a:r>
          </a:p>
        </p:txBody>
      </p:sp>
    </p:spTree>
    <p:extLst>
      <p:ext uri="{BB962C8B-B14F-4D97-AF65-F5344CB8AC3E}">
        <p14:creationId xmlns:p14="http://schemas.microsoft.com/office/powerpoint/2010/main" val="173352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2310-FA64-2841-526C-6FAEAF81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 Policies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1106-4AD5-CBFF-5625-E1729EDA4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Soft policy</a:t>
                </a:r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+ gradually shifts closer to the optimal deterministic policy.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 dirty="0"/>
                  <a:t>-soft policy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 dirty="0"/>
                  <a:t>-greedy policy</a:t>
                </a:r>
                <a:r>
                  <a:rPr lang="en-US" dirty="0"/>
                  <a:t>: follows a greedy policy but chooses a random action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𝒜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greedy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action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𝒜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)|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greedy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action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1106-4AD5-CBFF-5625-E1729EDA4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75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8418-5E9C-7F49-C4BB-FCAD076E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E1DF-EC1A-55FD-95F8-47678C89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On-Policy Monte Carlo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7EB18D3-DD9C-49AA-2B12-C3590A60F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Like Monte Carlo ES except:</a:t>
                </a:r>
              </a:p>
              <a:p>
                <a:pPr lvl="1"/>
                <a:r>
                  <a:rPr lang="en-US" dirty="0"/>
                  <a:t>Start with an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-soft policy.</a:t>
                </a:r>
              </a:p>
              <a:p>
                <a:pPr lvl="1"/>
                <a:r>
                  <a:rPr lang="en-US" dirty="0"/>
                  <a:t>After each update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instead of a greedy deterministic policy, construct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policy.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7EB18D3-DD9C-49AA-2B12-C3590A60F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1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4376-2408-766E-C11B-2CB70FB9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On-Policy Monte Carlo Control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02F365C-A50B-8950-7636-B2CF14BC8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461" y="1397000"/>
            <a:ext cx="7453078" cy="477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48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482D-FBE8-E8AF-A0D6-5E553AFB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Off-Policy vs. On-Policy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24046-78CD-3868-7C6F-2A610ED24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Dilemma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Learn action values depending on subsequent optimal behavior</a:t>
                </a:r>
              </a:p>
              <a:p>
                <a:pPr lvl="1"/>
                <a:r>
                  <a:rPr lang="en-US" dirty="0"/>
                  <a:t>Need to explore which is non-optimal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On-policy</a:t>
                </a:r>
                <a:r>
                  <a:rPr lang="en-US" dirty="0"/>
                  <a:t>: Learns a near-optimal policy that still explores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with a 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). </a:t>
                </a:r>
              </a:p>
              <a:p>
                <a:endParaRPr lang="en-US" dirty="0"/>
              </a:p>
              <a:p>
                <a:r>
                  <a:rPr lang="en-US" b="1" dirty="0"/>
                  <a:t>Off-policy</a:t>
                </a:r>
                <a:r>
                  <a:rPr lang="en-US" dirty="0"/>
                  <a:t>: Use two policies</a:t>
                </a:r>
              </a:p>
              <a:p>
                <a:pPr lvl="1"/>
                <a:r>
                  <a:rPr lang="en-US" dirty="0"/>
                  <a:t>Target policy: learn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which will become optimal.</a:t>
                </a:r>
              </a:p>
              <a:p>
                <a:pPr lvl="1"/>
                <a:r>
                  <a:rPr lang="en-US" dirty="0"/>
                  <a:t>Behavior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 guarantees exploration.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Called “off-policy” because the generated data follows a different policy than the target policy. </a:t>
                </a:r>
              </a:p>
              <a:p>
                <a:endParaRPr lang="en-US" dirty="0"/>
              </a:p>
              <a:p>
                <a:r>
                  <a:rPr lang="en-US" dirty="0"/>
                  <a:t>Off-policy methods are typically:</a:t>
                </a:r>
              </a:p>
              <a:p>
                <a:pPr lvl="1"/>
                <a:r>
                  <a:rPr lang="en-US" dirty="0"/>
                  <a:t>More complicated</a:t>
                </a:r>
              </a:p>
              <a:p>
                <a:pPr lvl="1"/>
                <a:r>
                  <a:rPr lang="en-US" dirty="0"/>
                  <a:t>Converge slower</a:t>
                </a:r>
              </a:p>
              <a:p>
                <a:pPr lvl="1"/>
                <a:r>
                  <a:rPr lang="en-US" dirty="0"/>
                  <a:t>Often more powerful</a:t>
                </a:r>
              </a:p>
              <a:p>
                <a:pPr lvl="1"/>
                <a:r>
                  <a:rPr lang="en-US" dirty="0"/>
                  <a:t>Can be applied to data externally generated using a fixed, potentially unknown, behavior policy.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24046-78CD-3868-7C6F-2A610ED24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506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67F2-824B-66B4-F5DA-53698C24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Off-Policy </a:t>
            </a:r>
            <a:r>
              <a:rPr lang="en-US" dirty="0" err="1"/>
              <a:t>Prediciton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9A0C7-966D-7B88-E622-3D38B5FC9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given episodes generated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/>
                  <a:t>Assumptions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fixed</a:t>
                </a:r>
              </a:p>
              <a:p>
                <a:pPr lvl="1"/>
                <a:r>
                  <a:rPr lang="en-US" dirty="0"/>
                  <a:t>Coverage: Every action taken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will occasionally also be taken under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needs to be stochastic for states where it differs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(typically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-greedy)</a:t>
                </a:r>
              </a:p>
              <a:p>
                <a:endParaRPr lang="en-US" dirty="0"/>
              </a:p>
              <a:p>
                <a:r>
                  <a:rPr lang="en-US" dirty="0"/>
                  <a:t>We are typically interested in the best deterministic greedy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with respect to the current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9A0C7-966D-7B88-E622-3D38B5FC9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6" b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455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F096-7449-FAFB-94B3-93534D79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A07B9-CE87-BFDE-9DAE-A426D89766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3005"/>
                <a:ext cx="10515600" cy="4779633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Idea</a:t>
                </a:r>
                <a:r>
                  <a:rPr lang="en-US" sz="2000" dirty="0"/>
                  <a:t>: Estimate the expected values under one distribution given samples from another distribution.</a:t>
                </a:r>
              </a:p>
              <a:p>
                <a:r>
                  <a:rPr lang="en-US" sz="2000" b="1" dirty="0"/>
                  <a:t>Use in off-policy prediction</a:t>
                </a:r>
                <a:r>
                  <a:rPr lang="en-US" sz="2000" dirty="0"/>
                  <a:t>: weight returns observed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to estimate returns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 using the probability of trajectories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Probability of a trajectory starting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−1, 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b="1" dirty="0"/>
                  <a:t>Importance sampling ratio </a:t>
                </a:r>
                <a:r>
                  <a:rPr lang="en-US" sz="2000" dirty="0"/>
                  <a:t>(probability of trajectory following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≝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∏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Note: </a:t>
                </a:r>
                <a:r>
                  <a:rPr lang="en-US" sz="2000" dirty="0"/>
                  <a:t>The ratio has to be calculated for the remainder </a:t>
                </a:r>
                <a:br>
                  <a:rPr lang="en-US" sz="2000" dirty="0"/>
                </a:br>
                <a:r>
                  <a:rPr lang="en-US" sz="2000" dirty="0"/>
                  <a:t>of each sampled trajectory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A07B9-CE87-BFDE-9DAE-A426D8976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3005"/>
                <a:ext cx="10515600" cy="4779633"/>
              </a:xfrm>
              <a:blipFill>
                <a:blip r:embed="rId2"/>
                <a:stretch>
                  <a:fillRect l="-638" t="-1148" r="-986" b="-7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FA0F39-D96C-AC90-D24E-DB92BD3DFCA8}"/>
              </a:ext>
            </a:extLst>
          </p:cNvPr>
          <p:cNvCxnSpPr>
            <a:cxnSpLocks/>
          </p:cNvCxnSpPr>
          <p:nvPr/>
        </p:nvCxnSpPr>
        <p:spPr>
          <a:xfrm flipV="1">
            <a:off x="5709769" y="4327694"/>
            <a:ext cx="1598455" cy="22162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A9D49D-EC81-4C18-EAE0-16C729A0D7AA}"/>
              </a:ext>
            </a:extLst>
          </p:cNvPr>
          <p:cNvCxnSpPr>
            <a:cxnSpLocks/>
          </p:cNvCxnSpPr>
          <p:nvPr/>
        </p:nvCxnSpPr>
        <p:spPr>
          <a:xfrm flipV="1">
            <a:off x="5758630" y="4669721"/>
            <a:ext cx="1549594" cy="2547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AFBF7E4-845B-DA38-E9A5-723C0A4CB58B}"/>
              </a:ext>
            </a:extLst>
          </p:cNvPr>
          <p:cNvSpPr/>
          <p:nvPr/>
        </p:nvSpPr>
        <p:spPr>
          <a:xfrm>
            <a:off x="9471194" y="4259637"/>
            <a:ext cx="2101026" cy="750367"/>
          </a:xfrm>
          <a:prstGeom prst="wedgeRoundRectCallout">
            <a:avLst>
              <a:gd name="adj1" fmla="val -63186"/>
              <a:gd name="adj2" fmla="val -11919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Luckily, the unknown transition probabilities cancel out!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B72F090-DC2E-C8B9-3321-C68747FD6B15}"/>
              </a:ext>
            </a:extLst>
          </p:cNvPr>
          <p:cNvSpPr/>
          <p:nvPr/>
        </p:nvSpPr>
        <p:spPr>
          <a:xfrm>
            <a:off x="9471194" y="2715278"/>
            <a:ext cx="2101026" cy="520435"/>
          </a:xfrm>
          <a:prstGeom prst="wedgeRoundRectCallout">
            <a:avLst>
              <a:gd name="adj1" fmla="val -56874"/>
              <a:gd name="adj2" fmla="val 52570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Needs unknown transition probabilities!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12E2FEED-5945-68CE-0EE6-B01BEE371736}"/>
              </a:ext>
            </a:extLst>
          </p:cNvPr>
          <p:cNvSpPr/>
          <p:nvPr/>
        </p:nvSpPr>
        <p:spPr>
          <a:xfrm>
            <a:off x="9471194" y="5311897"/>
            <a:ext cx="2101026" cy="966952"/>
          </a:xfrm>
          <a:prstGeom prst="wedgeRoundRectCallout">
            <a:avLst>
              <a:gd name="adj1" fmla="val -136941"/>
              <a:gd name="adj2" fmla="val -24177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 we need to do is correct the returns by multiplying them with the ratio.</a:t>
            </a:r>
          </a:p>
        </p:txBody>
      </p:sp>
    </p:spTree>
    <p:extLst>
      <p:ext uri="{BB962C8B-B14F-4D97-AF65-F5344CB8AC3E}">
        <p14:creationId xmlns:p14="http://schemas.microsoft.com/office/powerpoint/2010/main" val="316232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A4A6-BE76-606A-C91C-C516CF32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vs. Weighted Importance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CF3B7-D5FB-96F8-28FE-3036E19FC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Ordinary importance sampling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)≝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𝒯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𝒯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Gives an unbiased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but variance is extreme for low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Weighted importance sampling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)≝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𝒯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𝒯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Set 0 if denominator is 0</a:t>
                </a:r>
              </a:p>
              <a:p>
                <a:pPr lvl="1"/>
                <a:r>
                  <a:rPr lang="en-US" dirty="0"/>
                  <a:t>Initially biased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. Bias falls asymptotically with more visits.</a:t>
                </a:r>
              </a:p>
              <a:p>
                <a:pPr lvl="1"/>
                <a:r>
                  <a:rPr lang="en-US" dirty="0"/>
                  <a:t>Preferred method with much lower errors at lower number of episodes.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CF3B7-D5FB-96F8-28FE-3036E19FC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b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986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E673-7BE2-C7DB-FDB9-3F97190C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Incremental Implementation using Importance Sampling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124268-92F3-21D3-714E-81C827A57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441" y="1397000"/>
            <a:ext cx="8297118" cy="477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4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3814</TotalTime>
  <Words>1480</Words>
  <Application>Microsoft Office PowerPoint</Application>
  <PresentationFormat>Widescreen</PresentationFormat>
  <Paragraphs>172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Office Theme</vt:lpstr>
      <vt:lpstr>Reinforcement Learning  Monte Carlo Methods Sutton/Barto* Chapter 5</vt:lpstr>
      <vt:lpstr>Notation</vt:lpstr>
      <vt:lpstr>Idea</vt:lpstr>
      <vt:lpstr>Monte Carlo Prediction</vt:lpstr>
      <vt:lpstr>Monte Carlo Control</vt:lpstr>
      <vt:lpstr>Monte Carlo Control</vt:lpstr>
      <vt:lpstr>Monte Carlo Estimate of Action Values</vt:lpstr>
      <vt:lpstr>Monte Carlo Control</vt:lpstr>
      <vt:lpstr>Remember: Policy Improvement Theorem</vt:lpstr>
      <vt:lpstr>Alg. Monte Carlo Control with Exploring Starts</vt:lpstr>
      <vt:lpstr>Monte Carlo Control without Exploring Starts</vt:lpstr>
      <vt:lpstr>Types of Soft Policies</vt:lpstr>
      <vt:lpstr>On-Policy Monte Carlo Control</vt:lpstr>
      <vt:lpstr>Alg. On-Policy Monte Carlo Control</vt:lpstr>
      <vt:lpstr>Off-Policy vs. On-Policy</vt:lpstr>
      <vt:lpstr>Off-Policy Prediciton</vt:lpstr>
      <vt:lpstr>Importance Sampling</vt:lpstr>
      <vt:lpstr>Ordinary vs. Weighted Importance Sampling</vt:lpstr>
      <vt:lpstr>Incremental Implementation using Importance Sampling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110</cp:revision>
  <dcterms:created xsi:type="dcterms:W3CDTF">2025-09-08T14:44:49Z</dcterms:created>
  <dcterms:modified xsi:type="dcterms:W3CDTF">2025-09-17T14:49:47Z</dcterms:modified>
</cp:coreProperties>
</file>