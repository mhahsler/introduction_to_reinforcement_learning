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84" r:id="rId3"/>
    <p:sldId id="393" r:id="rId4"/>
    <p:sldId id="394" r:id="rId5"/>
    <p:sldId id="395" r:id="rId6"/>
    <p:sldId id="396" r:id="rId7"/>
    <p:sldId id="397" r:id="rId8"/>
    <p:sldId id="398" r:id="rId9"/>
    <p:sldId id="405" r:id="rId10"/>
    <p:sldId id="403" r:id="rId11"/>
    <p:sldId id="404" r:id="rId12"/>
    <p:sldId id="399" r:id="rId13"/>
    <p:sldId id="400" r:id="rId14"/>
    <p:sldId id="401" r:id="rId15"/>
    <p:sldId id="402"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84"/>
            <p14:sldId id="393"/>
            <p14:sldId id="394"/>
            <p14:sldId id="395"/>
            <p14:sldId id="396"/>
            <p14:sldId id="397"/>
            <p14:sldId id="398"/>
            <p14:sldId id="405"/>
            <p14:sldId id="403"/>
            <p14:sldId id="404"/>
            <p14:sldId id="399"/>
            <p14:sldId id="400"/>
            <p14:sldId id="401"/>
            <p14:sldId id="4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7132"/>
    <a:srgbClr val="196B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923" autoAdjust="0"/>
    <p:restoredTop sz="94660"/>
  </p:normalViewPr>
  <p:slideViewPr>
    <p:cSldViewPr snapToGrid="0">
      <p:cViewPr varScale="1">
        <p:scale>
          <a:sx n="70" d="100"/>
          <a:sy n="70" d="100"/>
        </p:scale>
        <p:origin x="196" y="52"/>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1/1/2026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1/1/2026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1/1/2026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1/1/2026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1/1/2026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1/1/2026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1/1/2026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1/1/2026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1/1/2026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1/1/2026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1/1/2026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1/1/2026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90.png"/><Relationship Id="rId1" Type="http://schemas.openxmlformats.org/officeDocument/2006/relationships/slideLayout" Target="../slideLayouts/slideLayout2.xml"/><Relationship Id="rId5" Type="http://schemas.openxmlformats.org/officeDocument/2006/relationships/image" Target="../media/image220.png"/><Relationship Id="rId4" Type="http://schemas.openxmlformats.org/officeDocument/2006/relationships/image" Target="../media/image2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5"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348852" cy="3204134"/>
          </a:xfrm>
        </p:spPr>
        <p:txBody>
          <a:bodyPr anchor="b">
            <a:noAutofit/>
          </a:bodyPr>
          <a:lstStyle/>
          <a:p>
            <a:pPr algn="l"/>
            <a:r>
              <a:rPr lang="en-US" sz="3600" dirty="0">
                <a:solidFill>
                  <a:schemeClr val="bg1"/>
                </a:solidFill>
              </a:rPr>
              <a:t>Reinforcement Learning</a:t>
            </a:r>
            <a:br>
              <a:rPr lang="en-US" sz="3600" dirty="0">
                <a:solidFill>
                  <a:schemeClr val="bg1"/>
                </a:solidFill>
              </a:rPr>
            </a:br>
            <a:br>
              <a:rPr lang="en-US" sz="3600" dirty="0">
                <a:solidFill>
                  <a:schemeClr val="bg1"/>
                </a:solidFill>
              </a:rPr>
            </a:br>
            <a:r>
              <a:rPr lang="en-US" sz="3600" dirty="0">
                <a:solidFill>
                  <a:schemeClr val="bg1"/>
                </a:solidFill>
              </a:rPr>
              <a:t>Policy Gradient Methods</a:t>
            </a:r>
            <a:br>
              <a:rPr lang="en-US" sz="2800" dirty="0">
                <a:solidFill>
                  <a:schemeClr val="bg1"/>
                </a:solidFill>
              </a:rPr>
            </a:br>
            <a:r>
              <a:rPr lang="en-US" sz="2000" dirty="0">
                <a:solidFill>
                  <a:schemeClr val="bg1"/>
                </a:solidFill>
              </a:rPr>
              <a:t>Sutton/Barto*</a:t>
            </a:r>
            <a:r>
              <a:rPr lang="en-US" sz="1800" dirty="0">
                <a:solidFill>
                  <a:schemeClr val="bg1"/>
                </a:solidFill>
              </a:rPr>
              <a:t> Chapter 13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5">
            <a:extLst>
              <a:ext uri="{FF2B5EF4-FFF2-40B4-BE49-F238E27FC236}">
                <a16:creationId xmlns:a16="http://schemas.microsoft.com/office/drawing/2014/main" id="{8AD28C7D-14A3-CFEB-3DEC-2E01272844F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869289" y="209383"/>
            <a:ext cx="4182403" cy="10009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6211474" y="1140632"/>
                <a:ext cx="5273179" cy="2049857"/>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h</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h</m:t>
                    </m:r>
                  </m:oMath>
                </a14:m>
                <a:r>
                  <a:rPr lang="en-US" sz="1200" dirty="0">
                    <a:solidFill>
                      <a:schemeClr val="tx1"/>
                    </a:solidFill>
                  </a:rPr>
                  <a:t> (discounted and corrected)</a:t>
                </a:r>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a:p>
                <a:pPr marL="0" indent="0">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𝑉</m:t>
                            </m:r>
                          </m:e>
                        </m:acc>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𝑠</m:t>
                    </m:r>
                    <m:r>
                      <a:rPr lang="en-US" sz="1200" i="1" dirty="0">
                        <a:solidFill>
                          <a:schemeClr val="tx1"/>
                        </a:solidFill>
                        <a:latin typeface="Cambria Math" panose="02040503050406030204" pitchFamily="18" charset="0"/>
                      </a:rPr>
                      <m:t>) </m:t>
                    </m:r>
                  </m:oMath>
                </a14:m>
                <a:r>
                  <a:rPr lang="en-US" sz="1200" dirty="0">
                    <a:solidFill>
                      <a:schemeClr val="tx1"/>
                    </a:solidFill>
                  </a:rPr>
                  <a:t>	expected approximate action value</a:t>
                </a:r>
              </a:p>
              <a:p>
                <a:pPr marL="0" indent="0">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6211474" y="1140632"/>
                <a:ext cx="5273179" cy="2049857"/>
              </a:xfrm>
              <a:blipFill>
                <a:blip r:embed="rId2"/>
                <a:stretch>
                  <a:fillRect b="-88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i="1"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822819" y="3570646"/>
                <a:ext cx="5273179" cy="2985823"/>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b="0" i="1" dirty="0" smtClean="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endParaRPr lang="en-US" sz="1200" dirty="0"/>
              </a:p>
              <a:p>
                <a:pPr marL="0" indent="0">
                  <a:lnSpc>
                    <a:spcPct val="100000"/>
                  </a:lnSpc>
                  <a:spcBef>
                    <a:spcPts val="0"/>
                  </a:spcBef>
                  <a:buNone/>
                </a:pPr>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oMath>
                </a14:m>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822819" y="3570646"/>
                <a:ext cx="5273179" cy="2985823"/>
              </a:xfrm>
              <a:prstGeom prst="rect">
                <a:avLst/>
              </a:prstGeom>
              <a:blipFill>
                <a:blip r:embed="rId4"/>
                <a:stretch>
                  <a:fillRect t="-609"/>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635E-AD98-14E6-86B7-6D189198F73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9E1014-11F3-5C77-4D51-18EDE91CBDDF}"/>
              </a:ext>
            </a:extLst>
          </p:cNvPr>
          <p:cNvSpPr>
            <a:spLocks noGrp="1"/>
          </p:cNvSpPr>
          <p:nvPr>
            <p:ph type="title"/>
          </p:nvPr>
        </p:nvSpPr>
        <p:spPr/>
        <p:txBody>
          <a:bodyPr/>
          <a:lstStyle/>
          <a:p>
            <a:r>
              <a:rPr lang="en-US" dirty="0"/>
              <a:t>Parametrized Policies</a:t>
            </a:r>
          </a:p>
        </p:txBody>
      </p:sp>
      <p:sp>
        <p:nvSpPr>
          <p:cNvPr id="5" name="Text Placeholder 4">
            <a:extLst>
              <a:ext uri="{FF2B5EF4-FFF2-40B4-BE49-F238E27FC236}">
                <a16:creationId xmlns:a16="http://schemas.microsoft.com/office/drawing/2014/main" id="{8230DEA1-85A2-8128-AB1F-6A511F14B1FC}"/>
              </a:ext>
            </a:extLst>
          </p:cNvPr>
          <p:cNvSpPr>
            <a:spLocks noGrp="1"/>
          </p:cNvSpPr>
          <p:nvPr>
            <p:ph type="body" idx="1"/>
          </p:nvPr>
        </p:nvSpPr>
        <p:spPr/>
        <p:txBody>
          <a:bodyPr/>
          <a:lstStyle/>
          <a:p>
            <a:r>
              <a:rPr lang="en-US" dirty="0"/>
              <a:t>Learn policies directly</a:t>
            </a:r>
          </a:p>
        </p:txBody>
      </p:sp>
    </p:spTree>
    <p:extLst>
      <p:ext uri="{BB962C8B-B14F-4D97-AF65-F5344CB8AC3E}">
        <p14:creationId xmlns:p14="http://schemas.microsoft.com/office/powerpoint/2010/main" val="24590379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8B01DBC-B58B-BC2C-2AE0-DB6472CC6447}"/>
              </a:ext>
            </a:extLst>
          </p:cNvPr>
          <p:cNvSpPr>
            <a:spLocks noGrp="1"/>
          </p:cNvSpPr>
          <p:nvPr>
            <p:ph type="title"/>
          </p:nvPr>
        </p:nvSpPr>
        <p:spPr/>
        <p:txBody>
          <a:bodyPr/>
          <a:lstStyle/>
          <a:p>
            <a:r>
              <a:rPr lang="en-US" dirty="0"/>
              <a:t>Learn a Parameterized Policy</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EB2BB561-37FB-9C12-3C5B-EFF321CBC8EB}"/>
                  </a:ext>
                </a:extLst>
              </p:cNvPr>
              <p:cNvSpPr>
                <a:spLocks noGrp="1"/>
              </p:cNvSpPr>
              <p:nvPr>
                <p:ph idx="1"/>
              </p:nvPr>
            </p:nvSpPr>
            <p:spPr>
              <a:xfrm>
                <a:off x="831220" y="1397330"/>
                <a:ext cx="10515600" cy="4779633"/>
              </a:xfrm>
            </p:spPr>
            <p:txBody>
              <a:bodyPr>
                <a:normAutofit fontScale="85000" lnSpcReduction="20000"/>
              </a:bodyPr>
              <a:lstStyle/>
              <a:p>
                <a:r>
                  <a:rPr lang="en-US" b="1" dirty="0"/>
                  <a:t>Up to now</a:t>
                </a:r>
                <a:r>
                  <a:rPr lang="en-US" dirty="0"/>
                  <a:t>: Learn parameters for an approximate action value function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oMath>
                </a14:m>
                <a:r>
                  <a:rPr lang="en-US" dirty="0"/>
                  <a:t> and then extract a greedy policy.</a:t>
                </a:r>
              </a:p>
              <a:p>
                <a:r>
                  <a:rPr lang="en-US" b="1" dirty="0"/>
                  <a:t>New idea</a:t>
                </a:r>
                <a:r>
                  <a:rPr lang="en-US" dirty="0"/>
                  <a:t>: Learn parameters for a policy directly.</a:t>
                </a:r>
              </a:p>
              <a:p>
                <a:endParaRPr lang="en-US" b="1" dirty="0"/>
              </a:p>
              <a:p>
                <a:pPr marL="0" indent="0">
                  <a:buNone/>
                </a:pPr>
                <a:r>
                  <a:rPr lang="en-US" b="1" dirty="0"/>
                  <a:t>Parameterized policy</a:t>
                </a:r>
                <a:r>
                  <a:rPr lang="en-US" dirty="0"/>
                  <a:t>:</a:t>
                </a:r>
                <a:br>
                  <a:rPr lang="en-US" dirty="0"/>
                </a:br>
                <a:br>
                  <a:rPr lang="en-US" dirty="0"/>
                </a:br>
                <a:r>
                  <a:rPr lang="en-US" dirty="0"/>
                  <a:t>	</a:t>
                </a:r>
                <a14:m>
                  <m:oMath xmlns:m="http://schemas.openxmlformats.org/officeDocument/2006/math">
                    <m:r>
                      <a:rPr lang="en-US" b="0" i="1" smtClean="0">
                        <a:latin typeface="Cambria Math" panose="02040503050406030204" pitchFamily="18" charset="0"/>
                      </a:rPr>
                      <m:t>𝜋</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r>
                          <a:rPr lang="en-US" b="0" i="1" smtClean="0">
                            <a:latin typeface="Cambria Math" panose="02040503050406030204" pitchFamily="18" charset="0"/>
                          </a:rPr>
                          <m:t>,</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𝜽</m:t>
                        </m:r>
                      </m:e>
                    </m:d>
                    <m:r>
                      <a:rPr lang="en-US" b="0" i="1" smtClean="0">
                        <a:latin typeface="Cambria Math" panose="02040503050406030204" pitchFamily="18" charset="0"/>
                      </a:rPr>
                      <m:t>=</m:t>
                    </m:r>
                    <m:r>
                      <a:rPr lang="en-US" b="0" i="1" smtClean="0">
                        <a:latin typeface="Cambria Math" panose="02040503050406030204" pitchFamily="18" charset="0"/>
                      </a:rPr>
                      <m:t>𝑃𝑟</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 |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1" i="1" smtClean="0">
                            <a:latin typeface="Cambria Math" panose="02040503050406030204" pitchFamily="18" charset="0"/>
                          </a:rPr>
                          <m:t>𝜽</m:t>
                        </m:r>
                      </m:e>
                    </m:d>
                    <m:r>
                      <a:rPr lang="en-US" b="0" i="1" smtClean="0">
                        <a:latin typeface="Cambria Math" panose="02040503050406030204" pitchFamily="18" charset="0"/>
                      </a:rPr>
                      <m:t>,   </m:t>
                    </m:r>
                    <m:r>
                      <a:rPr lang="en-US" b="1" i="1" smtClean="0">
                        <a:latin typeface="Cambria Math" panose="02040503050406030204" pitchFamily="18" charset="0"/>
                      </a:rPr>
                      <m:t>𝜽</m:t>
                    </m:r>
                    <m:r>
                      <a:rPr lang="en-US" b="0" i="1" smtClean="0">
                        <a:latin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ℝ</m:t>
                        </m:r>
                      </m:e>
                      <m:sup>
                        <m:r>
                          <a:rPr lang="en-US" b="0" i="1" smtClean="0">
                            <a:latin typeface="Cambria Math" panose="02040503050406030204" pitchFamily="18" charset="0"/>
                            <a:ea typeface="Cambria Math" panose="02040503050406030204" pitchFamily="18" charset="0"/>
                          </a:rPr>
                          <m:t>𝑑</m:t>
                        </m:r>
                      </m:sup>
                    </m:sSup>
                  </m:oMath>
                </a14:m>
                <a:r>
                  <a:rPr lang="en-US" dirty="0"/>
                  <a:t> </a:t>
                </a:r>
              </a:p>
              <a:p>
                <a:endParaRPr lang="en-US" dirty="0"/>
              </a:p>
              <a:p>
                <a:r>
                  <a:rPr lang="en-US" dirty="0"/>
                  <a:t>Learn </a:t>
                </a:r>
                <a14:m>
                  <m:oMath xmlns:m="http://schemas.openxmlformats.org/officeDocument/2006/math">
                    <m:r>
                      <a:rPr lang="en-US" b="1" i="1" smtClean="0">
                        <a:latin typeface="Cambria Math" panose="02040503050406030204" pitchFamily="18" charset="0"/>
                      </a:rPr>
                      <m:t>𝜽</m:t>
                    </m:r>
                  </m:oMath>
                </a14:m>
                <a:r>
                  <a:rPr lang="en-US" dirty="0"/>
                  <a:t> given a performance measure </a:t>
                </a:r>
                <a14:m>
                  <m:oMath xmlns:m="http://schemas.openxmlformats.org/officeDocument/2006/math">
                    <m:r>
                      <a:rPr lang="en-US" b="0" i="1" smtClean="0">
                        <a:latin typeface="Cambria Math" panose="02040503050406030204" pitchFamily="18" charset="0"/>
                      </a:rPr>
                      <m:t>𝐽</m:t>
                    </m:r>
                    <m:r>
                      <a:rPr lang="en-US" b="0" i="1" smtClean="0">
                        <a:latin typeface="Cambria Math" panose="02040503050406030204" pitchFamily="18" charset="0"/>
                      </a:rPr>
                      <m:t>(</m:t>
                    </m:r>
                    <m:r>
                      <a:rPr lang="en-US" b="1" i="1" smtClean="0">
                        <a:latin typeface="Cambria Math" panose="02040503050406030204" pitchFamily="18" charset="0"/>
                      </a:rPr>
                      <m:t>𝜽</m:t>
                    </m:r>
                    <m:r>
                      <a:rPr lang="en-US" b="0" i="1" smtClean="0">
                        <a:latin typeface="Cambria Math" panose="02040503050406030204" pitchFamily="18" charset="0"/>
                      </a:rPr>
                      <m:t>)</m:t>
                    </m:r>
                  </m:oMath>
                </a14:m>
                <a:r>
                  <a:rPr lang="en-US" dirty="0"/>
                  <a:t> using approximate gradient ascent.</a:t>
                </a:r>
              </a:p>
              <a:p>
                <a:r>
                  <a:rPr lang="en-US" dirty="0"/>
                  <a:t>Update rule: </a:t>
                </a:r>
                <a:br>
                  <a:rPr lang="en-US" dirty="0"/>
                </a:br>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𝛼</m:t>
                    </m:r>
                    <m:acc>
                      <m:accPr>
                        <m:chr m:val="̂"/>
                        <m:ctrlPr>
                          <a:rPr lang="en-US" b="0" i="1" smtClean="0">
                            <a:latin typeface="Cambria Math" panose="02040503050406030204" pitchFamily="18" charset="0"/>
                          </a:rPr>
                        </m:ctrlPr>
                      </m:accPr>
                      <m:e>
                        <m:r>
                          <m:rPr>
                            <m:sty m:val="p"/>
                          </m:rP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𝐽</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𝜽</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e>
                    </m:acc>
                  </m:oMath>
                </a14:m>
                <a:br>
                  <a:rPr lang="en-US" dirty="0"/>
                </a:br>
                <a:br>
                  <a:rPr lang="en-US" dirty="0"/>
                </a:br>
                <a:r>
                  <a:rPr lang="en-US" dirty="0"/>
                  <a:t>where</a:t>
                </a:r>
                <a14:m>
                  <m:oMath xmlns:m="http://schemas.openxmlformats.org/officeDocument/2006/math">
                    <m:acc>
                      <m:accPr>
                        <m:chr m:val="̂"/>
                        <m:ctrlPr>
                          <a:rPr lang="en-US" i="1">
                            <a:latin typeface="Cambria Math" panose="02040503050406030204" pitchFamily="18" charset="0"/>
                          </a:rPr>
                        </m:ctrlPr>
                      </m:accPr>
                      <m:e>
                        <m:r>
                          <m:rPr>
                            <m:sty m:val="p"/>
                          </m:rP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𝐽</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𝜽</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e>
                    </m:acc>
                    <m:r>
                      <a:rPr lang="en-US" b="0" i="1" smtClean="0">
                        <a:latin typeface="Cambria Math" panose="02040503050406030204" pitchFamily="18" charset="0"/>
                        <a:ea typeface="Cambria Math" panose="02040503050406030204" pitchFamily="18" charset="0"/>
                      </a:rPr>
                      <m:t>∈</m:t>
                    </m:r>
                  </m:oMath>
                </a14:m>
                <a:r>
                  <a:rPr lang="en-US" dirty="0"/>
                  <a:t> </a:t>
                </a:r>
                <a14:m>
                  <m:oMath xmlns:m="http://schemas.openxmlformats.org/officeDocument/2006/math">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ℝ</m:t>
                        </m:r>
                      </m:e>
                      <m:sup>
                        <m:r>
                          <a:rPr lang="en-US" i="1">
                            <a:latin typeface="Cambria Math" panose="02040503050406030204" pitchFamily="18" charset="0"/>
                            <a:ea typeface="Cambria Math" panose="02040503050406030204" pitchFamily="18" charset="0"/>
                          </a:rPr>
                          <m:t>𝑑</m:t>
                        </m:r>
                      </m:sup>
                    </m:sSup>
                  </m:oMath>
                </a14:m>
                <a:r>
                  <a:rPr lang="en-US" dirty="0"/>
                  <a:t> is a stochastic estimate of the gradient.</a:t>
                </a:r>
              </a:p>
            </p:txBody>
          </p:sp>
        </mc:Choice>
        <mc:Fallback xmlns="">
          <p:sp>
            <p:nvSpPr>
              <p:cNvPr id="5" name="Content Placeholder 4">
                <a:extLst>
                  <a:ext uri="{FF2B5EF4-FFF2-40B4-BE49-F238E27FC236}">
                    <a16:creationId xmlns:a16="http://schemas.microsoft.com/office/drawing/2014/main" id="{EB2BB561-37FB-9C12-3C5B-EFF321CBC8EB}"/>
                  </a:ext>
                </a:extLst>
              </p:cNvPr>
              <p:cNvSpPr>
                <a:spLocks noGrp="1" noRot="1" noChangeAspect="1" noMove="1" noResize="1" noEditPoints="1" noAdjustHandles="1" noChangeArrowheads="1" noChangeShapeType="1" noTextEdit="1"/>
              </p:cNvSpPr>
              <p:nvPr>
                <p:ph idx="1"/>
              </p:nvPr>
            </p:nvSpPr>
            <p:spPr>
              <a:xfrm>
                <a:off x="831220" y="1397330"/>
                <a:ext cx="10515600" cy="4779633"/>
              </a:xfrm>
              <a:blipFill>
                <a:blip r:embed="rId2"/>
                <a:stretch>
                  <a:fillRect l="-870" t="-2806" r="-464"/>
                </a:stretch>
              </a:blipFill>
            </p:spPr>
            <p:txBody>
              <a:bodyPr/>
              <a:lstStyle/>
              <a:p>
                <a:r>
                  <a:rPr lang="en-US">
                    <a:noFill/>
                  </a:rPr>
                  <a:t> </a:t>
                </a:r>
              </a:p>
            </p:txBody>
          </p:sp>
        </mc:Fallback>
      </mc:AlternateContent>
    </p:spTree>
    <p:extLst>
      <p:ext uri="{BB962C8B-B14F-4D97-AF65-F5344CB8AC3E}">
        <p14:creationId xmlns:p14="http://schemas.microsoft.com/office/powerpoint/2010/main" val="483905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BD4D8-C225-0BFC-0002-168957131EAA}"/>
              </a:ext>
            </a:extLst>
          </p:cNvPr>
          <p:cNvSpPr>
            <a:spLocks noGrp="1"/>
          </p:cNvSpPr>
          <p:nvPr>
            <p:ph type="title"/>
          </p:nvPr>
        </p:nvSpPr>
        <p:spPr/>
        <p:txBody>
          <a:bodyPr/>
          <a:lstStyle/>
          <a:p>
            <a:r>
              <a:rPr lang="en-US" dirty="0"/>
              <a:t>Parametrized Policy 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5977774-6B6B-EE26-5A32-0B807E450D44}"/>
                  </a:ext>
                </a:extLst>
              </p:cNvPr>
              <p:cNvSpPr>
                <a:spLocks noGrp="1"/>
              </p:cNvSpPr>
              <p:nvPr>
                <p:ph idx="1"/>
              </p:nvPr>
            </p:nvSpPr>
            <p:spPr/>
            <p:txBody>
              <a:bodyPr>
                <a:normAutofit fontScale="85000" lnSpcReduction="20000"/>
              </a:bodyPr>
              <a:lstStyle/>
              <a:p>
                <a:pPr marL="0" indent="0">
                  <a:buNone/>
                </a:pPr>
                <a:r>
                  <a:rPr lang="en-US" b="1" dirty="0"/>
                  <a:t>Requirements</a:t>
                </a:r>
              </a:p>
              <a:p>
                <a:pPr lvl="1"/>
                <a14:m>
                  <m:oMath xmlns:m="http://schemas.openxmlformats.org/officeDocument/2006/math">
                    <m:r>
                      <a:rPr lang="en-US" i="1" smtClean="0">
                        <a:latin typeface="Cambria Math" panose="02040503050406030204" pitchFamily="18" charset="0"/>
                      </a:rPr>
                      <m:t>𝜋</m:t>
                    </m:r>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e>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𝜽</m:t>
                        </m:r>
                      </m:e>
                    </m:d>
                  </m:oMath>
                </a14:m>
                <a:r>
                  <a:rPr lang="en-US" dirty="0"/>
                  <a:t> needs to be </a:t>
                </a:r>
                <a:r>
                  <a:rPr lang="en-US" b="1" dirty="0"/>
                  <a:t>differentiable</a:t>
                </a:r>
                <a:r>
                  <a:rPr lang="en-US" dirty="0"/>
                  <a:t> with respect to </a:t>
                </a:r>
                <a14:m>
                  <m:oMath xmlns:m="http://schemas.openxmlformats.org/officeDocument/2006/math">
                    <m:r>
                      <a:rPr lang="en-US" b="1" i="1" smtClean="0">
                        <a:latin typeface="Cambria Math" panose="02040503050406030204" pitchFamily="18" charset="0"/>
                      </a:rPr>
                      <m:t>𝜽</m:t>
                    </m:r>
                  </m:oMath>
                </a14:m>
                <a:r>
                  <a:rPr lang="en-US" b="1" dirty="0"/>
                  <a:t> </a:t>
                </a:r>
                <a:r>
                  <a:rPr lang="en-US" dirty="0"/>
                  <a:t>so that </a:t>
                </a:r>
                <a14:m>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r>
                      <a:rPr lang="en-US" i="1">
                        <a:latin typeface="Cambria Math" panose="02040503050406030204" pitchFamily="18" charset="0"/>
                      </a:rPr>
                      <m:t>𝜋</m:t>
                    </m:r>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e>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𝜽</m:t>
                        </m:r>
                      </m:e>
                    </m:d>
                  </m:oMath>
                </a14:m>
                <a:r>
                  <a:rPr lang="en-US" dirty="0"/>
                  <a:t> exist and is finite.</a:t>
                </a:r>
              </a:p>
              <a:p>
                <a:pPr lvl="1"/>
                <a14:m>
                  <m:oMath xmlns:m="http://schemas.openxmlformats.org/officeDocument/2006/math">
                    <m:r>
                      <a:rPr lang="en-US" b="0" i="1" smtClean="0">
                        <a:latin typeface="Cambria Math" panose="02040503050406030204" pitchFamily="18" charset="0"/>
                      </a:rPr>
                      <m:t>𝜋</m:t>
                    </m:r>
                  </m:oMath>
                </a14:m>
                <a:r>
                  <a:rPr lang="en-US" dirty="0"/>
                  <a:t> needs to stay soft to guarantee </a:t>
                </a:r>
                <a:r>
                  <a:rPr lang="en-US" b="1" dirty="0"/>
                  <a:t>exploration</a:t>
                </a:r>
                <a:r>
                  <a:rPr lang="en-US" dirty="0"/>
                  <a:t> and convergence.</a:t>
                </a:r>
              </a:p>
              <a:p>
                <a:pPr marL="0" indent="0">
                  <a:buNone/>
                </a:pPr>
                <a:endParaRPr lang="en-US" dirty="0"/>
              </a:p>
              <a:p>
                <a:pPr marL="0" indent="0">
                  <a:buNone/>
                </a:pPr>
                <a:r>
                  <a:rPr lang="en-US" dirty="0"/>
                  <a:t>Popular for a small, discrete action space: </a:t>
                </a:r>
                <a:r>
                  <a:rPr lang="en-US" b="1" dirty="0"/>
                  <a:t>Soft-max in action preferences</a:t>
                </a:r>
                <a:endParaRPr lang="en-US" dirty="0"/>
              </a:p>
              <a:p>
                <a:pPr marL="914400" lvl="1" indent="-457200">
                  <a:buFont typeface="+mj-lt"/>
                  <a:buAutoNum type="arabicPeriod"/>
                </a:pPr>
                <a:r>
                  <a:rPr lang="en-US" dirty="0"/>
                  <a:t>Define a numerical preference function:</a:t>
                </a:r>
                <a:br>
                  <a:rPr lang="en-US" dirty="0"/>
                </a:br>
                <a:br>
                  <a:rPr lang="en-US" dirty="0"/>
                </a:br>
                <a14:m>
                  <m:oMath xmlns:m="http://schemas.openxmlformats.org/officeDocument/2006/math">
                    <m:r>
                      <a:rPr lang="en-US" i="1">
                        <a:latin typeface="Cambria Math" panose="02040503050406030204" pitchFamily="18" charset="0"/>
                      </a:rPr>
                      <m:t>h</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b="1" i="1">
                            <a:latin typeface="Cambria Math" panose="02040503050406030204" pitchFamily="18" charset="0"/>
                          </a:rPr>
                          <m:t>𝜽</m:t>
                        </m:r>
                      </m:e>
                    </m:d>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ℝ</m:t>
                    </m:r>
                  </m:oMath>
                </a14:m>
                <a:br>
                  <a:rPr lang="en-US" dirty="0"/>
                </a:br>
                <a:br>
                  <a:rPr lang="en-US" dirty="0"/>
                </a:br>
                <a:r>
                  <a:rPr lang="en-US" dirty="0"/>
                  <a:t>Some options:</a:t>
                </a:r>
              </a:p>
              <a:p>
                <a:pPr lvl="2"/>
                <a:r>
                  <a:rPr lang="en-US" dirty="0"/>
                  <a:t>ANN with </a:t>
                </a:r>
                <a14:m>
                  <m:oMath xmlns:m="http://schemas.openxmlformats.org/officeDocument/2006/math">
                    <m:r>
                      <a:rPr lang="en-US" b="1" i="1" smtClean="0">
                        <a:latin typeface="Cambria Math" panose="02040503050406030204" pitchFamily="18" charset="0"/>
                      </a:rPr>
                      <m:t>𝜽</m:t>
                    </m:r>
                  </m:oMath>
                </a14:m>
                <a:r>
                  <a:rPr lang="en-US" dirty="0"/>
                  <a:t> as network weights</a:t>
                </a:r>
              </a:p>
              <a:p>
                <a:pPr lvl="2"/>
                <a:r>
                  <a:rPr lang="en-US" dirty="0"/>
                  <a:t>Linear in features </a:t>
                </a:r>
                <a14:m>
                  <m:oMath xmlns:m="http://schemas.openxmlformats.org/officeDocument/2006/math">
                    <m:r>
                      <a:rPr lang="en-US" i="1">
                        <a:latin typeface="Cambria Math" panose="02040503050406030204" pitchFamily="18" charset="0"/>
                      </a:rPr>
                      <m:t>h</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b="1" i="1">
                            <a:latin typeface="Cambria Math" panose="02040503050406030204" pitchFamily="18" charset="0"/>
                          </a:rPr>
                          <m:t>𝜽</m:t>
                        </m:r>
                      </m:e>
                    </m:d>
                    <m:r>
                      <a:rPr lang="en-US" b="1"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𝜽</m:t>
                        </m:r>
                      </m:e>
                      <m:sup>
                        <m:r>
                          <a:rPr lang="en-US" b="1" i="1" smtClean="0">
                            <a:latin typeface="Cambria Math" panose="02040503050406030204" pitchFamily="18" charset="0"/>
                          </a:rPr>
                          <m:t>⊤</m:t>
                        </m:r>
                      </m:sup>
                    </m:sSup>
                    <m:r>
                      <a:rPr lang="en-US" b="1" i="1" smtClean="0">
                        <a:latin typeface="Cambria Math" panose="02040503050406030204" pitchFamily="18" charset="0"/>
                      </a:rPr>
                      <m:t>𝒙</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br>
                  <a:rPr lang="en-US" dirty="0"/>
                </a:br>
                <a:endParaRPr lang="en-US" dirty="0"/>
              </a:p>
              <a:p>
                <a:pPr marL="914400" lvl="1" indent="-457200">
                  <a:buFont typeface="+mj-lt"/>
                  <a:buAutoNum type="arabicPeriod"/>
                </a:pPr>
                <a:r>
                  <a:rPr lang="en-US" dirty="0"/>
                  <a:t>Give the action with the highest preference in each state the highest probability:</a:t>
                </a:r>
                <a:br>
                  <a:rPr lang="en-US" dirty="0"/>
                </a:br>
                <a:br>
                  <a:rPr lang="en-US" dirty="0"/>
                </a:br>
                <a14:m>
                  <m:oMath xmlns:m="http://schemas.openxmlformats.org/officeDocument/2006/math">
                    <m:r>
                      <a:rPr lang="en-US" i="1">
                        <a:latin typeface="Cambria Math" panose="02040503050406030204" pitchFamily="18" charset="0"/>
                      </a:rPr>
                      <m:t>𝜋</m:t>
                    </m:r>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e>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𝜽</m:t>
                        </m:r>
                      </m:e>
                    </m:d>
                    <m:r>
                      <a:rPr lang="en-US" i="1">
                        <a:latin typeface="Cambria Math" panose="02040503050406030204" pitchFamily="18" charset="0"/>
                      </a:rPr>
                      <m:t>=</m:t>
                    </m:r>
                    <m:f>
                      <m:fPr>
                        <m:ctrlPr>
                          <a:rPr lang="en-US" i="1" smtClean="0">
                            <a:latin typeface="Cambria Math" panose="02040503050406030204" pitchFamily="18" charset="0"/>
                          </a:rPr>
                        </m:ctrlPr>
                      </m:fPr>
                      <m:num>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i="1">
                                <a:latin typeface="Cambria Math" panose="02040503050406030204" pitchFamily="18" charset="0"/>
                              </a:rPr>
                              <m:t>h</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b="1" i="1">
                                    <a:latin typeface="Cambria Math" panose="02040503050406030204" pitchFamily="18" charset="0"/>
                                  </a:rPr>
                                  <m:t>𝜽</m:t>
                                </m:r>
                              </m:e>
                            </m:d>
                          </m:sup>
                        </m:sSup>
                      </m:num>
                      <m:den>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𝑏</m:t>
                            </m:r>
                          </m:sub>
                          <m:sup/>
                          <m:e>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i="1">
                                    <a:latin typeface="Cambria Math" panose="02040503050406030204" pitchFamily="18" charset="0"/>
                                  </a:rPr>
                                  <m:t>h</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0" i="1" smtClean="0">
                                        <a:latin typeface="Cambria Math" panose="02040503050406030204" pitchFamily="18" charset="0"/>
                                      </a:rPr>
                                      <m:t>𝑏</m:t>
                                    </m:r>
                                    <m:r>
                                      <a:rPr lang="en-US" i="1">
                                        <a:latin typeface="Cambria Math" panose="02040503050406030204" pitchFamily="18" charset="0"/>
                                      </a:rPr>
                                      <m:t>,</m:t>
                                    </m:r>
                                    <m:r>
                                      <a:rPr lang="en-US" b="1" i="1">
                                        <a:latin typeface="Cambria Math" panose="02040503050406030204" pitchFamily="18" charset="0"/>
                                      </a:rPr>
                                      <m:t>𝜽</m:t>
                                    </m:r>
                                  </m:e>
                                </m:d>
                              </m:sup>
                            </m:sSup>
                          </m:e>
                        </m:nary>
                      </m:den>
                    </m:f>
                    <m:r>
                      <a:rPr lang="en-US" b="0" i="1" smtClean="0">
                        <a:latin typeface="Cambria Math" panose="02040503050406030204" pitchFamily="18" charset="0"/>
                      </a:rPr>
                      <m:t> </m:t>
                    </m:r>
                  </m:oMath>
                </a14:m>
                <a:endParaRPr lang="en-US" dirty="0"/>
              </a:p>
              <a:p>
                <a:pPr lvl="1"/>
                <a:endParaRPr lang="en-US" dirty="0"/>
              </a:p>
              <a:p>
                <a:endParaRPr lang="en-US" dirty="0"/>
              </a:p>
              <a:p>
                <a:endParaRPr lang="en-US" b="1" dirty="0"/>
              </a:p>
              <a:p>
                <a:endParaRPr lang="en-US" b="1" dirty="0"/>
              </a:p>
            </p:txBody>
          </p:sp>
        </mc:Choice>
        <mc:Fallback xmlns="">
          <p:sp>
            <p:nvSpPr>
              <p:cNvPr id="3" name="Content Placeholder 2">
                <a:extLst>
                  <a:ext uri="{FF2B5EF4-FFF2-40B4-BE49-F238E27FC236}">
                    <a16:creationId xmlns:a16="http://schemas.microsoft.com/office/drawing/2014/main" id="{15977774-6B6B-EE26-5A32-0B807E450D44}"/>
                  </a:ext>
                </a:extLst>
              </p:cNvPr>
              <p:cNvSpPr>
                <a:spLocks noGrp="1" noRot="1" noChangeAspect="1" noMove="1" noResize="1" noEditPoints="1" noAdjustHandles="1" noChangeArrowheads="1" noChangeShapeType="1" noTextEdit="1"/>
              </p:cNvSpPr>
              <p:nvPr>
                <p:ph idx="1"/>
              </p:nvPr>
            </p:nvSpPr>
            <p:spPr>
              <a:blipFill>
                <a:blip r:embed="rId2"/>
                <a:stretch>
                  <a:fillRect l="-928" t="-2806" b="-14158"/>
                </a:stretch>
              </a:blipFill>
            </p:spPr>
            <p:txBody>
              <a:bodyPr/>
              <a:lstStyle/>
              <a:p>
                <a:r>
                  <a:rPr lang="en-US">
                    <a:noFill/>
                  </a:rPr>
                  <a:t> </a:t>
                </a:r>
              </a:p>
            </p:txBody>
          </p:sp>
        </mc:Fallback>
      </mc:AlternateContent>
    </p:spTree>
    <p:extLst>
      <p:ext uri="{BB962C8B-B14F-4D97-AF65-F5344CB8AC3E}">
        <p14:creationId xmlns:p14="http://schemas.microsoft.com/office/powerpoint/2010/main" val="20598815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AFACA19-50B4-D3C5-BCE2-036A25E0E6F4}"/>
                  </a:ext>
                </a:extLst>
              </p:cNvPr>
              <p:cNvSpPr>
                <a:spLocks noGrp="1"/>
              </p:cNvSpPr>
              <p:nvPr>
                <p:ph type="title"/>
              </p:nvPr>
            </p:nvSpPr>
            <p:spPr/>
            <p:txBody>
              <a:bodyPr/>
              <a:lstStyle/>
              <a:p>
                <a:r>
                  <a:rPr lang="en-US" dirty="0"/>
                  <a:t>Advantages over </a:t>
                </a:r>
                <a14:m>
                  <m:oMath xmlns:m="http://schemas.openxmlformats.org/officeDocument/2006/math">
                    <m:r>
                      <a:rPr lang="en-US" i="1">
                        <a:latin typeface="Cambria Math" panose="02040503050406030204" pitchFamily="18" charset="0"/>
                      </a:rPr>
                      <m:t>𝜖</m:t>
                    </m:r>
                  </m:oMath>
                </a14:m>
                <a:r>
                  <a:rPr lang="en-US" dirty="0"/>
                  <a:t>-greedy Action Selection</a:t>
                </a:r>
              </a:p>
            </p:txBody>
          </p:sp>
        </mc:Choice>
        <mc:Fallback xmlns="">
          <p:sp>
            <p:nvSpPr>
              <p:cNvPr id="2" name="Title 1">
                <a:extLst>
                  <a:ext uri="{FF2B5EF4-FFF2-40B4-BE49-F238E27FC236}">
                    <a16:creationId xmlns:a16="http://schemas.microsoft.com/office/drawing/2014/main" id="{DAFACA19-50B4-D3C5-BCE2-036A25E0E6F4}"/>
                  </a:ext>
                </a:extLst>
              </p:cNvPr>
              <p:cNvSpPr>
                <a:spLocks noGrp="1" noRot="1" noChangeAspect="1" noMove="1" noResize="1" noEditPoints="1" noAdjustHandles="1" noChangeArrowheads="1" noChangeShapeType="1" noTextEdit="1"/>
              </p:cNvSpPr>
              <p:nvPr>
                <p:ph type="title"/>
              </p:nvPr>
            </p:nvSpPr>
            <p:spPr>
              <a:blipFill>
                <a:blip r:embed="rId2"/>
                <a:stretch>
                  <a:fillRect l="-2377" t="-20161" b="-354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7AE168A-03EA-0E9A-AF35-DD24AAAC3FD9}"/>
                  </a:ext>
                </a:extLst>
              </p:cNvPr>
              <p:cNvSpPr>
                <a:spLocks noGrp="1"/>
              </p:cNvSpPr>
              <p:nvPr>
                <p:ph idx="1"/>
              </p:nvPr>
            </p:nvSpPr>
            <p:spPr/>
            <p:txBody>
              <a:bodyPr>
                <a:normAutofit fontScale="92500" lnSpcReduction="20000"/>
              </a:bodyPr>
              <a:lstStyle/>
              <a:p>
                <a:r>
                  <a:rPr lang="en-US" b="1" dirty="0"/>
                  <a:t>Stochastic policies</a:t>
                </a:r>
                <a:r>
                  <a:rPr lang="en-US" dirty="0"/>
                  <a:t>: Soft-max defined stochastic policies (i.e., each action has a probability). The policy will be driven to the optimal stochastic policy which can also approach a deterministic policy.</a:t>
                </a:r>
                <a:br>
                  <a:rPr lang="en-US" dirty="0"/>
                </a:br>
                <a:br>
                  <a:rPr lang="en-US" dirty="0"/>
                </a:br>
                <a:r>
                  <a:rPr lang="en-US" dirty="0"/>
                  <a:t>Note: value-action methods cannot learn stochastic policies and are often stuck with learning an </a:t>
                </a:r>
                <a14:m>
                  <m:oMath xmlns:m="http://schemas.openxmlformats.org/officeDocument/2006/math">
                    <m:r>
                      <a:rPr lang="en-US" b="0" i="1" smtClean="0">
                        <a:latin typeface="Cambria Math" panose="02040503050406030204" pitchFamily="18" charset="0"/>
                      </a:rPr>
                      <m:t>𝜖</m:t>
                    </m:r>
                  </m:oMath>
                </a14:m>
                <a:r>
                  <a:rPr lang="en-US" dirty="0"/>
                  <a:t>-greedy policy!</a:t>
                </a:r>
              </a:p>
              <a:p>
                <a:endParaRPr lang="en-US" dirty="0"/>
              </a:p>
              <a:p>
                <a:r>
                  <a:rPr lang="en-US" b="1" dirty="0"/>
                  <a:t>Smoothness</a:t>
                </a:r>
                <a:r>
                  <a:rPr lang="en-US" dirty="0"/>
                  <a:t>: Parameterized policy changes action probability smoothly while </a:t>
                </a:r>
                <a14:m>
                  <m:oMath xmlns:m="http://schemas.openxmlformats.org/officeDocument/2006/math">
                    <m:r>
                      <a:rPr lang="en-US" i="1">
                        <a:latin typeface="Cambria Math" panose="02040503050406030204" pitchFamily="18" charset="0"/>
                      </a:rPr>
                      <m:t>𝜖</m:t>
                    </m:r>
                  </m:oMath>
                </a14:m>
                <a:r>
                  <a:rPr lang="en-US" dirty="0"/>
                  <a:t>-greedy policies jump when a different action becomes the maximum. </a:t>
                </a:r>
              </a:p>
              <a:p>
                <a:endParaRPr lang="en-US" dirty="0"/>
              </a:p>
              <a:p>
                <a:r>
                  <a:rPr lang="en-US" b="1" dirty="0"/>
                  <a:t>Prior knowledge </a:t>
                </a:r>
                <a:r>
                  <a:rPr lang="en-US" dirty="0"/>
                  <a:t>about the form of the policy can be incorporated into the way the policy is parameterized. This can improve learning significantly.</a:t>
                </a:r>
              </a:p>
            </p:txBody>
          </p:sp>
        </mc:Choice>
        <mc:Fallback xmlns="">
          <p:sp>
            <p:nvSpPr>
              <p:cNvPr id="3" name="Content Placeholder 2">
                <a:extLst>
                  <a:ext uri="{FF2B5EF4-FFF2-40B4-BE49-F238E27FC236}">
                    <a16:creationId xmlns:a16="http://schemas.microsoft.com/office/drawing/2014/main" id="{E7AE168A-03EA-0E9A-AF35-DD24AAAC3FD9}"/>
                  </a:ext>
                </a:extLst>
              </p:cNvPr>
              <p:cNvSpPr>
                <a:spLocks noGrp="1" noRot="1" noChangeAspect="1" noMove="1" noResize="1" noEditPoints="1" noAdjustHandles="1" noChangeArrowheads="1" noChangeShapeType="1" noTextEdit="1"/>
              </p:cNvSpPr>
              <p:nvPr>
                <p:ph idx="1"/>
              </p:nvPr>
            </p:nvSpPr>
            <p:spPr>
              <a:blipFill>
                <a:blip r:embed="rId3"/>
                <a:stretch>
                  <a:fillRect l="-928" t="-3189"/>
                </a:stretch>
              </a:blipFill>
            </p:spPr>
            <p:txBody>
              <a:bodyPr/>
              <a:lstStyle/>
              <a:p>
                <a:r>
                  <a:rPr lang="en-US">
                    <a:noFill/>
                  </a:rPr>
                  <a:t> </a:t>
                </a:r>
              </a:p>
            </p:txBody>
          </p:sp>
        </mc:Fallback>
      </mc:AlternateContent>
    </p:spTree>
    <p:extLst>
      <p:ext uri="{BB962C8B-B14F-4D97-AF65-F5344CB8AC3E}">
        <p14:creationId xmlns:p14="http://schemas.microsoft.com/office/powerpoint/2010/main" val="20546392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D5E72-C906-6C2F-5031-49860A43AF08}"/>
              </a:ext>
            </a:extLst>
          </p:cNvPr>
          <p:cNvSpPr>
            <a:spLocks noGrp="1"/>
          </p:cNvSpPr>
          <p:nvPr>
            <p:ph type="title"/>
          </p:nvPr>
        </p:nvSpPr>
        <p:spPr/>
        <p:txBody>
          <a:bodyPr/>
          <a:lstStyle/>
          <a:p>
            <a:r>
              <a:rPr lang="en-US" dirty="0"/>
              <a:t>Policy Gradient Theorem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C916755-DC24-827E-6C02-5FFE23FDC906}"/>
                  </a:ext>
                </a:extLst>
              </p:cNvPr>
              <p:cNvSpPr>
                <a:spLocks noGrp="1"/>
              </p:cNvSpPr>
              <p:nvPr>
                <p:ph idx="1"/>
              </p:nvPr>
            </p:nvSpPr>
            <p:spPr>
              <a:xfrm>
                <a:off x="838200" y="1397330"/>
                <a:ext cx="10515600" cy="4207733"/>
              </a:xfrm>
            </p:spPr>
            <p:txBody>
              <a:bodyPr>
                <a:normAutofit fontScale="77500" lnSpcReduction="20000"/>
              </a:bodyPr>
              <a:lstStyle/>
              <a:p>
                <a:r>
                  <a:rPr lang="en-US" dirty="0"/>
                  <a:t>We define the performance measure as the true value of following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𝜃</m:t>
                        </m:r>
                      </m:sub>
                    </m:sSub>
                  </m:oMath>
                </a14:m>
                <a:r>
                  <a:rPr lang="en-US" dirty="0"/>
                  <a:t> from the start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br>
                  <a:rPr lang="en-US" dirty="0"/>
                </a:br>
                <a14:m>
                  <m:oMath xmlns:m="http://schemas.openxmlformats.org/officeDocument/2006/math">
                    <m:r>
                      <a:rPr lang="en-US" b="0" i="1" smtClean="0">
                        <a:latin typeface="Cambria Math" panose="02040503050406030204" pitchFamily="18" charset="0"/>
                      </a:rPr>
                      <m:t>𝐽</m:t>
                    </m:r>
                    <m:d>
                      <m:dPr>
                        <m:ctrlPr>
                          <a:rPr lang="en-US" b="1" i="1" smtClean="0">
                            <a:latin typeface="Cambria Math" panose="02040503050406030204" pitchFamily="18" charset="0"/>
                          </a:rPr>
                        </m:ctrlPr>
                      </m:dPr>
                      <m:e>
                        <m:r>
                          <a:rPr lang="en-US" b="1" i="1" smtClean="0">
                            <a:latin typeface="Cambria Math" panose="02040503050406030204" pitchFamily="18" charset="0"/>
                          </a:rPr>
                          <m:t>𝜽</m:t>
                        </m:r>
                      </m:e>
                    </m:d>
                    <m:r>
                      <a:rPr lang="en-US" b="1"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𝜃</m:t>
                            </m:r>
                          </m:sub>
                        </m:sSub>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e>
                    </m:d>
                  </m:oMath>
                </a14:m>
                <a:endParaRPr lang="en-US" dirty="0"/>
              </a:p>
              <a:p>
                <a:pPr marL="0" indent="0">
                  <a:buNone/>
                </a:pPr>
                <a:endParaRPr lang="en-US" i="1" dirty="0">
                  <a:latin typeface="Cambria Math" panose="02040503050406030204" pitchFamily="18" charset="0"/>
                  <a:ea typeface="Cambria Math" panose="02040503050406030204" pitchFamily="18" charset="0"/>
                </a:endParaRPr>
              </a:p>
              <a:p>
                <a:r>
                  <a:rPr lang="en-US" dirty="0"/>
                  <a:t>The </a:t>
                </a:r>
                <a:r>
                  <a:rPr lang="en-US" b="1" dirty="0"/>
                  <a:t>policy gradient theorem </a:t>
                </a:r>
                <a:r>
                  <a:rPr lang="en-US" dirty="0"/>
                  <a:t>gives us an analytical expression for the gradient of the  with respect to the policy parameters:  </a:t>
                </a:r>
              </a:p>
              <a:p>
                <a:pPr marL="0" indent="0">
                  <a:buNone/>
                </a:pPr>
                <a14:m>
                  <m:oMathPara xmlns:m="http://schemas.openxmlformats.org/officeDocument/2006/math">
                    <m:oMathParaPr>
                      <m:jc m:val="centerGroup"/>
                    </m:oMathParaPr>
                    <m:oMath xmlns:m="http://schemas.openxmlformats.org/officeDocument/2006/math">
                      <m:r>
                        <m:rPr>
                          <m:sty m:val="p"/>
                        </m:rPr>
                        <a:rPr lang="en-US" i="0"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𝐽</m:t>
                      </m:r>
                      <m:d>
                        <m:dPr>
                          <m:ctrlPr>
                            <a:rPr lang="en-US" b="0" i="1" smtClean="0">
                              <a:latin typeface="Cambria Math" panose="02040503050406030204" pitchFamily="18" charset="0"/>
                              <a:ea typeface="Cambria Math" panose="02040503050406030204" pitchFamily="18" charset="0"/>
                            </a:rPr>
                          </m:ctrlPr>
                        </m:dPr>
                        <m:e>
                          <m:r>
                            <a:rPr lang="en-US" b="1" i="1" smtClean="0">
                              <a:latin typeface="Cambria Math" panose="02040503050406030204" pitchFamily="18" charset="0"/>
                              <a:ea typeface="Cambria Math" panose="02040503050406030204" pitchFamily="18" charset="0"/>
                            </a:rPr>
                            <m:t>𝜽</m:t>
                          </m:r>
                        </m:e>
                      </m:d>
                      <m:r>
                        <a:rPr lang="en-US" i="1">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𝑠</m:t>
                          </m:r>
                        </m:sub>
                        <m:sup/>
                        <m:e>
                          <m:r>
                            <a:rPr lang="en-US" b="0" i="1" smtClean="0">
                              <a:latin typeface="Cambria Math" panose="02040503050406030204" pitchFamily="18" charset="0"/>
                              <a:ea typeface="Cambria Math" panose="02040503050406030204" pitchFamily="18" charset="0"/>
                            </a:rPr>
                            <m:t>𝜇</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d>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m:rPr>
                                  <m:sty m:val="p"/>
                                </m:rPr>
                                <a:rPr lang="en-US" b="0" i="0"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𝜽</m:t>
                                  </m:r>
                                </m:e>
                              </m:d>
                            </m:e>
                          </m:nary>
                        </m:e>
                      </m:nary>
                    </m:oMath>
                  </m:oMathPara>
                </a14:m>
                <a:endParaRPr lang="en-US" dirty="0"/>
              </a:p>
              <a:p>
                <a:endParaRPr lang="en-US" dirty="0"/>
              </a:p>
              <a:p>
                <a:endParaRPr lang="en-US" dirty="0"/>
              </a:p>
              <a:p>
                <a:endParaRPr lang="en-US" dirty="0"/>
              </a:p>
              <a:p>
                <a:r>
                  <a:rPr lang="en-US" dirty="0"/>
                  <a:t>The theorem also provides a </a:t>
                </a:r>
                <a:r>
                  <a:rPr lang="en-US" b="1" dirty="0"/>
                  <a:t>strong convergence guarantee</a:t>
                </a:r>
                <a:r>
                  <a:rPr lang="en-US" dirty="0"/>
                  <a:t>!</a:t>
                </a:r>
              </a:p>
            </p:txBody>
          </p:sp>
        </mc:Choice>
        <mc:Fallback xmlns="">
          <p:sp>
            <p:nvSpPr>
              <p:cNvPr id="3" name="Content Placeholder 2">
                <a:extLst>
                  <a:ext uri="{FF2B5EF4-FFF2-40B4-BE49-F238E27FC236}">
                    <a16:creationId xmlns:a16="http://schemas.microsoft.com/office/drawing/2014/main" id="{DC916755-DC24-827E-6C02-5FFE23FDC906}"/>
                  </a:ext>
                </a:extLst>
              </p:cNvPr>
              <p:cNvSpPr>
                <a:spLocks noGrp="1" noRot="1" noChangeAspect="1" noMove="1" noResize="1" noEditPoints="1" noAdjustHandles="1" noChangeArrowheads="1" noChangeShapeType="1" noTextEdit="1"/>
              </p:cNvSpPr>
              <p:nvPr>
                <p:ph idx="1"/>
              </p:nvPr>
            </p:nvSpPr>
            <p:spPr>
              <a:xfrm>
                <a:off x="838200" y="1397330"/>
                <a:ext cx="10515600" cy="4207733"/>
              </a:xfrm>
              <a:blipFill>
                <a:blip r:embed="rId2"/>
                <a:stretch>
                  <a:fillRect l="-696" t="-289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F64E8030-CB20-D32A-3DF5-495F0FBC37E1}"/>
                  </a:ext>
                </a:extLst>
              </p:cNvPr>
              <p:cNvSpPr/>
              <p:nvPr/>
            </p:nvSpPr>
            <p:spPr>
              <a:xfrm>
                <a:off x="3266712" y="4174126"/>
                <a:ext cx="2380231" cy="677074"/>
              </a:xfrm>
              <a:prstGeom prst="wedgeRoundRectCallout">
                <a:avLst>
                  <a:gd name="adj1" fmla="val 47007"/>
                  <a:gd name="adj2" fmla="val -13501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On-policy distribution under </a:t>
                </a:r>
                <a14:m>
                  <m:oMath xmlns:m="http://schemas.openxmlformats.org/officeDocument/2006/math">
                    <m:r>
                      <a:rPr lang="en-US" b="0" i="1" smtClean="0">
                        <a:latin typeface="Cambria Math" panose="02040503050406030204" pitchFamily="18" charset="0"/>
                      </a:rPr>
                      <m:t>𝜋</m:t>
                    </m:r>
                  </m:oMath>
                </a14:m>
                <a:endParaRPr lang="en-US" dirty="0"/>
              </a:p>
            </p:txBody>
          </p:sp>
        </mc:Choice>
        <mc:Fallback xmlns="">
          <p:sp>
            <p:nvSpPr>
              <p:cNvPr id="4" name="Speech Bubble: Rectangle with Corners Rounded 3">
                <a:extLst>
                  <a:ext uri="{FF2B5EF4-FFF2-40B4-BE49-F238E27FC236}">
                    <a16:creationId xmlns:a16="http://schemas.microsoft.com/office/drawing/2014/main" id="{F64E8030-CB20-D32A-3DF5-495F0FBC37E1}"/>
                  </a:ext>
                </a:extLst>
              </p:cNvPr>
              <p:cNvSpPr>
                <a:spLocks noRot="1" noChangeAspect="1" noMove="1" noResize="1" noEditPoints="1" noAdjustHandles="1" noChangeArrowheads="1" noChangeShapeType="1" noTextEdit="1"/>
              </p:cNvSpPr>
              <p:nvPr/>
            </p:nvSpPr>
            <p:spPr>
              <a:xfrm>
                <a:off x="3266712" y="4174126"/>
                <a:ext cx="2380231" cy="677074"/>
              </a:xfrm>
              <a:prstGeom prst="wedgeRoundRectCallout">
                <a:avLst>
                  <a:gd name="adj1" fmla="val 47007"/>
                  <a:gd name="adj2" fmla="val -135015"/>
                  <a:gd name="adj3" fmla="val 16667"/>
                </a:avLst>
              </a:prstGeom>
              <a:blipFill>
                <a:blip r:embed="rId3"/>
                <a:stretch>
                  <a:fillRect b="-5660"/>
                </a:stretch>
              </a:blipFill>
            </p:spPr>
            <p:txBody>
              <a:bodyPr/>
              <a:lstStyle/>
              <a:p>
                <a:r>
                  <a:rPr lang="en-US">
                    <a:noFill/>
                  </a:rPr>
                  <a:t> </a:t>
                </a:r>
              </a:p>
            </p:txBody>
          </p:sp>
        </mc:Fallback>
      </mc:AlternateContent>
      <p:sp>
        <p:nvSpPr>
          <p:cNvPr id="5" name="Speech Bubble: Rectangle with Corners Rounded 4">
            <a:extLst>
              <a:ext uri="{FF2B5EF4-FFF2-40B4-BE49-F238E27FC236}">
                <a16:creationId xmlns:a16="http://schemas.microsoft.com/office/drawing/2014/main" id="{697DAF61-031E-194F-48E3-7DEA0929C087}"/>
              </a:ext>
            </a:extLst>
          </p:cNvPr>
          <p:cNvSpPr/>
          <p:nvPr/>
        </p:nvSpPr>
        <p:spPr>
          <a:xfrm>
            <a:off x="8284859" y="4174126"/>
            <a:ext cx="2275529" cy="677074"/>
          </a:xfrm>
          <a:prstGeom prst="wedgeRoundRectCallout">
            <a:avLst>
              <a:gd name="adj1" fmla="val -59926"/>
              <a:gd name="adj2" fmla="val -130324"/>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Derived from the def. of the policy.</a:t>
            </a:r>
            <a:endParaRPr lang="en-US" sz="1600"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1844A3E-07DE-7E32-BBD9-C2EA15BF5B63}"/>
                  </a:ext>
                </a:extLst>
              </p:cNvPr>
              <p:cNvSpPr txBox="1"/>
              <p:nvPr/>
            </p:nvSpPr>
            <p:spPr>
              <a:xfrm>
                <a:off x="2840922" y="5618339"/>
                <a:ext cx="6097162" cy="87453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sz="1800" dirty="0"/>
                  <a:t>Policy: </a:t>
                </a:r>
                <a14:m>
                  <m:oMath xmlns:m="http://schemas.openxmlformats.org/officeDocument/2006/math">
                    <m:r>
                      <a:rPr lang="en-US" sz="1800" i="1" smtClean="0">
                        <a:latin typeface="Cambria Math" panose="02040503050406030204" pitchFamily="18" charset="0"/>
                      </a:rPr>
                      <m:t>𝜋</m:t>
                    </m:r>
                    <m:d>
                      <m:dPr>
                        <m:ctrlPr>
                          <a:rPr lang="en-US" sz="1800" i="1">
                            <a:latin typeface="Cambria Math" panose="02040503050406030204" pitchFamily="18" charset="0"/>
                          </a:rPr>
                        </m:ctrlPr>
                      </m:dPr>
                      <m:e>
                        <m:r>
                          <a:rPr lang="en-US" sz="1800" i="1">
                            <a:latin typeface="Cambria Math" panose="02040503050406030204" pitchFamily="18" charset="0"/>
                          </a:rPr>
                          <m:t>𝑎</m:t>
                        </m:r>
                      </m:e>
                      <m:e>
                        <m:r>
                          <a:rPr lang="en-US" sz="1800" i="1">
                            <a:latin typeface="Cambria Math" panose="02040503050406030204" pitchFamily="18" charset="0"/>
                          </a:rPr>
                          <m:t>𝑠</m:t>
                        </m:r>
                        <m:r>
                          <a:rPr lang="en-US" sz="1800" i="1">
                            <a:latin typeface="Cambria Math" panose="02040503050406030204" pitchFamily="18" charset="0"/>
                          </a:rPr>
                          <m:t>,</m:t>
                        </m:r>
                        <m:r>
                          <a:rPr lang="en-US" sz="1800" b="1" i="1">
                            <a:latin typeface="Cambria Math" panose="02040503050406030204" pitchFamily="18" charset="0"/>
                          </a:rPr>
                          <m:t>𝜽</m:t>
                        </m:r>
                      </m:e>
                    </m:d>
                    <m:r>
                      <a:rPr lang="en-US" sz="1800" i="1">
                        <a:latin typeface="Cambria Math" panose="02040503050406030204" pitchFamily="18" charset="0"/>
                      </a:rPr>
                      <m:t>=</m:t>
                    </m:r>
                    <m:f>
                      <m:fPr>
                        <m:ctrlPr>
                          <a:rPr lang="en-US" sz="1800" i="1">
                            <a:latin typeface="Cambria Math" panose="02040503050406030204" pitchFamily="18" charset="0"/>
                          </a:rPr>
                        </m:ctrlPr>
                      </m:fPr>
                      <m:num>
                        <m:sSup>
                          <m:sSupPr>
                            <m:ctrlPr>
                              <a:rPr lang="en-US" sz="1800" i="1">
                                <a:latin typeface="Cambria Math" panose="02040503050406030204" pitchFamily="18" charset="0"/>
                              </a:rPr>
                            </m:ctrlPr>
                          </m:sSupPr>
                          <m:e>
                            <m:r>
                              <a:rPr lang="en-US" sz="1800" i="1">
                                <a:latin typeface="Cambria Math" panose="02040503050406030204" pitchFamily="18" charset="0"/>
                              </a:rPr>
                              <m:t>𝑒</m:t>
                            </m:r>
                          </m:e>
                          <m:sup>
                            <m:r>
                              <a:rPr lang="en-US" sz="1800" i="1">
                                <a:latin typeface="Cambria Math" panose="02040503050406030204" pitchFamily="18" charset="0"/>
                              </a:rPr>
                              <m:t>h</m:t>
                            </m:r>
                            <m:d>
                              <m:dPr>
                                <m:ctrlPr>
                                  <a:rPr lang="en-US" sz="1800" i="1">
                                    <a:latin typeface="Cambria Math" panose="02040503050406030204" pitchFamily="18" charset="0"/>
                                  </a:rPr>
                                </m:ctrlPr>
                              </m:dPr>
                              <m:e>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r>
                                  <a:rPr lang="en-US" sz="1800" b="1" i="1">
                                    <a:latin typeface="Cambria Math" panose="02040503050406030204" pitchFamily="18" charset="0"/>
                                  </a:rPr>
                                  <m:t>𝜽</m:t>
                                </m:r>
                              </m:e>
                            </m:d>
                          </m:sup>
                        </m:sSup>
                      </m:num>
                      <m:den>
                        <m:nary>
                          <m:naryPr>
                            <m:chr m:val="∑"/>
                            <m:supHide m:val="on"/>
                            <m:ctrlPr>
                              <a:rPr lang="en-US" sz="1800" i="1">
                                <a:latin typeface="Cambria Math" panose="02040503050406030204" pitchFamily="18" charset="0"/>
                              </a:rPr>
                            </m:ctrlPr>
                          </m:naryPr>
                          <m:sub>
                            <m:r>
                              <a:rPr lang="en-US" sz="1800" i="1">
                                <a:latin typeface="Cambria Math" panose="02040503050406030204" pitchFamily="18" charset="0"/>
                              </a:rPr>
                              <m:t>𝑏</m:t>
                            </m:r>
                          </m:sub>
                          <m:sup/>
                          <m:e>
                            <m:sSup>
                              <m:sSupPr>
                                <m:ctrlPr>
                                  <a:rPr lang="en-US" sz="1800" i="1">
                                    <a:latin typeface="Cambria Math" panose="02040503050406030204" pitchFamily="18" charset="0"/>
                                  </a:rPr>
                                </m:ctrlPr>
                              </m:sSupPr>
                              <m:e>
                                <m:r>
                                  <a:rPr lang="en-US" sz="1800" i="1">
                                    <a:latin typeface="Cambria Math" panose="02040503050406030204" pitchFamily="18" charset="0"/>
                                  </a:rPr>
                                  <m:t>𝑒</m:t>
                                </m:r>
                              </m:e>
                              <m:sup>
                                <m:r>
                                  <a:rPr lang="en-US" sz="1800" i="1">
                                    <a:latin typeface="Cambria Math" panose="02040503050406030204" pitchFamily="18" charset="0"/>
                                  </a:rPr>
                                  <m:t>h</m:t>
                                </m:r>
                                <m:d>
                                  <m:dPr>
                                    <m:ctrlPr>
                                      <a:rPr lang="en-US" sz="1800" i="1">
                                        <a:latin typeface="Cambria Math" panose="02040503050406030204" pitchFamily="18" charset="0"/>
                                      </a:rPr>
                                    </m:ctrlPr>
                                  </m:dPr>
                                  <m:e>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𝑏</m:t>
                                    </m:r>
                                    <m:r>
                                      <a:rPr lang="en-US" sz="1800" i="1">
                                        <a:latin typeface="Cambria Math" panose="02040503050406030204" pitchFamily="18" charset="0"/>
                                      </a:rPr>
                                      <m:t>,</m:t>
                                    </m:r>
                                    <m:r>
                                      <a:rPr lang="en-US" sz="1800" b="1" i="1">
                                        <a:latin typeface="Cambria Math" panose="02040503050406030204" pitchFamily="18" charset="0"/>
                                      </a:rPr>
                                      <m:t>𝜽</m:t>
                                    </m:r>
                                  </m:e>
                                </m:d>
                              </m:sup>
                            </m:sSup>
                          </m:e>
                        </m:nary>
                      </m:den>
                    </m:f>
                    <m:r>
                      <a:rPr lang="en-US" sz="1800" i="1">
                        <a:latin typeface="Cambria Math" panose="02040503050406030204" pitchFamily="18" charset="0"/>
                      </a:rPr>
                      <m:t> </m:t>
                    </m:r>
                  </m:oMath>
                </a14:m>
                <a:endParaRPr lang="en-US" dirty="0"/>
              </a:p>
              <a:p>
                <a:r>
                  <a:rPr lang="en-US" dirty="0"/>
                  <a:t>Gradient: </a:t>
                </a:r>
                <a14:m>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 </m:t>
                    </m:r>
                    <m:func>
                      <m:funcPr>
                        <m:ctrlPr>
                          <a:rPr lang="en-US" b="0" i="1" smtClean="0">
                            <a:latin typeface="Cambria Math" panose="02040503050406030204" pitchFamily="18" charset="0"/>
                            <a:ea typeface="Cambria Math" panose="02040503050406030204" pitchFamily="18" charset="0"/>
                          </a:rPr>
                        </m:ctrlPr>
                      </m:funcPr>
                      <m:fName>
                        <m:r>
                          <m:rPr>
                            <m:sty m:val="p"/>
                          </m:rPr>
                          <a:rPr lang="en-US" b="0" i="0" smtClean="0">
                            <a:latin typeface="Cambria Math" panose="02040503050406030204" pitchFamily="18" charset="0"/>
                            <a:ea typeface="Cambria Math" panose="02040503050406030204" pitchFamily="18" charset="0"/>
                          </a:rPr>
                          <m:t>ln</m:t>
                        </m:r>
                      </m:fName>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e>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𝜽</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h</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r>
                              <a:rPr lang="en-US" b="0" i="1" smtClean="0">
                                <a:latin typeface="Cambria Math" panose="02040503050406030204" pitchFamily="18" charset="0"/>
                                <a:ea typeface="Cambria Math" panose="02040503050406030204" pitchFamily="18" charset="0"/>
                              </a:rPr>
                              <m:t>′</m:t>
                            </m:r>
                          </m:sup>
                          <m:e>
                            <m:r>
                              <a:rPr lang="en-US" b="0" i="1" smtClean="0">
                                <a:latin typeface="Cambria Math" panose="02040503050406030204" pitchFamily="18" charset="0"/>
                                <a:ea typeface="Cambria Math" panose="02040503050406030204" pitchFamily="18" charset="0"/>
                              </a:rPr>
                              <m:t>h</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𝑎</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𝑎</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𝜽</m:t>
                            </m:r>
                            <m:r>
                              <a:rPr lang="en-US" b="0" i="1" smtClean="0">
                                <a:latin typeface="Cambria Math" panose="02040503050406030204" pitchFamily="18" charset="0"/>
                                <a:ea typeface="Cambria Math" panose="02040503050406030204" pitchFamily="18" charset="0"/>
                              </a:rPr>
                              <m:t>)</m:t>
                            </m:r>
                          </m:e>
                        </m:nary>
                      </m:e>
                    </m:func>
                  </m:oMath>
                </a14:m>
                <a:endParaRPr lang="en-US" dirty="0"/>
              </a:p>
            </p:txBody>
          </p:sp>
        </mc:Choice>
        <mc:Fallback xmlns="">
          <p:sp>
            <p:nvSpPr>
              <p:cNvPr id="9" name="TextBox 8">
                <a:extLst>
                  <a:ext uri="{FF2B5EF4-FFF2-40B4-BE49-F238E27FC236}">
                    <a16:creationId xmlns:a16="http://schemas.microsoft.com/office/drawing/2014/main" id="{81844A3E-07DE-7E32-BBD9-C2EA15BF5B63}"/>
                  </a:ext>
                </a:extLst>
              </p:cNvPr>
              <p:cNvSpPr txBox="1">
                <a:spLocks noRot="1" noChangeAspect="1" noMove="1" noResize="1" noEditPoints="1" noAdjustHandles="1" noChangeArrowheads="1" noChangeShapeType="1" noTextEdit="1"/>
              </p:cNvSpPr>
              <p:nvPr/>
            </p:nvSpPr>
            <p:spPr>
              <a:xfrm>
                <a:off x="2840922" y="5618339"/>
                <a:ext cx="6097162" cy="874535"/>
              </a:xfrm>
              <a:prstGeom prst="rect">
                <a:avLst/>
              </a:prstGeom>
              <a:blipFill>
                <a:blip r:embed="rId4"/>
                <a:stretch>
                  <a:fillRect l="-698" b="-75342"/>
                </a:stretch>
              </a:blipFill>
            </p:spPr>
            <p:txBody>
              <a:bodyPr/>
              <a:lstStyle/>
              <a:p>
                <a:r>
                  <a:rPr lang="en-US">
                    <a:noFill/>
                  </a:rPr>
                  <a:t> </a:t>
                </a:r>
              </a:p>
            </p:txBody>
          </p:sp>
        </mc:Fallback>
      </mc:AlternateContent>
      <p:sp>
        <p:nvSpPr>
          <p:cNvPr id="10" name="Speech Bubble: Rectangle with Corners Rounded 9">
            <a:extLst>
              <a:ext uri="{FF2B5EF4-FFF2-40B4-BE49-F238E27FC236}">
                <a16:creationId xmlns:a16="http://schemas.microsoft.com/office/drawing/2014/main" id="{8CBD3B62-118E-3C2C-74E7-15BD5B192BE0}"/>
              </a:ext>
            </a:extLst>
          </p:cNvPr>
          <p:cNvSpPr/>
          <p:nvPr/>
        </p:nvSpPr>
        <p:spPr>
          <a:xfrm>
            <a:off x="5751645" y="4181102"/>
            <a:ext cx="2380231" cy="677074"/>
          </a:xfrm>
          <a:prstGeom prst="wedgeRoundRectCallout">
            <a:avLst>
              <a:gd name="adj1" fmla="val -7539"/>
              <a:gd name="adj2" fmla="val -13295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Depends on estimates for q</a:t>
            </a:r>
          </a:p>
        </p:txBody>
      </p:sp>
    </p:spTree>
    <p:extLst>
      <p:ext uri="{BB962C8B-B14F-4D97-AF65-F5344CB8AC3E}">
        <p14:creationId xmlns:p14="http://schemas.microsoft.com/office/powerpoint/2010/main" val="1418688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350240-7BA9-7642-1F93-C6143DD4F992}"/>
              </a:ext>
            </a:extLst>
          </p:cNvPr>
          <p:cNvSpPr>
            <a:spLocks noGrp="1"/>
          </p:cNvSpPr>
          <p:nvPr>
            <p:ph type="title"/>
          </p:nvPr>
        </p:nvSpPr>
        <p:spPr/>
        <p:txBody>
          <a:bodyPr/>
          <a:lstStyle/>
          <a:p>
            <a:r>
              <a:rPr lang="en-US" dirty="0"/>
              <a:t>REINFORCE Update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3692E5E-4E0F-A07A-A76B-D89BC62C9917}"/>
                  </a:ext>
                </a:extLst>
              </p:cNvPr>
              <p:cNvSpPr>
                <a:spLocks noGrp="1"/>
              </p:cNvSpPr>
              <p:nvPr>
                <p:ph idx="1"/>
              </p:nvPr>
            </p:nvSpPr>
            <p:spPr>
              <a:xfrm>
                <a:off x="838199" y="2237959"/>
                <a:ext cx="6176853" cy="3298764"/>
              </a:xfrm>
            </p:spPr>
            <p:txBody>
              <a:bodyPr>
                <a:normAutofit fontScale="77500" lnSpcReduction="20000"/>
              </a:bodyPr>
              <a:lstStyle/>
              <a:p>
                <a:pPr marL="0" indent="0">
                  <a:buNone/>
                </a:pPr>
                <a14:m>
                  <m:oMathPara xmlns:m="http://schemas.openxmlformats.org/officeDocument/2006/math">
                    <m:oMathParaPr>
                      <m:jc m:val="centerGroup"/>
                    </m:oMathParaPr>
                    <m:oMath xmlns:m="http://schemas.openxmlformats.org/officeDocument/2006/math">
                      <m:r>
                        <m:rPr>
                          <m:sty m:val="p"/>
                        </m:rPr>
                        <a:rPr lang="en-US"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𝐽</m:t>
                      </m:r>
                      <m:d>
                        <m:dPr>
                          <m:ctrlPr>
                            <a:rPr lang="en-US"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𝜽</m:t>
                          </m:r>
                        </m:e>
                      </m:d>
                      <m:r>
                        <m:rPr>
                          <m:aln/>
                        </m:rPr>
                        <a:rPr lang="en-US" i="1">
                          <a:latin typeface="Cambria Math" panose="02040503050406030204" pitchFamily="18" charset="0"/>
                          <a:ea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𝑠</m:t>
                          </m:r>
                        </m:sub>
                        <m:sup/>
                        <m:e>
                          <m:r>
                            <a:rPr lang="en-US" i="1">
                              <a:latin typeface="Cambria Math" panose="02040503050406030204" pitchFamily="18" charset="0"/>
                              <a:ea typeface="Cambria Math" panose="02040503050406030204" pitchFamily="18" charset="0"/>
                            </a:rPr>
                            <m:t>𝜇</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𝑎</m:t>
                              </m:r>
                            </m:sub>
                            <m:sup/>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𝑞</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e>
                              </m:d>
                              <m:r>
                                <m:rPr>
                                  <m:sty m:val="p"/>
                                </m:rPr>
                                <a:rPr lang="en-US">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𝜋</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𝑎</m:t>
                                  </m:r>
                                </m:e>
                                <m:e>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e>
                              </m:d>
                            </m:e>
                          </m:nary>
                        </m:e>
                      </m:nary>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𝑎</m:t>
                              </m:r>
                            </m:sub>
                            <m:sup/>
                            <m:e>
                              <m:r>
                                <a:rPr lang="en-US" i="1">
                                  <a:latin typeface="Cambria Math" panose="02040503050406030204" pitchFamily="18" charset="0"/>
                                  <a:ea typeface="Cambria Math" panose="02040503050406030204" pitchFamily="18" charset="0"/>
                                </a:rPr>
                                <m:t>𝜋</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𝑞</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e>
                              </m:d>
                              <m:f>
                                <m:fPr>
                                  <m:ctrlPr>
                                    <a:rPr lang="en-US" i="1">
                                      <a:latin typeface="Cambria Math" panose="02040503050406030204" pitchFamily="18" charset="0"/>
                                      <a:ea typeface="Cambria Math" panose="02040503050406030204" pitchFamily="18" charset="0"/>
                                    </a:rPr>
                                  </m:ctrlPr>
                                </m:fPr>
                                <m:num>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r>
                                    <a:rPr lang="en-US" i="1">
                                      <a:latin typeface="Cambria Math" panose="02040503050406030204" pitchFamily="18" charset="0"/>
                                      <a:ea typeface="Cambria Math" panose="02040503050406030204" pitchFamily="18" charset="0"/>
                                    </a:rPr>
                                    <m:t>)</m:t>
                                  </m:r>
                                </m:num>
                                <m:den>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r>
                                    <a:rPr lang="en-US" i="1">
                                      <a:latin typeface="Cambria Math" panose="02040503050406030204" pitchFamily="18" charset="0"/>
                                      <a:ea typeface="Cambria Math" panose="02040503050406030204" pitchFamily="18" charset="0"/>
                                    </a:rPr>
                                    <m:t>)</m:t>
                                  </m:r>
                                </m:den>
                              </m:f>
                            </m:e>
                          </m:nary>
                        </m:e>
                      </m:d>
                    </m:oMath>
                    <m:oMath xmlns:m="http://schemas.openxmlformats.org/officeDocument/2006/math">
                      <m:r>
                        <a:rPr lang="en-US" b="0" i="1" smtClean="0">
                          <a:latin typeface="Cambria Math" panose="02040503050406030204" pitchFamily="18" charset="0"/>
                          <a:ea typeface="Cambria Math" panose="02040503050406030204" pitchFamily="18" charset="0"/>
                        </a:rPr>
                        <m:t> </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f>
                            <m:fPr>
                              <m:ctrlPr>
                                <a:rPr lang="en-US" b="0" i="1" smtClean="0">
                                  <a:latin typeface="Cambria Math" panose="02040503050406030204" pitchFamily="18" charset="0"/>
                                  <a:ea typeface="Cambria Math" panose="02040503050406030204" pitchFamily="18" charset="0"/>
                                </a:rPr>
                              </m:ctrlPr>
                            </m:fPr>
                            <m:num>
                              <m:r>
                                <m:rPr>
                                  <m:sty m:val="p"/>
                                </m:rP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𝜽</m:t>
                              </m:r>
                              <m:r>
                                <a:rPr lang="en-US" b="0" i="1" smtClean="0">
                                  <a:latin typeface="Cambria Math" panose="02040503050406030204" pitchFamily="18" charset="0"/>
                                  <a:ea typeface="Cambria Math" panose="02040503050406030204" pitchFamily="18" charset="0"/>
                                </a:rPr>
                                <m:t>)</m:t>
                              </m:r>
                            </m:num>
                            <m:den>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r>
                                <a:rPr lang="en-US" i="1">
                                  <a:latin typeface="Cambria Math" panose="02040503050406030204" pitchFamily="18" charset="0"/>
                                  <a:ea typeface="Cambria Math" panose="02040503050406030204" pitchFamily="18" charset="0"/>
                                </a:rPr>
                                <m:t>)</m:t>
                              </m:r>
                            </m:den>
                          </m:f>
                        </m:e>
                      </m:d>
                    </m:oMath>
                    <m:oMath xmlns:m="http://schemas.openxmlformats.org/officeDocument/2006/math">
                      <m:r>
                        <a:rPr lang="en-US" b="0" i="1" smtClean="0">
                          <a:latin typeface="Cambria Math" panose="02040503050406030204" pitchFamily="18" charset="0"/>
                          <a:ea typeface="Cambria Math" panose="02040503050406030204" pitchFamily="18" charset="0"/>
                        </a:rPr>
                        <m:t> </m:t>
                      </m:r>
                    </m:oMath>
                    <m:oMath xmlns:m="http://schemas.openxmlformats.org/officeDocument/2006/math">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func>
                            <m:funcPr>
                              <m:ctrlPr>
                                <a:rPr lang="en-US" b="0" i="1" smtClean="0">
                                  <a:latin typeface="Cambria Math" panose="02040503050406030204" pitchFamily="18" charset="0"/>
                                  <a:ea typeface="Cambria Math" panose="02040503050406030204" pitchFamily="18" charset="0"/>
                                </a:rPr>
                              </m:ctrlPr>
                            </m:funcPr>
                            <m:fName>
                              <m:r>
                                <m:rPr>
                                  <m:sty m:val="p"/>
                                </m:rPr>
                                <a:rPr lang="en-US" b="0" i="0" smtClean="0">
                                  <a:latin typeface="Cambria Math" panose="02040503050406030204" pitchFamily="18" charset="0"/>
                                  <a:ea typeface="Cambria Math" panose="02040503050406030204" pitchFamily="18" charset="0"/>
                                </a:rPr>
                                <m:t>ln</m:t>
                              </m:r>
                            </m:fName>
                            <m:e>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r>
                                <a:rPr lang="en-US" b="1" i="1" smtClean="0">
                                  <a:latin typeface="Cambria Math" panose="02040503050406030204" pitchFamily="18" charset="0"/>
                                  <a:ea typeface="Cambria Math" panose="02040503050406030204" pitchFamily="18" charset="0"/>
                                </a:rPr>
                                <m:t>)</m:t>
                              </m:r>
                            </m:e>
                          </m:func>
                        </m:e>
                      </m:d>
                    </m:oMath>
                  </m:oMathPara>
                </a14:m>
                <a:endParaRPr lang="en-US" i="1" dirty="0">
                  <a:latin typeface="Cambria Math" panose="02040503050406030204" pitchFamily="18" charset="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F3692E5E-4E0F-A07A-A76B-D89BC62C9917}"/>
                  </a:ext>
                </a:extLst>
              </p:cNvPr>
              <p:cNvSpPr>
                <a:spLocks noGrp="1" noRot="1" noChangeAspect="1" noMove="1" noResize="1" noEditPoints="1" noAdjustHandles="1" noChangeArrowheads="1" noChangeShapeType="1" noTextEdit="1"/>
              </p:cNvSpPr>
              <p:nvPr>
                <p:ph idx="1"/>
              </p:nvPr>
            </p:nvSpPr>
            <p:spPr>
              <a:xfrm>
                <a:off x="838199" y="2237959"/>
                <a:ext cx="6176853" cy="3298764"/>
              </a:xfrm>
              <a:blipFill>
                <a:blip r:embed="rId2"/>
                <a:stretch>
                  <a:fillRect r="-35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979B544-C519-EEE8-C07C-9B72B2FBA4AD}"/>
                  </a:ext>
                </a:extLst>
              </p:cNvPr>
              <p:cNvSpPr txBox="1"/>
              <p:nvPr/>
            </p:nvSpPr>
            <p:spPr>
              <a:xfrm>
                <a:off x="7305887" y="3156676"/>
                <a:ext cx="3783243" cy="369332"/>
              </a:xfrm>
              <a:prstGeom prst="rect">
                <a:avLst/>
              </a:prstGeom>
              <a:noFill/>
            </p:spPr>
            <p:txBody>
              <a:bodyPr wrap="square" rtlCol="0">
                <a:spAutoFit/>
              </a:bodyPr>
              <a:lstStyle/>
              <a:p>
                <a:r>
                  <a:rPr lang="en-US" dirty="0"/>
                  <a:t>(replace </a:t>
                </a:r>
                <a14:m>
                  <m:oMath xmlns:m="http://schemas.openxmlformats.org/officeDocument/2006/math">
                    <m:r>
                      <a:rPr lang="en-US" b="0" i="1" smtClean="0">
                        <a:latin typeface="Cambria Math" panose="02040503050406030204" pitchFamily="18" charset="0"/>
                      </a:rPr>
                      <m:t>𝑎</m:t>
                    </m:r>
                  </m:oMath>
                </a14:m>
                <a:r>
                  <a:rPr lang="en-US" dirty="0"/>
                  <a:t> by the sampled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𝜋</m:t>
                    </m:r>
                  </m:oMath>
                </a14:m>
                <a:r>
                  <a:rPr lang="en-US" dirty="0"/>
                  <a:t>)</a:t>
                </a:r>
              </a:p>
            </p:txBody>
          </p:sp>
        </mc:Choice>
        <mc:Fallback xmlns="">
          <p:sp>
            <p:nvSpPr>
              <p:cNvPr id="6" name="TextBox 5">
                <a:extLst>
                  <a:ext uri="{FF2B5EF4-FFF2-40B4-BE49-F238E27FC236}">
                    <a16:creationId xmlns:a16="http://schemas.microsoft.com/office/drawing/2014/main" id="{D979B544-C519-EEE8-C07C-9B72B2FBA4AD}"/>
                  </a:ext>
                </a:extLst>
              </p:cNvPr>
              <p:cNvSpPr txBox="1">
                <a:spLocks noRot="1" noChangeAspect="1" noMove="1" noResize="1" noEditPoints="1" noAdjustHandles="1" noChangeArrowheads="1" noChangeShapeType="1" noTextEdit="1"/>
              </p:cNvSpPr>
              <p:nvPr/>
            </p:nvSpPr>
            <p:spPr>
              <a:xfrm>
                <a:off x="7305887" y="3156676"/>
                <a:ext cx="3783243" cy="369332"/>
              </a:xfrm>
              <a:prstGeom prst="rect">
                <a:avLst/>
              </a:prstGeom>
              <a:blipFill>
                <a:blip r:embed="rId3"/>
                <a:stretch>
                  <a:fillRect l="-1288"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F1EACA7-2076-94B0-C327-E11E18E97FAC}"/>
                  </a:ext>
                </a:extLst>
              </p:cNvPr>
              <p:cNvSpPr txBox="1"/>
              <p:nvPr/>
            </p:nvSpPr>
            <p:spPr>
              <a:xfrm>
                <a:off x="7305887" y="4280574"/>
                <a:ext cx="3783243" cy="369332"/>
              </a:xfrm>
              <a:prstGeom prst="rect">
                <a:avLst/>
              </a:prstGeom>
              <a:noFill/>
            </p:spPr>
            <p:txBody>
              <a:bodyPr wrap="square" rtlCol="0">
                <a:spAutoFit/>
              </a:bodyPr>
              <a:lstStyle/>
              <a:p>
                <a:r>
                  <a:rPr lang="en-US" dirty="0"/>
                  <a:t>(because </a:t>
                </a:r>
                <a14:m>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oMath>
                </a14:m>
                <a:r>
                  <a:rPr lang="en-US" dirty="0"/>
                  <a:t>)</a:t>
                </a:r>
              </a:p>
            </p:txBody>
          </p:sp>
        </mc:Choice>
        <mc:Fallback xmlns="">
          <p:sp>
            <p:nvSpPr>
              <p:cNvPr id="7" name="TextBox 6">
                <a:extLst>
                  <a:ext uri="{FF2B5EF4-FFF2-40B4-BE49-F238E27FC236}">
                    <a16:creationId xmlns:a16="http://schemas.microsoft.com/office/drawing/2014/main" id="{EF1EACA7-2076-94B0-C327-E11E18E97FAC}"/>
                  </a:ext>
                </a:extLst>
              </p:cNvPr>
              <p:cNvSpPr txBox="1">
                <a:spLocks noRot="1" noChangeAspect="1" noMove="1" noResize="1" noEditPoints="1" noAdjustHandles="1" noChangeArrowheads="1" noChangeShapeType="1" noTextEdit="1"/>
              </p:cNvSpPr>
              <p:nvPr/>
            </p:nvSpPr>
            <p:spPr>
              <a:xfrm>
                <a:off x="7305887" y="4280574"/>
                <a:ext cx="3783243" cy="369332"/>
              </a:xfrm>
              <a:prstGeom prst="rect">
                <a:avLst/>
              </a:prstGeom>
              <a:blipFill>
                <a:blip r:embed="rId4"/>
                <a:stretch>
                  <a:fillRect l="-1288"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4AA782C-5593-DAF1-4AC5-86DC24584F2B}"/>
                  </a:ext>
                </a:extLst>
              </p:cNvPr>
              <p:cNvSpPr txBox="1"/>
              <p:nvPr/>
            </p:nvSpPr>
            <p:spPr>
              <a:xfrm>
                <a:off x="7305887" y="2391815"/>
                <a:ext cx="4183439" cy="369332"/>
              </a:xfrm>
              <a:prstGeom prst="rect">
                <a:avLst/>
              </a:prstGeom>
              <a:noFill/>
            </p:spPr>
            <p:txBody>
              <a:bodyPr wrap="square" rtlCol="0">
                <a:spAutoFit/>
              </a:bodyPr>
              <a:lstStyle/>
              <a:p>
                <a:r>
                  <a:rPr lang="en-US" dirty="0"/>
                  <a:t>(replace </a:t>
                </a:r>
                <a14:m>
                  <m:oMath xmlns:m="http://schemas.openxmlformats.org/officeDocument/2006/math">
                    <m:r>
                      <a:rPr lang="en-US" b="0" i="1" smtClean="0">
                        <a:latin typeface="Cambria Math" panose="02040503050406030204" pitchFamily="18" charset="0"/>
                      </a:rPr>
                      <m:t>𝑠</m:t>
                    </m:r>
                  </m:oMath>
                </a14:m>
                <a:r>
                  <a:rPr lang="en-US" dirty="0"/>
                  <a:t> by the sampled </a:t>
                </a: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b="0" i="1" smtClean="0">
                        <a:latin typeface="Cambria Math" panose="02040503050406030204" pitchFamily="18" charset="0"/>
                      </a:rPr>
                      <m:t>𝜇</m:t>
                    </m:r>
                  </m:oMath>
                </a14:m>
                <a:r>
                  <a:rPr lang="en-US" dirty="0"/>
                  <a:t>)</a:t>
                </a:r>
              </a:p>
            </p:txBody>
          </p:sp>
        </mc:Choice>
        <mc:Fallback xmlns="">
          <p:sp>
            <p:nvSpPr>
              <p:cNvPr id="4" name="TextBox 3">
                <a:extLst>
                  <a:ext uri="{FF2B5EF4-FFF2-40B4-BE49-F238E27FC236}">
                    <a16:creationId xmlns:a16="http://schemas.microsoft.com/office/drawing/2014/main" id="{D4AA782C-5593-DAF1-4AC5-86DC24584F2B}"/>
                  </a:ext>
                </a:extLst>
              </p:cNvPr>
              <p:cNvSpPr txBox="1">
                <a:spLocks noRot="1" noChangeAspect="1" noMove="1" noResize="1" noEditPoints="1" noAdjustHandles="1" noChangeArrowheads="1" noChangeShapeType="1" noTextEdit="1"/>
              </p:cNvSpPr>
              <p:nvPr/>
            </p:nvSpPr>
            <p:spPr>
              <a:xfrm>
                <a:off x="7305887" y="2391815"/>
                <a:ext cx="4183439" cy="369332"/>
              </a:xfrm>
              <a:prstGeom prst="rect">
                <a:avLst/>
              </a:prstGeom>
              <a:blipFill>
                <a:blip r:embed="rId5"/>
                <a:stretch>
                  <a:fillRect l="-1164"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7250DF70-B205-0F67-A022-8658B6D83F38}"/>
                  </a:ext>
                </a:extLst>
              </p:cNvPr>
              <p:cNvSpPr txBox="1">
                <a:spLocks/>
              </p:cNvSpPr>
              <p:nvPr/>
            </p:nvSpPr>
            <p:spPr>
              <a:xfrm>
                <a:off x="838199" y="1129111"/>
                <a:ext cx="10169502" cy="230480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Normal stochastic gradient-ascent algorithm update:</a:t>
                </a:r>
                <a:br>
                  <a:rPr lang="en-US" dirty="0"/>
                </a:br>
                <a:r>
                  <a:rPr lang="en-US" dirty="0"/>
                  <a:t>			</a:t>
                </a:r>
                <a14:m>
                  <m:oMath xmlns:m="http://schemas.openxmlformats.org/officeDocument/2006/math">
                    <m:sSub>
                      <m:sSubPr>
                        <m:ctrlPr>
                          <a:rPr lang="en-US" i="1" smtClean="0">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𝐽</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𝜽</m:t>
                            </m:r>
                          </m:e>
                          <m:sub>
                            <m:r>
                              <a:rPr lang="en-US" i="1">
                                <a:latin typeface="Cambria Math" panose="02040503050406030204" pitchFamily="18" charset="0"/>
                                <a:ea typeface="Cambria Math" panose="02040503050406030204" pitchFamily="18" charset="0"/>
                              </a:rPr>
                              <m:t>𝑡</m:t>
                            </m:r>
                          </m:sub>
                        </m:sSub>
                      </m:e>
                    </m:d>
                  </m:oMath>
                </a14:m>
                <a:endParaRPr lang="en-US" b="0" dirty="0">
                  <a:ea typeface="Cambria Math" panose="02040503050406030204" pitchFamily="18" charset="0"/>
                </a:endParaRPr>
              </a:p>
              <a:p>
                <a:pPr marL="0" indent="0">
                  <a:buNone/>
                </a:pPr>
                <a:endParaRPr lang="en-US" i="1" dirty="0">
                  <a:latin typeface="Cambria Math" panose="02040503050406030204" pitchFamily="18" charset="0"/>
                  <a:ea typeface="Cambria Math" panose="02040503050406030204" pitchFamily="18" charset="0"/>
                </a:endParaRPr>
              </a:p>
            </p:txBody>
          </p:sp>
        </mc:Choice>
        <mc:Fallback xmlns="">
          <p:sp>
            <p:nvSpPr>
              <p:cNvPr id="9" name="Content Placeholder 2">
                <a:extLst>
                  <a:ext uri="{FF2B5EF4-FFF2-40B4-BE49-F238E27FC236}">
                    <a16:creationId xmlns:a16="http://schemas.microsoft.com/office/drawing/2014/main" id="{7250DF70-B205-0F67-A022-8658B6D83F38}"/>
                  </a:ext>
                </a:extLst>
              </p:cNvPr>
              <p:cNvSpPr txBox="1">
                <a:spLocks noRot="1" noChangeAspect="1" noMove="1" noResize="1" noEditPoints="1" noAdjustHandles="1" noChangeArrowheads="1" noChangeShapeType="1" noTextEdit="1"/>
              </p:cNvSpPr>
              <p:nvPr/>
            </p:nvSpPr>
            <p:spPr>
              <a:xfrm>
                <a:off x="838199" y="1129111"/>
                <a:ext cx="10169502" cy="2304802"/>
              </a:xfrm>
              <a:prstGeom prst="rect">
                <a:avLst/>
              </a:prstGeom>
              <a:blipFill>
                <a:blip r:embed="rId6"/>
                <a:stretch>
                  <a:fillRect l="-1198" t="-44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F45850D-3559-27BA-E9D9-01CB3EECB739}"/>
                  </a:ext>
                </a:extLst>
              </p:cNvPr>
              <p:cNvSpPr txBox="1"/>
              <p:nvPr/>
            </p:nvSpPr>
            <p:spPr>
              <a:xfrm>
                <a:off x="7305887" y="5045435"/>
                <a:ext cx="3783243" cy="491288"/>
              </a:xfrm>
              <a:prstGeom prst="rect">
                <a:avLst/>
              </a:prstGeom>
              <a:noFill/>
            </p:spPr>
            <p:txBody>
              <a:bodyPr wrap="square" rtlCol="0">
                <a:spAutoFit/>
              </a:bodyPr>
              <a:lstStyle/>
              <a:p>
                <a:r>
                  <a:rPr lang="en-US" dirty="0"/>
                  <a:t>(because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func>
                      <m:funcPr>
                        <m:ctrlPr>
                          <a:rPr lang="en-US" i="1">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ln</m:t>
                        </m:r>
                      </m:fName>
                      <m:e>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num>
                          <m:den>
                            <m:r>
                              <a:rPr lang="en-US" i="1">
                                <a:latin typeface="Cambria Math" panose="02040503050406030204" pitchFamily="18" charset="0"/>
                                <a:ea typeface="Cambria Math" panose="02040503050406030204" pitchFamily="18" charset="0"/>
                              </a:rPr>
                              <m:t>𝑥</m:t>
                            </m:r>
                          </m:den>
                        </m:f>
                      </m:e>
                    </m:func>
                  </m:oMath>
                </a14:m>
                <a:r>
                  <a:rPr lang="en-US" dirty="0"/>
                  <a:t>)</a:t>
                </a:r>
              </a:p>
            </p:txBody>
          </p:sp>
        </mc:Choice>
        <mc:Fallback xmlns="">
          <p:sp>
            <p:nvSpPr>
              <p:cNvPr id="10" name="TextBox 9">
                <a:extLst>
                  <a:ext uri="{FF2B5EF4-FFF2-40B4-BE49-F238E27FC236}">
                    <a16:creationId xmlns:a16="http://schemas.microsoft.com/office/drawing/2014/main" id="{BF45850D-3559-27BA-E9D9-01CB3EECB739}"/>
                  </a:ext>
                </a:extLst>
              </p:cNvPr>
              <p:cNvSpPr txBox="1">
                <a:spLocks noRot="1" noChangeAspect="1" noMove="1" noResize="1" noEditPoints="1" noAdjustHandles="1" noChangeArrowheads="1" noChangeShapeType="1" noTextEdit="1"/>
              </p:cNvSpPr>
              <p:nvPr/>
            </p:nvSpPr>
            <p:spPr>
              <a:xfrm>
                <a:off x="7305887" y="5045435"/>
                <a:ext cx="3783243" cy="491288"/>
              </a:xfrm>
              <a:prstGeom prst="rect">
                <a:avLst/>
              </a:prstGeom>
              <a:blipFill>
                <a:blip r:embed="rId7"/>
                <a:stretch>
                  <a:fillRect l="-1288"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Speech Bubble: Rectangle with Corners Rounded 10">
                <a:extLst>
                  <a:ext uri="{FF2B5EF4-FFF2-40B4-BE49-F238E27FC236}">
                    <a16:creationId xmlns:a16="http://schemas.microsoft.com/office/drawing/2014/main" id="{0E0A6D4E-3C3A-D6B4-AF80-2EE6E3925191}"/>
                  </a:ext>
                </a:extLst>
              </p:cNvPr>
              <p:cNvSpPr/>
              <p:nvPr/>
            </p:nvSpPr>
            <p:spPr>
              <a:xfrm>
                <a:off x="2101024" y="5796192"/>
                <a:ext cx="2380231" cy="677074"/>
              </a:xfrm>
              <a:prstGeom prst="wedgeRoundRectCallout">
                <a:avLst>
                  <a:gd name="adj1" fmla="val -13697"/>
                  <a:gd name="adj2" fmla="val -95839"/>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We can now sample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oMath>
                </a14:m>
                <a:r>
                  <a:rPr lang="en-US" dirty="0"/>
                  <a:t> using </a:t>
                </a:r>
                <a14:m>
                  <m:oMath xmlns:m="http://schemas.openxmlformats.org/officeDocument/2006/math">
                    <m:r>
                      <a:rPr lang="en-US" b="0" i="1" smtClean="0">
                        <a:latin typeface="Cambria Math" panose="02040503050406030204" pitchFamily="18" charset="0"/>
                      </a:rPr>
                      <m:t>𝜋</m:t>
                    </m:r>
                  </m:oMath>
                </a14:m>
                <a:endParaRPr lang="en-US" dirty="0"/>
              </a:p>
            </p:txBody>
          </p:sp>
        </mc:Choice>
        <mc:Fallback xmlns="">
          <p:sp>
            <p:nvSpPr>
              <p:cNvPr id="11" name="Speech Bubble: Rectangle with Corners Rounded 10">
                <a:extLst>
                  <a:ext uri="{FF2B5EF4-FFF2-40B4-BE49-F238E27FC236}">
                    <a16:creationId xmlns:a16="http://schemas.microsoft.com/office/drawing/2014/main" id="{0E0A6D4E-3C3A-D6B4-AF80-2EE6E3925191}"/>
                  </a:ext>
                </a:extLst>
              </p:cNvPr>
              <p:cNvSpPr>
                <a:spLocks noRot="1" noChangeAspect="1" noMove="1" noResize="1" noEditPoints="1" noAdjustHandles="1" noChangeArrowheads="1" noChangeShapeType="1" noTextEdit="1"/>
              </p:cNvSpPr>
              <p:nvPr/>
            </p:nvSpPr>
            <p:spPr>
              <a:xfrm>
                <a:off x="2101024" y="5796192"/>
                <a:ext cx="2380231" cy="677074"/>
              </a:xfrm>
              <a:prstGeom prst="wedgeRoundRectCallout">
                <a:avLst>
                  <a:gd name="adj1" fmla="val -13697"/>
                  <a:gd name="adj2" fmla="val -95839"/>
                  <a:gd name="adj3" fmla="val 16667"/>
                </a:avLst>
              </a:prstGeom>
              <a:blipFill>
                <a:blip r:embed="rId8"/>
                <a:stretch>
                  <a:fillRect b="-7229"/>
                </a:stretch>
              </a:blipFill>
            </p:spPr>
            <p:txBody>
              <a:bodyPr/>
              <a:lstStyle/>
              <a:p>
                <a:r>
                  <a:rPr lang="en-US">
                    <a:noFill/>
                  </a:rPr>
                  <a:t> </a:t>
                </a:r>
              </a:p>
            </p:txBody>
          </p:sp>
        </mc:Fallback>
      </mc:AlternateContent>
    </p:spTree>
    <p:extLst>
      <p:ext uri="{BB962C8B-B14F-4D97-AF65-F5344CB8AC3E}">
        <p14:creationId xmlns:p14="http://schemas.microsoft.com/office/powerpoint/2010/main" val="1273180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A846B-68DA-9665-F3C8-EFD6C97E66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B2F899-1499-8E06-0445-BD2138EDB85A}"/>
              </a:ext>
            </a:extLst>
          </p:cNvPr>
          <p:cNvSpPr>
            <a:spLocks noGrp="1"/>
          </p:cNvSpPr>
          <p:nvPr>
            <p:ph type="title"/>
          </p:nvPr>
        </p:nvSpPr>
        <p:spPr/>
        <p:txBody>
          <a:bodyPr/>
          <a:lstStyle/>
          <a:p>
            <a:r>
              <a:rPr lang="en-US" dirty="0"/>
              <a:t>MC Policy Gradient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638C852-25DD-4671-ED13-10B8DE619084}"/>
                  </a:ext>
                </a:extLst>
              </p:cNvPr>
              <p:cNvSpPr>
                <a:spLocks noGrp="1"/>
              </p:cNvSpPr>
              <p:nvPr>
                <p:ph idx="1"/>
              </p:nvPr>
            </p:nvSpPr>
            <p:spPr>
              <a:xfrm>
                <a:off x="838200" y="1124198"/>
                <a:ext cx="9967076" cy="2527762"/>
              </a:xfrm>
            </p:spPr>
            <p:txBody>
              <a:bodyPr>
                <a:normAutofit/>
              </a:bodyPr>
              <a:lstStyle/>
              <a:p>
                <a:pPr marL="0" indent="0" algn="ctr">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func>
                            <m:funcPr>
                              <m:ctrlPr>
                                <a:rPr lang="en-US" i="1">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ln</m:t>
                              </m:r>
                            </m:fName>
                            <m:e>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r>
                                <a:rPr lang="en-US" b="1" i="1">
                                  <a:latin typeface="Cambria Math" panose="02040503050406030204" pitchFamily="18" charset="0"/>
                                  <a:ea typeface="Cambria Math" panose="02040503050406030204" pitchFamily="18" charset="0"/>
                                </a:rPr>
                                <m:t>)</m:t>
                              </m:r>
                            </m:e>
                          </m:func>
                        </m:e>
                      </m:d>
                    </m:oMath>
                  </m:oMathPara>
                </a14:m>
                <a:endParaRPr lang="en-US" dirty="0"/>
              </a:p>
              <a:p>
                <a:pPr marL="0" indent="0">
                  <a:buNone/>
                </a:pPr>
                <a:endParaRPr lang="en-US" dirty="0"/>
              </a:p>
              <a:p>
                <a:pPr marL="0" indent="0">
                  <a:buNone/>
                </a:pPr>
                <a:endParaRPr lang="en-US" dirty="0"/>
              </a:p>
              <a:p>
                <a:pPr marL="0" indent="0">
                  <a:buNone/>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0" smtClean="0">
                        <a:latin typeface="Cambria Math" panose="02040503050406030204" pitchFamily="18" charset="0"/>
                      </a:rPr>
                      <m:t>,</m:t>
                    </m:r>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oMath>
                </a14:m>
                <a:r>
                  <a:rPr lang="en-US" dirty="0"/>
                  <a:t> and an unbiased estimate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i="1" dirty="0">
                    <a:latin typeface="Cambria Math" panose="02040503050406030204" pitchFamily="18" charset="0"/>
                    <a:ea typeface="Cambria Math" panose="02040503050406030204" pitchFamily="18" charset="0"/>
                  </a:rPr>
                  <a:t> </a:t>
                </a:r>
                <a:r>
                  <a:rPr lang="en-US" dirty="0"/>
                  <a:t>under the current </a:t>
                </a:r>
                <a14:m>
                  <m:oMath xmlns:m="http://schemas.openxmlformats.org/officeDocument/2006/math">
                    <m:r>
                      <a:rPr lang="en-US" b="0" i="1" smtClean="0">
                        <a:latin typeface="Cambria Math" panose="02040503050406030204" pitchFamily="18" charset="0"/>
                      </a:rPr>
                      <m:t>𝜋</m:t>
                    </m:r>
                  </m:oMath>
                </a14:m>
                <a:r>
                  <a:rPr lang="en-US" dirty="0"/>
                  <a:t> can be obtained via MC.</a:t>
                </a:r>
              </a:p>
            </p:txBody>
          </p:sp>
        </mc:Choice>
        <mc:Fallback xmlns="">
          <p:sp>
            <p:nvSpPr>
              <p:cNvPr id="3" name="Content Placeholder 2">
                <a:extLst>
                  <a:ext uri="{FF2B5EF4-FFF2-40B4-BE49-F238E27FC236}">
                    <a16:creationId xmlns:a16="http://schemas.microsoft.com/office/drawing/2014/main" id="{8638C852-25DD-4671-ED13-10B8DE619084}"/>
                  </a:ext>
                </a:extLst>
              </p:cNvPr>
              <p:cNvSpPr>
                <a:spLocks noGrp="1" noRot="1" noChangeAspect="1" noMove="1" noResize="1" noEditPoints="1" noAdjustHandles="1" noChangeArrowheads="1" noChangeShapeType="1" noTextEdit="1"/>
              </p:cNvSpPr>
              <p:nvPr>
                <p:ph idx="1"/>
              </p:nvPr>
            </p:nvSpPr>
            <p:spPr>
              <a:xfrm>
                <a:off x="838200" y="1124198"/>
                <a:ext cx="9967076" cy="2527762"/>
              </a:xfrm>
              <a:blipFill>
                <a:blip r:embed="rId2"/>
                <a:stretch>
                  <a:fillRect l="-1284" r="-1896" b="-144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7A46DFC6-5448-DD38-1C4B-9AD716BBC796}"/>
              </a:ext>
            </a:extLst>
          </p:cNvPr>
          <p:cNvPicPr>
            <a:picLocks noChangeAspect="1"/>
          </p:cNvPicPr>
          <p:nvPr/>
        </p:nvPicPr>
        <p:blipFill>
          <a:blip r:embed="rId3"/>
          <a:stretch>
            <a:fillRect/>
          </a:stretch>
        </p:blipFill>
        <p:spPr>
          <a:xfrm>
            <a:off x="2101608" y="3485992"/>
            <a:ext cx="8158842" cy="3006882"/>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6AF3609-FA43-5326-AF3B-FFE2F982DE19}"/>
                  </a:ext>
                </a:extLst>
              </p:cNvPr>
              <p:cNvSpPr txBox="1"/>
              <p:nvPr/>
            </p:nvSpPr>
            <p:spPr>
              <a:xfrm>
                <a:off x="5821738" y="1794518"/>
                <a:ext cx="2333116" cy="369332"/>
              </a:xfrm>
              <a:prstGeom prst="rect">
                <a:avLst/>
              </a:prstGeom>
              <a:noFill/>
            </p:spPr>
            <p:txBody>
              <a:bodyPr wrap="square">
                <a:spAutoFit/>
              </a:bodyPr>
              <a:lstStyle/>
              <a:p>
                <a:r>
                  <a:rPr lang="en-US" dirty="0">
                    <a:ea typeface="Cambria Math" panose="02040503050406030204" pitchFamily="18" charset="0"/>
                  </a:rPr>
                  <a:t>Proportional to </a:t>
                </a:r>
                <a14:m>
                  <m:oMath xmlns:m="http://schemas.openxmlformats.org/officeDocument/2006/math">
                    <m:r>
                      <m:rPr>
                        <m:sty m:val="p"/>
                      </m:rPr>
                      <a:rPr lang="en-US" i="0"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𝐽</m:t>
                    </m:r>
                    <m:d>
                      <m:dPr>
                        <m:ctrlPr>
                          <a:rPr lang="en-US" b="0" i="1" smtClean="0">
                            <a:latin typeface="Cambria Math" panose="02040503050406030204" pitchFamily="18" charset="0"/>
                            <a:ea typeface="Cambria Math" panose="02040503050406030204" pitchFamily="18" charset="0"/>
                          </a:rPr>
                        </m:ctrlPr>
                      </m:dPr>
                      <m:e>
                        <m:r>
                          <a:rPr lang="en-US" b="1" i="1" smtClean="0">
                            <a:latin typeface="Cambria Math" panose="02040503050406030204" pitchFamily="18" charset="0"/>
                            <a:ea typeface="Cambria Math" panose="02040503050406030204" pitchFamily="18" charset="0"/>
                          </a:rPr>
                          <m:t>𝜽</m:t>
                        </m:r>
                      </m:e>
                    </m:d>
                  </m:oMath>
                </a14:m>
                <a:endParaRPr lang="en-US" dirty="0"/>
              </a:p>
            </p:txBody>
          </p:sp>
        </mc:Choice>
        <mc:Fallback xmlns="">
          <p:sp>
            <p:nvSpPr>
              <p:cNvPr id="10" name="TextBox 9">
                <a:extLst>
                  <a:ext uri="{FF2B5EF4-FFF2-40B4-BE49-F238E27FC236}">
                    <a16:creationId xmlns:a16="http://schemas.microsoft.com/office/drawing/2014/main" id="{06AF3609-FA43-5326-AF3B-FFE2F982DE19}"/>
                  </a:ext>
                </a:extLst>
              </p:cNvPr>
              <p:cNvSpPr txBox="1">
                <a:spLocks noRot="1" noChangeAspect="1" noMove="1" noResize="1" noEditPoints="1" noAdjustHandles="1" noChangeArrowheads="1" noChangeShapeType="1" noTextEdit="1"/>
              </p:cNvSpPr>
              <p:nvPr/>
            </p:nvSpPr>
            <p:spPr>
              <a:xfrm>
                <a:off x="5821738" y="1794518"/>
                <a:ext cx="2333116" cy="369332"/>
              </a:xfrm>
              <a:prstGeom prst="rect">
                <a:avLst/>
              </a:prstGeom>
              <a:blipFill>
                <a:blip r:embed="rId4"/>
                <a:stretch>
                  <a:fillRect l="-2089" t="-6557" b="-26230"/>
                </a:stretch>
              </a:blipFill>
            </p:spPr>
            <p:txBody>
              <a:bodyPr/>
              <a:lstStyle/>
              <a:p>
                <a:r>
                  <a:rPr lang="en-US">
                    <a:noFill/>
                  </a:rPr>
                  <a:t> </a:t>
                </a:r>
              </a:p>
            </p:txBody>
          </p:sp>
        </mc:Fallback>
      </mc:AlternateContent>
      <p:sp>
        <p:nvSpPr>
          <p:cNvPr id="11" name="Right Brace 10">
            <a:extLst>
              <a:ext uri="{FF2B5EF4-FFF2-40B4-BE49-F238E27FC236}">
                <a16:creationId xmlns:a16="http://schemas.microsoft.com/office/drawing/2014/main" id="{EB3A8549-16BB-3E54-649D-973665D06710}"/>
              </a:ext>
            </a:extLst>
          </p:cNvPr>
          <p:cNvSpPr/>
          <p:nvPr/>
        </p:nvSpPr>
        <p:spPr>
          <a:xfrm rot="5400000">
            <a:off x="6795245" y="59707"/>
            <a:ext cx="172536" cy="325458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693499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235DA-6659-FCD2-0535-D2F5B36B0BBF}"/>
              </a:ext>
            </a:extLst>
          </p:cNvPr>
          <p:cNvSpPr>
            <a:spLocks noGrp="1"/>
          </p:cNvSpPr>
          <p:nvPr>
            <p:ph type="title"/>
          </p:nvPr>
        </p:nvSpPr>
        <p:spPr/>
        <p:txBody>
          <a:bodyPr/>
          <a:lstStyle/>
          <a:p>
            <a:r>
              <a:rPr lang="en-US" dirty="0"/>
              <a:t>Actor-Critic Methods</a:t>
            </a:r>
          </a:p>
        </p:txBody>
      </p:sp>
      <p:sp>
        <p:nvSpPr>
          <p:cNvPr id="3" name="Text Placeholder 2">
            <a:extLst>
              <a:ext uri="{FF2B5EF4-FFF2-40B4-BE49-F238E27FC236}">
                <a16:creationId xmlns:a16="http://schemas.microsoft.com/office/drawing/2014/main" id="{F7904E83-698E-5514-E2C1-DE4C72B84BEF}"/>
              </a:ext>
            </a:extLst>
          </p:cNvPr>
          <p:cNvSpPr>
            <a:spLocks noGrp="1"/>
          </p:cNvSpPr>
          <p:nvPr>
            <p:ph type="body" idx="1"/>
          </p:nvPr>
        </p:nvSpPr>
        <p:spPr/>
        <p:txBody>
          <a:bodyPr/>
          <a:lstStyle/>
          <a:p>
            <a:r>
              <a:rPr lang="en-US" dirty="0"/>
              <a:t>Combining parameterized policies with parameterized value functions</a:t>
            </a:r>
          </a:p>
        </p:txBody>
      </p:sp>
    </p:spTree>
    <p:extLst>
      <p:ext uri="{BB962C8B-B14F-4D97-AF65-F5344CB8AC3E}">
        <p14:creationId xmlns:p14="http://schemas.microsoft.com/office/powerpoint/2010/main" val="1039217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058F417-5DF6-F5B5-A385-666C67922FA0}"/>
              </a:ext>
            </a:extLst>
          </p:cNvPr>
          <p:cNvSpPr>
            <a:spLocks noGrp="1"/>
          </p:cNvSpPr>
          <p:nvPr>
            <p:ph type="title"/>
          </p:nvPr>
        </p:nvSpPr>
        <p:spPr/>
        <p:txBody>
          <a:bodyPr/>
          <a:lstStyle/>
          <a:p>
            <a:r>
              <a:rPr lang="en-US" dirty="0"/>
              <a:t>Actor-Critic Methods</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5DE7457B-2499-5391-0012-F1D1EE0A7C01}"/>
                  </a:ext>
                </a:extLst>
              </p:cNvPr>
              <p:cNvSpPr>
                <a:spLocks noGrp="1"/>
              </p:cNvSpPr>
              <p:nvPr>
                <p:ph idx="1"/>
              </p:nvPr>
            </p:nvSpPr>
            <p:spPr>
              <a:xfrm>
                <a:off x="838200" y="1397330"/>
                <a:ext cx="7081157" cy="4779633"/>
              </a:xfrm>
            </p:spPr>
            <p:txBody>
              <a:bodyPr>
                <a:normAutofit fontScale="62500" lnSpcReduction="20000"/>
              </a:bodyPr>
              <a:lstStyle/>
              <a:p>
                <a:r>
                  <a:rPr lang="en-US" b="1" dirty="0"/>
                  <a:t>Idea</a:t>
                </a:r>
                <a:r>
                  <a:rPr lang="en-US" dirty="0"/>
                  <a:t>: estimate a parameterized policy and a parameterized value function at the same time.</a:t>
                </a:r>
              </a:p>
              <a:p>
                <a:endParaRPr lang="en-US" dirty="0"/>
              </a:p>
              <a:p>
                <a:r>
                  <a:rPr lang="en-US" b="1" dirty="0"/>
                  <a:t>Actor</a:t>
                </a:r>
                <a:r>
                  <a:rPr lang="en-US" dirty="0"/>
                  <a:t>: estimates the policy and decides on actions.</a:t>
                </a:r>
              </a:p>
              <a:p>
                <a:endParaRPr lang="en-US" dirty="0"/>
              </a:p>
              <a:p>
                <a:r>
                  <a:rPr lang="en-US" b="1" dirty="0"/>
                  <a:t>Critic</a:t>
                </a:r>
                <a:r>
                  <a:rPr lang="en-US" dirty="0"/>
                  <a:t>: estimates the TD error using its value function estimate</a:t>
                </a: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𝑉</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m:oMathPara>
                </a14:m>
                <a:endParaRPr lang="en-US" dirty="0"/>
              </a:p>
              <a:p>
                <a:endParaRPr lang="en-US" dirty="0"/>
              </a:p>
              <a:p>
                <a:endParaRPr lang="en-US" dirty="0"/>
              </a:p>
              <a:p>
                <a:r>
                  <a:rPr lang="en-US" dirty="0"/>
                  <a:t>The critic judges the actor’s action by comparing the received reward to the expected difference in value. </a:t>
                </a:r>
              </a:p>
              <a:p>
                <a:r>
                  <a:rPr lang="en-US" dirty="0"/>
                  <a:t>The TD error is used to update both approximations.</a:t>
                </a:r>
              </a:p>
              <a:p>
                <a:r>
                  <a:rPr lang="en-US" dirty="0"/>
                  <a:t>A positive TD error indicates the last action performed better than expected and the tendency to pick it should be strengthened, whereas if the TD error is negative, it suggests the tendency should be weakened.</a:t>
                </a:r>
              </a:p>
              <a:p>
                <a:endParaRPr lang="en-US" dirty="0"/>
              </a:p>
              <a:p>
                <a:endParaRPr lang="en-US" dirty="0"/>
              </a:p>
            </p:txBody>
          </p:sp>
        </mc:Choice>
        <mc:Fallback xmlns="">
          <p:sp>
            <p:nvSpPr>
              <p:cNvPr id="5" name="Content Placeholder 4">
                <a:extLst>
                  <a:ext uri="{FF2B5EF4-FFF2-40B4-BE49-F238E27FC236}">
                    <a16:creationId xmlns:a16="http://schemas.microsoft.com/office/drawing/2014/main" id="{5DE7457B-2499-5391-0012-F1D1EE0A7C01}"/>
                  </a:ext>
                </a:extLst>
              </p:cNvPr>
              <p:cNvSpPr>
                <a:spLocks noGrp="1" noRot="1" noChangeAspect="1" noMove="1" noResize="1" noEditPoints="1" noAdjustHandles="1" noChangeArrowheads="1" noChangeShapeType="1" noTextEdit="1"/>
              </p:cNvSpPr>
              <p:nvPr>
                <p:ph idx="1"/>
              </p:nvPr>
            </p:nvSpPr>
            <p:spPr>
              <a:xfrm>
                <a:off x="838200" y="1397330"/>
                <a:ext cx="7081157" cy="4779633"/>
              </a:xfrm>
              <a:blipFill>
                <a:blip r:embed="rId2"/>
                <a:stretch>
                  <a:fillRect l="-603" t="-1913"/>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2DED067C-18CB-0247-F450-1737DF323D2A}"/>
              </a:ext>
            </a:extLst>
          </p:cNvPr>
          <p:cNvPicPr>
            <a:picLocks noChangeAspect="1"/>
          </p:cNvPicPr>
          <p:nvPr/>
        </p:nvPicPr>
        <p:blipFill>
          <a:blip r:embed="rId3"/>
          <a:stretch>
            <a:fillRect/>
          </a:stretch>
        </p:blipFill>
        <p:spPr>
          <a:xfrm>
            <a:off x="8153831" y="1549987"/>
            <a:ext cx="3362325" cy="3333750"/>
          </a:xfrm>
          <a:prstGeom prst="rect">
            <a:avLst/>
          </a:prstGeom>
        </p:spPr>
      </p:pic>
      <p:sp>
        <p:nvSpPr>
          <p:cNvPr id="2" name="Right Brace 1">
            <a:extLst>
              <a:ext uri="{FF2B5EF4-FFF2-40B4-BE49-F238E27FC236}">
                <a16:creationId xmlns:a16="http://schemas.microsoft.com/office/drawing/2014/main" id="{F21A47E0-5923-32BA-8CA1-9B8A44E0B299}"/>
              </a:ext>
            </a:extLst>
          </p:cNvPr>
          <p:cNvSpPr/>
          <p:nvPr/>
        </p:nvSpPr>
        <p:spPr>
          <a:xfrm rot="5400000">
            <a:off x="4168912" y="2577439"/>
            <a:ext cx="163381" cy="168981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E44EC0C-68CE-F46E-BDCD-00F436214356}"/>
                  </a:ext>
                </a:extLst>
              </p:cNvPr>
              <p:cNvSpPr txBox="1"/>
              <p:nvPr/>
            </p:nvSpPr>
            <p:spPr>
              <a:xfrm>
                <a:off x="3955535" y="3504037"/>
                <a:ext cx="59013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m:oMathPara>
                </a14:m>
                <a:endParaRPr lang="en-US" dirty="0"/>
              </a:p>
            </p:txBody>
          </p:sp>
        </mc:Choice>
        <mc:Fallback xmlns="">
          <p:sp>
            <p:nvSpPr>
              <p:cNvPr id="3" name="TextBox 2">
                <a:extLst>
                  <a:ext uri="{FF2B5EF4-FFF2-40B4-BE49-F238E27FC236}">
                    <a16:creationId xmlns:a16="http://schemas.microsoft.com/office/drawing/2014/main" id="{FE44EC0C-68CE-F46E-BDCD-00F436214356}"/>
                  </a:ext>
                </a:extLst>
              </p:cNvPr>
              <p:cNvSpPr txBox="1">
                <a:spLocks noRot="1" noChangeAspect="1" noMove="1" noResize="1" noEditPoints="1" noAdjustHandles="1" noChangeArrowheads="1" noChangeShapeType="1" noTextEdit="1"/>
              </p:cNvSpPr>
              <p:nvPr/>
            </p:nvSpPr>
            <p:spPr>
              <a:xfrm>
                <a:off x="3955535" y="3504037"/>
                <a:ext cx="590133" cy="369332"/>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7982706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2DFE1-72DC-68CD-CBDF-6806168FD6EE}"/>
              </a:ext>
            </a:extLst>
          </p:cNvPr>
          <p:cNvSpPr>
            <a:spLocks noGrp="1"/>
          </p:cNvSpPr>
          <p:nvPr>
            <p:ph type="title"/>
          </p:nvPr>
        </p:nvSpPr>
        <p:spPr/>
        <p:txBody>
          <a:bodyPr/>
          <a:lstStyle/>
          <a:p>
            <a:r>
              <a:rPr lang="en-US" dirty="0"/>
              <a:t>One-Step Actor-Critic Algorithm</a:t>
            </a:r>
          </a:p>
        </p:txBody>
      </p:sp>
      <p:pic>
        <p:nvPicPr>
          <p:cNvPr id="7" name="Picture 6">
            <a:extLst>
              <a:ext uri="{FF2B5EF4-FFF2-40B4-BE49-F238E27FC236}">
                <a16:creationId xmlns:a16="http://schemas.microsoft.com/office/drawing/2014/main" id="{2C127B90-B61D-6A2E-A61B-CCCEFCCC5B63}"/>
              </a:ext>
            </a:extLst>
          </p:cNvPr>
          <p:cNvPicPr>
            <a:picLocks noChangeAspect="1"/>
          </p:cNvPicPr>
          <p:nvPr/>
        </p:nvPicPr>
        <p:blipFill>
          <a:blip r:embed="rId2"/>
          <a:stretch>
            <a:fillRect/>
          </a:stretch>
        </p:blipFill>
        <p:spPr>
          <a:xfrm>
            <a:off x="1633938" y="1412757"/>
            <a:ext cx="8821552" cy="4989901"/>
          </a:xfrm>
          <a:prstGeom prst="rect">
            <a:avLst/>
          </a:prstGeom>
        </p:spPr>
      </p:pic>
      <p:sp>
        <p:nvSpPr>
          <p:cNvPr id="5" name="Speech Bubble: Rectangle with Corners Rounded 4">
            <a:extLst>
              <a:ext uri="{FF2B5EF4-FFF2-40B4-BE49-F238E27FC236}">
                <a16:creationId xmlns:a16="http://schemas.microsoft.com/office/drawing/2014/main" id="{D8C230AF-79C2-A184-7ED5-1506ABF95837}"/>
              </a:ext>
            </a:extLst>
          </p:cNvPr>
          <p:cNvSpPr/>
          <p:nvPr/>
        </p:nvSpPr>
        <p:spPr>
          <a:xfrm>
            <a:off x="9116078" y="2371412"/>
            <a:ext cx="865538" cy="259172"/>
          </a:xfrm>
          <a:prstGeom prst="wedgeRoundRectCallout">
            <a:avLst>
              <a:gd name="adj1" fmla="val -84315"/>
              <a:gd name="adj2" fmla="val 24880"/>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critic</a:t>
            </a:r>
          </a:p>
        </p:txBody>
      </p:sp>
      <p:sp>
        <p:nvSpPr>
          <p:cNvPr id="4" name="Speech Bubble: Rectangle with Corners Rounded 3">
            <a:extLst>
              <a:ext uri="{FF2B5EF4-FFF2-40B4-BE49-F238E27FC236}">
                <a16:creationId xmlns:a16="http://schemas.microsoft.com/office/drawing/2014/main" id="{F7A4F288-A0A2-EAB0-0BC3-B1E0033FD846}"/>
              </a:ext>
            </a:extLst>
          </p:cNvPr>
          <p:cNvSpPr/>
          <p:nvPr/>
        </p:nvSpPr>
        <p:spPr>
          <a:xfrm>
            <a:off x="8250540" y="1946286"/>
            <a:ext cx="865538" cy="259172"/>
          </a:xfrm>
          <a:prstGeom prst="wedgeRoundRectCallout">
            <a:avLst>
              <a:gd name="adj1" fmla="val -121411"/>
              <a:gd name="adj2" fmla="val 67368"/>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actor</a:t>
            </a:r>
          </a:p>
        </p:txBody>
      </p:sp>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13A4B9D4-E0AA-951D-C0AB-75C0453EEC3C}"/>
                  </a:ext>
                </a:extLst>
              </p:cNvPr>
              <p:cNvSpPr/>
              <p:nvPr/>
            </p:nvSpPr>
            <p:spPr>
              <a:xfrm>
                <a:off x="118664" y="3429000"/>
                <a:ext cx="1758998" cy="670095"/>
              </a:xfrm>
              <a:prstGeom prst="wedgeRoundRectCallout">
                <a:avLst>
                  <a:gd name="adj1" fmla="val 73313"/>
                  <a:gd name="adj2" fmla="val 22694"/>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Takes care of discounting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𝛾</m:t>
                        </m:r>
                      </m:e>
                      <m:sup>
                        <m:r>
                          <a:rPr lang="en-US" b="0" i="1" smtClean="0">
                            <a:latin typeface="Cambria Math" panose="02040503050406030204" pitchFamily="18" charset="0"/>
                          </a:rPr>
                          <m:t>𝑡</m:t>
                        </m:r>
                      </m:sup>
                    </m:sSup>
                  </m:oMath>
                </a14:m>
                <a:endParaRPr lang="en-US" dirty="0"/>
              </a:p>
            </p:txBody>
          </p:sp>
        </mc:Choice>
        <mc:Fallback xmlns="">
          <p:sp>
            <p:nvSpPr>
              <p:cNvPr id="10" name="Speech Bubble: Rectangle with Corners Rounded 9">
                <a:extLst>
                  <a:ext uri="{FF2B5EF4-FFF2-40B4-BE49-F238E27FC236}">
                    <a16:creationId xmlns:a16="http://schemas.microsoft.com/office/drawing/2014/main" id="{13A4B9D4-E0AA-951D-C0AB-75C0453EEC3C}"/>
                  </a:ext>
                </a:extLst>
              </p:cNvPr>
              <p:cNvSpPr>
                <a:spLocks noRot="1" noChangeAspect="1" noMove="1" noResize="1" noEditPoints="1" noAdjustHandles="1" noChangeArrowheads="1" noChangeShapeType="1" noTextEdit="1"/>
              </p:cNvSpPr>
              <p:nvPr/>
            </p:nvSpPr>
            <p:spPr>
              <a:xfrm>
                <a:off x="118664" y="3429000"/>
                <a:ext cx="1758998" cy="670095"/>
              </a:xfrm>
              <a:prstGeom prst="wedgeRoundRectCallout">
                <a:avLst>
                  <a:gd name="adj1" fmla="val 73313"/>
                  <a:gd name="adj2" fmla="val 22694"/>
                  <a:gd name="adj3" fmla="val 16667"/>
                </a:avLst>
              </a:prstGeom>
              <a:blipFill>
                <a:blip r:embed="rId3"/>
                <a:stretch>
                  <a:fillRect t="-1786" b="-11607"/>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05DCB902-4519-6052-12CC-ADD3BFE4DF5D}"/>
              </a:ext>
            </a:extLst>
          </p:cNvPr>
          <p:cNvSpPr/>
          <p:nvPr/>
        </p:nvSpPr>
        <p:spPr>
          <a:xfrm>
            <a:off x="2442225" y="4809326"/>
            <a:ext cx="3093036" cy="272226"/>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Speech Bubble: Rectangle with Corners Rounded 11">
                <a:extLst>
                  <a:ext uri="{FF2B5EF4-FFF2-40B4-BE49-F238E27FC236}">
                    <a16:creationId xmlns:a16="http://schemas.microsoft.com/office/drawing/2014/main" id="{A8ECFCE4-C642-EBAF-5270-39245F140766}"/>
                  </a:ext>
                </a:extLst>
              </p:cNvPr>
              <p:cNvSpPr/>
              <p:nvPr/>
            </p:nvSpPr>
            <p:spPr>
              <a:xfrm>
                <a:off x="6096000" y="4385243"/>
                <a:ext cx="3910632" cy="336241"/>
              </a:xfrm>
              <a:prstGeom prst="wedgeRoundRectCallout">
                <a:avLst>
                  <a:gd name="adj1" fmla="val -67147"/>
                  <a:gd name="adj2" fmla="val 91629"/>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TD error: how much is </a:t>
                </a:r>
                <a14:m>
                  <m:oMath xmlns:m="http://schemas.openxmlformats.org/officeDocument/2006/math">
                    <m:r>
                      <a:rPr lang="en-US" b="0" i="1" smtClean="0">
                        <a:latin typeface="Cambria Math" panose="02040503050406030204" pitchFamily="18" charset="0"/>
                      </a:rPr>
                      <m:t>𝐺</m:t>
                    </m:r>
                  </m:oMath>
                </a14:m>
                <a:r>
                  <a:rPr lang="en-US" dirty="0"/>
                  <a:t> better than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oMath>
                </a14:m>
                <a:r>
                  <a:rPr lang="en-US" dirty="0"/>
                  <a:t> </a:t>
                </a:r>
              </a:p>
            </p:txBody>
          </p:sp>
        </mc:Choice>
        <mc:Fallback xmlns="">
          <p:sp>
            <p:nvSpPr>
              <p:cNvPr id="12" name="Speech Bubble: Rectangle with Corners Rounded 11">
                <a:extLst>
                  <a:ext uri="{FF2B5EF4-FFF2-40B4-BE49-F238E27FC236}">
                    <a16:creationId xmlns:a16="http://schemas.microsoft.com/office/drawing/2014/main" id="{A8ECFCE4-C642-EBAF-5270-39245F140766}"/>
                  </a:ext>
                </a:extLst>
              </p:cNvPr>
              <p:cNvSpPr>
                <a:spLocks noRot="1" noChangeAspect="1" noMove="1" noResize="1" noEditPoints="1" noAdjustHandles="1" noChangeArrowheads="1" noChangeShapeType="1" noTextEdit="1"/>
              </p:cNvSpPr>
              <p:nvPr/>
            </p:nvSpPr>
            <p:spPr>
              <a:xfrm>
                <a:off x="6096000" y="4385243"/>
                <a:ext cx="3910632" cy="336241"/>
              </a:xfrm>
              <a:prstGeom prst="wedgeRoundRectCallout">
                <a:avLst>
                  <a:gd name="adj1" fmla="val -67147"/>
                  <a:gd name="adj2" fmla="val 91629"/>
                  <a:gd name="adj3" fmla="val 16667"/>
                </a:avLst>
              </a:prstGeom>
              <a:blipFill>
                <a:blip r:embed="rId4"/>
                <a:stretch>
                  <a:fillRect t="-7143" r="-4961"/>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id="{44E06FFA-E200-E681-2E5D-039A57F537AC}"/>
              </a:ext>
            </a:extLst>
          </p:cNvPr>
          <p:cNvSpPr/>
          <p:nvPr/>
        </p:nvSpPr>
        <p:spPr>
          <a:xfrm>
            <a:off x="2442225" y="5377090"/>
            <a:ext cx="3093036" cy="272226"/>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4" name="Speech Bubble: Rectangle with Corners Rounded 13">
            <a:extLst>
              <a:ext uri="{FF2B5EF4-FFF2-40B4-BE49-F238E27FC236}">
                <a16:creationId xmlns:a16="http://schemas.microsoft.com/office/drawing/2014/main" id="{E94F9DD5-BDBE-9FDD-3254-2C368EE7BF6A}"/>
              </a:ext>
            </a:extLst>
          </p:cNvPr>
          <p:cNvSpPr/>
          <p:nvPr/>
        </p:nvSpPr>
        <p:spPr>
          <a:xfrm>
            <a:off x="6494448" y="5644274"/>
            <a:ext cx="4296868" cy="336241"/>
          </a:xfrm>
          <a:prstGeom prst="wedgeRoundRectCallout">
            <a:avLst>
              <a:gd name="adj1" fmla="val -80690"/>
              <a:gd name="adj2" fmla="val -6006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Update the actor (policy) </a:t>
            </a:r>
            <a:r>
              <a:rPr lang="en-US"/>
              <a:t>= REINFORCE</a:t>
            </a:r>
            <a:endParaRPr lang="en-US" dirty="0"/>
          </a:p>
        </p:txBody>
      </p:sp>
      <p:sp>
        <p:nvSpPr>
          <p:cNvPr id="3" name="Rectangle 2">
            <a:extLst>
              <a:ext uri="{FF2B5EF4-FFF2-40B4-BE49-F238E27FC236}">
                <a16:creationId xmlns:a16="http://schemas.microsoft.com/office/drawing/2014/main" id="{7975E55E-B47E-0E56-E14A-333A3D6DE67C}"/>
              </a:ext>
            </a:extLst>
          </p:cNvPr>
          <p:cNvSpPr/>
          <p:nvPr/>
        </p:nvSpPr>
        <p:spPr>
          <a:xfrm>
            <a:off x="2442225" y="5125835"/>
            <a:ext cx="3093036" cy="206971"/>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4E143229-2BAE-E79E-F2D9-252EB18CD2C7}"/>
                  </a:ext>
                </a:extLst>
              </p:cNvPr>
              <p:cNvSpPr/>
              <p:nvPr/>
            </p:nvSpPr>
            <p:spPr>
              <a:xfrm>
                <a:off x="6494448" y="5229320"/>
                <a:ext cx="4296868" cy="336241"/>
              </a:xfrm>
              <a:prstGeom prst="wedgeRoundRectCallout">
                <a:avLst>
                  <a:gd name="adj1" fmla="val -82308"/>
                  <a:gd name="adj2" fmla="val -47607"/>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Update the critic (value function) = </a:t>
                </a:r>
                <a14:m>
                  <m:oMath xmlns:m="http://schemas.openxmlformats.org/officeDocument/2006/math">
                    <m:r>
                      <a:rPr lang="en-US" i="1" dirty="0" smtClean="0">
                        <a:latin typeface="Cambria Math" panose="02040503050406030204" pitchFamily="18" charset="0"/>
                      </a:rPr>
                      <m:t>𝑇𝐷</m:t>
                    </m:r>
                    <m:r>
                      <a:rPr lang="en-US" i="1" dirty="0" smtClean="0">
                        <a:latin typeface="Cambria Math" panose="02040503050406030204" pitchFamily="18" charset="0"/>
                      </a:rPr>
                      <m:t>(0)</m:t>
                    </m:r>
                  </m:oMath>
                </a14:m>
                <a:endParaRPr lang="en-US" dirty="0"/>
              </a:p>
            </p:txBody>
          </p:sp>
        </mc:Choice>
        <mc:Fallback xmlns="">
          <p:sp>
            <p:nvSpPr>
              <p:cNvPr id="6" name="Speech Bubble: Rectangle with Corners Rounded 5">
                <a:extLst>
                  <a:ext uri="{FF2B5EF4-FFF2-40B4-BE49-F238E27FC236}">
                    <a16:creationId xmlns:a16="http://schemas.microsoft.com/office/drawing/2014/main" id="{4E143229-2BAE-E79E-F2D9-252EB18CD2C7}"/>
                  </a:ext>
                </a:extLst>
              </p:cNvPr>
              <p:cNvSpPr>
                <a:spLocks noRot="1" noChangeAspect="1" noMove="1" noResize="1" noEditPoints="1" noAdjustHandles="1" noChangeArrowheads="1" noChangeShapeType="1" noTextEdit="1"/>
              </p:cNvSpPr>
              <p:nvPr/>
            </p:nvSpPr>
            <p:spPr>
              <a:xfrm>
                <a:off x="6494448" y="5229320"/>
                <a:ext cx="4296868" cy="336241"/>
              </a:xfrm>
              <a:prstGeom prst="wedgeRoundRectCallout">
                <a:avLst>
                  <a:gd name="adj1" fmla="val -82308"/>
                  <a:gd name="adj2" fmla="val -47607"/>
                  <a:gd name="adj3" fmla="val 16667"/>
                </a:avLst>
              </a:prstGeom>
              <a:blipFill>
                <a:blip r:embed="rId5"/>
                <a:stretch>
                  <a:fillRect t="-10345" b="-29310"/>
                </a:stretch>
              </a:blipFill>
            </p:spPr>
            <p:txBody>
              <a:bodyPr/>
              <a:lstStyle/>
              <a:p>
                <a:r>
                  <a:rPr lang="en-US">
                    <a:noFill/>
                  </a:rPr>
                  <a:t> </a:t>
                </a:r>
              </a:p>
            </p:txBody>
          </p:sp>
        </mc:Fallback>
      </mc:AlternateContent>
    </p:spTree>
    <p:extLst>
      <p:ext uri="{BB962C8B-B14F-4D97-AF65-F5344CB8AC3E}">
        <p14:creationId xmlns:p14="http://schemas.microsoft.com/office/powerpoint/2010/main" val="27871837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24713-0516-81AE-0D8E-4E55E57C3A9F}"/>
              </a:ext>
            </a:extLst>
          </p:cNvPr>
          <p:cNvSpPr>
            <a:spLocks noGrp="1"/>
          </p:cNvSpPr>
          <p:nvPr>
            <p:ph type="title"/>
          </p:nvPr>
        </p:nvSpPr>
        <p:spPr/>
        <p:txBody>
          <a:bodyPr/>
          <a:lstStyle/>
          <a:p>
            <a:r>
              <a:rPr lang="en-US" dirty="0"/>
              <a:t>Actor-Critic Methods with Eligibility Traces</a:t>
            </a:r>
          </a:p>
        </p:txBody>
      </p:sp>
      <p:pic>
        <p:nvPicPr>
          <p:cNvPr id="4" name="Picture 3">
            <a:extLst>
              <a:ext uri="{FF2B5EF4-FFF2-40B4-BE49-F238E27FC236}">
                <a16:creationId xmlns:a16="http://schemas.microsoft.com/office/drawing/2014/main" id="{896A9328-74A9-F680-EC07-D31CBF0CC855}"/>
              </a:ext>
            </a:extLst>
          </p:cNvPr>
          <p:cNvPicPr>
            <a:picLocks noChangeAspect="1"/>
          </p:cNvPicPr>
          <p:nvPr/>
        </p:nvPicPr>
        <p:blipFill>
          <a:blip r:embed="rId2"/>
          <a:stretch>
            <a:fillRect/>
          </a:stretch>
        </p:blipFill>
        <p:spPr>
          <a:xfrm>
            <a:off x="440871" y="1572643"/>
            <a:ext cx="7785950" cy="4404114"/>
          </a:xfrm>
          <a:prstGeom prst="rect">
            <a:avLst/>
          </a:prstGeom>
        </p:spPr>
      </p:pic>
      <p:pic>
        <p:nvPicPr>
          <p:cNvPr id="6" name="Content Placeholder 5">
            <a:extLst>
              <a:ext uri="{FF2B5EF4-FFF2-40B4-BE49-F238E27FC236}">
                <a16:creationId xmlns:a16="http://schemas.microsoft.com/office/drawing/2014/main" id="{F6F9B0EB-8F35-DF08-B752-F99DA815CD1F}"/>
              </a:ext>
            </a:extLst>
          </p:cNvPr>
          <p:cNvPicPr>
            <a:picLocks noGrp="1" noChangeAspect="1"/>
          </p:cNvPicPr>
          <p:nvPr>
            <p:ph idx="1"/>
          </p:nvPr>
        </p:nvPicPr>
        <p:blipFill>
          <a:blip r:embed="rId3"/>
          <a:stretch>
            <a:fillRect/>
          </a:stretch>
        </p:blipFill>
        <p:spPr>
          <a:xfrm>
            <a:off x="3828286" y="1150127"/>
            <a:ext cx="8097609" cy="5603173"/>
          </a:xfrm>
          <a:prstGeom prst="rect">
            <a:avLst/>
          </a:prstGeom>
        </p:spPr>
      </p:pic>
      <p:sp>
        <p:nvSpPr>
          <p:cNvPr id="7" name="Rectangle 6">
            <a:extLst>
              <a:ext uri="{FF2B5EF4-FFF2-40B4-BE49-F238E27FC236}">
                <a16:creationId xmlns:a16="http://schemas.microsoft.com/office/drawing/2014/main" id="{0B76B6D3-2AAE-A4FB-5186-AD95AD37C725}"/>
              </a:ext>
            </a:extLst>
          </p:cNvPr>
          <p:cNvSpPr/>
          <p:nvPr/>
        </p:nvSpPr>
        <p:spPr>
          <a:xfrm>
            <a:off x="4580164" y="4948993"/>
            <a:ext cx="3208565" cy="595993"/>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8" name="Rectangle 7">
            <a:extLst>
              <a:ext uri="{FF2B5EF4-FFF2-40B4-BE49-F238E27FC236}">
                <a16:creationId xmlns:a16="http://schemas.microsoft.com/office/drawing/2014/main" id="{5E4E77FE-D52D-728F-AD4F-087E57697691}"/>
              </a:ext>
            </a:extLst>
          </p:cNvPr>
          <p:cNvSpPr/>
          <p:nvPr/>
        </p:nvSpPr>
        <p:spPr>
          <a:xfrm>
            <a:off x="4333847" y="3231814"/>
            <a:ext cx="859388" cy="537472"/>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29352459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E03BC6-1AD5-0AB4-998B-BD4B7EB7E6BB}"/>
              </a:ext>
            </a:extLst>
          </p:cNvPr>
          <p:cNvSpPr>
            <a:spLocks noGrp="1"/>
          </p:cNvSpPr>
          <p:nvPr>
            <p:ph type="title"/>
          </p:nvPr>
        </p:nvSpPr>
        <p:spPr/>
        <p:txBody>
          <a:bodyPr>
            <a:normAutofit fontScale="90000"/>
          </a:bodyPr>
          <a:lstStyle/>
          <a:p>
            <a:r>
              <a:rPr lang="en-US" dirty="0"/>
              <a:t>Policy Parameterization for Continuous Actions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FC10070-A5BD-C926-B21A-8D43C4EF0BE8}"/>
                  </a:ext>
                </a:extLst>
              </p:cNvPr>
              <p:cNvSpPr>
                <a:spLocks noGrp="1"/>
              </p:cNvSpPr>
              <p:nvPr>
                <p:ph idx="1"/>
              </p:nvPr>
            </p:nvSpPr>
            <p:spPr>
              <a:xfrm>
                <a:off x="852742" y="1397330"/>
                <a:ext cx="6604646" cy="4779633"/>
              </a:xfrm>
            </p:spPr>
            <p:txBody>
              <a:bodyPr>
                <a:normAutofit fontScale="70000" lnSpcReduction="20000"/>
              </a:bodyPr>
              <a:lstStyle/>
              <a:p>
                <a:r>
                  <a:rPr lang="en-US" dirty="0"/>
                  <a:t>Soft-max in action preferences works for a small number of actions.</a:t>
                </a:r>
              </a:p>
              <a:p>
                <a:r>
                  <a:rPr lang="en-US" dirty="0"/>
                  <a:t>For continuous actions: learn parameters for a distribution.</a:t>
                </a:r>
              </a:p>
              <a:p>
                <a:pPr marL="0" indent="0">
                  <a:buNone/>
                </a:pPr>
                <a:endParaRPr lang="en-US" dirty="0"/>
              </a:p>
              <a:p>
                <a:pPr marL="0" indent="0">
                  <a:buNone/>
                </a:pPr>
                <a:r>
                  <a:rPr lang="en-US" b="1" dirty="0"/>
                  <a:t>Example</a:t>
                </a:r>
                <a:r>
                  <a:rPr lang="en-US" dirty="0"/>
                  <a:t>: choose a continuous actions from a Gaussian distribution:</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𝜋</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𝑎</m:t>
                          </m:r>
                        </m:e>
                        <m:e>
                          <m:r>
                            <a:rPr lang="en-US" sz="2400" b="0" i="1" smtClean="0">
                              <a:latin typeface="Cambria Math" panose="02040503050406030204" pitchFamily="18" charset="0"/>
                            </a:rPr>
                            <m:t>𝑠</m:t>
                          </m:r>
                          <m:r>
                            <a:rPr lang="en-US" sz="2400" b="0" i="1" smtClean="0">
                              <a:latin typeface="Cambria Math" panose="02040503050406030204" pitchFamily="18" charset="0"/>
                            </a:rPr>
                            <m:t>,</m:t>
                          </m:r>
                          <m:r>
                            <a:rPr lang="en-US" sz="2400" b="1" i="1" smtClean="0">
                              <a:latin typeface="Cambria Math" panose="02040503050406030204" pitchFamily="18" charset="0"/>
                            </a:rPr>
                            <m:t>𝜽</m:t>
                          </m:r>
                        </m:e>
                      </m:d>
                      <m:r>
                        <a:rPr lang="en-US" sz="2400" b="0" i="0"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𝜎</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r>
                                <a:rPr lang="en-US" sz="2400" b="0" i="1" smtClean="0">
                                  <a:latin typeface="Cambria Math" panose="02040503050406030204" pitchFamily="18" charset="0"/>
                                </a:rPr>
                                <m:t>,</m:t>
                              </m:r>
                              <m:r>
                                <a:rPr lang="en-US" sz="2400" b="1" i="1" smtClean="0">
                                  <a:latin typeface="Cambria Math" panose="02040503050406030204" pitchFamily="18" charset="0"/>
                                </a:rPr>
                                <m:t>𝜽</m:t>
                              </m:r>
                            </m:e>
                          </m:d>
                          <m:r>
                            <a:rPr lang="en-US" sz="2400" b="0" i="1" smtClean="0">
                              <a:latin typeface="Cambria Math" panose="02040503050406030204" pitchFamily="18" charset="0"/>
                            </a:rPr>
                            <m:t> </m:t>
                          </m:r>
                          <m:rad>
                            <m:radPr>
                              <m:degHide m:val="on"/>
                              <m:ctrlPr>
                                <a:rPr lang="en-US" sz="2400" b="0" i="1" smtClean="0">
                                  <a:latin typeface="Cambria Math" panose="02040503050406030204" pitchFamily="18" charset="0"/>
                                </a:rPr>
                              </m:ctrlPr>
                            </m:radPr>
                            <m:deg/>
                            <m:e>
                              <m:r>
                                <a:rPr lang="en-US" sz="2400" b="0" i="1" smtClean="0">
                                  <a:latin typeface="Cambria Math" panose="02040503050406030204" pitchFamily="18" charset="0"/>
                                </a:rPr>
                                <m:t>2</m:t>
                              </m:r>
                              <m:r>
                                <a:rPr lang="en-US" sz="2400" b="0" i="1" smtClean="0">
                                  <a:latin typeface="Cambria Math" panose="02040503050406030204" pitchFamily="18" charset="0"/>
                                </a:rPr>
                                <m:t>𝜋</m:t>
                              </m:r>
                            </m:e>
                          </m:rad>
                        </m:den>
                      </m:f>
                      <m:func>
                        <m:funcPr>
                          <m:ctrlPr>
                            <a:rPr lang="en-US" sz="2400" b="0" i="1" smtClean="0">
                              <a:latin typeface="Cambria Math" panose="02040503050406030204" pitchFamily="18" charset="0"/>
                            </a:rPr>
                          </m:ctrlPr>
                        </m:funcPr>
                        <m:fName>
                          <m:r>
                            <m:rPr>
                              <m:sty m:val="p"/>
                            </m:rPr>
                            <a:rPr lang="en-US" sz="2400" b="0" i="0" smtClean="0">
                              <a:latin typeface="Cambria Math" panose="02040503050406030204" pitchFamily="18" charset="0"/>
                            </a:rPr>
                            <m:t>exp</m:t>
                          </m:r>
                        </m:fName>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p>
                                    <m:sSupPr>
                                      <m:ctrlPr>
                                        <a:rPr lang="en-US" sz="2400" b="1"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𝑎</m:t>
                                          </m:r>
                                          <m:r>
                                            <a:rPr lang="en-US" sz="2400" b="0" i="1" smtClean="0">
                                              <a:latin typeface="Cambria Math" panose="02040503050406030204" pitchFamily="18" charset="0"/>
                                            </a:rPr>
                                            <m:t>−</m:t>
                                          </m:r>
                                          <m:r>
                                            <a:rPr lang="en-US" sz="2400" b="0" i="1" smtClean="0">
                                              <a:latin typeface="Cambria Math" panose="02040503050406030204" pitchFamily="18" charset="0"/>
                                            </a:rPr>
                                            <m:t>𝜇</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r>
                                                <a:rPr lang="en-US" sz="2400" b="1" i="1" smtClean="0">
                                                  <a:latin typeface="Cambria Math" panose="02040503050406030204" pitchFamily="18" charset="0"/>
                                                </a:rPr>
                                                <m:t>,</m:t>
                                              </m:r>
                                              <m:r>
                                                <a:rPr lang="en-US" sz="2400" b="1" i="1" smtClean="0">
                                                  <a:latin typeface="Cambria Math" panose="02040503050406030204" pitchFamily="18" charset="0"/>
                                                </a:rPr>
                                                <m:t>𝜽</m:t>
                                              </m:r>
                                            </m:e>
                                          </m:d>
                                        </m:e>
                                      </m:d>
                                    </m:e>
                                    <m:sup>
                                      <m:r>
                                        <a:rPr lang="en-US" sz="2400" b="1" i="1" smtClean="0">
                                          <a:latin typeface="Cambria Math" panose="02040503050406030204" pitchFamily="18" charset="0"/>
                                        </a:rPr>
                                        <m:t>𝟐</m:t>
                                      </m:r>
                                    </m:sup>
                                  </m:sSup>
                                </m:num>
                                <m:den>
                                  <m:r>
                                    <a:rPr lang="en-US" sz="2400" b="0" i="1" smtClean="0">
                                      <a:latin typeface="Cambria Math" panose="02040503050406030204" pitchFamily="18" charset="0"/>
                                    </a:rPr>
                                    <m:t>2</m:t>
                                  </m:r>
                                  <m:r>
                                    <a:rPr lang="en-US" sz="2400" b="0" i="1" smtClean="0">
                                      <a:latin typeface="Cambria Math" panose="02040503050406030204" pitchFamily="18" charset="0"/>
                                    </a:rPr>
                                    <m:t>𝜎</m:t>
                                  </m:r>
                                  <m:sSup>
                                    <m:sSupPr>
                                      <m:ctrlPr>
                                        <a:rPr lang="en-US" sz="2400" b="0" i="1" smtClean="0">
                                          <a:latin typeface="Cambria Math" panose="02040503050406030204" pitchFamily="18" charset="0"/>
                                        </a:rPr>
                                      </m:ctrlPr>
                                    </m:sSupPr>
                                    <m:e>
                                      <m:d>
                                        <m:dPr>
                                          <m:ctrlPr>
                                            <a:rPr lang="en-US" sz="2400" i="1">
                                              <a:latin typeface="Cambria Math" panose="02040503050406030204" pitchFamily="18" charset="0"/>
                                            </a:rPr>
                                          </m:ctrlPr>
                                        </m:dPr>
                                        <m:e>
                                          <m:r>
                                            <a:rPr lang="en-US" sz="2400" i="1">
                                              <a:latin typeface="Cambria Math" panose="02040503050406030204" pitchFamily="18" charset="0"/>
                                            </a:rPr>
                                            <m:t>𝑠</m:t>
                                          </m:r>
                                          <m:r>
                                            <a:rPr lang="en-US" sz="2400" i="1">
                                              <a:latin typeface="Cambria Math" panose="02040503050406030204" pitchFamily="18" charset="0"/>
                                            </a:rPr>
                                            <m:t>,</m:t>
                                          </m:r>
                                          <m:r>
                                            <a:rPr lang="en-US" sz="2400" b="1" i="1">
                                              <a:latin typeface="Cambria Math" panose="02040503050406030204" pitchFamily="18" charset="0"/>
                                            </a:rPr>
                                            <m:t>𝜽</m:t>
                                          </m:r>
                                        </m:e>
                                      </m:d>
                                    </m:e>
                                    <m:sup>
                                      <m:r>
                                        <a:rPr lang="en-US" sz="2400" b="0" i="1" smtClean="0">
                                          <a:latin typeface="Cambria Math" panose="02040503050406030204" pitchFamily="18" charset="0"/>
                                        </a:rPr>
                                        <m:t>2</m:t>
                                      </m:r>
                                    </m:sup>
                                  </m:sSup>
                                </m:den>
                              </m:f>
                            </m:e>
                          </m:d>
                        </m:e>
                      </m:func>
                    </m:oMath>
                  </m:oMathPara>
                </a14:m>
                <a:endParaRPr lang="en-US" dirty="0"/>
              </a:p>
              <a:p>
                <a:pPr marL="0" indent="0">
                  <a:buNone/>
                </a:pPr>
                <a:endParaRPr lang="en-US" dirty="0"/>
              </a:p>
              <a:p>
                <a:pPr marL="0" indent="0">
                  <a:buNone/>
                </a:pPr>
                <a:r>
                  <a:rPr lang="en-US" dirty="0"/>
                  <a:t>where often</a:t>
                </a:r>
                <a14:m>
                  <m:oMath xmlns:m="http://schemas.openxmlformats.org/officeDocument/2006/math">
                    <m:r>
                      <a:rPr lang="en-US" b="0" i="0" smtClean="0">
                        <a:latin typeface="Cambria Math" panose="02040503050406030204" pitchFamily="18" charset="0"/>
                      </a:rPr>
                      <m:t> </m:t>
                    </m:r>
                  </m:oMath>
                </a14:m>
                <a:endParaRPr lang="en-US" b="0" i="0" dirty="0">
                  <a:latin typeface="Cambria Math" panose="02040503050406030204" pitchFamily="18" charset="0"/>
                </a:endParaRPr>
              </a:p>
              <a:p>
                <a:pPr marL="0" indent="0" algn="ctr">
                  <a:buNone/>
                </a:pPr>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r>
                          <a:rPr lang="en-US" b="1" i="1">
                            <a:latin typeface="Cambria Math" panose="02040503050406030204" pitchFamily="18" charset="0"/>
                          </a:rPr>
                          <m:t>,</m:t>
                        </m:r>
                        <m:r>
                          <a:rPr lang="en-US" b="1" i="1">
                            <a:latin typeface="Cambria Math" panose="02040503050406030204" pitchFamily="18" charset="0"/>
                          </a:rPr>
                          <m:t>𝜽</m:t>
                        </m:r>
                      </m:e>
                    </m:d>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1" i="1" smtClean="0">
                            <a:latin typeface="Cambria Math" panose="02040503050406030204" pitchFamily="18" charset="0"/>
                          </a:rPr>
                          <m:t>𝜽</m:t>
                        </m:r>
                      </m:e>
                      <m:sub>
                        <m:r>
                          <a:rPr lang="en-US" b="0" i="1" smtClean="0">
                            <a:latin typeface="Cambria Math" panose="02040503050406030204" pitchFamily="18" charset="0"/>
                          </a:rPr>
                          <m:t>𝜇</m:t>
                        </m:r>
                      </m:sub>
                      <m:sup>
                        <m:r>
                          <a:rPr lang="en-US" b="0" i="1" smtClean="0">
                            <a:latin typeface="Cambria Math" panose="02040503050406030204" pitchFamily="18" charset="0"/>
                          </a:rPr>
                          <m:t>⊤</m:t>
                        </m:r>
                      </m:sup>
                    </m:sSub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𝜇</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𝜎</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𝜽</m:t>
                          </m:r>
                        </m:e>
                      </m:d>
                      <m:r>
                        <a:rPr lang="en-US" b="0" i="1" smtClean="0">
                          <a:latin typeface="Cambria Math" panose="02040503050406030204" pitchFamily="18" charset="0"/>
                        </a:rPr>
                        <m:t>=</m:t>
                      </m:r>
                      <m:r>
                        <m:rPr>
                          <m:sty m:val="p"/>
                        </m:rPr>
                        <a:rPr lang="en-US" b="0" i="0" smtClean="0">
                          <a:latin typeface="Cambria Math" panose="02040503050406030204" pitchFamily="18" charset="0"/>
                        </a:rPr>
                        <m:t>exp</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1" i="1" smtClean="0">
                              <a:latin typeface="Cambria Math" panose="02040503050406030204" pitchFamily="18" charset="0"/>
                            </a:rPr>
                            <m:t>𝜽</m:t>
                          </m:r>
                        </m:e>
                        <m:sub>
                          <m:r>
                            <a:rPr lang="en-US" b="0" i="1" smtClean="0">
                              <a:latin typeface="Cambria Math" panose="02040503050406030204" pitchFamily="18" charset="0"/>
                            </a:rPr>
                            <m:t>𝜎</m:t>
                          </m:r>
                        </m:sub>
                        <m:sup>
                          <m:r>
                            <a:rPr lang="en-US" b="0" i="1" smtClean="0">
                              <a:latin typeface="Cambria Math" panose="02040503050406030204" pitchFamily="18" charset="0"/>
                            </a:rPr>
                            <m:t>⊤</m:t>
                          </m:r>
                        </m:sup>
                      </m:sSubSup>
                      <m:sSub>
                        <m:sSubPr>
                          <m:ctrlPr>
                            <a:rPr lang="en-US" b="0" i="1" smtClean="0">
                              <a:latin typeface="Cambria Math" panose="02040503050406030204" pitchFamily="18" charset="0"/>
                            </a:rPr>
                          </m:ctrlPr>
                        </m:sSubPr>
                        <m:e>
                          <m:r>
                            <a:rPr lang="en-US" b="1" i="0" smtClean="0">
                              <a:latin typeface="Cambria Math" panose="02040503050406030204" pitchFamily="18" charset="0"/>
                            </a:rPr>
                            <m:t>𝐱</m:t>
                          </m:r>
                        </m:e>
                        <m:sub>
                          <m:r>
                            <a:rPr lang="en-US" b="0" i="1" smtClean="0">
                              <a:latin typeface="Cambria Math" panose="02040503050406030204" pitchFamily="18" charset="0"/>
                            </a:rPr>
                            <m:t>𝜎</m:t>
                          </m:r>
                        </m:sub>
                      </m:sSub>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s</m:t>
                          </m:r>
                        </m:e>
                      </m:d>
                      <m:r>
                        <a:rPr lang="en-US" b="0" i="0" smtClean="0">
                          <a:latin typeface="Cambria Math" panose="02040503050406030204" pitchFamily="18" charset="0"/>
                        </a:rPr>
                        <m:t>)</m:t>
                      </m:r>
                    </m:oMath>
                  </m:oMathPara>
                </a14:m>
                <a:endParaRPr lang="en-US" dirty="0"/>
              </a:p>
              <a:p>
                <a:pPr marL="0" indent="0">
                  <a:buNone/>
                </a:pPr>
                <a:r>
                  <a:rPr lang="en-US" dirty="0"/>
                  <a:t>Is learned with </a:t>
                </a:r>
                <a14:m>
                  <m:oMath xmlns:m="http://schemas.openxmlformats.org/officeDocument/2006/math">
                    <m:r>
                      <a:rPr lang="en-US" b="1" i="1" smtClean="0">
                        <a:latin typeface="Cambria Math" panose="02040503050406030204" pitchFamily="18" charset="0"/>
                      </a:rPr>
                      <m:t>𝜽</m:t>
                    </m:r>
                    <m:r>
                      <a:rPr lang="en-US" b="1"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𝝁</m:t>
                        </m:r>
                      </m:sub>
                    </m:sSub>
                    <m:r>
                      <a:rPr lang="en-US" b="1"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𝝈</m:t>
                        </m:r>
                      </m:sub>
                    </m:sSub>
                    <m:r>
                      <a:rPr lang="en-US" b="1" i="1" smtClean="0">
                        <a:latin typeface="Cambria Math" panose="02040503050406030204" pitchFamily="18" charset="0"/>
                      </a:rPr>
                      <m:t>]</m:t>
                    </m:r>
                  </m:oMath>
                </a14:m>
                <a:endParaRPr lang="en-US" b="1" dirty="0"/>
              </a:p>
            </p:txBody>
          </p:sp>
        </mc:Choice>
        <mc:Fallback xmlns="">
          <p:sp>
            <p:nvSpPr>
              <p:cNvPr id="3" name="Content Placeholder 2">
                <a:extLst>
                  <a:ext uri="{FF2B5EF4-FFF2-40B4-BE49-F238E27FC236}">
                    <a16:creationId xmlns:a16="http://schemas.microsoft.com/office/drawing/2014/main" id="{0FC10070-A5BD-C926-B21A-8D43C4EF0BE8}"/>
                  </a:ext>
                </a:extLst>
              </p:cNvPr>
              <p:cNvSpPr>
                <a:spLocks noGrp="1" noRot="1" noChangeAspect="1" noMove="1" noResize="1" noEditPoints="1" noAdjustHandles="1" noChangeArrowheads="1" noChangeShapeType="1" noTextEdit="1"/>
              </p:cNvSpPr>
              <p:nvPr>
                <p:ph idx="1"/>
              </p:nvPr>
            </p:nvSpPr>
            <p:spPr>
              <a:xfrm>
                <a:off x="852742" y="1397330"/>
                <a:ext cx="6604646" cy="4779633"/>
              </a:xfrm>
              <a:blipFill>
                <a:blip r:embed="rId2"/>
                <a:stretch>
                  <a:fillRect l="-1016" t="-2168" r="-1293"/>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112C6C46-BE85-72BE-F978-F6C465995015}"/>
              </a:ext>
            </a:extLst>
          </p:cNvPr>
          <p:cNvGrpSpPr/>
          <p:nvPr/>
        </p:nvGrpSpPr>
        <p:grpSpPr>
          <a:xfrm>
            <a:off x="7503664" y="2038453"/>
            <a:ext cx="4571704" cy="3076061"/>
            <a:chOff x="7389459" y="1276730"/>
            <a:chExt cx="4571704" cy="3076061"/>
          </a:xfrm>
        </p:grpSpPr>
        <p:pic>
          <p:nvPicPr>
            <p:cNvPr id="5" name="Picture 4">
              <a:extLst>
                <a:ext uri="{FF2B5EF4-FFF2-40B4-BE49-F238E27FC236}">
                  <a16:creationId xmlns:a16="http://schemas.microsoft.com/office/drawing/2014/main" id="{7E15FD6F-36C9-1393-6E83-57C176A7969A}"/>
                </a:ext>
              </a:extLst>
            </p:cNvPr>
            <p:cNvPicPr>
              <a:picLocks noChangeAspect="1"/>
            </p:cNvPicPr>
            <p:nvPr/>
          </p:nvPicPr>
          <p:blipFill>
            <a:blip r:embed="rId3"/>
            <a:stretch>
              <a:fillRect/>
            </a:stretch>
          </p:blipFill>
          <p:spPr>
            <a:xfrm>
              <a:off x="7629306" y="1276730"/>
              <a:ext cx="4331857" cy="3015546"/>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FFB7FFE-E069-F7DB-74EE-277C693FB5F1}"/>
                    </a:ext>
                  </a:extLst>
                </p:cNvPr>
                <p:cNvSpPr txBox="1"/>
                <p:nvPr/>
              </p:nvSpPr>
              <p:spPr>
                <a:xfrm>
                  <a:off x="9154417" y="4045014"/>
                  <a:ext cx="1281633" cy="307777"/>
                </a:xfrm>
                <a:prstGeom prst="rect">
                  <a:avLst/>
                </a:prstGeom>
                <a:solidFill>
                  <a:schemeClr val="bg1"/>
                </a:solidFill>
              </p:spPr>
              <p:txBody>
                <a:bodyPr wrap="none" rtlCol="0">
                  <a:spAutoFit/>
                </a:bodyPr>
                <a:lstStyle/>
                <a:p>
                  <a:r>
                    <a:rPr lang="en-US" sz="1400" dirty="0"/>
                    <a:t>Action value </a:t>
                  </a:r>
                  <a14:m>
                    <m:oMath xmlns:m="http://schemas.openxmlformats.org/officeDocument/2006/math">
                      <m:r>
                        <a:rPr lang="en-US" sz="1400" b="0" i="1" smtClean="0">
                          <a:latin typeface="Cambria Math" panose="02040503050406030204" pitchFamily="18" charset="0"/>
                        </a:rPr>
                        <m:t>𝑎</m:t>
                      </m:r>
                    </m:oMath>
                  </a14:m>
                  <a:endParaRPr lang="en-US" sz="1400" dirty="0"/>
                </a:p>
              </p:txBody>
            </p:sp>
          </mc:Choice>
          <mc:Fallback xmlns="">
            <p:sp>
              <p:nvSpPr>
                <p:cNvPr id="7" name="TextBox 6">
                  <a:extLst>
                    <a:ext uri="{FF2B5EF4-FFF2-40B4-BE49-F238E27FC236}">
                      <a16:creationId xmlns:a16="http://schemas.microsoft.com/office/drawing/2014/main" id="{AFFB7FFE-E069-F7DB-74EE-277C693FB5F1}"/>
                    </a:ext>
                  </a:extLst>
                </p:cNvPr>
                <p:cNvSpPr txBox="1">
                  <a:spLocks noRot="1" noChangeAspect="1" noMove="1" noResize="1" noEditPoints="1" noAdjustHandles="1" noChangeArrowheads="1" noChangeShapeType="1" noTextEdit="1"/>
                </p:cNvSpPr>
                <p:nvPr/>
              </p:nvSpPr>
              <p:spPr>
                <a:xfrm>
                  <a:off x="9154417" y="4045014"/>
                  <a:ext cx="1281633" cy="307777"/>
                </a:xfrm>
                <a:prstGeom prst="rect">
                  <a:avLst/>
                </a:prstGeom>
                <a:blipFill>
                  <a:blip r:embed="rId4"/>
                  <a:stretch>
                    <a:fillRect l="-1422" t="-4000" b="-20000"/>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70F21EAB-E1E5-DE21-E644-7CFB3D1A72D8}"/>
                </a:ext>
              </a:extLst>
            </p:cNvPr>
            <p:cNvSpPr txBox="1"/>
            <p:nvPr/>
          </p:nvSpPr>
          <p:spPr>
            <a:xfrm rot="16200000">
              <a:off x="6522399" y="2484545"/>
              <a:ext cx="2041898" cy="307777"/>
            </a:xfrm>
            <a:prstGeom prst="rect">
              <a:avLst/>
            </a:prstGeom>
            <a:solidFill>
              <a:schemeClr val="bg1"/>
            </a:solidFill>
          </p:spPr>
          <p:txBody>
            <a:bodyPr wrap="square" rtlCol="0">
              <a:spAutoFit/>
            </a:bodyPr>
            <a:lstStyle/>
            <a:p>
              <a:pPr algn="ctr"/>
              <a:r>
                <a:rPr lang="en-US" sz="1400" dirty="0"/>
                <a:t>Probability density</a:t>
              </a:r>
            </a:p>
          </p:txBody>
        </p:sp>
      </p:grpSp>
      <p:sp>
        <p:nvSpPr>
          <p:cNvPr id="6" name="Speech Bubble: Rectangle with Corners Rounded 5">
            <a:extLst>
              <a:ext uri="{FF2B5EF4-FFF2-40B4-BE49-F238E27FC236}">
                <a16:creationId xmlns:a16="http://schemas.microsoft.com/office/drawing/2014/main" id="{64DCB4DF-3E8B-74B4-3B48-FC51C4D49965}"/>
              </a:ext>
            </a:extLst>
          </p:cNvPr>
          <p:cNvSpPr/>
          <p:nvPr/>
        </p:nvSpPr>
        <p:spPr>
          <a:xfrm>
            <a:off x="6652086" y="4961589"/>
            <a:ext cx="1633355" cy="559712"/>
          </a:xfrm>
          <a:prstGeom prst="wedgeRoundRectCallout">
            <a:avLst>
              <a:gd name="adj1" fmla="val -136356"/>
              <a:gd name="adj2" fmla="val -705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Linear in state features</a:t>
            </a:r>
          </a:p>
        </p:txBody>
      </p:sp>
      <mc:AlternateContent xmlns:mc="http://schemas.openxmlformats.org/markup-compatibility/2006" xmlns:a14="http://schemas.microsoft.com/office/drawing/2010/main">
        <mc:Choice Requires="a14">
          <p:sp>
            <p:nvSpPr>
              <p:cNvPr id="9" name="Speech Bubble: Rectangle with Corners Rounded 8">
                <a:extLst>
                  <a:ext uri="{FF2B5EF4-FFF2-40B4-BE49-F238E27FC236}">
                    <a16:creationId xmlns:a16="http://schemas.microsoft.com/office/drawing/2014/main" id="{1C86F6D6-661C-D5B1-6444-946E823AFD3B}"/>
                  </a:ext>
                </a:extLst>
              </p:cNvPr>
              <p:cNvSpPr/>
              <p:nvPr/>
            </p:nvSpPr>
            <p:spPr>
              <a:xfrm>
                <a:off x="9102118" y="1334682"/>
                <a:ext cx="2519835" cy="493286"/>
              </a:xfrm>
              <a:prstGeom prst="wedgeRoundRectCallout">
                <a:avLst>
                  <a:gd name="adj1" fmla="val 25087"/>
                  <a:gd name="adj2" fmla="val 17428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Depend on state and learned parameters </a:t>
                </a:r>
                <a14:m>
                  <m:oMath xmlns:m="http://schemas.openxmlformats.org/officeDocument/2006/math">
                    <m:r>
                      <a:rPr lang="en-US" sz="1600" b="0" i="1" smtClean="0">
                        <a:latin typeface="Cambria Math" panose="02040503050406030204" pitchFamily="18" charset="0"/>
                      </a:rPr>
                      <m:t>𝜃</m:t>
                    </m:r>
                  </m:oMath>
                </a14:m>
                <a:endParaRPr lang="en-US" sz="1600" dirty="0"/>
              </a:p>
            </p:txBody>
          </p:sp>
        </mc:Choice>
        <mc:Fallback xmlns="">
          <p:sp>
            <p:nvSpPr>
              <p:cNvPr id="9" name="Speech Bubble: Rectangle with Corners Rounded 8">
                <a:extLst>
                  <a:ext uri="{FF2B5EF4-FFF2-40B4-BE49-F238E27FC236}">
                    <a16:creationId xmlns:a16="http://schemas.microsoft.com/office/drawing/2014/main" id="{1C86F6D6-661C-D5B1-6444-946E823AFD3B}"/>
                  </a:ext>
                </a:extLst>
              </p:cNvPr>
              <p:cNvSpPr>
                <a:spLocks noRot="1" noChangeAspect="1" noMove="1" noResize="1" noEditPoints="1" noAdjustHandles="1" noChangeArrowheads="1" noChangeShapeType="1" noTextEdit="1"/>
              </p:cNvSpPr>
              <p:nvPr/>
            </p:nvSpPr>
            <p:spPr>
              <a:xfrm>
                <a:off x="9102118" y="1334682"/>
                <a:ext cx="2519835" cy="493286"/>
              </a:xfrm>
              <a:prstGeom prst="wedgeRoundRectCallout">
                <a:avLst>
                  <a:gd name="adj1" fmla="val 25087"/>
                  <a:gd name="adj2" fmla="val 174288"/>
                  <a:gd name="adj3" fmla="val 16667"/>
                </a:avLst>
              </a:prstGeom>
              <a:blipFill>
                <a:blip r:embed="rId5"/>
                <a:stretch>
                  <a:fillRect t="-4813"/>
                </a:stretch>
              </a:blipFill>
            </p:spPr>
            <p:txBody>
              <a:bodyPr/>
              <a:lstStyle/>
              <a:p>
                <a:r>
                  <a:rPr lang="en-US">
                    <a:noFill/>
                  </a:rPr>
                  <a:t> </a:t>
                </a:r>
              </a:p>
            </p:txBody>
          </p:sp>
        </mc:Fallback>
      </mc:AlternateContent>
    </p:spTree>
    <p:extLst>
      <p:ext uri="{BB962C8B-B14F-4D97-AF65-F5344CB8AC3E}">
        <p14:creationId xmlns:p14="http://schemas.microsoft.com/office/powerpoint/2010/main" val="40686470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12E03-3109-78FE-32B4-A06B15065E7A}"/>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4B1B9043-0881-7F44-61EC-208B02038C0F}"/>
              </a:ext>
            </a:extLst>
          </p:cNvPr>
          <p:cNvSpPr>
            <a:spLocks noGrp="1"/>
          </p:cNvSpPr>
          <p:nvPr>
            <p:ph idx="1"/>
          </p:nvPr>
        </p:nvSpPr>
        <p:spPr/>
        <p:txBody>
          <a:bodyPr/>
          <a:lstStyle/>
          <a:p>
            <a:r>
              <a:rPr lang="en-US" dirty="0"/>
              <a:t>Learning a parameterized policy without action-values estimates has many advantages:</a:t>
            </a:r>
          </a:p>
          <a:p>
            <a:pPr lvl="1"/>
            <a:r>
              <a:rPr lang="en-US" dirty="0"/>
              <a:t>Learn probabilities for taking an action (stochastic policies).</a:t>
            </a:r>
          </a:p>
          <a:p>
            <a:pPr lvl="1"/>
            <a:r>
              <a:rPr lang="en-US" dirty="0"/>
              <a:t>Can handle continuous action spaces.</a:t>
            </a:r>
          </a:p>
          <a:p>
            <a:pPr lvl="1"/>
            <a:r>
              <a:rPr lang="en-US" dirty="0"/>
              <a:t>Policy gradient theorem provides strong performance bounds.</a:t>
            </a:r>
          </a:p>
          <a:p>
            <a:pPr lvl="1"/>
            <a:endParaRPr lang="en-US" dirty="0"/>
          </a:p>
          <a:p>
            <a:r>
              <a:rPr lang="en-US" dirty="0"/>
              <a:t>In general, policy gradient methods, including actor-critic, have a different set of strengths and weaknesses compared to </a:t>
            </a:r>
            <a:r>
              <a:rPr lang="en-US"/>
              <a:t>action-value methods, </a:t>
            </a:r>
            <a:r>
              <a:rPr lang="en-US" dirty="0"/>
              <a:t>and </a:t>
            </a:r>
            <a:r>
              <a:rPr lang="en-US"/>
              <a:t>the best choice </a:t>
            </a:r>
            <a:r>
              <a:rPr lang="en-US" dirty="0"/>
              <a:t>depends on the problem.</a:t>
            </a:r>
          </a:p>
        </p:txBody>
      </p:sp>
    </p:spTree>
    <p:extLst>
      <p:ext uri="{BB962C8B-B14F-4D97-AF65-F5344CB8AC3E}">
        <p14:creationId xmlns:p14="http://schemas.microsoft.com/office/powerpoint/2010/main" val="3658971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24977</TotalTime>
  <Words>1335</Words>
  <Application>Microsoft Office PowerPoint</Application>
  <PresentationFormat>Widescreen</PresentationFormat>
  <Paragraphs>144</Paragraphs>
  <Slides>15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Aptos</vt:lpstr>
      <vt:lpstr>Aptos Display</vt:lpstr>
      <vt:lpstr>Arial</vt:lpstr>
      <vt:lpstr>Calibri</vt:lpstr>
      <vt:lpstr>Cambria Math</vt:lpstr>
      <vt:lpstr>Office Theme</vt:lpstr>
      <vt:lpstr>Reinforcement Learning  Policy Gradient Methods Sutton/Barto* Chapter 13</vt:lpstr>
      <vt:lpstr>Summary of Notation</vt:lpstr>
      <vt:lpstr>Parametrized Policies</vt:lpstr>
      <vt:lpstr>Learn a Parameterized Policy</vt:lpstr>
      <vt:lpstr>Parametrized Policy Example</vt:lpstr>
      <vt:lpstr>Advantages over ϵ-greedy Action Selection</vt:lpstr>
      <vt:lpstr>Policy Gradient Theorem</vt:lpstr>
      <vt:lpstr>REINFORCE Update</vt:lpstr>
      <vt:lpstr>MC Policy Gradient</vt:lpstr>
      <vt:lpstr>Actor-Critic Methods</vt:lpstr>
      <vt:lpstr>Actor-Critic Methods</vt:lpstr>
      <vt:lpstr>One-Step Actor-Critic Algorithm</vt:lpstr>
      <vt:lpstr>Actor-Critic Methods with Eligibility Traces</vt:lpstr>
      <vt:lpstr>Policy Parameterization for Continuous Actions</vt:lpstr>
      <vt:lpstr>Summary</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233</cp:revision>
  <dcterms:created xsi:type="dcterms:W3CDTF">2025-09-08T14:44:49Z</dcterms:created>
  <dcterms:modified xsi:type="dcterms:W3CDTF">2026-01-07T14:06:34Z</dcterms:modified>
</cp:coreProperties>
</file>