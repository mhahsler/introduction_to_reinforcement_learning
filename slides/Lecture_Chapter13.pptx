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481" r:id="rId4"/>
    <p:sldId id="393" r:id="rId5"/>
    <p:sldId id="394" r:id="rId6"/>
    <p:sldId id="397" r:id="rId7"/>
    <p:sldId id="395" r:id="rId8"/>
    <p:sldId id="396" r:id="rId9"/>
    <p:sldId id="479" r:id="rId10"/>
    <p:sldId id="398" r:id="rId11"/>
    <p:sldId id="405" r:id="rId12"/>
    <p:sldId id="403" r:id="rId13"/>
    <p:sldId id="404" r:id="rId14"/>
    <p:sldId id="508" r:id="rId15"/>
    <p:sldId id="399" r:id="rId16"/>
    <p:sldId id="400" r:id="rId17"/>
    <p:sldId id="482" r:id="rId18"/>
    <p:sldId id="480" r:id="rId19"/>
    <p:sldId id="401" r:id="rId20"/>
    <p:sldId id="40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licy Gradient Methods" id="{83286E67-F0F0-421C-8F74-7B93ABA17FBF}">
          <p14:sldIdLst>
            <p14:sldId id="256"/>
            <p14:sldId id="313"/>
            <p14:sldId id="481"/>
          </p14:sldIdLst>
        </p14:section>
        <p14:section name="Parameterized Policies" id="{C2DBD4EA-9EBA-4A8A-BF9F-3F181F6852A2}">
          <p14:sldIdLst>
            <p14:sldId id="393"/>
            <p14:sldId id="394"/>
            <p14:sldId id="397"/>
            <p14:sldId id="395"/>
            <p14:sldId id="396"/>
          </p14:sldIdLst>
        </p14:section>
        <p14:section name="REINFORCE" id="{DC5CCD00-AD22-4F6A-8C8C-DF356B4EAD58}">
          <p14:sldIdLst>
            <p14:sldId id="479"/>
            <p14:sldId id="398"/>
            <p14:sldId id="405"/>
          </p14:sldIdLst>
        </p14:section>
        <p14:section name="Actor-Critic Methods" id="{ABD167D0-30CE-47BC-8E3A-3E031318CAD0}">
          <p14:sldIdLst>
            <p14:sldId id="403"/>
            <p14:sldId id="404"/>
            <p14:sldId id="508"/>
            <p14:sldId id="399"/>
            <p14:sldId id="400"/>
            <p14:sldId id="482"/>
            <p14:sldId id="480"/>
            <p14:sldId id="401"/>
          </p14:sldIdLst>
        </p14:section>
        <p14:section name="Summary" id="{9768FDA7-56A0-4548-B94F-048401FDA23D}">
          <p14:sldIdLst>
            <p14:sldId id="4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32"/>
    <a:srgbClr val="196B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35" autoAdjust="0"/>
    <p:restoredTop sz="94653"/>
  </p:normalViewPr>
  <p:slideViewPr>
    <p:cSldViewPr snapToGrid="0">
      <p:cViewPr varScale="1">
        <p:scale>
          <a:sx n="91" d="100"/>
          <a:sy n="91" d="100"/>
        </p:scale>
        <p:origin x="192" y="56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10.png"/></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5"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348852" cy="3204134"/>
          </a:xfrm>
        </p:spPr>
        <p:txBody>
          <a:bodyPr anchor="b">
            <a:noAutofit/>
          </a:bodyPr>
          <a:lstStyle/>
          <a:p>
            <a:pPr algn="l"/>
            <a:r>
              <a:rPr lang="en-US" sz="3600" dirty="0">
                <a:solidFill>
                  <a:schemeClr val="bg1"/>
                </a:solidFill>
              </a:rPr>
              <a:t>Reinforcement Learning</a:t>
            </a:r>
            <a:br>
              <a:rPr lang="en-US" sz="3600" dirty="0">
                <a:solidFill>
                  <a:schemeClr val="bg1"/>
                </a:solidFill>
              </a:rPr>
            </a:br>
            <a:br>
              <a:rPr lang="en-US" sz="3600" dirty="0">
                <a:solidFill>
                  <a:schemeClr val="bg1"/>
                </a:solidFill>
              </a:rPr>
            </a:br>
            <a:r>
              <a:rPr lang="en-US" sz="3600" dirty="0">
                <a:solidFill>
                  <a:schemeClr val="bg1"/>
                </a:solidFill>
              </a:rPr>
              <a:t>Policy Gradient Methods</a:t>
            </a:r>
            <a:br>
              <a:rPr lang="en-US" sz="2800" dirty="0">
                <a:solidFill>
                  <a:schemeClr val="bg1"/>
                </a:solidFill>
              </a:rPr>
            </a:br>
            <a:r>
              <a:rPr lang="en-US" sz="2000" dirty="0">
                <a:solidFill>
                  <a:schemeClr val="bg1"/>
                </a:solidFill>
              </a:rPr>
              <a:t>Sutton/Barto*</a:t>
            </a:r>
            <a:r>
              <a:rPr lang="en-US" sz="1800" dirty="0">
                <a:solidFill>
                  <a:schemeClr val="bg1"/>
                </a:solidFill>
              </a:rPr>
              <a:t> Chapter 13</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9289" y="209383"/>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7" name="Group 6">
            <a:extLst>
              <a:ext uri="{FF2B5EF4-FFF2-40B4-BE49-F238E27FC236}">
                <a16:creationId xmlns:a16="http://schemas.microsoft.com/office/drawing/2014/main" id="{F1C24C8A-95D3-8F99-1FB0-70508AB77601}"/>
              </a:ext>
              <a:ext uri="{C183D7F6-B498-43B3-948B-1728B52AA6E4}">
                <adec:decorative xmlns:adec="http://schemas.microsoft.com/office/drawing/2017/decorative" val="1"/>
              </a:ext>
            </a:extLst>
          </p:cNvPr>
          <p:cNvGrpSpPr/>
          <p:nvPr/>
        </p:nvGrpSpPr>
        <p:grpSpPr>
          <a:xfrm>
            <a:off x="10961015" y="4868822"/>
            <a:ext cx="1037459" cy="1303078"/>
            <a:chOff x="5248582" y="2401735"/>
            <a:chExt cx="1694835" cy="2054530"/>
          </a:xfrm>
        </p:grpSpPr>
        <p:pic>
          <p:nvPicPr>
            <p:cNvPr id="8" name="Picture 7">
              <a:extLst>
                <a:ext uri="{FF2B5EF4-FFF2-40B4-BE49-F238E27FC236}">
                  <a16:creationId xmlns:a16="http://schemas.microsoft.com/office/drawing/2014/main" id="{1C3B0490-3071-FC79-8647-56FAA92E213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DFB0167B-6BE4-3396-4D41-07DD00E5B926}"/>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b="1" dirty="0"/>
              <a:t>Part II: Approximate Solution Methods</a:t>
            </a:r>
          </a:p>
          <a:p>
            <a:pPr lvl="1"/>
            <a:r>
              <a:rPr lang="en-US" dirty="0"/>
              <a:t>Prediction and Control using Approximation</a:t>
            </a:r>
          </a:p>
          <a:p>
            <a:pPr lvl="1"/>
            <a:r>
              <a:rPr lang="en-US" dirty="0"/>
              <a:t>Eligibility Traces</a:t>
            </a:r>
          </a:p>
          <a:p>
            <a:pPr lvl="1"/>
            <a:r>
              <a:rPr lang="en-US" b="1"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7" y="3545635"/>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7" y="3545635"/>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p:cNvSpPr>
              <p:nvPr/>
            </p:nvSpPr>
            <p:spPr>
              <a:xfrm>
                <a:off x="822817" y="5567468"/>
                <a:ext cx="5273179" cy="646331"/>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Temporal Difference Learning</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𝑈</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target for estimate at time</a:t>
                </a:r>
                <a14:m>
                  <m:oMath xmlns:m="http://schemas.openxmlformats.org/officeDocument/2006/math">
                    <m:r>
                      <a:rPr lang="en-US" sz="1200" i="1" dirty="0">
                        <a:solidFill>
                          <a:schemeClr val="tx1"/>
                        </a:solidFill>
                        <a:latin typeface="Cambria Math" panose="02040503050406030204" pitchFamily="18" charset="0"/>
                      </a:rPr>
                      <m:t> </m:t>
                    </m:r>
                    <m:r>
                      <a:rPr lang="en-US" sz="1200" i="1" dirty="0">
                        <a:solidFill>
                          <a:schemeClr val="tx1"/>
                        </a:solidFill>
                        <a:latin typeface="Cambria Math" panose="02040503050406030204" pitchFamily="18" charset="0"/>
                      </a:rPr>
                      <m:t>𝑡</m:t>
                    </m:r>
                  </m:oMath>
                </a14:m>
                <a:endParaRPr lang="en-US" sz="1200" dirty="0">
                  <a:solidFill>
                    <a:schemeClr val="tx1"/>
                  </a:solidFill>
                </a:endParaRPr>
              </a:p>
              <a:p>
                <a:pPr marL="0" indent="0">
                  <a:lnSpc>
                    <a:spcPct val="100000"/>
                  </a:lnSpc>
                  <a:spcBef>
                    <a:spcPts val="0"/>
                  </a:spcBef>
                  <a:buNone/>
                </a:pPr>
                <a14:m>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𝛿</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TD error</a:t>
                </a:r>
              </a:p>
            </p:txBody>
          </p:sp>
        </mc:Choice>
        <mc:Fallback xmlns="">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noRot="1" noChangeAspect="1" noMove="1" noResize="1" noEditPoints="1" noAdjustHandles="1" noChangeArrowheads="1" noChangeShapeType="1" noTextEdit="1"/>
              </p:cNvSpPr>
              <p:nvPr/>
            </p:nvSpPr>
            <p:spPr>
              <a:xfrm>
                <a:off x="822817" y="5567468"/>
                <a:ext cx="5273179" cy="646331"/>
              </a:xfrm>
              <a:prstGeom prst="rect">
                <a:avLst/>
              </a:prstGeom>
              <a:blipFill>
                <a:blip r:embed="rId5"/>
                <a:stretch>
                  <a:fillRect b="-4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descr="Approximation. mu (s) on policy distribution (fraction of time spent in state). alpha step size (gradient descent learning rate). v hat (s, w) approximate value function q hat (s, a, w) approximate action-value function pi (a given s, theta) approximate policy. VE hat mean squared value error. gradient of f(x) gradient of function f evaluated at x">
                <a:extLst>
                  <a:ext uri="{FF2B5EF4-FFF2-40B4-BE49-F238E27FC236}">
                    <a16:creationId xmlns:a16="http://schemas.microsoft.com/office/drawing/2014/main" id="{9FA76CFB-B55E-EFC6-DA3D-BEB7A8763838}"/>
                  </a:ext>
                </a:extLst>
              </p:cNvPr>
              <p:cNvSpPr txBox="1">
                <a:spLocks/>
              </p:cNvSpPr>
              <p:nvPr/>
            </p:nvSpPr>
            <p:spPr>
              <a:xfrm>
                <a:off x="6267338" y="4942028"/>
                <a:ext cx="5273179" cy="1597104"/>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Approximation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b="0" i="1" dirty="0" smtClean="0">
                        <a:solidFill>
                          <a:schemeClr val="tx1"/>
                        </a:solidFill>
                        <a:latin typeface="Cambria Math" panose="02040503050406030204" pitchFamily="18" charset="0"/>
                      </a:rPr>
                      <m:t>𝜇</m:t>
                    </m:r>
                    <m:r>
                      <a:rPr lang="en-US" sz="1200" b="0" i="1" dirty="0" smtClean="0">
                        <a:solidFill>
                          <a:schemeClr val="tx1"/>
                        </a:solidFill>
                        <a:latin typeface="Cambria Math" panose="02040503050406030204" pitchFamily="18" charset="0"/>
                      </a:rPr>
                      <m:t>(</m:t>
                    </m:r>
                    <m:r>
                      <a:rPr lang="en-US" sz="1200" b="0" i="1" dirty="0" smtClean="0">
                        <a:solidFill>
                          <a:schemeClr val="tx1"/>
                        </a:solidFill>
                        <a:latin typeface="Cambria Math" panose="02040503050406030204" pitchFamily="18" charset="0"/>
                      </a:rPr>
                      <m:t>𝑠</m:t>
                    </m:r>
                    <m:r>
                      <a:rPr lang="en-US" sz="1200" b="0" i="1" dirty="0" smtClean="0">
                        <a:solidFill>
                          <a:schemeClr val="tx1"/>
                        </a:solidFill>
                        <a:latin typeface="Cambria Math" panose="02040503050406030204" pitchFamily="18" charset="0"/>
                      </a:rPr>
                      <m:t>)</m:t>
                    </m:r>
                  </m:oMath>
                </a14:m>
                <a:r>
                  <a:rPr lang="en-US" sz="1200" dirty="0">
                    <a:solidFill>
                      <a:schemeClr val="tx1"/>
                    </a:solidFill>
                  </a:rPr>
                  <a:t>	on policy distribution (fraction of time spent in state)</a:t>
                </a:r>
              </a:p>
              <a:p>
                <a:pPr marL="0" indent="0">
                  <a:lnSpc>
                    <a:spcPct val="100000"/>
                  </a:lnSpc>
                  <a:spcBef>
                    <a:spcPts val="0"/>
                  </a:spcBef>
                  <a:buNone/>
                </a:pPr>
                <a14:m>
                  <m:oMath xmlns:m="http://schemas.openxmlformats.org/officeDocument/2006/math">
                    <m:r>
                      <a:rPr lang="en-US" sz="1200" i="1" dirty="0" smtClean="0">
                        <a:solidFill>
                          <a:schemeClr val="tx1"/>
                        </a:solidFill>
                        <a:latin typeface="Cambria Math" panose="02040503050406030204" pitchFamily="18" charset="0"/>
                      </a:rPr>
                      <m:t>𝛼</m:t>
                    </m:r>
                  </m:oMath>
                </a14:m>
                <a:r>
                  <a:rPr lang="en-US" sz="1200" dirty="0">
                    <a:solidFill>
                      <a:schemeClr val="tx1"/>
                    </a:solidFill>
                  </a:rPr>
                  <a:t>	step size (gradient descent learning rate)</a:t>
                </a:r>
              </a:p>
              <a:p>
                <a:pPr marL="0" indent="0">
                  <a:lnSpc>
                    <a:spcPct val="100000"/>
                  </a:lnSpc>
                  <a:spcBef>
                    <a:spcPts val="0"/>
                  </a:spcBef>
                  <a:buNone/>
                </a:pP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𝑣</m:t>
                        </m:r>
                      </m:e>
                    </m:acc>
                    <m:r>
                      <a:rPr lang="en-US" sz="1200" b="0" i="1" dirty="0" smtClean="0">
                        <a:latin typeface="Cambria Math" panose="02040503050406030204" pitchFamily="18" charset="0"/>
                      </a:rPr>
                      <m:t>(</m:t>
                    </m:r>
                    <m:r>
                      <a:rPr lang="en-US" sz="1200" b="0" i="1" dirty="0" smtClean="0">
                        <a:latin typeface="Cambria Math" panose="02040503050406030204" pitchFamily="18" charset="0"/>
                      </a:rPr>
                      <m:t>𝑠</m:t>
                    </m:r>
                    <m:r>
                      <a:rPr lang="en-US" sz="1200" b="0" i="1" dirty="0" smtClean="0">
                        <a:latin typeface="Cambria Math" panose="02040503050406030204" pitchFamily="18" charset="0"/>
                      </a:rPr>
                      <m:t>, </m:t>
                    </m:r>
                    <m:r>
                      <a:rPr lang="en-US" sz="1200" b="1" i="1" dirty="0" smtClean="0">
                        <a:solidFill>
                          <a:schemeClr val="tx1"/>
                        </a:solidFill>
                        <a:latin typeface="Cambria Math" panose="02040503050406030204" pitchFamily="18" charset="0"/>
                      </a:rPr>
                      <m:t>𝒘</m:t>
                    </m:r>
                    <m:r>
                      <a:rPr lang="en-US" sz="1200" b="0" i="1" dirty="0" smtClean="0">
                        <a:solidFill>
                          <a:schemeClr val="tx1"/>
                        </a:solidFill>
                        <a:latin typeface="Cambria Math" panose="02040503050406030204" pitchFamily="18" charset="0"/>
                      </a:rPr>
                      <m:t>)</m:t>
                    </m:r>
                  </m:oMath>
                </a14:m>
                <a:r>
                  <a:rPr lang="en-US" sz="1200" dirty="0">
                    <a:solidFill>
                      <a:schemeClr val="tx1"/>
                    </a:solidFill>
                  </a:rPr>
                  <a:t>	approximate value function</a:t>
                </a:r>
                <a:br>
                  <a:rPr lang="en-US" sz="1200" dirty="0">
                    <a:solidFill>
                      <a:schemeClr val="tx1"/>
                    </a:solidFill>
                  </a:rPr>
                </a:b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𝑞</m:t>
                        </m:r>
                      </m:e>
                    </m:acc>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b="0" i="1" dirty="0" smtClean="0">
                        <a:latin typeface="Cambria Math" panose="02040503050406030204" pitchFamily="18" charset="0"/>
                      </a:rPr>
                      <m:t>𝑎</m:t>
                    </m:r>
                    <m:r>
                      <a:rPr lang="en-US" sz="1200" b="0" i="1" dirty="0" smtClean="0">
                        <a:latin typeface="Cambria Math" panose="02040503050406030204" pitchFamily="18" charset="0"/>
                      </a:rPr>
                      <m:t>, </m:t>
                    </m:r>
                    <m:r>
                      <a:rPr lang="en-US" sz="1200" b="1" i="1" dirty="0">
                        <a:solidFill>
                          <a:schemeClr val="tx1"/>
                        </a:solidFill>
                        <a:latin typeface="Cambria Math" panose="02040503050406030204" pitchFamily="18" charset="0"/>
                      </a:rPr>
                      <m:t>𝒘</m:t>
                    </m:r>
                    <m:r>
                      <a:rPr lang="en-US" sz="1200" i="1" dirty="0">
                        <a:solidFill>
                          <a:schemeClr val="tx1"/>
                        </a:solidFill>
                        <a:latin typeface="Cambria Math" panose="02040503050406030204" pitchFamily="18" charset="0"/>
                      </a:rPr>
                      <m:t>)</m:t>
                    </m:r>
                  </m:oMath>
                </a14:m>
                <a:r>
                  <a:rPr lang="en-US" sz="1200" dirty="0">
                    <a:solidFill>
                      <a:schemeClr val="tx1"/>
                    </a:solidFill>
                  </a:rPr>
                  <a:t>	approximate action-value function</a:t>
                </a:r>
                <a:br>
                  <a:rPr lang="en-US" sz="1200" dirty="0">
                    <a:solidFill>
                      <a:schemeClr val="tx1"/>
                    </a:solidFill>
                  </a:rPr>
                </a:b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m:t>
                    </m:r>
                    <m:r>
                      <a:rPr lang="en-US" sz="1200" b="1" i="1" smtClean="0">
                        <a:solidFill>
                          <a:schemeClr val="tx1"/>
                        </a:solidFill>
                        <a:latin typeface="Cambria Math" panose="02040503050406030204" pitchFamily="18" charset="0"/>
                      </a:rPr>
                      <m:t>𝜽</m:t>
                    </m:r>
                    <m:r>
                      <a:rPr lang="en-US" sz="1200" b="0" i="1" smtClean="0">
                        <a:solidFill>
                          <a:schemeClr val="tx1"/>
                        </a:solidFill>
                        <a:latin typeface="Cambria Math" panose="02040503050406030204" pitchFamily="18" charset="0"/>
                      </a:rPr>
                      <m:t>)</m:t>
                    </m:r>
                  </m:oMath>
                </a14:m>
                <a:r>
                  <a:rPr lang="en-US" sz="1200" dirty="0">
                    <a:solidFill>
                      <a:schemeClr val="tx1"/>
                    </a:solidFill>
                  </a:rPr>
                  <a:t>	approximate policy</a:t>
                </a:r>
              </a:p>
              <a:p>
                <a:pPr marL="0" indent="0">
                  <a:lnSpc>
                    <a:spcPct val="100000"/>
                  </a:lnSpc>
                  <a:spcBef>
                    <a:spcPts val="0"/>
                  </a:spcBef>
                  <a:buNone/>
                </a:pP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𝑉𝐸</m:t>
                        </m:r>
                      </m:e>
                    </m:acc>
                  </m:oMath>
                </a14:m>
                <a:r>
                  <a:rPr lang="en-US" sz="1200" dirty="0">
                    <a:solidFill>
                      <a:schemeClr val="tx1"/>
                    </a:solidFill>
                  </a:rPr>
                  <a:t>	mean squared value error</a:t>
                </a:r>
              </a:p>
              <a:p>
                <a:pPr marL="0" indent="0">
                  <a:lnSpc>
                    <a:spcPct val="100000"/>
                  </a:lnSpc>
                  <a:spcBef>
                    <a:spcPts val="0"/>
                  </a:spcBef>
                  <a:buNone/>
                </a:pPr>
                <a14:m>
                  <m:oMath xmlns:m="http://schemas.openxmlformats.org/officeDocument/2006/math">
                    <m:r>
                      <m:rPr>
                        <m:sty m:val="p"/>
                      </m:rPr>
                      <a:rPr lang="en-US" sz="1200" i="1" dirty="0" smtClean="0">
                        <a:solidFill>
                          <a:schemeClr val="tx1"/>
                        </a:solidFill>
                        <a:latin typeface="Cambria Math" panose="02040503050406030204" pitchFamily="18" charset="0"/>
                        <a:ea typeface="Cambria Math" panose="02040503050406030204" pitchFamily="18" charset="0"/>
                      </a:rPr>
                      <m:t>∇</m:t>
                    </m:r>
                    <m:r>
                      <a:rPr lang="en-US" sz="1200" b="0" i="1" dirty="0" smtClean="0">
                        <a:solidFill>
                          <a:schemeClr val="tx1"/>
                        </a:solidFill>
                        <a:latin typeface="Cambria Math" panose="02040503050406030204" pitchFamily="18" charset="0"/>
                        <a:ea typeface="Cambria Math" panose="02040503050406030204" pitchFamily="18" charset="0"/>
                      </a:rPr>
                      <m:t>𝑓</m:t>
                    </m:r>
                    <m:r>
                      <a:rPr lang="en-US" sz="1200" b="0" i="1" dirty="0" smtClean="0">
                        <a:solidFill>
                          <a:schemeClr val="tx1"/>
                        </a:solidFill>
                        <a:latin typeface="Cambria Math" panose="02040503050406030204" pitchFamily="18" charset="0"/>
                        <a:ea typeface="Cambria Math" panose="02040503050406030204" pitchFamily="18" charset="0"/>
                      </a:rPr>
                      <m:t>(</m:t>
                    </m:r>
                    <m:r>
                      <a:rPr lang="en-US" sz="1200" b="0" i="1" dirty="0" smtClean="0">
                        <a:solidFill>
                          <a:schemeClr val="tx1"/>
                        </a:solidFill>
                        <a:latin typeface="Cambria Math" panose="02040503050406030204" pitchFamily="18" charset="0"/>
                        <a:ea typeface="Cambria Math" panose="02040503050406030204" pitchFamily="18" charset="0"/>
                      </a:rPr>
                      <m:t>𝑥</m:t>
                    </m:r>
                    <m:r>
                      <a:rPr lang="en-US" sz="1200" b="0" i="1" dirty="0" smtClean="0">
                        <a:solidFill>
                          <a:schemeClr val="tx1"/>
                        </a:solidFill>
                        <a:latin typeface="Cambria Math" panose="02040503050406030204" pitchFamily="18" charset="0"/>
                        <a:ea typeface="Cambria Math" panose="02040503050406030204" pitchFamily="18" charset="0"/>
                      </a:rPr>
                      <m:t>)</m:t>
                    </m:r>
                  </m:oMath>
                </a14:m>
                <a:r>
                  <a:rPr lang="en-US" sz="1200" dirty="0">
                    <a:solidFill>
                      <a:schemeClr val="tx1"/>
                    </a:solidFill>
                  </a:rPr>
                  <a:t>	gradient of function </a:t>
                </a:r>
                <a14:m>
                  <m:oMath xmlns:m="http://schemas.openxmlformats.org/officeDocument/2006/math">
                    <m:r>
                      <a:rPr lang="en-US" sz="1200" b="0" i="1" smtClean="0">
                        <a:solidFill>
                          <a:schemeClr val="tx1"/>
                        </a:solidFill>
                        <a:latin typeface="Cambria Math" panose="02040503050406030204" pitchFamily="18" charset="0"/>
                      </a:rPr>
                      <m:t>𝑓</m:t>
                    </m:r>
                  </m:oMath>
                </a14:m>
                <a:r>
                  <a:rPr lang="en-US" sz="1200" dirty="0">
                    <a:solidFill>
                      <a:schemeClr val="tx1"/>
                    </a:solidFill>
                  </a:rPr>
                  <a:t> evaluated at </a:t>
                </a:r>
                <a14:m>
                  <m:oMath xmlns:m="http://schemas.openxmlformats.org/officeDocument/2006/math">
                    <m:r>
                      <a:rPr lang="en-US" sz="1200" b="0" i="1" smtClean="0">
                        <a:solidFill>
                          <a:schemeClr val="tx1"/>
                        </a:solidFill>
                        <a:latin typeface="Cambria Math" panose="02040503050406030204" pitchFamily="18" charset="0"/>
                      </a:rPr>
                      <m:t>𝑥</m:t>
                    </m:r>
                  </m:oMath>
                </a14:m>
                <a:endParaRPr lang="en-US" sz="1200" dirty="0">
                  <a:solidFill>
                    <a:schemeClr val="tx1"/>
                  </a:solidFill>
                </a:endParaRPr>
              </a:p>
            </p:txBody>
          </p:sp>
        </mc:Choice>
        <mc:Fallback xmlns="">
          <p:sp>
            <p:nvSpPr>
              <p:cNvPr id="5" name="Content Placeholder 2" descr="Approximation. mu (s) on policy distribution (fraction of time spent in state). alpha step size (gradient descent learning rate). v hat (s, w) approximate value function q hat (s, a, w) approximate action-value function pi (a given s, theta) approximate policy. VE hat mean squared value error. gradient of f(x) gradient of function f evaluated at x">
                <a:extLst>
                  <a:ext uri="{FF2B5EF4-FFF2-40B4-BE49-F238E27FC236}">
                    <a16:creationId xmlns:a16="http://schemas.microsoft.com/office/drawing/2014/main" id="{9FA76CFB-B55E-EFC6-DA3D-BEB7A8763838}"/>
                  </a:ext>
                </a:extLst>
              </p:cNvPr>
              <p:cNvSpPr txBox="1">
                <a:spLocks noRot="1" noChangeAspect="1" noMove="1" noResize="1" noEditPoints="1" noAdjustHandles="1" noChangeArrowheads="1" noChangeShapeType="1" noTextEdit="1"/>
              </p:cNvSpPr>
              <p:nvPr/>
            </p:nvSpPr>
            <p:spPr>
              <a:xfrm>
                <a:off x="6267338" y="4942028"/>
                <a:ext cx="5273179" cy="159710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635E-AD98-14E6-86B7-6D189198F7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9E1014-11F3-5C77-4D51-18EDE91CBDDF}"/>
              </a:ext>
            </a:extLst>
          </p:cNvPr>
          <p:cNvSpPr>
            <a:spLocks noGrp="1"/>
          </p:cNvSpPr>
          <p:nvPr>
            <p:ph type="title"/>
          </p:nvPr>
        </p:nvSpPr>
        <p:spPr/>
        <p:txBody>
          <a:bodyPr/>
          <a:lstStyle/>
          <a:p>
            <a:r>
              <a:rPr lang="en-US" dirty="0"/>
              <a:t>Parametrized Policies</a:t>
            </a:r>
          </a:p>
        </p:txBody>
      </p:sp>
      <p:sp>
        <p:nvSpPr>
          <p:cNvPr id="5" name="Text Placeholder 4">
            <a:extLst>
              <a:ext uri="{FF2B5EF4-FFF2-40B4-BE49-F238E27FC236}">
                <a16:creationId xmlns:a16="http://schemas.microsoft.com/office/drawing/2014/main" id="{8230DEA1-85A2-8128-AB1F-6A511F14B1FC}"/>
              </a:ext>
            </a:extLst>
          </p:cNvPr>
          <p:cNvSpPr>
            <a:spLocks noGrp="1"/>
          </p:cNvSpPr>
          <p:nvPr>
            <p:ph type="body" idx="1"/>
          </p:nvPr>
        </p:nvSpPr>
        <p:spPr/>
        <p:txBody>
          <a:bodyPr/>
          <a:lstStyle/>
          <a:p>
            <a:r>
              <a:rPr lang="en-US" dirty="0"/>
              <a:t>Learn policies directly</a:t>
            </a:r>
          </a:p>
        </p:txBody>
      </p:sp>
    </p:spTree>
    <p:extLst>
      <p:ext uri="{BB962C8B-B14F-4D97-AF65-F5344CB8AC3E}">
        <p14:creationId xmlns:p14="http://schemas.microsoft.com/office/powerpoint/2010/main" val="245903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B01DBC-B58B-BC2C-2AE0-DB6472CC6447}"/>
              </a:ext>
            </a:extLst>
          </p:cNvPr>
          <p:cNvSpPr>
            <a:spLocks noGrp="1"/>
          </p:cNvSpPr>
          <p:nvPr>
            <p:ph type="title"/>
          </p:nvPr>
        </p:nvSpPr>
        <p:spPr/>
        <p:txBody>
          <a:bodyPr/>
          <a:lstStyle/>
          <a:p>
            <a:r>
              <a:rPr lang="en-US" dirty="0"/>
              <a:t>Learn a Parameterized Policy</a:t>
            </a:r>
          </a:p>
        </p:txBody>
      </p:sp>
      <mc:AlternateContent xmlns:mc="http://schemas.openxmlformats.org/markup-compatibility/2006" xmlns:a14="http://schemas.microsoft.com/office/drawing/2010/main">
        <mc:Choice Requires="a14">
          <p:sp>
            <p:nvSpPr>
              <p:cNvPr id="5" name="Content Placeholder 4" descr="Up to now: Learn parameters for an approximate action-value function q hat and then extract a greedy policy. New idea: Use a policy-based method that learn parameters for a policy. Parameterized stochastic policy: pi (a given s, theta) equals Pr{A_t equals a given S_t equals s, theta _t equals theta}, theta in the real numbers to the power d. Learn theta given a performance measure J(theta) using approximate gradient ascent. Update rule: theta sub t plus 1, equals theta sub t plus alpha gradient of J(theta sub t) hat where gradient of J(theta sub t) hat in the real numbers to the power d is a stochastic estimate of the gradient of the performance measure with respect to theta . We use an estimate because getting the exact gradient is hard">
                <a:extLst>
                  <a:ext uri="{FF2B5EF4-FFF2-40B4-BE49-F238E27FC236}">
                    <a16:creationId xmlns:a16="http://schemas.microsoft.com/office/drawing/2014/main" id="{EB2BB561-37FB-9C12-3C5B-EFF321CBC8EB}"/>
                  </a:ext>
                </a:extLst>
              </p:cNvPr>
              <p:cNvSpPr>
                <a:spLocks noGrp="1"/>
              </p:cNvSpPr>
              <p:nvPr>
                <p:ph idx="1"/>
              </p:nvPr>
            </p:nvSpPr>
            <p:spPr>
              <a:xfrm>
                <a:off x="831220" y="1397330"/>
                <a:ext cx="10515600" cy="4779633"/>
              </a:xfrm>
            </p:spPr>
            <p:txBody>
              <a:bodyPr>
                <a:normAutofit fontScale="70000" lnSpcReduction="20000"/>
              </a:bodyPr>
              <a:lstStyle/>
              <a:p>
                <a:r>
                  <a:rPr lang="en-US" b="1" dirty="0"/>
                  <a:t>Up to now</a:t>
                </a:r>
                <a:r>
                  <a:rPr lang="en-US" dirty="0"/>
                  <a:t>: Learn parameters for an approximate action-value function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oMath>
                </a14:m>
                <a:r>
                  <a:rPr lang="en-US" dirty="0"/>
                  <a:t> and then extract a greedy policy.</a:t>
                </a:r>
              </a:p>
              <a:p>
                <a:endParaRPr lang="en-US" dirty="0"/>
              </a:p>
              <a:p>
                <a:r>
                  <a:rPr lang="en-US" b="1" dirty="0"/>
                  <a:t>New idea</a:t>
                </a:r>
                <a:r>
                  <a:rPr lang="en-US" dirty="0"/>
                  <a:t>: Use a policy-based method that learn parameters for a policy.</a:t>
                </a:r>
                <a:br>
                  <a:rPr lang="en-US" dirty="0"/>
                </a:br>
                <a:br>
                  <a:rPr lang="en-US" dirty="0"/>
                </a:br>
                <a:r>
                  <a:rPr lang="en-US" b="1" dirty="0"/>
                  <a:t>Parameterized stochastic policy</a:t>
                </a:r>
                <a:r>
                  <a:rPr lang="en-US" dirty="0"/>
                  <a:t>:</a:t>
                </a:r>
                <a:br>
                  <a:rPr lang="en-US" dirty="0"/>
                </a:br>
                <a:br>
                  <a:rPr lang="en-US" dirty="0"/>
                </a:br>
                <a14:m>
                  <m:oMath xmlns:m="http://schemas.openxmlformats.org/officeDocument/2006/math">
                    <m:r>
                      <a:rPr lang="en-US" b="0" i="1" dirty="0" smtClean="0">
                        <a:latin typeface="Cambria Math" panose="02040503050406030204" pitchFamily="18" charset="0"/>
                      </a:rPr>
                      <m:t>𝜋</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err="1" smtClean="0">
                        <a:latin typeface="Cambria Math" panose="02040503050406030204" pitchFamily="18" charset="0"/>
                      </a:rPr>
                      <m:t>𝑠</m:t>
                    </m:r>
                    <m:r>
                      <a:rPr lang="en-US" b="0" i="1" dirty="0" err="1" smtClean="0">
                        <a:latin typeface="Cambria Math" panose="02040503050406030204" pitchFamily="18" charset="0"/>
                      </a:rPr>
                      <m:t>,</m:t>
                    </m:r>
                    <m:r>
                      <a:rPr lang="en-US" b="1" i="1" dirty="0" err="1" smtClean="0">
                        <a:latin typeface="Cambria Math" panose="02040503050406030204" pitchFamily="18" charset="0"/>
                      </a:rPr>
                      <m:t>𝜽</m:t>
                    </m:r>
                    <m:r>
                      <a:rPr lang="en-US" b="0" i="1" dirty="0" smtClean="0">
                        <a:latin typeface="Cambria Math" panose="02040503050406030204" pitchFamily="18" charset="0"/>
                      </a:rPr>
                      <m:t>)=</m:t>
                    </m:r>
                    <m:r>
                      <m:rPr>
                        <m:sty m:val="p"/>
                      </m:rPr>
                      <a:rPr lang="en-US" b="0" i="1" dirty="0" err="1" smtClean="0">
                        <a:latin typeface="Cambria Math" panose="02040503050406030204" pitchFamily="18" charset="0"/>
                      </a:rPr>
                      <m:t>Pr</m:t>
                    </m:r>
                    <m:r>
                      <a:rPr lang="en-US" b="0" i="1" dirty="0" smtClean="0">
                        <a:latin typeface="Cambria Math" panose="02040503050406030204" pitchFamily="18" charset="0"/>
                      </a:rPr>
                      <m:t>⁡{</m:t>
                    </m:r>
                    <m:r>
                      <a:rPr lang="en-US" b="0" i="1" dirty="0" err="1" smtClean="0">
                        <a:latin typeface="Cambria Math" panose="02040503050406030204" pitchFamily="18" charset="0"/>
                      </a:rPr>
                      <m:t>𝐴</m:t>
                    </m:r>
                    <m:r>
                      <a:rPr lang="en-US" b="0" i="1" dirty="0" err="1" smtClean="0">
                        <a:latin typeface="Cambria Math" panose="02040503050406030204" pitchFamily="18" charset="0"/>
                      </a:rPr>
                      <m:t>_</m:t>
                    </m:r>
                    <m:r>
                      <a:rPr lang="en-US" b="0" i="1" dirty="0" err="1" smtClean="0">
                        <a:latin typeface="Cambria Math" panose="02040503050406030204" pitchFamily="18" charset="0"/>
                      </a:rPr>
                      <m:t>𝑡</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 | </m:t>
                    </m:r>
                    <m:r>
                      <a:rPr lang="en-US" b="0" i="1" dirty="0" err="1" smtClean="0">
                        <a:latin typeface="Cambria Math" panose="02040503050406030204" pitchFamily="18" charset="0"/>
                      </a:rPr>
                      <m:t>𝑆</m:t>
                    </m:r>
                    <m:r>
                      <a:rPr lang="en-US" b="0" i="1" dirty="0" err="1" smtClean="0">
                        <a:latin typeface="Cambria Math" panose="02040503050406030204" pitchFamily="18" charset="0"/>
                      </a:rPr>
                      <m:t>_</m:t>
                    </m:r>
                    <m:r>
                      <a:rPr lang="en-US" b="0" i="1" dirty="0" err="1" smtClean="0">
                        <a:latin typeface="Cambria Math" panose="02040503050406030204" pitchFamily="18" charset="0"/>
                      </a:rPr>
                      <m:t>𝑡</m:t>
                    </m:r>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 </m:t>
                    </m:r>
                    <m:r>
                      <a:rPr lang="en-US" b="1" i="1" dirty="0" err="1" smtClean="0">
                        <a:latin typeface="Cambria Math" panose="02040503050406030204" pitchFamily="18" charset="0"/>
                      </a:rPr>
                      <m:t>𝜽</m:t>
                    </m:r>
                    <m:r>
                      <a:rPr lang="en-US" b="0" i="1" dirty="0" err="1" smtClean="0">
                        <a:latin typeface="Cambria Math" panose="02040503050406030204" pitchFamily="18" charset="0"/>
                      </a:rPr>
                      <m:t>_</m:t>
                    </m:r>
                    <m:r>
                      <a:rPr lang="en-US" b="0" i="1" dirty="0" err="1" smtClean="0">
                        <a:latin typeface="Cambria Math" panose="02040503050406030204" pitchFamily="18" charset="0"/>
                      </a:rPr>
                      <m:t>𝑡</m:t>
                    </m:r>
                    <m:r>
                      <a:rPr lang="en-US" b="0" i="1" dirty="0" smtClean="0">
                        <a:latin typeface="Cambria Math" panose="02040503050406030204" pitchFamily="18" charset="0"/>
                      </a:rPr>
                      <m:t>=</m:t>
                    </m:r>
                    <m:r>
                      <a:rPr lang="en-US" b="1" i="1" dirty="0" smtClean="0">
                        <a:latin typeface="Cambria Math" panose="02040503050406030204" pitchFamily="18" charset="0"/>
                      </a:rPr>
                      <m:t>𝜽</m:t>
                    </m:r>
                    <m:r>
                      <a:rPr lang="en-US" b="0" i="1" dirty="0" smtClean="0">
                        <a:latin typeface="Cambria Math" panose="02040503050406030204" pitchFamily="18" charset="0"/>
                      </a:rPr>
                      <m:t>},  </m:t>
                    </m:r>
                    <m:r>
                      <a:rPr lang="en-US" b="1" i="1" dirty="0" smtClean="0">
                        <a:latin typeface="Cambria Math" panose="02040503050406030204" pitchFamily="18" charset="0"/>
                      </a:rPr>
                      <m:t>    </m:t>
                    </m:r>
                    <m:r>
                      <a:rPr lang="en-US" b="1" i="1" dirty="0" err="1" smtClean="0">
                        <a:latin typeface="Cambria Math" panose="02040503050406030204" pitchFamily="18" charset="0"/>
                      </a:rPr>
                      <m:t>𝜽</m:t>
                    </m:r>
                    <m:r>
                      <a:rPr lang="en-US" b="0" i="1" dirty="0" smtClean="0">
                        <a:latin typeface="Cambria Math" panose="02040503050406030204" pitchFamily="18" charset="0"/>
                      </a:rPr>
                      <m:t>∈</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b="0" i="1" dirty="0" smtClean="0">
                            <a:latin typeface="Cambria Math" panose="02040503050406030204" pitchFamily="18" charset="0"/>
                            <a:ea typeface="Cambria Math" panose="02040503050406030204" pitchFamily="18" charset="0"/>
                          </a:rPr>
                          <m:t>𝑑</m:t>
                        </m:r>
                      </m:sup>
                    </m:sSup>
                    <m:r>
                      <a:rPr lang="en-US" b="0" i="1" dirty="0" smtClean="0">
                        <a:latin typeface="Cambria Math" panose="02040503050406030204" pitchFamily="18" charset="0"/>
                        <a:ea typeface="Cambria Math" panose="02040503050406030204" pitchFamily="18" charset="0"/>
                      </a:rPr>
                      <m:t> </m:t>
                    </m:r>
                    <m:r>
                      <a:rPr lang="en-US" i="1" dirty="0">
                        <a:latin typeface="Cambria Math" panose="02040503050406030204" pitchFamily="18" charset="0"/>
                      </a:rPr>
                      <m:t> </m:t>
                    </m:r>
                  </m:oMath>
                </a14:m>
                <a:endParaRPr lang="en-US" dirty="0"/>
              </a:p>
              <a:p>
                <a:endParaRPr lang="en-US" dirty="0"/>
              </a:p>
              <a:p>
                <a:r>
                  <a:rPr lang="en-US" dirty="0"/>
                  <a:t>Learn </a:t>
                </a:r>
                <a14:m>
                  <m:oMath xmlns:m="http://schemas.openxmlformats.org/officeDocument/2006/math">
                    <m:r>
                      <a:rPr lang="en-US" b="1" i="1" smtClean="0">
                        <a:latin typeface="Cambria Math" panose="02040503050406030204" pitchFamily="18" charset="0"/>
                      </a:rPr>
                      <m:t>𝜽</m:t>
                    </m:r>
                  </m:oMath>
                </a14:m>
                <a:r>
                  <a:rPr lang="en-US" dirty="0"/>
                  <a:t> given a performance measure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r>
                      <a:rPr lang="en-US" b="1" i="1" smtClean="0">
                        <a:latin typeface="Cambria Math" panose="02040503050406030204" pitchFamily="18" charset="0"/>
                      </a:rPr>
                      <m:t>𝜽</m:t>
                    </m:r>
                    <m:r>
                      <a:rPr lang="en-US" b="0" i="1" smtClean="0">
                        <a:latin typeface="Cambria Math" panose="02040503050406030204" pitchFamily="18" charset="0"/>
                      </a:rPr>
                      <m:t>)</m:t>
                    </m:r>
                  </m:oMath>
                </a14:m>
                <a:r>
                  <a:rPr lang="en-US" dirty="0"/>
                  <a:t> using </a:t>
                </a:r>
                <a:r>
                  <a:rPr lang="en-US" b="1" dirty="0"/>
                  <a:t>approximate gradient ascent</a:t>
                </a:r>
                <a:r>
                  <a:rPr lang="en-US" dirty="0"/>
                  <a:t>.</a:t>
                </a:r>
                <a:br>
                  <a:rPr lang="en-US" dirty="0"/>
                </a:br>
                <a:br>
                  <a:rPr lang="en-US" dirty="0"/>
                </a:br>
                <a:r>
                  <a:rPr lang="en-US" b="1" dirty="0"/>
                  <a:t>Update rule</a:t>
                </a:r>
                <a:r>
                  <a:rPr lang="en-US" dirty="0"/>
                  <a:t>: </a:t>
                </a:r>
                <a:br>
                  <a:rPr lang="en-US" dirty="0"/>
                </a:b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acc>
                      <m:accPr>
                        <m:chr m:val="̂"/>
                        <m:ctrlPr>
                          <a:rPr lang="en-US" i="1">
                            <a:latin typeface="Cambria Math" panose="02040503050406030204" pitchFamily="18" charset="0"/>
                            <a:ea typeface="Cambria Math" panose="02040503050406030204" pitchFamily="18" charset="0"/>
                          </a:rPr>
                        </m:ctrlPr>
                      </m:accPr>
                      <m:e>
                        <m:r>
                          <m:rPr>
                            <m:sty m:val="p"/>
                          </m:rP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𝜽</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e>
                    </m:acc>
                  </m:oMath>
                </a14:m>
                <a:br>
                  <a:rPr lang="en-US" dirty="0"/>
                </a:br>
                <a:br>
                  <a:rPr lang="en-US" dirty="0"/>
                </a:br>
                <a:br>
                  <a:rPr lang="en-US" dirty="0"/>
                </a:br>
                <a:r>
                  <a:rPr lang="en-US" dirty="0"/>
                  <a:t>where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m:rPr>
                            <m:sty m:val="p"/>
                          </m:rP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𝜽</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e>
                    </m:acc>
                    <m: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𝑑</m:t>
                        </m:r>
                      </m:sup>
                    </m:sSup>
                  </m:oMath>
                </a14:m>
                <a:r>
                  <a:rPr lang="en-US" dirty="0"/>
                  <a:t> is a stochastic estimate of the gradient of the performance measure with respect to </a:t>
                </a:r>
                <a14:m>
                  <m:oMath xmlns:m="http://schemas.openxmlformats.org/officeDocument/2006/math">
                    <m:r>
                      <a:rPr lang="en-US" b="1" i="1" dirty="0">
                        <a:latin typeface="Cambria Math" panose="02040503050406030204" pitchFamily="18" charset="0"/>
                      </a:rPr>
                      <m:t>𝜽</m:t>
                    </m:r>
                  </m:oMath>
                </a14:m>
                <a:r>
                  <a:rPr lang="en-US" dirty="0"/>
                  <a:t>. We use an estimate because getting the exact gradient is hard. </a:t>
                </a:r>
              </a:p>
            </p:txBody>
          </p:sp>
        </mc:Choice>
        <mc:Fallback xmlns="">
          <p:sp>
            <p:nvSpPr>
              <p:cNvPr id="5" name="Content Placeholder 4" descr="Up to now: Learn parameters for an approximate action-value function q hat and then extract a greedy policy. New idea: Use a policy-based method that learn parameters for a policy. Parameterized stochastic policy: pi (a given s, theta) equals Pr{A_t equals a given S_t equals s, theta _t equals theta}, theta in the real numbers to the power d. Learn theta given a performance measure J(theta) using approximate gradient ascent. Update rule: theta sub t plus 1, equals theta sub t plus alpha gradient of J(theta sub t) hat where gradient of J(theta sub t) hat in the real numbers to the power d is a stochastic estimate of the gradient of the performance measure with respect to theta . We use an estimate because getting the exact gradient is hard">
                <a:extLst>
                  <a:ext uri="{FF2B5EF4-FFF2-40B4-BE49-F238E27FC236}">
                    <a16:creationId xmlns:a16="http://schemas.microsoft.com/office/drawing/2014/main" id="{EB2BB561-37FB-9C12-3C5B-EFF321CBC8EB}"/>
                  </a:ext>
                </a:extLst>
              </p:cNvPr>
              <p:cNvSpPr>
                <a:spLocks noGrp="1" noRot="1" noChangeAspect="1" noMove="1" noResize="1" noEditPoints="1" noAdjustHandles="1" noChangeArrowheads="1" noChangeShapeType="1" noTextEdit="1"/>
              </p:cNvSpPr>
              <p:nvPr>
                <p:ph idx="1"/>
              </p:nvPr>
            </p:nvSpPr>
            <p:spPr>
              <a:xfrm>
                <a:off x="831220" y="1397330"/>
                <a:ext cx="10515600" cy="4779633"/>
              </a:xfrm>
              <a:blipFill>
                <a:blip r:embed="rId2"/>
                <a:stretch>
                  <a:fillRect l="-522" t="-2168" r="-58"/>
                </a:stretch>
              </a:blipFill>
            </p:spPr>
            <p:txBody>
              <a:bodyPr/>
              <a:lstStyle/>
              <a:p>
                <a:r>
                  <a:rPr lang="en-US">
                    <a:noFill/>
                  </a:rPr>
                  <a:t> </a:t>
                </a:r>
              </a:p>
            </p:txBody>
          </p:sp>
        </mc:Fallback>
      </mc:AlternateContent>
    </p:spTree>
    <p:extLst>
      <p:ext uri="{BB962C8B-B14F-4D97-AF65-F5344CB8AC3E}">
        <p14:creationId xmlns:p14="http://schemas.microsoft.com/office/powerpoint/2010/main" val="4839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5E72-C906-6C2F-5031-49860A43AF08}"/>
              </a:ext>
            </a:extLst>
          </p:cNvPr>
          <p:cNvSpPr>
            <a:spLocks noGrp="1"/>
          </p:cNvSpPr>
          <p:nvPr>
            <p:ph type="title"/>
          </p:nvPr>
        </p:nvSpPr>
        <p:spPr/>
        <p:txBody>
          <a:bodyPr/>
          <a:lstStyle/>
          <a:p>
            <a:r>
              <a:rPr lang="en-US" dirty="0"/>
              <a:t>Policy Gradient Theorem</a:t>
            </a:r>
          </a:p>
        </p:txBody>
      </p:sp>
      <mc:AlternateContent xmlns:mc="http://schemas.openxmlformats.org/markup-compatibility/2006" xmlns:a14="http://schemas.microsoft.com/office/drawing/2010/main">
        <mc:Choice Requires="a14">
          <p:sp>
            <p:nvSpPr>
              <p:cNvPr id="3" name="Content Placeholder 2" descr="We define the performance measure as the true value of following pi sub theta from the start state s sub 0 J (theta) is defined as v sub pi sub theta, (s sub 0) equals E sub pi sub theta, [the sum over t equals 0 to infinity, of gamma to the power t R sub t given S sub 0 equals s sub 0]. The policy gradient theorem gives us an analytical expression for the unbiased gradient of the performance with respect to the policy parameters: gradient of J (theta) equals E sub pi [q sub pi (s,a) gradient of log of pi (a given s)] is proportional to the sum over s, of mu (s) the sum over a, of q sub pi (s,a) gradient of pi (a given s, theta). Convergence?. Does NOT guarantee: convergence to (global) optimum, fast convergence or stability!">
                <a:extLst>
                  <a:ext uri="{FF2B5EF4-FFF2-40B4-BE49-F238E27FC236}">
                    <a16:creationId xmlns:a16="http://schemas.microsoft.com/office/drawing/2014/main" id="{DC916755-DC24-827E-6C02-5FFE23FDC906}"/>
                  </a:ext>
                </a:extLst>
              </p:cNvPr>
              <p:cNvSpPr>
                <a:spLocks noGrp="1"/>
              </p:cNvSpPr>
              <p:nvPr>
                <p:ph idx="1"/>
              </p:nvPr>
            </p:nvSpPr>
            <p:spPr>
              <a:xfrm>
                <a:off x="838200" y="1675237"/>
                <a:ext cx="10515600" cy="4613881"/>
              </a:xfrm>
            </p:spPr>
            <p:txBody>
              <a:bodyPr>
                <a:normAutofit fontScale="70000" lnSpcReduction="20000"/>
              </a:bodyPr>
              <a:lstStyle/>
              <a:p>
                <a:r>
                  <a:rPr lang="en-US" dirty="0"/>
                  <a:t>We define the performance measure as the true value of following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oMath>
                </a14:m>
                <a:r>
                  <a:rPr lang="en-US" dirty="0"/>
                  <a:t> from the start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a14:m>
                <a:br>
                  <a:rPr lang="en-US" dirty="0"/>
                </a:br>
                <a:br>
                  <a:rPr lang="en-US" dirty="0"/>
                </a:br>
                <a14:m>
                  <m:oMath xmlns:m="http://schemas.openxmlformats.org/officeDocument/2006/math">
                    <m:r>
                      <a:rPr lang="en-US" b="0" i="1" smtClean="0">
                        <a:latin typeface="Cambria Math" panose="02040503050406030204" pitchFamily="18" charset="0"/>
                      </a:rPr>
                      <m:t>𝐽</m:t>
                    </m:r>
                    <m:d>
                      <m:dPr>
                        <m:ctrlPr>
                          <a:rPr lang="en-US" b="1" i="1" smtClean="0">
                            <a:latin typeface="Cambria Math" panose="02040503050406030204" pitchFamily="18" charset="0"/>
                          </a:rPr>
                        </m:ctrlPr>
                      </m:dPr>
                      <m:e>
                        <m:r>
                          <a:rPr lang="en-US" b="1" i="1" smtClean="0">
                            <a:latin typeface="Cambria Math" panose="02040503050406030204" pitchFamily="18" charset="0"/>
                          </a:rPr>
                          <m:t>𝜽</m:t>
                        </m:r>
                      </m:e>
                    </m:d>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sub>
                    </m:sSub>
                    <m:d>
                      <m:dPr>
                        <m:begChr m:val="["/>
                        <m:endChr m:val="]"/>
                        <m:ctrlPr>
                          <a:rPr lang="en-US" b="0" i="1" smtClean="0">
                            <a:latin typeface="Cambria Math" panose="02040503050406030204" pitchFamily="18" charset="0"/>
                            <a:ea typeface="Cambria Math" panose="02040503050406030204" pitchFamily="18" charset="0"/>
                          </a:rPr>
                        </m:ctrlPr>
                      </m:dPr>
                      <m:e>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𝛾</m:t>
                                </m:r>
                              </m:e>
                              <m:sup>
                                <m:r>
                                  <a:rPr lang="en-US" b="0" i="1" smtClean="0">
                                    <a:latin typeface="Cambria Math" panose="02040503050406030204" pitchFamily="18" charset="0"/>
                                    <a:ea typeface="Cambria Math" panose="02040503050406030204" pitchFamily="18" charset="0"/>
                                  </a:rPr>
                                  <m:t>𝑡</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0</m:t>
                                </m:r>
                              </m:sub>
                            </m:sSub>
                          </m:e>
                        </m:nary>
                      </m:e>
                    </m:d>
                  </m:oMath>
                </a14:m>
                <a:endParaRPr lang="en-US" dirty="0"/>
              </a:p>
              <a:p>
                <a:pPr marL="0" indent="0">
                  <a:buNone/>
                </a:pPr>
                <a:endParaRPr lang="en-US" i="1" dirty="0">
                  <a:latin typeface="Cambria Math" panose="02040503050406030204" pitchFamily="18" charset="0"/>
                  <a:ea typeface="Cambria Math" panose="02040503050406030204" pitchFamily="18" charset="0"/>
                </a:endParaRPr>
              </a:p>
              <a:p>
                <a:r>
                  <a:rPr lang="en-US" dirty="0"/>
                  <a:t>The </a:t>
                </a:r>
                <a:r>
                  <a:rPr lang="en-US" b="1" dirty="0"/>
                  <a:t>policy gradient theorem </a:t>
                </a:r>
                <a:r>
                  <a:rPr lang="en-US" dirty="0"/>
                  <a:t>gives us an analytical expression for the unbiased gradient of the performance with respect to the policy parameters:  </a:t>
                </a:r>
                <a:br>
                  <a:rPr lang="en-US" dirty="0"/>
                </a:br>
                <a:br>
                  <a:rPr lang="en-US" dirty="0"/>
                </a:br>
                <a14:m>
                  <m:oMath xmlns:m="http://schemas.openxmlformats.org/officeDocument/2006/math">
                    <m:r>
                      <m:rPr>
                        <m:sty m:val="p"/>
                      </m:rPr>
                      <a:rPr lang="en-US"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𝜽</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𝜋</m:t>
                            </m:r>
                          </m:sub>
                        </m:sSub>
                        <m:r>
                          <a:rPr lang="en-US" i="1">
                            <a:latin typeface="Cambria Math" panose="02040503050406030204" pitchFamily="18" charset="0"/>
                            <a:ea typeface="Cambria Math" panose="02040503050406030204" pitchFamily="18" charset="0"/>
                          </a:rPr>
                          <m:t> </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m:rPr>
                            <m:sty m:val="p"/>
                          </m:rPr>
                          <a:rPr lang="en-US">
                            <a:latin typeface="Cambria Math" panose="02040503050406030204" pitchFamily="18" charset="0"/>
                            <a:ea typeface="Cambria Math" panose="02040503050406030204" pitchFamily="18" charset="0"/>
                          </a:rPr>
                          <m:t>∇</m:t>
                        </m:r>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func>
                      </m:e>
                    </m:d>
                    <m:r>
                      <a:rPr lang="en-US" i="1">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𝑠</m:t>
                        </m:r>
                      </m:sub>
                      <m:sup/>
                      <m:e>
                        <m:r>
                          <a:rPr lang="en-US" b="0"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𝑎</m:t>
                            </m:r>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m:rPr>
                                <m:sty m:val="p"/>
                              </m:rP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𝜽</m:t>
                                </m:r>
                              </m:e>
                            </m:d>
                          </m:e>
                        </m:nary>
                      </m:e>
                    </m:nary>
                  </m:oMath>
                </a14:m>
                <a:endParaRPr lang="en-US" dirty="0"/>
              </a:p>
              <a:p>
                <a:endParaRPr lang="en-US" dirty="0"/>
              </a:p>
              <a:p>
                <a:endParaRPr lang="en-US" dirty="0"/>
              </a:p>
              <a:p>
                <a:endParaRPr lang="en-US" dirty="0"/>
              </a:p>
              <a:p>
                <a:pPr marL="0" indent="0">
                  <a:buNone/>
                </a:pPr>
                <a:endParaRPr lang="en-US" b="1" dirty="0"/>
              </a:p>
              <a:p>
                <a:r>
                  <a:rPr lang="en-US" b="1" dirty="0"/>
                  <a:t>Convergence?</a:t>
                </a:r>
              </a:p>
              <a:p>
                <a:pPr lvl="1"/>
                <a:r>
                  <a:rPr lang="en-US" dirty="0"/>
                  <a:t>Does </a:t>
                </a:r>
                <a:r>
                  <a:rPr lang="en-US" b="1" dirty="0"/>
                  <a:t>NOT</a:t>
                </a:r>
                <a:r>
                  <a:rPr lang="en-US" dirty="0"/>
                  <a:t> guarantee: convergence to (global) optimum, fast convergence or stability!</a:t>
                </a:r>
              </a:p>
            </p:txBody>
          </p:sp>
        </mc:Choice>
        <mc:Fallback xmlns="">
          <p:sp>
            <p:nvSpPr>
              <p:cNvPr id="3" name="Content Placeholder 2" descr="We define the performance measure as the true value of following pi sub theta from the start state s sub 0 J (theta) is defined as v sub pi sub theta, (s sub 0) equals E sub pi sub theta, [the sum over t equals 0 to infinity, of gamma to the power t R sub t given S sub 0 equals s sub 0]. The policy gradient theorem gives us an analytical expression for the unbiased gradient of the performance with respect to the policy parameters: gradient of J (theta) equals E sub pi [q sub pi (s,a) gradient of log of pi (a given s)] is proportional to the sum over s, of mu (s) the sum over a, of q sub pi (s,a) gradient of pi (a given s, theta). Convergence?. Does NOT guarantee: convergence to (global) optimum, fast convergence or stability!">
                <a:extLst>
                  <a:ext uri="{FF2B5EF4-FFF2-40B4-BE49-F238E27FC236}">
                    <a16:creationId xmlns:a16="http://schemas.microsoft.com/office/drawing/2014/main" id="{DC916755-DC24-827E-6C02-5FFE23FDC906}"/>
                  </a:ext>
                </a:extLst>
              </p:cNvPr>
              <p:cNvSpPr>
                <a:spLocks noGrp="1" noRot="1" noChangeAspect="1" noMove="1" noResize="1" noEditPoints="1" noAdjustHandles="1" noChangeArrowheads="1" noChangeShapeType="1" noTextEdit="1"/>
              </p:cNvSpPr>
              <p:nvPr>
                <p:ph idx="1"/>
              </p:nvPr>
            </p:nvSpPr>
            <p:spPr>
              <a:xfrm>
                <a:off x="838200" y="1675237"/>
                <a:ext cx="10515600" cy="4613881"/>
              </a:xfrm>
              <a:blipFill>
                <a:blip r:embed="rId2"/>
                <a:stretch>
                  <a:fillRect l="-522" t="-17173" b="-10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Speech Bubble: Rectangle with Corners Rounded 3">
                <a:extLst>
                  <a:ext uri="{FF2B5EF4-FFF2-40B4-BE49-F238E27FC236}">
                    <a16:creationId xmlns:a16="http://schemas.microsoft.com/office/drawing/2014/main" id="{F64E8030-CB20-D32A-3DF5-495F0FBC37E1}"/>
                  </a:ext>
                  <a:ext uri="{C183D7F6-B498-43B3-948B-1728B52AA6E4}">
                    <adec:decorative xmlns:adec="http://schemas.microsoft.com/office/drawing/2017/decorative" val="1"/>
                  </a:ext>
                </a:extLst>
              </p:cNvPr>
              <p:cNvSpPr/>
              <p:nvPr/>
            </p:nvSpPr>
            <p:spPr>
              <a:xfrm>
                <a:off x="4791790" y="4499365"/>
                <a:ext cx="2013018" cy="540281"/>
              </a:xfrm>
              <a:prstGeom prst="wedgeRoundRectCallout">
                <a:avLst>
                  <a:gd name="adj1" fmla="val 49742"/>
                  <a:gd name="adj2" fmla="val -11172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On-policy distribution under </a:t>
                </a:r>
                <a14:m>
                  <m:oMath xmlns:m="http://schemas.openxmlformats.org/officeDocument/2006/math">
                    <m:r>
                      <a:rPr lang="en-US" sz="1600" b="0" i="1" smtClean="0">
                        <a:latin typeface="Cambria Math" panose="02040503050406030204" pitchFamily="18" charset="0"/>
                      </a:rPr>
                      <m:t>𝜋</m:t>
                    </m:r>
                  </m:oMath>
                </a14:m>
                <a:endParaRPr lang="en-US" sz="1600" dirty="0"/>
              </a:p>
            </p:txBody>
          </p:sp>
        </mc:Choice>
        <mc:Fallback>
          <p:sp>
            <p:nvSpPr>
              <p:cNvPr id="4" name="Speech Bubble: Rectangle with Corners Rounded 3">
                <a:extLst>
                  <a:ext uri="{FF2B5EF4-FFF2-40B4-BE49-F238E27FC236}">
                    <a16:creationId xmlns:a16="http://schemas.microsoft.com/office/drawing/2014/main" id="{F64E8030-CB20-D32A-3DF5-495F0FBC37E1}"/>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4791790" y="4499365"/>
                <a:ext cx="2013018" cy="540281"/>
              </a:xfrm>
              <a:prstGeom prst="wedgeRoundRectCallout">
                <a:avLst>
                  <a:gd name="adj1" fmla="val 49742"/>
                  <a:gd name="adj2" fmla="val -111724"/>
                  <a:gd name="adj3" fmla="val 16667"/>
                </a:avLst>
              </a:prstGeom>
              <a:blipFill>
                <a:blip r:embed="rId3"/>
                <a:stretch>
                  <a:fillRect b="-9589"/>
                </a:stretch>
              </a:blipFill>
            </p:spPr>
            <p:txBody>
              <a:bodyPr/>
              <a:lstStyle/>
              <a:p>
                <a:r>
                  <a:rPr lang="en-US">
                    <a:noFill/>
                  </a:rPr>
                  <a:t> </a:t>
                </a:r>
              </a:p>
            </p:txBody>
          </p:sp>
        </mc:Fallback>
      </mc:AlternateContent>
      <p:sp>
        <p:nvSpPr>
          <p:cNvPr id="5" name="Speech Bubble: Rectangle with Corners Rounded 4">
            <a:extLst>
              <a:ext uri="{FF2B5EF4-FFF2-40B4-BE49-F238E27FC236}">
                <a16:creationId xmlns:a16="http://schemas.microsoft.com/office/drawing/2014/main" id="{697DAF61-031E-194F-48E3-7DEA0929C087}"/>
              </a:ext>
              <a:ext uri="{C183D7F6-B498-43B3-948B-1728B52AA6E4}">
                <adec:decorative xmlns:adec="http://schemas.microsoft.com/office/drawing/2017/decorative" val="1"/>
              </a:ext>
            </a:extLst>
          </p:cNvPr>
          <p:cNvSpPr/>
          <p:nvPr/>
        </p:nvSpPr>
        <p:spPr>
          <a:xfrm>
            <a:off x="8987531" y="4494775"/>
            <a:ext cx="2459919" cy="540281"/>
          </a:xfrm>
          <a:prstGeom prst="wedgeRoundRectCallout">
            <a:avLst>
              <a:gd name="adj1" fmla="val -49892"/>
              <a:gd name="adj2" fmla="val -127564"/>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t>Gradient of the policy approximation function.</a:t>
            </a:r>
            <a:endParaRPr lang="en-US" sz="1400" dirty="0"/>
          </a:p>
        </p:txBody>
      </p:sp>
      <mc:AlternateContent xmlns:mc="http://schemas.openxmlformats.org/markup-compatibility/2006">
        <mc:Choice xmlns:a14="http://schemas.microsoft.com/office/drawing/2010/main" Requires="a14">
          <p:sp>
            <p:nvSpPr>
              <p:cNvPr id="10" name="Speech Bubble: Rectangle with Corners Rounded 9">
                <a:extLst>
                  <a:ext uri="{FF2B5EF4-FFF2-40B4-BE49-F238E27FC236}">
                    <a16:creationId xmlns:a16="http://schemas.microsoft.com/office/drawing/2014/main" id="{8CBD3B62-118E-3C2C-74E7-15BD5B192BE0}"/>
                  </a:ext>
                  <a:ext uri="{C183D7F6-B498-43B3-948B-1728B52AA6E4}">
                    <adec:decorative xmlns:adec="http://schemas.microsoft.com/office/drawing/2017/decorative" val="1"/>
                  </a:ext>
                </a:extLst>
              </p:cNvPr>
              <p:cNvSpPr/>
              <p:nvPr/>
            </p:nvSpPr>
            <p:spPr>
              <a:xfrm>
                <a:off x="7009327" y="4490389"/>
                <a:ext cx="1873502" cy="540281"/>
              </a:xfrm>
              <a:prstGeom prst="wedgeRoundRectCallout">
                <a:avLst>
                  <a:gd name="adj1" fmla="val -7224"/>
                  <a:gd name="adj2" fmla="val -116348"/>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Depends on estimates for </a:t>
                </a:r>
                <a14:m>
                  <m:oMath xmlns:m="http://schemas.openxmlformats.org/officeDocument/2006/math">
                    <m:r>
                      <a:rPr lang="en-US" sz="1600" i="1" dirty="0" smtClean="0">
                        <a:latin typeface="Cambria Math" panose="02040503050406030204" pitchFamily="18" charset="0"/>
                      </a:rPr>
                      <m:t>𝑞</m:t>
                    </m:r>
                  </m:oMath>
                </a14:m>
                <a:endParaRPr lang="en-US" sz="1600" dirty="0"/>
              </a:p>
            </p:txBody>
          </p:sp>
        </mc:Choice>
        <mc:Fallback>
          <p:sp>
            <p:nvSpPr>
              <p:cNvPr id="10" name="Speech Bubble: Rectangle with Corners Rounded 9">
                <a:extLst>
                  <a:ext uri="{FF2B5EF4-FFF2-40B4-BE49-F238E27FC236}">
                    <a16:creationId xmlns:a16="http://schemas.microsoft.com/office/drawing/2014/main" id="{8CBD3B62-118E-3C2C-74E7-15BD5B192BE0}"/>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7009327" y="4490389"/>
                <a:ext cx="1873502" cy="540281"/>
              </a:xfrm>
              <a:prstGeom prst="wedgeRoundRectCallout">
                <a:avLst>
                  <a:gd name="adj1" fmla="val -7224"/>
                  <a:gd name="adj2" fmla="val -116348"/>
                  <a:gd name="adj3" fmla="val 16667"/>
                </a:avLst>
              </a:prstGeom>
              <a:blipFill>
                <a:blip r:embed="rId4"/>
                <a:stretch>
                  <a:fillRect b="-9589"/>
                </a:stretch>
              </a:blipFill>
            </p:spPr>
            <p:txBody>
              <a:bodyPr/>
              <a:lstStyle/>
              <a:p>
                <a:r>
                  <a:rPr lang="en-US">
                    <a:noFill/>
                  </a:rPr>
                  <a:t> </a:t>
                </a:r>
              </a:p>
            </p:txBody>
          </p:sp>
        </mc:Fallback>
      </mc:AlternateContent>
    </p:spTree>
    <p:extLst>
      <p:ext uri="{BB962C8B-B14F-4D97-AF65-F5344CB8AC3E}">
        <p14:creationId xmlns:p14="http://schemas.microsoft.com/office/powerpoint/2010/main" val="14186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D4D8-C225-0BFC-0002-168957131EAA}"/>
              </a:ext>
            </a:extLst>
          </p:cNvPr>
          <p:cNvSpPr>
            <a:spLocks noGrp="1"/>
          </p:cNvSpPr>
          <p:nvPr>
            <p:ph type="title"/>
          </p:nvPr>
        </p:nvSpPr>
        <p:spPr/>
        <p:txBody>
          <a:bodyPr/>
          <a:lstStyle/>
          <a:p>
            <a:r>
              <a:rPr lang="en-US" dirty="0"/>
              <a:t>Parametrized Policy Example</a:t>
            </a:r>
          </a:p>
        </p:txBody>
      </p:sp>
      <mc:AlternateContent xmlns:mc="http://schemas.openxmlformats.org/markup-compatibility/2006" xmlns:a14="http://schemas.microsoft.com/office/drawing/2010/main">
        <mc:Choice Requires="a14">
          <p:sp>
            <p:nvSpPr>
              <p:cNvPr id="3" name="Content Placeholder 2" descr="Requirements. pi (a given s, theta) needs to be differentiable with respect to theta so that gradient of pi (a given s, theta) exists and is finite. pi needs to stay soft to guarantee exploration and convergence. Popular for a small, discrete action space: Soft-max in action preferences. Define a numerical preference function where you prefer state-action combinations with larger scores. h (s,a, theta) in the real numbers Some options:. Linear approximation with state (transformed) features h (s,a, theta) equals theta transpose x(s,a). ANN with theta as network weights. Giving the action with the highest preference in each state the highest probability is done using soft-max: pi (a given s, theta) equals the fraction e to the power h (s,a, theta), over the sum over b, of e to the power h (s,b, theta), end fraction. Gradient: gradient of ln of pi (s given a, theta) equals x (s,a) minus the sum over b, of pi (b given s, theta)x (s,b)">
                <a:extLst>
                  <a:ext uri="{FF2B5EF4-FFF2-40B4-BE49-F238E27FC236}">
                    <a16:creationId xmlns:a16="http://schemas.microsoft.com/office/drawing/2014/main" id="{15977774-6B6B-EE26-5A32-0B807E450D44}"/>
                  </a:ext>
                </a:extLst>
              </p:cNvPr>
              <p:cNvSpPr>
                <a:spLocks noGrp="1"/>
              </p:cNvSpPr>
              <p:nvPr>
                <p:ph idx="1"/>
              </p:nvPr>
            </p:nvSpPr>
            <p:spPr>
              <a:xfrm>
                <a:off x="838200" y="1397330"/>
                <a:ext cx="10515600" cy="5040945"/>
              </a:xfrm>
            </p:spPr>
            <p:txBody>
              <a:bodyPr>
                <a:normAutofit fontScale="70000" lnSpcReduction="20000"/>
              </a:bodyPr>
              <a:lstStyle/>
              <a:p>
                <a:pPr marL="0" indent="0">
                  <a:buNone/>
                </a:pPr>
                <a:r>
                  <a:rPr lang="en-US" b="1" dirty="0"/>
                  <a:t>Requirements</a:t>
                </a:r>
              </a:p>
              <a:p>
                <a:pPr lvl="1"/>
                <a14:m>
                  <m:oMath xmlns:m="http://schemas.openxmlformats.org/officeDocument/2006/math">
                    <m:r>
                      <a:rPr lang="en-US" i="1" smtClean="0">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oMath>
                </a14:m>
                <a:r>
                  <a:rPr lang="en-US" dirty="0"/>
                  <a:t> needs to be </a:t>
                </a:r>
                <a:r>
                  <a:rPr lang="en-US" b="1" dirty="0"/>
                  <a:t>differentiable</a:t>
                </a:r>
                <a:r>
                  <a:rPr lang="en-US" dirty="0"/>
                  <a:t> with respect to </a:t>
                </a:r>
                <a14:m>
                  <m:oMath xmlns:m="http://schemas.openxmlformats.org/officeDocument/2006/math">
                    <m:r>
                      <a:rPr lang="en-US" b="1" i="1" smtClean="0">
                        <a:latin typeface="Cambria Math" panose="02040503050406030204" pitchFamily="18" charset="0"/>
                      </a:rPr>
                      <m:t>𝜽</m:t>
                    </m:r>
                  </m:oMath>
                </a14:m>
                <a:r>
                  <a:rPr lang="en-US" b="1" dirty="0"/>
                  <a:t> </a:t>
                </a:r>
                <a:r>
                  <a:rPr lang="en-US" dirty="0"/>
                  <a:t>so that </a:t>
                </a:r>
                <a14:m>
                  <m:oMath xmlns:m="http://schemas.openxmlformats.org/officeDocument/2006/math">
                    <m:r>
                      <m:rPr>
                        <m:sty m:val="p"/>
                      </m:rP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oMath>
                </a14:m>
                <a:r>
                  <a:rPr lang="en-US" dirty="0"/>
                  <a:t> exists and is finite.</a:t>
                </a:r>
              </a:p>
              <a:p>
                <a:pPr lvl="1"/>
                <a14:m>
                  <m:oMath xmlns:m="http://schemas.openxmlformats.org/officeDocument/2006/math">
                    <m:r>
                      <a:rPr lang="en-US" b="0" i="1" smtClean="0">
                        <a:latin typeface="Cambria Math" panose="02040503050406030204" pitchFamily="18" charset="0"/>
                      </a:rPr>
                      <m:t>𝜋</m:t>
                    </m:r>
                  </m:oMath>
                </a14:m>
                <a:r>
                  <a:rPr lang="en-US" dirty="0"/>
                  <a:t> needs to stay soft to guarantee </a:t>
                </a:r>
                <a:r>
                  <a:rPr lang="en-US" b="1" dirty="0"/>
                  <a:t>exploration</a:t>
                </a:r>
                <a:r>
                  <a:rPr lang="en-US" dirty="0"/>
                  <a:t> and convergence.</a:t>
                </a:r>
              </a:p>
              <a:p>
                <a:pPr marL="0" indent="0">
                  <a:buNone/>
                </a:pPr>
                <a:endParaRPr lang="en-US" dirty="0"/>
              </a:p>
              <a:p>
                <a:pPr marL="0" indent="0">
                  <a:buNone/>
                </a:pPr>
                <a:r>
                  <a:rPr lang="en-US" dirty="0"/>
                  <a:t>Popular for a small, discrete action space: </a:t>
                </a:r>
                <a:r>
                  <a:rPr lang="en-US" b="1" dirty="0"/>
                  <a:t>Soft-max in action preferences</a:t>
                </a:r>
                <a:endParaRPr lang="en-US" dirty="0"/>
              </a:p>
              <a:p>
                <a:pPr marL="914400" lvl="1" indent="-457200">
                  <a:buFont typeface="+mj-lt"/>
                  <a:buAutoNum type="arabicPeriod"/>
                </a:pPr>
                <a:r>
                  <a:rPr lang="en-US" dirty="0"/>
                  <a:t>Define a </a:t>
                </a:r>
                <a:r>
                  <a:rPr lang="en-US" b="1" dirty="0"/>
                  <a:t>numerical preference </a:t>
                </a:r>
                <a:r>
                  <a:rPr lang="en-US" dirty="0"/>
                  <a:t>function where you prefer state-action combinations with larger scores.</a:t>
                </a:r>
                <a:br>
                  <a:rPr lang="en-US" dirty="0"/>
                </a:br>
                <a:br>
                  <a:rPr lang="en-US" dirty="0"/>
                </a:br>
                <a14:m>
                  <m:oMath xmlns:m="http://schemas.openxmlformats.org/officeDocument/2006/math">
                    <m:r>
                      <a:rPr lang="en-US" i="1">
                        <a:latin typeface="Cambria Math" panose="02040503050406030204" pitchFamily="18" charset="0"/>
                      </a:rPr>
                      <m:t>ℎ</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a:latin typeface="Cambria Math" panose="02040503050406030204" pitchFamily="18" charset="0"/>
                          </a:rPr>
                          <m:t>𝜽</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br>
                  <a:rPr lang="en-US" dirty="0"/>
                </a:br>
                <a:br>
                  <a:rPr lang="en-US" dirty="0"/>
                </a:br>
                <a:r>
                  <a:rPr lang="en-US" dirty="0"/>
                  <a:t>Some options:</a:t>
                </a:r>
              </a:p>
              <a:p>
                <a:pPr lvl="2"/>
                <a:r>
                  <a:rPr lang="en-US" dirty="0"/>
                  <a:t>Linear approximation with state (transformed) features </a:t>
                </a:r>
                <a14:m>
                  <m:oMath xmlns:m="http://schemas.openxmlformats.org/officeDocument/2006/math">
                    <m:r>
                      <a:rPr lang="en-US" i="1">
                        <a:latin typeface="Cambria Math" panose="02040503050406030204" pitchFamily="18" charset="0"/>
                      </a:rPr>
                      <m:t>ℎ</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a:latin typeface="Cambria Math" panose="02040503050406030204" pitchFamily="18" charset="0"/>
                          </a:rPr>
                          <m:t>𝜽</m:t>
                        </m:r>
                      </m:e>
                    </m:d>
                    <m:r>
                      <a:rPr lang="en-US" b="1"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r>
                          <a:rPr lang="en-US" b="1" i="1">
                            <a:latin typeface="Cambria Math" panose="02040503050406030204" pitchFamily="18" charset="0"/>
                          </a:rPr>
                          <m:t>⊤</m:t>
                        </m:r>
                      </m:sup>
                    </m:sSup>
                    <m:r>
                      <a:rPr lang="en-US" b="1" i="1">
                        <a:latin typeface="Cambria Math" panose="02040503050406030204" pitchFamily="18" charset="0"/>
                      </a:rPr>
                      <m:t>𝒙</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endParaRPr lang="en-US" dirty="0"/>
              </a:p>
              <a:p>
                <a:pPr lvl="2"/>
                <a:r>
                  <a:rPr lang="en-US" dirty="0"/>
                  <a:t>ANN with </a:t>
                </a:r>
                <a14:m>
                  <m:oMath xmlns:m="http://schemas.openxmlformats.org/officeDocument/2006/math">
                    <m:r>
                      <a:rPr lang="en-US" b="1" i="1" smtClean="0">
                        <a:latin typeface="Cambria Math" panose="02040503050406030204" pitchFamily="18" charset="0"/>
                      </a:rPr>
                      <m:t>𝜽</m:t>
                    </m:r>
                  </m:oMath>
                </a14:m>
                <a:r>
                  <a:rPr lang="en-US" dirty="0"/>
                  <a:t> as network weights.</a:t>
                </a:r>
                <a:br>
                  <a:rPr lang="en-US" dirty="0"/>
                </a:br>
                <a:endParaRPr lang="en-US" dirty="0"/>
              </a:p>
              <a:p>
                <a:pPr marL="914400" lvl="1" indent="-457200">
                  <a:buFont typeface="+mj-lt"/>
                  <a:buAutoNum type="arabicPeriod"/>
                </a:pPr>
                <a:r>
                  <a:rPr lang="en-US" dirty="0"/>
                  <a:t>Giving the action with the highest preference in each state the highest probability is done using </a:t>
                </a:r>
                <a:r>
                  <a:rPr lang="en-US" b="1" dirty="0"/>
                  <a:t>soft-max</a:t>
                </a:r>
                <a:r>
                  <a:rPr lang="en-US" dirty="0"/>
                  <a:t>:</a:t>
                </a:r>
                <a:br>
                  <a:rPr lang="en-US" dirty="0"/>
                </a:br>
                <a:br>
                  <a:rPr lang="en-US" dirty="0"/>
                </a:b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r>
                      <a:rPr lang="en-US" i="1">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i="1">
                                <a:latin typeface="Cambria Math" panose="02040503050406030204" pitchFamily="18" charset="0"/>
                              </a:rPr>
                              <m:t>ℎ</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a:latin typeface="Cambria Math" panose="02040503050406030204" pitchFamily="18" charset="0"/>
                                  </a:rPr>
                                  <m:t>𝜽</m:t>
                                </m:r>
                              </m:e>
                            </m:d>
                          </m:sup>
                        </m:sSup>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𝑏</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i="1">
                                    <a:latin typeface="Cambria Math" panose="02040503050406030204" pitchFamily="18" charset="0"/>
                                  </a:rPr>
                                  <m:t>ℎ</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0" i="1" smtClean="0">
                                        <a:latin typeface="Cambria Math" panose="02040503050406030204" pitchFamily="18" charset="0"/>
                                      </a:rPr>
                                      <m:t>𝑏</m:t>
                                    </m:r>
                                    <m:r>
                                      <a:rPr lang="en-US" i="1">
                                        <a:latin typeface="Cambria Math" panose="02040503050406030204" pitchFamily="18" charset="0"/>
                                      </a:rPr>
                                      <m:t>,</m:t>
                                    </m:r>
                                    <m:r>
                                      <a:rPr lang="en-US" b="1" i="1">
                                        <a:latin typeface="Cambria Math" panose="02040503050406030204" pitchFamily="18" charset="0"/>
                                      </a:rPr>
                                      <m:t>𝜽</m:t>
                                    </m:r>
                                  </m:e>
                                </m:d>
                              </m:sup>
                            </m:sSup>
                          </m:e>
                        </m:nary>
                      </m:den>
                    </m:f>
                    <m:r>
                      <a:rPr lang="en-US" b="0" i="1" smtClean="0">
                        <a:latin typeface="Cambria Math" panose="02040503050406030204" pitchFamily="18" charset="0"/>
                      </a:rPr>
                      <m:t> </m:t>
                    </m:r>
                  </m:oMath>
                </a14:m>
                <a:br>
                  <a:rPr lang="en-US" dirty="0"/>
                </a:br>
                <a:br>
                  <a:rPr lang="en-US" dirty="0"/>
                </a:br>
                <a:endParaRPr lang="en-US" dirty="0"/>
              </a:p>
              <a:p>
                <a:pPr marL="914400" lvl="1" indent="-457200">
                  <a:buFont typeface="+mj-lt"/>
                  <a:buAutoNum type="arabicPeriod"/>
                </a:pPr>
                <a:r>
                  <a:rPr lang="en-US" b="1" dirty="0"/>
                  <a:t>Gradient</a:t>
                </a:r>
                <a:r>
                  <a:rPr lang="en-US" dirty="0"/>
                  <a:t>: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ln</m:t>
                        </m:r>
                      </m:fName>
                      <m:e>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 </m:t>
                            </m:r>
                            <m:r>
                              <a:rPr lang="en-US" b="1" i="1">
                                <a:latin typeface="Cambria Math" panose="02040503050406030204" pitchFamily="18" charset="0"/>
                                <a:ea typeface="Cambria Math" panose="02040503050406030204" pitchFamily="18" charset="0"/>
                              </a:rPr>
                              <m:t>𝜽</m:t>
                            </m:r>
                          </m:e>
                        </m:d>
                        <m:r>
                          <a:rPr lang="en-US"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a:rPr lang="en-US" i="1">
                            <a:latin typeface="Cambria Math" panose="02040503050406030204" pitchFamily="18" charset="0"/>
                            <a:ea typeface="Cambria Math" panose="02040503050406030204" pitchFamily="18" charset="0"/>
                          </a:rPr>
                          <m:t>−</m:t>
                        </m:r>
                      </m:e>
                    </m:func>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𝑏</m:t>
                        </m:r>
                      </m:sub>
                      <m:sup/>
                      <m:e>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 </m:t>
                        </m:r>
                        <m:r>
                          <a:rPr lang="en-US" b="1" i="1">
                            <a:latin typeface="Cambria Math" panose="02040503050406030204" pitchFamily="18" charset="0"/>
                            <a:ea typeface="Cambria Math" panose="02040503050406030204" pitchFamily="18" charset="0"/>
                          </a:rPr>
                          <m:t>𝜽</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e>
                        </m:d>
                      </m:e>
                    </m:nary>
                  </m:oMath>
                </a14:m>
                <a:endParaRPr lang="en-US" b="1" dirty="0"/>
              </a:p>
            </p:txBody>
          </p:sp>
        </mc:Choice>
        <mc:Fallback xmlns="">
          <p:sp>
            <p:nvSpPr>
              <p:cNvPr id="3" name="Content Placeholder 2" descr="Requirements. pi (a given s, theta) needs to be differentiable with respect to theta so that gradient of pi (a given s, theta) exists and is finite. pi needs to stay soft to guarantee exploration and convergence. Popular for a small, discrete action space: Soft-max in action preferences. Define a numerical preference function where you prefer state-action combinations with larger scores. h (s,a, theta) in the real numbers Some options:. Linear approximation with state (transformed) features h (s,a, theta) equals theta transpose x(s,a). ANN with theta as network weights. Giving the action with the highest preference in each state the highest probability is done using soft-max: pi (a given s, theta) equals the fraction e to the power h (s,a, theta), over the sum over b, of e to the power h (s,b, theta), end fraction. Gradient: gradient of ln of pi (s given a, theta) equals x (s,a) minus the sum over b, of pi (b given s, theta)x (s,b)">
                <a:extLst>
                  <a:ext uri="{FF2B5EF4-FFF2-40B4-BE49-F238E27FC236}">
                    <a16:creationId xmlns:a16="http://schemas.microsoft.com/office/drawing/2014/main" id="{15977774-6B6B-EE26-5A32-0B807E450D44}"/>
                  </a:ext>
                </a:extLst>
              </p:cNvPr>
              <p:cNvSpPr>
                <a:spLocks noGrp="1" noRot="1" noChangeAspect="1" noMove="1" noResize="1" noEditPoints="1" noAdjustHandles="1" noChangeArrowheads="1" noChangeShapeType="1" noTextEdit="1"/>
              </p:cNvSpPr>
              <p:nvPr>
                <p:ph idx="1"/>
              </p:nvPr>
            </p:nvSpPr>
            <p:spPr>
              <a:xfrm>
                <a:off x="838200" y="1397330"/>
                <a:ext cx="10515600" cy="5040945"/>
              </a:xfrm>
              <a:blipFill>
                <a:blip r:embed="rId2"/>
                <a:stretch>
                  <a:fillRect l="-638" t="-2056" b="-858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DC9085A-222B-CE19-B614-912564AF12F8}"/>
              </a:ext>
            </a:extLst>
          </p:cNvPr>
          <p:cNvSpPr txBox="1"/>
          <p:nvPr/>
        </p:nvSpPr>
        <p:spPr>
          <a:xfrm>
            <a:off x="7300208" y="4953510"/>
            <a:ext cx="3822493"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Note</a:t>
            </a:r>
            <a:r>
              <a:rPr lang="en-US" dirty="0"/>
              <a:t>: Soft-max converts a set of scores into a probability distribution.</a:t>
            </a:r>
          </a:p>
        </p:txBody>
      </p:sp>
    </p:spTree>
    <p:extLst>
      <p:ext uri="{BB962C8B-B14F-4D97-AF65-F5344CB8AC3E}">
        <p14:creationId xmlns:p14="http://schemas.microsoft.com/office/powerpoint/2010/main" val="205988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Advantages Over epsilon -Greedy Action Selection">
                <a:extLst>
                  <a:ext uri="{FF2B5EF4-FFF2-40B4-BE49-F238E27FC236}">
                    <a16:creationId xmlns:a16="http://schemas.microsoft.com/office/drawing/2014/main" id="{DAFACA19-50B4-D3C5-BCE2-036A25E0E6F4}"/>
                  </a:ext>
                </a:extLst>
              </p:cNvPr>
              <p:cNvSpPr>
                <a:spLocks noGrp="1"/>
              </p:cNvSpPr>
              <p:nvPr>
                <p:ph type="title"/>
              </p:nvPr>
            </p:nvSpPr>
            <p:spPr/>
            <p:txBody>
              <a:bodyPr/>
              <a:lstStyle/>
              <a:p>
                <a:r>
                  <a:rPr lang="en-US" dirty="0"/>
                  <a:t>Advantages Over </a:t>
                </a:r>
                <a14:m>
                  <m:oMath xmlns:m="http://schemas.openxmlformats.org/officeDocument/2006/math">
                    <m:r>
                      <a:rPr lang="en-US" i="1">
                        <a:latin typeface="Cambria Math" panose="02040503050406030204" pitchFamily="18" charset="0"/>
                      </a:rPr>
                      <m:t>𝜖</m:t>
                    </m:r>
                  </m:oMath>
                </a14:m>
                <a:r>
                  <a:rPr lang="en-US" dirty="0"/>
                  <a:t>-Greedy Action Selection</a:t>
                </a:r>
              </a:p>
            </p:txBody>
          </p:sp>
        </mc:Choice>
        <mc:Fallback xmlns="">
          <p:sp>
            <p:nvSpPr>
              <p:cNvPr id="2" name="Title 1" descr="Advantages Over epsilon -Greedy Action Selection">
                <a:extLst>
                  <a:ext uri="{FF2B5EF4-FFF2-40B4-BE49-F238E27FC236}">
                    <a16:creationId xmlns:a16="http://schemas.microsoft.com/office/drawing/2014/main" id="{DAFACA19-50B4-D3C5-BCE2-036A25E0E6F4}"/>
                  </a:ext>
                </a:extLst>
              </p:cNvPr>
              <p:cNvSpPr>
                <a:spLocks noGrp="1" noRot="1" noChangeAspect="1" noMove="1" noResize="1" noEditPoints="1" noAdjustHandles="1" noChangeArrowheads="1" noChangeShapeType="1" noTextEdit="1"/>
              </p:cNvSpPr>
              <p:nvPr>
                <p:ph type="title"/>
              </p:nvPr>
            </p:nvSpPr>
            <p:spPr>
              <a:blipFill>
                <a:blip r:embed="rId2"/>
                <a:stretch>
                  <a:fillRect l="-2377" t="-20161" b="-354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Learns stochastic policies. The stochastic policy will be driven to the optimal policy which can also approach a deterministic policy. Stochastic policies perform exploration implicitly. The amount of exploration is automatically reduced when it converges to the best action. Note: value-action methods cannot learn stochastic policies and are often stuck with learning an epsilon -greedy policy!. Smooth updates. Parameterized policy changes action probability smoothly while epsilon -greedy policies jump when a different action becomes the maximum. Incorporating prior knowledge is easier. Prior knowledge about the form of the policy can be incorporated into the way the policy is parameterized (i.e., the approximation can be biased). This can improve learning significantly">
                <a:extLst>
                  <a:ext uri="{FF2B5EF4-FFF2-40B4-BE49-F238E27FC236}">
                    <a16:creationId xmlns:a16="http://schemas.microsoft.com/office/drawing/2014/main" id="{E7AE168A-03EA-0E9A-AF35-DD24AAAC3FD9}"/>
                  </a:ext>
                </a:extLst>
              </p:cNvPr>
              <p:cNvSpPr>
                <a:spLocks noGrp="1"/>
              </p:cNvSpPr>
              <p:nvPr>
                <p:ph idx="1"/>
              </p:nvPr>
            </p:nvSpPr>
            <p:spPr/>
            <p:txBody>
              <a:bodyPr>
                <a:normAutofit fontScale="85000" lnSpcReduction="20000"/>
              </a:bodyPr>
              <a:lstStyle/>
              <a:p>
                <a:r>
                  <a:rPr lang="en-US" b="1" dirty="0"/>
                  <a:t>Learns stochastic policies</a:t>
                </a:r>
                <a:endParaRPr lang="en-US" dirty="0"/>
              </a:p>
              <a:p>
                <a:pPr lvl="1"/>
                <a:r>
                  <a:rPr lang="en-US" dirty="0"/>
                  <a:t>The </a:t>
                </a:r>
                <a:r>
                  <a:rPr lang="en-US" b="1" dirty="0"/>
                  <a:t>stochastic policy will be driven to the optimal policy </a:t>
                </a:r>
                <a:r>
                  <a:rPr lang="en-US" dirty="0"/>
                  <a:t>which can also approach a deterministic policy.</a:t>
                </a:r>
              </a:p>
              <a:p>
                <a:pPr lvl="1"/>
                <a:r>
                  <a:rPr lang="en-US" dirty="0"/>
                  <a:t>Stochastic policies </a:t>
                </a:r>
                <a:r>
                  <a:rPr lang="en-US" b="1" dirty="0"/>
                  <a:t>perform exploration implicitly</a:t>
                </a:r>
                <a:r>
                  <a:rPr lang="en-US" dirty="0"/>
                  <a:t>. The amount of exploration is automatically reduced when it converges to the best action.</a:t>
                </a:r>
                <a:br>
                  <a:rPr lang="en-US" dirty="0"/>
                </a:br>
                <a:br>
                  <a:rPr lang="en-US" dirty="0"/>
                </a:br>
                <a:r>
                  <a:rPr lang="en-US" b="1" dirty="0"/>
                  <a:t>Note</a:t>
                </a:r>
                <a:r>
                  <a:rPr lang="en-US" dirty="0"/>
                  <a:t>: value-action methods cannot learn stochastic policies and are often stuck with learning an </a:t>
                </a:r>
                <a14:m>
                  <m:oMath xmlns:m="http://schemas.openxmlformats.org/officeDocument/2006/math">
                    <m:r>
                      <a:rPr lang="en-US" b="0" i="1" smtClean="0">
                        <a:latin typeface="Cambria Math" panose="02040503050406030204" pitchFamily="18" charset="0"/>
                      </a:rPr>
                      <m:t>𝜖</m:t>
                    </m:r>
                  </m:oMath>
                </a14:m>
                <a:r>
                  <a:rPr lang="en-US" dirty="0"/>
                  <a:t>-greedy policy!</a:t>
                </a:r>
              </a:p>
              <a:p>
                <a:endParaRPr lang="en-US" dirty="0"/>
              </a:p>
              <a:p>
                <a:r>
                  <a:rPr lang="en-US" b="1" dirty="0"/>
                  <a:t>Smooth updates</a:t>
                </a:r>
                <a:endParaRPr lang="en-US" dirty="0"/>
              </a:p>
              <a:p>
                <a:pPr lvl="1"/>
                <a:r>
                  <a:rPr lang="en-US" dirty="0"/>
                  <a:t>Parameterized policy changes action probability smoothly while </a:t>
                </a:r>
                <a14:m>
                  <m:oMath xmlns:m="http://schemas.openxmlformats.org/officeDocument/2006/math">
                    <m:r>
                      <a:rPr lang="en-US" i="1">
                        <a:latin typeface="Cambria Math" panose="02040503050406030204" pitchFamily="18" charset="0"/>
                      </a:rPr>
                      <m:t>𝜖</m:t>
                    </m:r>
                  </m:oMath>
                </a14:m>
                <a:r>
                  <a:rPr lang="en-US" dirty="0"/>
                  <a:t>-greedy policies jump when a different action becomes the maximum. </a:t>
                </a:r>
              </a:p>
              <a:p>
                <a:endParaRPr lang="en-US" dirty="0"/>
              </a:p>
              <a:p>
                <a:r>
                  <a:rPr lang="en-US" b="1" dirty="0"/>
                  <a:t>Incorporating prior knowledge is easier</a:t>
                </a:r>
              </a:p>
              <a:p>
                <a:pPr lvl="1"/>
                <a:r>
                  <a:rPr lang="en-US" dirty="0"/>
                  <a:t>Prior knowledge</a:t>
                </a:r>
                <a:r>
                  <a:rPr lang="en-US" b="1" dirty="0"/>
                  <a:t> </a:t>
                </a:r>
                <a:r>
                  <a:rPr lang="en-US" dirty="0"/>
                  <a:t>about the form of the policy can be incorporated into the way the policy is parameterized (i.e., the approximation can be biased). This can improve learning significantly.</a:t>
                </a:r>
              </a:p>
            </p:txBody>
          </p:sp>
        </mc:Choice>
        <mc:Fallback xmlns="">
          <p:sp>
            <p:nvSpPr>
              <p:cNvPr id="3" name="Content Placeholder 2" descr="Learns stochastic policies. The stochastic policy will be driven to the optimal policy which can also approach a deterministic policy. Stochastic policies perform exploration implicitly. The amount of exploration is automatically reduced when it converges to the best action. Note: value-action methods cannot learn stochastic policies and are often stuck with learning an epsilon -greedy policy!. Smooth updates. Parameterized policy changes action probability smoothly while epsilon -greedy policies jump when a different action becomes the maximum. Incorporating prior knowledge is easier. Prior knowledge about the form of the policy can be incorporated into the way the policy is parameterized (i.e., the approximation can be biased). This can improve learning significantly">
                <a:extLst>
                  <a:ext uri="{FF2B5EF4-FFF2-40B4-BE49-F238E27FC236}">
                    <a16:creationId xmlns:a16="http://schemas.microsoft.com/office/drawing/2014/main" id="{E7AE168A-03EA-0E9A-AF35-DD24AAAC3FD9}"/>
                  </a:ext>
                </a:extLst>
              </p:cNvPr>
              <p:cNvSpPr>
                <a:spLocks noGrp="1" noRot="1" noChangeAspect="1" noMove="1" noResize="1" noEditPoints="1" noAdjustHandles="1" noChangeArrowheads="1" noChangeShapeType="1" noTextEdit="1"/>
              </p:cNvSpPr>
              <p:nvPr>
                <p:ph idx="1"/>
              </p:nvPr>
            </p:nvSpPr>
            <p:spPr>
              <a:blipFill>
                <a:blip r:embed="rId3"/>
                <a:stretch>
                  <a:fillRect l="-812" t="-2806" r="-58" b="-893"/>
                </a:stretch>
              </a:blipFill>
            </p:spPr>
            <p:txBody>
              <a:bodyPr/>
              <a:lstStyle/>
              <a:p>
                <a:r>
                  <a:rPr lang="en-US">
                    <a:noFill/>
                  </a:rPr>
                  <a:t> </a:t>
                </a:r>
              </a:p>
            </p:txBody>
          </p:sp>
        </mc:Fallback>
      </mc:AlternateContent>
    </p:spTree>
    <p:extLst>
      <p:ext uri="{BB962C8B-B14F-4D97-AF65-F5344CB8AC3E}">
        <p14:creationId xmlns:p14="http://schemas.microsoft.com/office/powerpoint/2010/main" val="2054639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19D38-A32B-2F8F-C55D-301B4119B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17E25-F763-6A54-0487-6923B04883FA}"/>
              </a:ext>
            </a:extLst>
          </p:cNvPr>
          <p:cNvSpPr>
            <a:spLocks noGrp="1"/>
          </p:cNvSpPr>
          <p:nvPr>
            <p:ph type="title"/>
          </p:nvPr>
        </p:nvSpPr>
        <p:spPr/>
        <p:txBody>
          <a:bodyPr/>
          <a:lstStyle/>
          <a:p>
            <a:r>
              <a:rPr lang="en-US" dirty="0"/>
              <a:t>REINFORCE</a:t>
            </a:r>
          </a:p>
        </p:txBody>
      </p:sp>
      <p:sp>
        <p:nvSpPr>
          <p:cNvPr id="3" name="Text Placeholder 2">
            <a:extLst>
              <a:ext uri="{FF2B5EF4-FFF2-40B4-BE49-F238E27FC236}">
                <a16:creationId xmlns:a16="http://schemas.microsoft.com/office/drawing/2014/main" id="{136F1A28-3C73-9B92-B1DA-A954CD0AD623}"/>
              </a:ext>
            </a:extLst>
          </p:cNvPr>
          <p:cNvSpPr>
            <a:spLocks noGrp="1"/>
          </p:cNvSpPr>
          <p:nvPr>
            <p:ph type="body" idx="1"/>
          </p:nvPr>
        </p:nvSpPr>
        <p:spPr/>
        <p:txBody>
          <a:bodyPr/>
          <a:lstStyle/>
          <a:p>
            <a:r>
              <a:rPr lang="en-US" dirty="0"/>
              <a:t>Monte Carlo Policy Gradient Control </a:t>
            </a:r>
          </a:p>
        </p:txBody>
      </p:sp>
    </p:spTree>
    <p:extLst>
      <p:ext uri="{BB962C8B-B14F-4D97-AF65-F5344CB8AC3E}">
        <p14:creationId xmlns:p14="http://schemas.microsoft.com/office/powerpoint/2010/main" val="4000561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50240-7BA9-7642-1F93-C6143DD4F992}"/>
              </a:ext>
            </a:extLst>
          </p:cNvPr>
          <p:cNvSpPr>
            <a:spLocks noGrp="1"/>
          </p:cNvSpPr>
          <p:nvPr>
            <p:ph type="title"/>
          </p:nvPr>
        </p:nvSpPr>
        <p:spPr/>
        <p:txBody>
          <a:bodyPr/>
          <a:lstStyle/>
          <a:p>
            <a:r>
              <a:rPr lang="en-US" dirty="0"/>
              <a:t>REINFORCE Update</a:t>
            </a:r>
          </a:p>
        </p:txBody>
      </p:sp>
      <mc:AlternateContent xmlns:mc="http://schemas.openxmlformats.org/markup-compatibility/2006" xmlns:a14="http://schemas.microsoft.com/office/drawing/2010/main">
        <mc:Choice Requires="a14">
          <p:sp>
            <p:nvSpPr>
              <p:cNvPr id="9" name="Content Placeholder 2" descr="Normal stochastic gradient-ascent algorithm update: theta sub t plus 1, equals theta sub t plus alpha gradient of J (theta sub t)">
                <a:extLst>
                  <a:ext uri="{FF2B5EF4-FFF2-40B4-BE49-F238E27FC236}">
                    <a16:creationId xmlns:a16="http://schemas.microsoft.com/office/drawing/2014/main" id="{7250DF70-B205-0F67-A022-8658B6D83F38}"/>
                  </a:ext>
                </a:extLst>
              </p:cNvPr>
              <p:cNvSpPr txBox="1">
                <a:spLocks/>
              </p:cNvSpPr>
              <p:nvPr/>
            </p:nvSpPr>
            <p:spPr>
              <a:xfrm>
                <a:off x="838199" y="1129111"/>
                <a:ext cx="10169502" cy="9994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Normal stochastic gradient-ascent algorithm update: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𝜽</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𝜽</m:t>
                        </m:r>
                      </m:e>
                      <m:sub>
                        <m:r>
                          <a:rPr lang="en-US" sz="2000" i="1">
                            <a:latin typeface="Cambria Math" panose="02040503050406030204" pitchFamily="18" charset="0"/>
                          </a:rPr>
                          <m:t>𝑡</m:t>
                        </m:r>
                      </m:sub>
                    </m:sSub>
                    <m:r>
                      <a:rPr lang="en-US" sz="2000" i="1" smtClean="0">
                        <a:latin typeface="Cambria Math" panose="02040503050406030204" pitchFamily="18" charset="0"/>
                      </a:rPr>
                      <m:t>+</m:t>
                    </m:r>
                    <m:r>
                      <a:rPr lang="en-US" sz="2000" i="1" smtClean="0">
                        <a:latin typeface="Cambria Math" panose="02040503050406030204" pitchFamily="18" charset="0"/>
                      </a:rPr>
                      <m:t>𝛼</m:t>
                    </m:r>
                  </m:oMath>
                </a14:m>
                <a:r>
                  <a:rPr lang="en-US" sz="2000" dirty="0">
                    <a:ea typeface="Cambria Math" panose="02040503050406030204" pitchFamily="18" charset="0"/>
                  </a:rPr>
                  <a:t> </a:t>
                </a:r>
                <a14:m>
                  <m:oMath xmlns:m="http://schemas.openxmlformats.org/officeDocument/2006/math">
                    <m:r>
                      <m:rPr>
                        <m:sty m:val="p"/>
                      </m:rP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𝐽</m:t>
                    </m:r>
                    <m:d>
                      <m:dPr>
                        <m:ctrlPr>
                          <a:rPr lang="en-US" sz="2000" i="1">
                            <a:latin typeface="Cambria Math" panose="02040503050406030204" pitchFamily="18" charset="0"/>
                            <a:ea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𝜽</m:t>
                            </m:r>
                          </m:e>
                          <m:sub>
                            <m:r>
                              <a:rPr lang="en-US" sz="2000" i="1">
                                <a:latin typeface="Cambria Math" panose="02040503050406030204" pitchFamily="18" charset="0"/>
                                <a:ea typeface="Cambria Math" panose="02040503050406030204" pitchFamily="18" charset="0"/>
                              </a:rPr>
                              <m:t>𝑡</m:t>
                            </m:r>
                          </m:sub>
                        </m:sSub>
                      </m:e>
                    </m:d>
                  </m:oMath>
                </a14:m>
                <a:endParaRPr lang="en-US" sz="2000" b="0" i="1" dirty="0">
                  <a:latin typeface="Cambria Math" panose="02040503050406030204" pitchFamily="18" charset="0"/>
                  <a:ea typeface="Cambria Math" panose="02040503050406030204" pitchFamily="18" charset="0"/>
                </a:endParaRPr>
              </a:p>
              <a:p>
                <a:pPr marL="0" indent="0">
                  <a:buNone/>
                </a:pPr>
                <a:endParaRPr lang="en-US" sz="2000" b="0" dirty="0">
                  <a:ea typeface="Cambria Math" panose="02040503050406030204" pitchFamily="18" charset="0"/>
                </a:endParaRPr>
              </a:p>
            </p:txBody>
          </p:sp>
        </mc:Choice>
        <mc:Fallback xmlns="">
          <p:sp>
            <p:nvSpPr>
              <p:cNvPr id="9" name="Content Placeholder 2" descr="Normal stochastic gradient-ascent algorithm update: theta sub t plus 1, equals theta sub t plus alpha gradient of J (theta sub t)">
                <a:extLst>
                  <a:ext uri="{FF2B5EF4-FFF2-40B4-BE49-F238E27FC236}">
                    <a16:creationId xmlns:a16="http://schemas.microsoft.com/office/drawing/2014/main" id="{7250DF70-B205-0F67-A022-8658B6D83F38}"/>
                  </a:ext>
                </a:extLst>
              </p:cNvPr>
              <p:cNvSpPr txBox="1">
                <a:spLocks noRot="1" noChangeAspect="1" noMove="1" noResize="1" noEditPoints="1" noAdjustHandles="1" noChangeArrowheads="1" noChangeShapeType="1" noTextEdit="1"/>
              </p:cNvSpPr>
              <p:nvPr/>
            </p:nvSpPr>
            <p:spPr>
              <a:xfrm>
                <a:off x="838199" y="1129111"/>
                <a:ext cx="10169502" cy="999492"/>
              </a:xfrm>
              <a:prstGeom prst="rect">
                <a:avLst/>
              </a:prstGeom>
              <a:blipFill>
                <a:blip r:embed="rId6"/>
                <a:stretch>
                  <a:fillRect l="-599" t="-54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Equation: gradient of J (theta) is proportional to the sum over s, of mu (s) the sum over a, of q sub pi (s,a) gradient of pi (a given s, theta); equals E sub pi [the sum over a, of pi (A sub t given S sub t, theta) q sub pi (S sub t,a) the fraction gradient of pi (A sub t given S sub t, theta), over pi (A sub t given S sub t, theta), end fraction];; equals E sub pi [G sub t the fraction gradient of pi (A sub t given S sub t, theta), over pi (A sub t given S sub t, theta), end fraction];; equals E sub pi [G sub t ln of gradient of pi (A sub t given S sub t, theta)]">
                <a:extLst>
                  <a:ext uri="{FF2B5EF4-FFF2-40B4-BE49-F238E27FC236}">
                    <a16:creationId xmlns:a16="http://schemas.microsoft.com/office/drawing/2014/main" id="{F3692E5E-4E0F-A07A-A76B-D89BC62C9917}"/>
                  </a:ext>
                </a:extLst>
              </p:cNvPr>
              <p:cNvSpPr>
                <a:spLocks noGrp="1"/>
              </p:cNvSpPr>
              <p:nvPr>
                <p:ph idx="1"/>
              </p:nvPr>
            </p:nvSpPr>
            <p:spPr>
              <a:xfrm>
                <a:off x="838199" y="2237959"/>
                <a:ext cx="6176853" cy="3298764"/>
              </a:xfrm>
            </p:spPr>
            <p:txBody>
              <a:bodyPr>
                <a:normAutofit fontScale="77500" lnSpcReduction="20000"/>
              </a:bodyPr>
              <a:lstStyle/>
              <a:p>
                <a:pPr marL="0" indent="0">
                  <a:buNone/>
                </a:pPr>
                <a14:m>
                  <m:oMathPara xmlns:m="http://schemas.openxmlformats.org/officeDocument/2006/math">
                    <m:oMath>
                      <m:r>
                        <m:rPr>
                          <m:sty m:val="p"/>
                        </m:rPr>
                        <a:rPr lang="en-US"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𝜽</m:t>
                          </m:r>
                        </m:e>
                      </m:d>
                      <m:r>
                        <m:rPr>
                          <m:aln/>
                        </m:rPr>
                        <a:rPr lang="en-US" i="1">
                          <a:latin typeface="Cambria Math" panose="02040503050406030204" pitchFamily="18" charset="0"/>
                          <a:ea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𝑠</m:t>
                          </m:r>
                        </m:sub>
                        <m:sup/>
                        <m:e>
                          <m:r>
                            <a:rPr lang="en-US" i="1">
                              <a:latin typeface="Cambria Math" panose="02040503050406030204" pitchFamily="18" charset="0"/>
                              <a:ea typeface="Cambria Math" panose="02040503050406030204" pitchFamily="18" charset="0"/>
                            </a:rPr>
                            <m:t>𝜇</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d>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𝑎</m:t>
                              </m:r>
                            </m:sub>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m:rPr>
                                  <m:sty m:val="p"/>
                                </m:rP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e>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𝜽</m:t>
                                  </m:r>
                                </m:e>
                              </m:d>
                            </m:e>
                          </m:nary>
                        </m:e>
                      </m:nary>
                    </m:oMath>
                    <m:oMath>
                      <m:r>
                        <m:rPr>
                          <m:aln/>
                        </m:rP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nary>
                            <m:naryPr>
                              <m:chr m:val="∑"/>
                              <m:supHide m:val="on"/>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𝑎</m:t>
                              </m:r>
                            </m:sub>
                            <m:sup/>
                            <m:e>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𝜽</m:t>
                                  </m:r>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f>
                                <m:fPr>
                                  <m:ctrlPr>
                                    <a:rPr lang="en-US" i="1">
                                      <a:latin typeface="Cambria Math" panose="02040503050406030204" pitchFamily="18" charset="0"/>
                                      <a:ea typeface="Cambria Math" panose="02040503050406030204" pitchFamily="18" charset="0"/>
                                    </a:rPr>
                                  </m:ctrlPr>
                                </m:fPr>
                                <m:num>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𝜽</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𝜽</m:t>
                                  </m:r>
                                  <m:r>
                                    <a:rPr lang="en-US" i="1">
                                      <a:latin typeface="Cambria Math" panose="02040503050406030204" pitchFamily="18" charset="0"/>
                                      <a:ea typeface="Cambria Math" panose="02040503050406030204" pitchFamily="18" charset="0"/>
                                    </a:rPr>
                                    <m:t>)</m:t>
                                  </m:r>
                                </m:den>
                              </m:f>
                            </m:e>
                          </m:nary>
                        </m:e>
                      </m:d>
                    </m:oMath>
                    <m:oMath>
                      <m:r>
                        <a:rPr lang="en-US" b="0" i="1" smtClean="0">
                          <a:latin typeface="Cambria Math" panose="02040503050406030204" pitchFamily="18" charset="0"/>
                          <a:ea typeface="Cambria Math" panose="02040503050406030204" pitchFamily="18" charset="0"/>
                        </a:rPr>
                        <m:t> </m:t>
                      </m:r>
                    </m:oMath>
                    <m:oMath>
                      <m:r>
                        <m:rPr>
                          <m:aln/>
                        </m:rP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𝑡</m:t>
                              </m:r>
                            </m:sub>
                          </m:sSub>
                          <m:f>
                            <m:fPr>
                              <m:ctrlPr>
                                <a:rPr lang="en-US" b="0" i="1" smtClean="0">
                                  <a:latin typeface="Cambria Math" panose="02040503050406030204" pitchFamily="18" charset="0"/>
                                  <a:ea typeface="Cambria Math" panose="02040503050406030204" pitchFamily="18" charset="0"/>
                                </a:rPr>
                              </m:ctrlPr>
                            </m:fPr>
                            <m:num>
                              <m:r>
                                <m:rPr>
                                  <m:sty m:val="p"/>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𝜽</m:t>
                              </m:r>
                              <m:r>
                                <a:rPr lang="en-US" b="0" i="1" smtClean="0">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𝜽</m:t>
                              </m:r>
                              <m:r>
                                <a:rPr lang="en-US" i="1">
                                  <a:latin typeface="Cambria Math" panose="02040503050406030204" pitchFamily="18" charset="0"/>
                                  <a:ea typeface="Cambria Math" panose="02040503050406030204" pitchFamily="18" charset="0"/>
                                </a:rPr>
                                <m:t>)</m:t>
                              </m:r>
                            </m:den>
                          </m:f>
                        </m:e>
                      </m:d>
                    </m:oMath>
                    <m:oMath>
                      <m:r>
                        <a:rPr lang="en-US" b="0" i="1" smtClean="0">
                          <a:latin typeface="Cambria Math" panose="02040503050406030204" pitchFamily="18" charset="0"/>
                          <a:ea typeface="Cambria Math" panose="02040503050406030204" pitchFamily="18" charset="0"/>
                        </a:rPr>
                        <m:t> </m:t>
                      </m:r>
                    </m:oMath>
                    <m:oMath>
                      <m:r>
                        <m:rPr>
                          <m:aln/>
                        </m:rP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ln</m:t>
                              </m:r>
                            </m:fName>
                            <m:e>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𝜽</m:t>
                              </m:r>
                              <m:r>
                                <a:rPr lang="en-US" b="1" i="1" smtClean="0">
                                  <a:latin typeface="Cambria Math" panose="02040503050406030204" pitchFamily="18" charset="0"/>
                                  <a:ea typeface="Cambria Math" panose="02040503050406030204" pitchFamily="18" charset="0"/>
                                </a:rPr>
                                <m:t>)</m:t>
                              </m:r>
                            </m:e>
                          </m:func>
                        </m:e>
                      </m:d>
                    </m:oMath>
                  </m:oMathPara>
                </a14:m>
                <a:endParaRPr lang="en-US" i="1" dirty="0">
                  <a:latin typeface="Cambria Math" panose="02040503050406030204" pitchFamily="18" charset="0"/>
                  <a:ea typeface="Cambria Math" panose="02040503050406030204" pitchFamily="18" charset="0"/>
                </a:endParaRPr>
              </a:p>
            </p:txBody>
          </p:sp>
        </mc:Choice>
        <mc:Fallback xmlns="">
          <p:sp>
            <p:nvSpPr>
              <p:cNvPr id="3" name="Content Placeholder 2" descr="Equation: gradient of J (theta) is proportional to the sum over s, of mu (s) the sum over a, of q sub pi (s,a) gradient of pi (a given s, theta); equals E sub pi [the sum over a, of pi (A sub t given S sub t, theta) q sub pi (S sub t,a) the fraction gradient of pi (A sub t given S sub t, theta), over pi (A sub t given S sub t, theta), end fraction];; equals E sub pi [G sub t the fraction gradient of pi (A sub t given S sub t, theta), over pi (A sub t given S sub t, theta), end fraction];; equals E sub pi [G sub t ln of gradient of pi (A sub t given S sub t, theta)]">
                <a:extLst>
                  <a:ext uri="{FF2B5EF4-FFF2-40B4-BE49-F238E27FC236}">
                    <a16:creationId xmlns:a16="http://schemas.microsoft.com/office/drawing/2014/main" id="{F3692E5E-4E0F-A07A-A76B-D89BC62C9917}"/>
                  </a:ext>
                </a:extLst>
              </p:cNvPr>
              <p:cNvSpPr>
                <a:spLocks noGrp="1" noRot="1" noChangeAspect="1" noMove="1" noResize="1" noEditPoints="1" noAdjustHandles="1" noChangeArrowheads="1" noChangeShapeType="1" noTextEdit="1"/>
              </p:cNvSpPr>
              <p:nvPr>
                <p:ph idx="1"/>
              </p:nvPr>
            </p:nvSpPr>
            <p:spPr>
              <a:xfrm>
                <a:off x="838199" y="2237959"/>
                <a:ext cx="6176853" cy="3298764"/>
              </a:xfrm>
              <a:blipFill>
                <a:blip r:embed="rId2"/>
                <a:stretch>
                  <a:fillRect r="-35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descr="(replace s by the sampled S sub t ~ mu)">
                <a:extLst>
                  <a:ext uri="{FF2B5EF4-FFF2-40B4-BE49-F238E27FC236}">
                    <a16:creationId xmlns:a16="http://schemas.microsoft.com/office/drawing/2014/main" id="{D4AA782C-5593-DAF1-4AC5-86DC24584F2B}"/>
                  </a:ext>
                </a:extLst>
              </p:cNvPr>
              <p:cNvSpPr txBox="1"/>
              <p:nvPr/>
            </p:nvSpPr>
            <p:spPr>
              <a:xfrm>
                <a:off x="7305887" y="2391815"/>
                <a:ext cx="4183439" cy="369332"/>
              </a:xfrm>
              <a:prstGeom prst="rect">
                <a:avLst/>
              </a:prstGeom>
              <a:noFill/>
            </p:spPr>
            <p:txBody>
              <a:bodyPr wrap="square" rtlCol="0">
                <a:spAutoFit/>
              </a:bodyPr>
              <a:lstStyle/>
              <a:p>
                <a:r>
                  <a:rPr lang="en-US" dirty="0"/>
                  <a:t>(replace </a:t>
                </a:r>
                <a14:m>
                  <m:oMath xmlns:m="http://schemas.openxmlformats.org/officeDocument/2006/math">
                    <m:r>
                      <a:rPr lang="en-US" b="0" i="1" smtClean="0">
                        <a:latin typeface="Cambria Math" panose="02040503050406030204" pitchFamily="18" charset="0"/>
                      </a:rPr>
                      <m:t>𝑠</m:t>
                    </m:r>
                  </m:oMath>
                </a14:m>
                <a:r>
                  <a:rPr lang="en-US" dirty="0"/>
                  <a:t> by the sampled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𝜇</m:t>
                    </m:r>
                  </m:oMath>
                </a14:m>
                <a:r>
                  <a:rPr lang="en-US" dirty="0"/>
                  <a:t>)</a:t>
                </a:r>
              </a:p>
            </p:txBody>
          </p:sp>
        </mc:Choice>
        <mc:Fallback xmlns="">
          <p:sp>
            <p:nvSpPr>
              <p:cNvPr id="4" name="TextBox 3" descr="(replace s by the sampled S sub t ~ mu)">
                <a:extLst>
                  <a:ext uri="{FF2B5EF4-FFF2-40B4-BE49-F238E27FC236}">
                    <a16:creationId xmlns:a16="http://schemas.microsoft.com/office/drawing/2014/main" id="{D4AA782C-5593-DAF1-4AC5-86DC24584F2B}"/>
                  </a:ext>
                </a:extLst>
              </p:cNvPr>
              <p:cNvSpPr txBox="1">
                <a:spLocks noRot="1" noChangeAspect="1" noMove="1" noResize="1" noEditPoints="1" noAdjustHandles="1" noChangeArrowheads="1" noChangeShapeType="1" noTextEdit="1"/>
              </p:cNvSpPr>
              <p:nvPr/>
            </p:nvSpPr>
            <p:spPr>
              <a:xfrm>
                <a:off x="7305887" y="2391815"/>
                <a:ext cx="4183439" cy="369332"/>
              </a:xfrm>
              <a:prstGeom prst="rect">
                <a:avLst/>
              </a:prstGeom>
              <a:blipFill>
                <a:blip r:embed="rId5"/>
                <a:stretch>
                  <a:fillRect l="-1164"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descr="(replace a by the sampled A sub t ~ pi)">
                <a:extLst>
                  <a:ext uri="{FF2B5EF4-FFF2-40B4-BE49-F238E27FC236}">
                    <a16:creationId xmlns:a16="http://schemas.microsoft.com/office/drawing/2014/main" id="{D979B544-C519-EEE8-C07C-9B72B2FBA4AD}"/>
                  </a:ext>
                </a:extLst>
              </p:cNvPr>
              <p:cNvSpPr txBox="1"/>
              <p:nvPr/>
            </p:nvSpPr>
            <p:spPr>
              <a:xfrm>
                <a:off x="7305887" y="3156676"/>
                <a:ext cx="3783243" cy="369332"/>
              </a:xfrm>
              <a:prstGeom prst="rect">
                <a:avLst/>
              </a:prstGeom>
              <a:noFill/>
            </p:spPr>
            <p:txBody>
              <a:bodyPr wrap="square" rtlCol="0">
                <a:spAutoFit/>
              </a:bodyPr>
              <a:lstStyle/>
              <a:p>
                <a:r>
                  <a:rPr lang="en-US" dirty="0"/>
                  <a:t>(replace </a:t>
                </a:r>
                <a14:m>
                  <m:oMath xmlns:m="http://schemas.openxmlformats.org/officeDocument/2006/math">
                    <m:r>
                      <a:rPr lang="en-US" b="0" i="1" smtClean="0">
                        <a:latin typeface="Cambria Math" panose="02040503050406030204" pitchFamily="18" charset="0"/>
                      </a:rPr>
                      <m:t>𝑎</m:t>
                    </m:r>
                  </m:oMath>
                </a14:m>
                <a:r>
                  <a:rPr lang="en-US" dirty="0"/>
                  <a:t> by the sampled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𝜋</m:t>
                    </m:r>
                  </m:oMath>
                </a14:m>
                <a:r>
                  <a:rPr lang="en-US" dirty="0"/>
                  <a:t>)</a:t>
                </a:r>
              </a:p>
            </p:txBody>
          </p:sp>
        </mc:Choice>
        <mc:Fallback xmlns="">
          <p:sp>
            <p:nvSpPr>
              <p:cNvPr id="6" name="TextBox 5" descr="(replace a by the sampled A sub t ~ pi)">
                <a:extLst>
                  <a:ext uri="{FF2B5EF4-FFF2-40B4-BE49-F238E27FC236}">
                    <a16:creationId xmlns:a16="http://schemas.microsoft.com/office/drawing/2014/main" id="{D979B544-C519-EEE8-C07C-9B72B2FBA4AD}"/>
                  </a:ext>
                </a:extLst>
              </p:cNvPr>
              <p:cNvSpPr txBox="1">
                <a:spLocks noRot="1" noChangeAspect="1" noMove="1" noResize="1" noEditPoints="1" noAdjustHandles="1" noChangeArrowheads="1" noChangeShapeType="1" noTextEdit="1"/>
              </p:cNvSpPr>
              <p:nvPr/>
            </p:nvSpPr>
            <p:spPr>
              <a:xfrm>
                <a:off x="7305887" y="3156676"/>
                <a:ext cx="3783243" cy="369332"/>
              </a:xfrm>
              <a:prstGeom prst="rect">
                <a:avLst/>
              </a:prstGeom>
              <a:blipFill>
                <a:blip r:embed="rId3"/>
                <a:stretch>
                  <a:fillRect l="-1288" t="-8333"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descr="(because E sub pi [G sub t given S sub t,A sub t] equals q sub pi (S sub t,A sub t))">
                <a:extLst>
                  <a:ext uri="{FF2B5EF4-FFF2-40B4-BE49-F238E27FC236}">
                    <a16:creationId xmlns:a16="http://schemas.microsoft.com/office/drawing/2014/main" id="{EF1EACA7-2076-94B0-C327-E11E18E97FAC}"/>
                  </a:ext>
                </a:extLst>
              </p:cNvPr>
              <p:cNvSpPr txBox="1"/>
              <p:nvPr/>
            </p:nvSpPr>
            <p:spPr>
              <a:xfrm>
                <a:off x="7305887" y="4280574"/>
                <a:ext cx="3783243" cy="369332"/>
              </a:xfrm>
              <a:prstGeom prst="rect">
                <a:avLst/>
              </a:prstGeom>
              <a:noFill/>
            </p:spPr>
            <p:txBody>
              <a:bodyPr wrap="square" rtlCol="0">
                <a:spAutoFit/>
              </a:bodyPr>
              <a:lstStyle/>
              <a:p>
                <a:r>
                  <a:rPr lang="en-US" dirty="0"/>
                  <a:t>(because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𝜋</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oMath>
                </a14:m>
                <a:r>
                  <a:rPr lang="en-US" dirty="0"/>
                  <a:t>)</a:t>
                </a:r>
              </a:p>
            </p:txBody>
          </p:sp>
        </mc:Choice>
        <mc:Fallback xmlns="">
          <p:sp>
            <p:nvSpPr>
              <p:cNvPr id="7" name="TextBox 6" descr="(because E sub pi [G sub t given S sub t,A sub t] equals q sub pi (S sub t,A sub t))">
                <a:extLst>
                  <a:ext uri="{FF2B5EF4-FFF2-40B4-BE49-F238E27FC236}">
                    <a16:creationId xmlns:a16="http://schemas.microsoft.com/office/drawing/2014/main" id="{EF1EACA7-2076-94B0-C327-E11E18E97FAC}"/>
                  </a:ext>
                </a:extLst>
              </p:cNvPr>
              <p:cNvSpPr txBox="1">
                <a:spLocks noRot="1" noChangeAspect="1" noMove="1" noResize="1" noEditPoints="1" noAdjustHandles="1" noChangeArrowheads="1" noChangeShapeType="1" noTextEdit="1"/>
              </p:cNvSpPr>
              <p:nvPr/>
            </p:nvSpPr>
            <p:spPr>
              <a:xfrm>
                <a:off x="7305887" y="4280574"/>
                <a:ext cx="3783243" cy="369332"/>
              </a:xfrm>
              <a:prstGeom prst="rect">
                <a:avLst/>
              </a:prstGeom>
              <a:blipFill>
                <a:blip r:embed="rId4"/>
                <a:stretch>
                  <a:fillRect l="-1288"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descr="(because gradient of ln of x equals the fraction gradient of x, over x, end fraction)">
                <a:extLst>
                  <a:ext uri="{FF2B5EF4-FFF2-40B4-BE49-F238E27FC236}">
                    <a16:creationId xmlns:a16="http://schemas.microsoft.com/office/drawing/2014/main" id="{BF45850D-3559-27BA-E9D9-01CB3EECB739}"/>
                  </a:ext>
                </a:extLst>
              </p:cNvPr>
              <p:cNvSpPr txBox="1"/>
              <p:nvPr/>
            </p:nvSpPr>
            <p:spPr>
              <a:xfrm>
                <a:off x="7305887" y="5045435"/>
                <a:ext cx="3783243" cy="491288"/>
              </a:xfrm>
              <a:prstGeom prst="rect">
                <a:avLst/>
              </a:prstGeom>
              <a:noFill/>
            </p:spPr>
            <p:txBody>
              <a:bodyPr wrap="square" rtlCol="0">
                <a:spAutoFit/>
              </a:bodyPr>
              <a:lstStyle/>
              <a:p>
                <a:r>
                  <a:rPr lang="en-US" dirty="0"/>
                  <a:t>(because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ln</m:t>
                        </m:r>
                      </m:fName>
                      <m:e>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num>
                          <m:den>
                            <m:r>
                              <a:rPr lang="en-US" i="1">
                                <a:latin typeface="Cambria Math" panose="02040503050406030204" pitchFamily="18" charset="0"/>
                                <a:ea typeface="Cambria Math" panose="02040503050406030204" pitchFamily="18" charset="0"/>
                              </a:rPr>
                              <m:t>𝑥</m:t>
                            </m:r>
                          </m:den>
                        </m:f>
                      </m:e>
                    </m:func>
                  </m:oMath>
                </a14:m>
                <a:r>
                  <a:rPr lang="en-US" dirty="0"/>
                  <a:t>)</a:t>
                </a:r>
              </a:p>
            </p:txBody>
          </p:sp>
        </mc:Choice>
        <mc:Fallback xmlns="">
          <p:sp>
            <p:nvSpPr>
              <p:cNvPr id="10" name="TextBox 9" descr="(because gradient of ln of x equals the fraction gradient of x, over x, end fraction)">
                <a:extLst>
                  <a:ext uri="{FF2B5EF4-FFF2-40B4-BE49-F238E27FC236}">
                    <a16:creationId xmlns:a16="http://schemas.microsoft.com/office/drawing/2014/main" id="{BF45850D-3559-27BA-E9D9-01CB3EECB739}"/>
                  </a:ext>
                </a:extLst>
              </p:cNvPr>
              <p:cNvSpPr txBox="1">
                <a:spLocks noRot="1" noChangeAspect="1" noMove="1" noResize="1" noEditPoints="1" noAdjustHandles="1" noChangeArrowheads="1" noChangeShapeType="1" noTextEdit="1"/>
              </p:cNvSpPr>
              <p:nvPr/>
            </p:nvSpPr>
            <p:spPr>
              <a:xfrm>
                <a:off x="7305887" y="5045435"/>
                <a:ext cx="3783243" cy="491288"/>
              </a:xfrm>
              <a:prstGeom prst="rect">
                <a:avLst/>
              </a:prstGeom>
              <a:blipFill>
                <a:blip r:embed="rId7"/>
                <a:stretch>
                  <a:fillRect l="-1288"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Speech Bubble: Rectangle with Corners Rounded 10" descr="A sub t S sub t and an unbiased estimate of G sub t under the current pi can be obtained via MC">
                <a:extLst>
                  <a:ext uri="{FF2B5EF4-FFF2-40B4-BE49-F238E27FC236}">
                    <a16:creationId xmlns:a16="http://schemas.microsoft.com/office/drawing/2014/main" id="{0E0A6D4E-3C3A-D6B4-AF80-2EE6E3925191}"/>
                  </a:ext>
                </a:extLst>
              </p:cNvPr>
              <p:cNvSpPr/>
              <p:nvPr/>
            </p:nvSpPr>
            <p:spPr>
              <a:xfrm>
                <a:off x="1934314" y="5815800"/>
                <a:ext cx="5371573" cy="677074"/>
              </a:xfrm>
              <a:prstGeom prst="wedgeRoundRectCallout">
                <a:avLst>
                  <a:gd name="adj1" fmla="val -13697"/>
                  <a:gd name="adj2" fmla="val -95839"/>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dirty="0"/>
                  <a:t> and an unbiased estimate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oMath>
                </a14:m>
                <a:r>
                  <a:rPr lang="en-US" i="1" dirty="0">
                    <a:latin typeface="Cambria Math" panose="02040503050406030204" pitchFamily="18" charset="0"/>
                    <a:ea typeface="Cambria Math" panose="02040503050406030204" pitchFamily="18" charset="0"/>
                  </a:rPr>
                  <a:t> </a:t>
                </a:r>
                <a:r>
                  <a:rPr lang="en-US" dirty="0"/>
                  <a:t>under the current </a:t>
                </a:r>
                <a14:m>
                  <m:oMath xmlns:m="http://schemas.openxmlformats.org/officeDocument/2006/math">
                    <m:r>
                      <a:rPr lang="en-US" i="1">
                        <a:latin typeface="Cambria Math" panose="02040503050406030204" pitchFamily="18" charset="0"/>
                      </a:rPr>
                      <m:t>𝜋</m:t>
                    </m:r>
                  </m:oMath>
                </a14:m>
                <a:r>
                  <a:rPr lang="en-US" dirty="0"/>
                  <a:t> can be obtained via MC.</a:t>
                </a:r>
              </a:p>
            </p:txBody>
          </p:sp>
        </mc:Choice>
        <mc:Fallback xmlns="">
          <p:sp>
            <p:nvSpPr>
              <p:cNvPr id="11" name="Speech Bubble: Rectangle with Corners Rounded 10" descr="A sub t S sub t and an unbiased estimate of G sub t under the current pi can be obtained via MC">
                <a:extLst>
                  <a:ext uri="{FF2B5EF4-FFF2-40B4-BE49-F238E27FC236}">
                    <a16:creationId xmlns:a16="http://schemas.microsoft.com/office/drawing/2014/main" id="{0E0A6D4E-3C3A-D6B4-AF80-2EE6E3925191}"/>
                  </a:ext>
                </a:extLst>
              </p:cNvPr>
              <p:cNvSpPr>
                <a:spLocks noRot="1" noChangeAspect="1" noMove="1" noResize="1" noEditPoints="1" noAdjustHandles="1" noChangeArrowheads="1" noChangeShapeType="1" noTextEdit="1"/>
              </p:cNvSpPr>
              <p:nvPr/>
            </p:nvSpPr>
            <p:spPr>
              <a:xfrm>
                <a:off x="1934314" y="5815800"/>
                <a:ext cx="5371573" cy="677074"/>
              </a:xfrm>
              <a:prstGeom prst="wedgeRoundRectCallout">
                <a:avLst>
                  <a:gd name="adj1" fmla="val -13697"/>
                  <a:gd name="adj2" fmla="val -95839"/>
                  <a:gd name="adj3" fmla="val 16667"/>
                </a:avLst>
              </a:prstGeom>
              <a:blipFill>
                <a:blip r:embed="rId8"/>
                <a:stretch>
                  <a:fillRect l="-226" b="-7229"/>
                </a:stretch>
              </a:blipFill>
            </p:spPr>
            <p:txBody>
              <a:bodyPr/>
              <a:lstStyle/>
              <a:p>
                <a:r>
                  <a:rPr lang="en-US">
                    <a:noFill/>
                  </a:rPr>
                  <a:t> </a:t>
                </a:r>
              </a:p>
            </p:txBody>
          </p:sp>
        </mc:Fallback>
      </mc:AlternateContent>
      <p:sp>
        <p:nvSpPr>
          <p:cNvPr id="5" name="Speech Bubble: Rectangle with Corners Rounded 4">
            <a:extLst>
              <a:ext uri="{FF2B5EF4-FFF2-40B4-BE49-F238E27FC236}">
                <a16:creationId xmlns:a16="http://schemas.microsoft.com/office/drawing/2014/main" id="{014D84C1-60EA-82C5-B8D9-153A02B2C659}"/>
              </a:ext>
            </a:extLst>
          </p:cNvPr>
          <p:cNvSpPr/>
          <p:nvPr/>
        </p:nvSpPr>
        <p:spPr>
          <a:xfrm>
            <a:off x="7354876" y="1611445"/>
            <a:ext cx="2645764" cy="476615"/>
          </a:xfrm>
          <a:prstGeom prst="wedgeRoundRectCallout">
            <a:avLst>
              <a:gd name="adj1" fmla="val -106352"/>
              <a:gd name="adj2" fmla="val 11953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Policy Gradient Theorem</a:t>
            </a:r>
          </a:p>
        </p:txBody>
      </p:sp>
      <p:sp>
        <p:nvSpPr>
          <p:cNvPr id="8" name="TextBox 7">
            <a:extLst>
              <a:ext uri="{FF2B5EF4-FFF2-40B4-BE49-F238E27FC236}">
                <a16:creationId xmlns:a16="http://schemas.microsoft.com/office/drawing/2014/main" id="{08F7BA38-81CE-5AF0-45F9-43B4CCEA759D}"/>
              </a:ext>
            </a:extLst>
          </p:cNvPr>
          <p:cNvSpPr txBox="1"/>
          <p:nvPr/>
        </p:nvSpPr>
        <p:spPr>
          <a:xfrm>
            <a:off x="8053431" y="5728889"/>
            <a:ext cx="3783243" cy="92333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Convergence to a local optimum:</a:t>
            </a:r>
          </a:p>
          <a:p>
            <a:pPr marL="285750" indent="-285750">
              <a:buFont typeface="Arial" panose="020B0604020202020204" pitchFamily="34" charset="0"/>
              <a:buChar char="•"/>
            </a:pPr>
            <a:r>
              <a:rPr lang="en-US" dirty="0"/>
              <a:t>linear approximation</a:t>
            </a:r>
          </a:p>
          <a:p>
            <a:pPr marL="285750" indent="-285750">
              <a:buFont typeface="Arial" panose="020B0604020202020204" pitchFamily="34" charset="0"/>
              <a:buChar char="•"/>
            </a:pPr>
            <a:r>
              <a:rPr lang="en-US" dirty="0"/>
              <a:t>step size reduction</a:t>
            </a:r>
          </a:p>
        </p:txBody>
      </p:sp>
    </p:spTree>
    <p:extLst>
      <p:ext uri="{BB962C8B-B14F-4D97-AF65-F5344CB8AC3E}">
        <p14:creationId xmlns:p14="http://schemas.microsoft.com/office/powerpoint/2010/main" val="127318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7" grpId="0"/>
      <p:bldP spid="10" grpId="0"/>
      <p:bldP spid="11" grpId="0" animBg="1"/>
      <p:bldP spid="5"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846B-68DA-9665-F3C8-EFD6C97E6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2F899-1499-8E06-0445-BD2138EDB85A}"/>
              </a:ext>
            </a:extLst>
          </p:cNvPr>
          <p:cNvSpPr>
            <a:spLocks noGrp="1"/>
          </p:cNvSpPr>
          <p:nvPr>
            <p:ph type="title"/>
          </p:nvPr>
        </p:nvSpPr>
        <p:spPr/>
        <p:txBody>
          <a:bodyPr/>
          <a:lstStyle/>
          <a:p>
            <a:r>
              <a:rPr lang="en-US" dirty="0"/>
              <a:t>REINFORCE Algorithm</a:t>
            </a:r>
          </a:p>
        </p:txBody>
      </p:sp>
      <p:pic>
        <p:nvPicPr>
          <p:cNvPr id="5" name="Picture 4" descr="Algorithm box: REINFORCE: Monte-Carlo Policy-Gradient Control (episodic) for pi star. Input: a differentiable policy parameterization pi(a | s, theta). Algorithm parameter: step size alpha &gt; 0. Initialize policy parameter theta in R^d′ (e.g., to 0). Loop forever (for each episode): Generate an episode S_0, A_0, R_1, …, S_T−1, A_T−1, R_T, following pi(· | ·, theta); Loop for each step of the episode t = 0, 1, …, T − 1: G ← sum from k = t + 1 to T of gamma to the power k − t − 1 times R_k, giving G_t; theta ← theta + alpha gamma to the t times G times the gradient of ln pi(A_t | S_t, theta).">
            <a:extLst>
              <a:ext uri="{FF2B5EF4-FFF2-40B4-BE49-F238E27FC236}">
                <a16:creationId xmlns:a16="http://schemas.microsoft.com/office/drawing/2014/main" id="{7A46DFC6-5448-DD38-1C4B-9AD716BBC796}"/>
              </a:ext>
            </a:extLst>
          </p:cNvPr>
          <p:cNvPicPr>
            <a:picLocks noChangeAspect="1"/>
          </p:cNvPicPr>
          <p:nvPr/>
        </p:nvPicPr>
        <p:blipFill>
          <a:blip r:embed="rId2"/>
          <a:stretch>
            <a:fillRect/>
          </a:stretch>
        </p:blipFill>
        <p:spPr>
          <a:xfrm>
            <a:off x="1119753" y="1124198"/>
            <a:ext cx="9759682" cy="3596860"/>
          </a:xfrm>
          <a:prstGeom prst="rect">
            <a:avLst/>
          </a:prstGeom>
        </p:spPr>
      </p:pic>
      <mc:AlternateContent xmlns:mc="http://schemas.openxmlformats.org/markup-compatibility/2006" xmlns:a14="http://schemas.microsoft.com/office/drawing/2010/main">
        <mc:Choice Requires="a14">
          <p:sp>
            <p:nvSpPr>
              <p:cNvPr id="7" name="TextBox 6" descr="Notes:. MC sampling leads to high variance in the gradient estimate (which is worse than variance in the return estimate). REINFORCE is often implemented with a baseline reward for each state to reduce variance: R sub t minus b(S sub t)">
                <a:extLst>
                  <a:ext uri="{FF2B5EF4-FFF2-40B4-BE49-F238E27FC236}">
                    <a16:creationId xmlns:a16="http://schemas.microsoft.com/office/drawing/2014/main" id="{8E074B3E-757C-2A75-351C-454936CC129D}"/>
                  </a:ext>
                </a:extLst>
              </p:cNvPr>
              <p:cNvSpPr txBox="1"/>
              <p:nvPr/>
            </p:nvSpPr>
            <p:spPr>
              <a:xfrm>
                <a:off x="1412604" y="4909277"/>
                <a:ext cx="9173980" cy="147732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Notes:</a:t>
                </a:r>
              </a:p>
              <a:p>
                <a:pPr marL="285750" indent="-285750">
                  <a:buFont typeface="Arial" panose="020B0604020202020204" pitchFamily="34" charset="0"/>
                  <a:buChar char="•"/>
                </a:pPr>
                <a:r>
                  <a:rPr lang="en-US" dirty="0"/>
                  <a:t>MC sampling leads to high variance in the gradient estimate (which is worse than variance in the return estimate).</a:t>
                </a:r>
              </a:p>
              <a:p>
                <a:pPr marL="285750" indent="-285750">
                  <a:buFont typeface="Arial" panose="020B0604020202020204" pitchFamily="34" charset="0"/>
                  <a:buChar char="•"/>
                </a:pPr>
                <a:r>
                  <a:rPr lang="en-US" dirty="0"/>
                  <a:t>REINFORCE is often implemented with a baseline reward for each state to reduce variance: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r>
                      <a:rPr lang="en-US" b="0" i="1" smtClean="0">
                        <a:latin typeface="Cambria Math" panose="02040503050406030204" pitchFamily="18" charset="0"/>
                      </a:rPr>
                      <m:t> −</m:t>
                    </m:r>
                    <m:r>
                      <a:rPr lang="en-US" b="0" i="1" smtClean="0">
                        <a:latin typeface="Cambria Math" panose="02040503050406030204" pitchFamily="18" charset="0"/>
                      </a:rPr>
                      <m:t>𝑏</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p:txBody>
          </p:sp>
        </mc:Choice>
        <mc:Fallback xmlns="">
          <p:sp>
            <p:nvSpPr>
              <p:cNvPr id="7" name="TextBox 6" descr="Notes:. MC sampling leads to high variance in the gradient estimate (which is worse than variance in the return estimate). REINFORCE is often implemented with a baseline reward for each state to reduce variance: R sub t minus b(S sub t)">
                <a:extLst>
                  <a:ext uri="{FF2B5EF4-FFF2-40B4-BE49-F238E27FC236}">
                    <a16:creationId xmlns:a16="http://schemas.microsoft.com/office/drawing/2014/main" id="{8E074B3E-757C-2A75-351C-454936CC129D}"/>
                  </a:ext>
                </a:extLst>
              </p:cNvPr>
              <p:cNvSpPr txBox="1">
                <a:spLocks noRot="1" noChangeAspect="1" noMove="1" noResize="1" noEditPoints="1" noAdjustHandles="1" noChangeArrowheads="1" noChangeShapeType="1" noTextEdit="1"/>
              </p:cNvSpPr>
              <p:nvPr/>
            </p:nvSpPr>
            <p:spPr>
              <a:xfrm>
                <a:off x="1412604" y="4909277"/>
                <a:ext cx="9173980" cy="1477328"/>
              </a:xfrm>
              <a:prstGeom prst="rect">
                <a:avLst/>
              </a:prstGeom>
              <a:blipFill>
                <a:blip r:embed="rId3"/>
                <a:stretch>
                  <a:fillRect l="-531" t="-1220" b="-4878"/>
                </a:stretch>
              </a:blipFill>
            </p:spPr>
            <p:txBody>
              <a:bodyPr/>
              <a:lstStyle/>
              <a:p>
                <a:r>
                  <a:rPr lang="en-US">
                    <a:noFill/>
                  </a:rPr>
                  <a:t> </a:t>
                </a:r>
              </a:p>
            </p:txBody>
          </p:sp>
        </mc:Fallback>
      </mc:AlternateContent>
    </p:spTree>
    <p:extLst>
      <p:ext uri="{BB962C8B-B14F-4D97-AF65-F5344CB8AC3E}">
        <p14:creationId xmlns:p14="http://schemas.microsoft.com/office/powerpoint/2010/main" val="269349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35DA-6659-FCD2-0535-D2F5B36B0BBF}"/>
              </a:ext>
            </a:extLst>
          </p:cNvPr>
          <p:cNvSpPr>
            <a:spLocks noGrp="1"/>
          </p:cNvSpPr>
          <p:nvPr>
            <p:ph type="title"/>
          </p:nvPr>
        </p:nvSpPr>
        <p:spPr/>
        <p:txBody>
          <a:bodyPr/>
          <a:lstStyle/>
          <a:p>
            <a:r>
              <a:rPr lang="en-US" dirty="0"/>
              <a:t>Actor-Critic Methods</a:t>
            </a:r>
          </a:p>
        </p:txBody>
      </p:sp>
      <p:sp>
        <p:nvSpPr>
          <p:cNvPr id="3" name="Text Placeholder 2">
            <a:extLst>
              <a:ext uri="{FF2B5EF4-FFF2-40B4-BE49-F238E27FC236}">
                <a16:creationId xmlns:a16="http://schemas.microsoft.com/office/drawing/2014/main" id="{F7904E83-698E-5514-E2C1-DE4C72B84BEF}"/>
              </a:ext>
            </a:extLst>
          </p:cNvPr>
          <p:cNvSpPr>
            <a:spLocks noGrp="1"/>
          </p:cNvSpPr>
          <p:nvPr>
            <p:ph type="body" idx="1"/>
          </p:nvPr>
        </p:nvSpPr>
        <p:spPr/>
        <p:txBody>
          <a:bodyPr/>
          <a:lstStyle/>
          <a:p>
            <a:r>
              <a:rPr lang="en-US" dirty="0"/>
              <a:t>Combining an </a:t>
            </a:r>
          </a:p>
          <a:p>
            <a:pPr marL="342900" indent="-342900">
              <a:buFont typeface="Arial" panose="020B0604020202020204" pitchFamily="34" charset="0"/>
              <a:buChar char="•"/>
            </a:pPr>
            <a:r>
              <a:rPr lang="en-US" dirty="0"/>
              <a:t>actor (a parameterized policy) with a </a:t>
            </a:r>
          </a:p>
          <a:p>
            <a:pPr marL="342900" indent="-342900">
              <a:buFont typeface="Arial" panose="020B0604020202020204" pitchFamily="34" charset="0"/>
              <a:buChar char="•"/>
            </a:pPr>
            <a:r>
              <a:rPr lang="en-US" dirty="0"/>
              <a:t>critic (using a parameterized value functions)</a:t>
            </a:r>
          </a:p>
        </p:txBody>
      </p:sp>
    </p:spTree>
    <p:extLst>
      <p:ext uri="{BB962C8B-B14F-4D97-AF65-F5344CB8AC3E}">
        <p14:creationId xmlns:p14="http://schemas.microsoft.com/office/powerpoint/2010/main" val="1039217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58F417-5DF6-F5B5-A385-666C67922FA0}"/>
              </a:ext>
            </a:extLst>
          </p:cNvPr>
          <p:cNvSpPr>
            <a:spLocks noGrp="1"/>
          </p:cNvSpPr>
          <p:nvPr>
            <p:ph type="title"/>
          </p:nvPr>
        </p:nvSpPr>
        <p:spPr/>
        <p:txBody>
          <a:bodyPr/>
          <a:lstStyle/>
          <a:p>
            <a:r>
              <a:rPr lang="en-US" dirty="0"/>
              <a:t>Actor-Critic Methods </a:t>
            </a:r>
          </a:p>
        </p:txBody>
      </p:sp>
      <mc:AlternateContent xmlns:mc="http://schemas.openxmlformats.org/markup-compatibility/2006" xmlns:a14="http://schemas.microsoft.com/office/drawing/2010/main">
        <mc:Choice Requires="a14">
          <p:sp>
            <p:nvSpPr>
              <p:cNvPr id="5" name="Content Placeholder 4" descr="Idea: estimate parameterized policy + parameterized value function. Actor: estimates a parameterized policy pi and decides on actions. Critic: estimates the TD error using its value function estimate V equals v hat sub pi delta sub t equals R sub t plus 1, plus gamma V (S sub t plus 1) minus V (S sub t) The critic judges the actor’s action by comparing the received reward to the expected value difference. Positive TD error: the last action performed better than expected and the tendency to pick it should be strengthened. Negative TD error: suggests the tendency should be weakened. The TD error is used to update both approximations! For the policy update this means:. The update does no longer use MC as in REINFORCE. It uses a TD estimate of the return minus a value-function estimate as the baseline. This reduces variability and can improve learning">
                <a:extLst>
                  <a:ext uri="{FF2B5EF4-FFF2-40B4-BE49-F238E27FC236}">
                    <a16:creationId xmlns:a16="http://schemas.microsoft.com/office/drawing/2014/main" id="{5DE7457B-2499-5391-0012-F1D1EE0A7C01}"/>
                  </a:ext>
                </a:extLst>
              </p:cNvPr>
              <p:cNvSpPr>
                <a:spLocks noGrp="1"/>
              </p:cNvSpPr>
              <p:nvPr>
                <p:ph idx="1"/>
              </p:nvPr>
            </p:nvSpPr>
            <p:spPr>
              <a:xfrm>
                <a:off x="614254" y="1290909"/>
                <a:ext cx="7859652" cy="5081969"/>
              </a:xfrm>
            </p:spPr>
            <p:txBody>
              <a:bodyPr>
                <a:normAutofit fontScale="62500" lnSpcReduction="20000"/>
              </a:bodyPr>
              <a:lstStyle/>
              <a:p>
                <a:r>
                  <a:rPr lang="en-US" b="1" dirty="0"/>
                  <a:t>Idea</a:t>
                </a:r>
                <a:r>
                  <a:rPr lang="en-US" dirty="0"/>
                  <a:t>: estimate</a:t>
                </a:r>
                <a:br>
                  <a:rPr lang="en-US" dirty="0"/>
                </a:br>
                <a:br>
                  <a:rPr lang="en-US" dirty="0"/>
                </a:br>
                <a:r>
                  <a:rPr lang="en-US" dirty="0"/>
                  <a:t>           parameterized policy + parameterized value function</a:t>
                </a:r>
                <a:br>
                  <a:rPr lang="en-US" dirty="0"/>
                </a:br>
                <a:br>
                  <a:rPr lang="en-US" dirty="0"/>
                </a:br>
                <a:endParaRPr lang="en-US" dirty="0"/>
              </a:p>
              <a:p>
                <a:r>
                  <a:rPr lang="en-US" b="1" dirty="0"/>
                  <a:t>Actor</a:t>
                </a:r>
                <a:r>
                  <a:rPr lang="en-US" dirty="0"/>
                  <a:t>: estimates a parameterized policy </a:t>
                </a:r>
                <a14:m>
                  <m:oMath xmlns:m="http://schemas.openxmlformats.org/officeDocument/2006/math">
                    <m:r>
                      <a:rPr lang="en-US" b="0" i="1" smtClean="0">
                        <a:latin typeface="Cambria Math" panose="02040503050406030204" pitchFamily="18" charset="0"/>
                      </a:rPr>
                      <m:t>𝜋</m:t>
                    </m:r>
                  </m:oMath>
                </a14:m>
                <a:r>
                  <a:rPr lang="en-US" dirty="0"/>
                  <a:t> and decides on actions.</a:t>
                </a:r>
              </a:p>
              <a:p>
                <a:r>
                  <a:rPr lang="en-US" b="1" dirty="0"/>
                  <a:t>Critic</a:t>
                </a:r>
                <a:r>
                  <a:rPr lang="en-US" dirty="0"/>
                  <a:t>: estimates the TD error using its value function estimate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𝜋</m:t>
                        </m:r>
                      </m:sub>
                    </m:sSub>
                  </m:oMath>
                </a14:m>
                <a:br>
                  <a:rPr lang="en-US" b="0" i="1" dirty="0">
                    <a:latin typeface="Cambria Math" panose="02040503050406030204" pitchFamily="18" charset="0"/>
                  </a:rPr>
                </a:br>
                <a:br>
                  <a:rPr lang="en-US" b="0" i="1" dirty="0">
                    <a:latin typeface="Cambria Math" panose="02040503050406030204" pitchFamily="18" charset="0"/>
                  </a:rPr>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oMath>
                </a14:m>
                <a:br>
                  <a:rPr lang="en-US" b="0" i="1" dirty="0">
                    <a:latin typeface="Cambria Math" panose="02040503050406030204" pitchFamily="18" charset="0"/>
                  </a:rPr>
                </a:br>
                <a:br>
                  <a:rPr lang="en-US" b="0" i="1" dirty="0">
                    <a:latin typeface="Cambria Math" panose="02040503050406030204" pitchFamily="18" charset="0"/>
                  </a:rPr>
                </a:br>
                <a:br>
                  <a:rPr lang="en-US" b="0" i="1" dirty="0">
                    <a:latin typeface="Cambria Math" panose="02040503050406030204" pitchFamily="18" charset="0"/>
                  </a:rPr>
                </a:br>
                <a:r>
                  <a:rPr lang="en-US" dirty="0"/>
                  <a:t>The critic judges the actor’s action by comparing the received reward to the expected value difference. </a:t>
                </a:r>
              </a:p>
              <a:p>
                <a:pPr lvl="1"/>
                <a:r>
                  <a:rPr lang="en-US" dirty="0"/>
                  <a:t>Positive TD error: the last action performed better than expected and the tendency to pick it should be strengthened.</a:t>
                </a:r>
              </a:p>
              <a:p>
                <a:pPr lvl="1"/>
                <a:r>
                  <a:rPr lang="en-US" dirty="0"/>
                  <a:t>Negative TD error: suggests the tendency should be weakened.</a:t>
                </a:r>
              </a:p>
              <a:p>
                <a:endParaRPr lang="en-US" dirty="0"/>
              </a:p>
              <a:p>
                <a:r>
                  <a:rPr lang="en-US" dirty="0"/>
                  <a:t>The TD error is used to update both approximations! For the policy update this means:</a:t>
                </a:r>
              </a:p>
              <a:p>
                <a:pPr lvl="1"/>
                <a:r>
                  <a:rPr lang="en-US" dirty="0"/>
                  <a:t>The update does no longer use MC as in REINFORCE. </a:t>
                </a:r>
              </a:p>
              <a:p>
                <a:pPr lvl="1"/>
                <a:r>
                  <a:rPr lang="en-US" dirty="0"/>
                  <a:t>It uses a TD estimate of the return minus a value-function estimate as the baseline.</a:t>
                </a:r>
              </a:p>
              <a:p>
                <a:pPr lvl="1"/>
                <a:r>
                  <a:rPr lang="en-US" dirty="0"/>
                  <a:t>This reduces variability and can improve learning. </a:t>
                </a:r>
              </a:p>
            </p:txBody>
          </p:sp>
        </mc:Choice>
        <mc:Fallback xmlns="">
          <p:sp>
            <p:nvSpPr>
              <p:cNvPr id="5" name="Content Placeholder 4" descr="Idea: estimate parameterized policy + parameterized value function. Actor: estimates a parameterized policy pi and decides on actions. Critic: estimates the TD error using its value function estimate V equals v hat sub pi delta sub t equals R sub t plus 1, plus gamma V (S sub t plus 1) minus V (S sub t) The critic judges the actor’s action by comparing the received reward to the expected value difference. Positive TD error: the last action performed better than expected and the tendency to pick it should be strengthened. Negative TD error: suggests the tendency should be weakened. The TD error is used to update both approximations! For the policy update this means:. The update does no longer use MC as in REINFORCE. It uses a TD estimate of the return minus a value-function estimate as the baseline. This reduces variability and can improve learning">
                <a:extLst>
                  <a:ext uri="{FF2B5EF4-FFF2-40B4-BE49-F238E27FC236}">
                    <a16:creationId xmlns:a16="http://schemas.microsoft.com/office/drawing/2014/main" id="{5DE7457B-2499-5391-0012-F1D1EE0A7C01}"/>
                  </a:ext>
                </a:extLst>
              </p:cNvPr>
              <p:cNvSpPr>
                <a:spLocks noGrp="1" noRot="1" noChangeAspect="1" noMove="1" noResize="1" noEditPoints="1" noAdjustHandles="1" noChangeArrowheads="1" noChangeShapeType="1" noTextEdit="1"/>
              </p:cNvSpPr>
              <p:nvPr>
                <p:ph idx="1"/>
              </p:nvPr>
            </p:nvSpPr>
            <p:spPr>
              <a:xfrm>
                <a:off x="614254" y="1290909"/>
                <a:ext cx="7859652" cy="5081969"/>
              </a:xfrm>
              <a:blipFill>
                <a:blip r:embed="rId2"/>
                <a:stretch>
                  <a:fillRect l="-543" t="-1921"/>
                </a:stretch>
              </a:blipFill>
            </p:spPr>
            <p:txBody>
              <a:bodyPr/>
              <a:lstStyle/>
              <a:p>
                <a:r>
                  <a:rPr lang="en-US">
                    <a:noFill/>
                  </a:rPr>
                  <a:t> </a:t>
                </a:r>
              </a:p>
            </p:txBody>
          </p:sp>
        </mc:Fallback>
      </mc:AlternateContent>
      <p:pic>
        <p:nvPicPr>
          <p:cNvPr id="6" name="Picture 5" descr="Actor–critic architecture (Sutton and Barto, first edition): the environment sends the state to the actor (the policy) and the critic (the value function), and a reward to the critic; the critic sends the TD error to the actor; the actor sends actions to the environment.">
            <a:extLst>
              <a:ext uri="{FF2B5EF4-FFF2-40B4-BE49-F238E27FC236}">
                <a16:creationId xmlns:a16="http://schemas.microsoft.com/office/drawing/2014/main" id="{2DED067C-18CB-0247-F450-1737DF323D2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3000"/>
                    </a14:imgEffect>
                  </a14:imgLayer>
                </a14:imgProps>
              </a:ext>
            </a:extLst>
          </a:blip>
          <a:stretch>
            <a:fillRect/>
          </a:stretch>
        </p:blipFill>
        <p:spPr>
          <a:xfrm>
            <a:off x="8389575" y="1124198"/>
            <a:ext cx="3362325" cy="3333750"/>
          </a:xfrm>
          <a:prstGeom prst="rect">
            <a:avLst/>
          </a:prstGeom>
        </p:spPr>
      </p:pic>
      <p:sp>
        <p:nvSpPr>
          <p:cNvPr id="8" name="Speech Bubble: Rectangle with Corners Rounded 7">
            <a:extLst>
              <a:ext uri="{FF2B5EF4-FFF2-40B4-BE49-F238E27FC236}">
                <a16:creationId xmlns:a16="http://schemas.microsoft.com/office/drawing/2014/main" id="{DCFB1FF7-D494-0158-F859-80659F0FB6F8}"/>
              </a:ext>
            </a:extLst>
          </p:cNvPr>
          <p:cNvSpPr/>
          <p:nvPr/>
        </p:nvSpPr>
        <p:spPr>
          <a:xfrm>
            <a:off x="6560775" y="3016837"/>
            <a:ext cx="1828800" cy="635194"/>
          </a:xfrm>
          <a:prstGeom prst="wedgeRoundRectCallout">
            <a:avLst>
              <a:gd name="adj1" fmla="val -83535"/>
              <a:gd name="adj2" fmla="val -2431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Can be seen as a learned baseline for the policy update!</a:t>
            </a:r>
          </a:p>
        </p:txBody>
      </p:sp>
    </p:spTree>
    <p:extLst>
      <p:ext uri="{BB962C8B-B14F-4D97-AF65-F5344CB8AC3E}">
        <p14:creationId xmlns:p14="http://schemas.microsoft.com/office/powerpoint/2010/main" val="379827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DEE8-3A5A-1680-25D9-56A4677DFF93}"/>
              </a:ext>
            </a:extLst>
          </p:cNvPr>
          <p:cNvSpPr>
            <a:spLocks noGrp="1"/>
          </p:cNvSpPr>
          <p:nvPr>
            <p:ph type="title"/>
          </p:nvPr>
        </p:nvSpPr>
        <p:spPr/>
        <p:txBody>
          <a:bodyPr/>
          <a:lstStyle/>
          <a:p>
            <a:r>
              <a:rPr lang="en-US" dirty="0"/>
              <a:t>The Policy Gradient Update Signal</a:t>
            </a:r>
          </a:p>
        </p:txBody>
      </p:sp>
      <mc:AlternateContent xmlns:mc="http://schemas.openxmlformats.org/markup-compatibility/2006" xmlns:a14="http://schemas.microsoft.com/office/drawing/2010/main">
        <mc:Choice Requires="a14">
          <p:sp>
            <p:nvSpPr>
              <p:cNvPr id="3" name="Content Placeholder 2" descr="True policy gradient gradient of J (theta) equals E sub pi [q sub pi (s,a) gradient of log of pi (a given s)]. The update can use any signal X gradient of J (theta) is proportional to E sub pi [X gradient of log of pi (a given s)] as long as E sub pi [X given s,a] is proportional to q sub pi (s,a), i.e., if it tells us how good an action is. Examples of valid signals:. MC (REINFORCE): X equals G sub t. Advantage function: X equals A(s,a) equals q(s,a) minus v(s). TD error: X equals delta sub t equals R sub t plus 1, plus gamma v (S sub t plus 1) minus v(S sub t)">
                <a:extLst>
                  <a:ext uri="{FF2B5EF4-FFF2-40B4-BE49-F238E27FC236}">
                    <a16:creationId xmlns:a16="http://schemas.microsoft.com/office/drawing/2014/main" id="{B72662DD-E598-030D-12ED-27652D3DF7F1}"/>
                  </a:ext>
                </a:extLst>
              </p:cNvPr>
              <p:cNvSpPr>
                <a:spLocks noGrp="1"/>
              </p:cNvSpPr>
              <p:nvPr>
                <p:ph idx="1"/>
              </p:nvPr>
            </p:nvSpPr>
            <p:spPr/>
            <p:txBody>
              <a:bodyPr>
                <a:normAutofit fontScale="92500" lnSpcReduction="20000"/>
              </a:bodyPr>
              <a:lstStyle/>
              <a:p>
                <a:r>
                  <a:rPr lang="en-US" dirty="0"/>
                  <a:t>True policy gradient</a:t>
                </a:r>
                <a:br>
                  <a:rPr lang="en-US" dirty="0"/>
                </a:br>
                <a:br>
                  <a:rPr lang="en-US" dirty="0"/>
                </a:br>
                <a14:m>
                  <m:oMath xmlns:m="http://schemas.openxmlformats.org/officeDocument/2006/math">
                    <m:r>
                      <m:rPr>
                        <m:sty m:val="p"/>
                      </m:rP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𝜽</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e>
                        </m:func>
                      </m:e>
                    </m:d>
                  </m:oMath>
                </a14:m>
                <a:endParaRPr lang="en-US" i="1" dirty="0">
                  <a:latin typeface="Cambria Math" panose="02040503050406030204" pitchFamily="18" charset="0"/>
                  <a:ea typeface="Cambria Math" panose="02040503050406030204" pitchFamily="18" charset="0"/>
                </a:endParaRPr>
              </a:p>
              <a:p>
                <a:endParaRPr lang="en-US" i="1" dirty="0">
                  <a:latin typeface="Cambria Math" panose="02040503050406030204" pitchFamily="18" charset="0"/>
                  <a:ea typeface="Cambria Math" panose="02040503050406030204" pitchFamily="18" charset="0"/>
                </a:endParaRPr>
              </a:p>
              <a:p>
                <a:r>
                  <a:rPr lang="en-US" dirty="0"/>
                  <a:t>The update can use any signal </a:t>
                </a:r>
                <a14:m>
                  <m:oMath xmlns:m="http://schemas.openxmlformats.org/officeDocument/2006/math">
                    <m:r>
                      <a:rPr lang="en-US" i="1" dirty="0" smtClean="0">
                        <a:latin typeface="Cambria Math" panose="02040503050406030204" pitchFamily="18" charset="0"/>
                      </a:rPr>
                      <m:t>𝑋</m:t>
                    </m:r>
                  </m:oMath>
                </a14:m>
                <a:br>
                  <a:rPr lang="en-US" dirty="0"/>
                </a:br>
                <a:br>
                  <a:rPr lang="en-US" dirty="0"/>
                </a:br>
                <a14:m>
                  <m:oMath xmlns:m="http://schemas.openxmlformats.org/officeDocument/2006/math">
                    <m:r>
                      <m:rPr>
                        <m:sty m:val="p"/>
                      </m:rP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𝜽</m:t>
                        </m:r>
                      </m:e>
                    </m:d>
                    <m:r>
                      <m:rPr>
                        <m:aln/>
                      </m:rP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e>
                        </m:func>
                      </m:e>
                    </m:d>
                  </m:oMath>
                </a14:m>
                <a:br>
                  <a:rPr lang="en-US" i="1" dirty="0">
                    <a:latin typeface="Cambria Math" panose="02040503050406030204" pitchFamily="18" charset="0"/>
                    <a:ea typeface="Cambria Math" panose="02040503050406030204" pitchFamily="18" charset="0"/>
                  </a:rPr>
                </a:br>
                <a:br>
                  <a:rPr lang="en-US" i="1" dirty="0">
                    <a:latin typeface="Cambria Math" panose="02040503050406030204" pitchFamily="18" charset="0"/>
                    <a:ea typeface="Cambria Math" panose="02040503050406030204" pitchFamily="18" charset="0"/>
                  </a:rPr>
                </a:br>
                <a:r>
                  <a:rPr lang="en-US" dirty="0"/>
                  <a:t>as long as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e>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m:rPr>
                        <m:aln/>
                      </m:rP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oMath>
                </a14:m>
                <a:r>
                  <a:rPr lang="en-US" dirty="0"/>
                  <a:t>, i.e., if it tells us how good an action is.</a:t>
                </a:r>
              </a:p>
              <a:p>
                <a:endParaRPr lang="en-US" i="1" dirty="0">
                  <a:latin typeface="Cambria Math" panose="02040503050406030204" pitchFamily="18" charset="0"/>
                  <a:ea typeface="Cambria Math" panose="02040503050406030204" pitchFamily="18" charset="0"/>
                </a:endParaRPr>
              </a:p>
              <a:p>
                <a:r>
                  <a:rPr lang="en-US" dirty="0"/>
                  <a:t>Examples of valid signals:</a:t>
                </a:r>
              </a:p>
              <a:p>
                <a:pPr lvl="1"/>
                <a:r>
                  <a:rPr lang="en-US" dirty="0"/>
                  <a:t>MC (REINFORCE):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endParaRPr lang="en-US" dirty="0"/>
              </a:p>
              <a:p>
                <a:pPr lvl="1"/>
                <a:r>
                  <a:rPr lang="en-US" dirty="0"/>
                  <a:t>Advantage function: </a:t>
                </a:r>
                <a14:m>
                  <m:oMath xmlns:m="http://schemas.openxmlformats.org/officeDocument/2006/math">
                    <m:r>
                      <a:rPr lang="pt-BR" i="1" dirty="0" smtClean="0">
                        <a:latin typeface="Cambria Math" panose="02040503050406030204" pitchFamily="18" charset="0"/>
                      </a:rPr>
                      <m:t>𝑋</m:t>
                    </m:r>
                    <m:r>
                      <a:rPr lang="pt-BR" i="1" dirty="0" smtClean="0">
                        <a:latin typeface="Cambria Math" panose="02040503050406030204" pitchFamily="18" charset="0"/>
                      </a:rPr>
                      <m:t>=</m:t>
                    </m:r>
                    <m:r>
                      <a:rPr lang="pt-BR" i="1" dirty="0" smtClean="0">
                        <a:latin typeface="Cambria Math" panose="02040503050406030204" pitchFamily="18" charset="0"/>
                      </a:rPr>
                      <m:t>𝐴</m:t>
                    </m:r>
                    <m:r>
                      <a:rPr lang="pt-BR" i="1" dirty="0" smtClean="0">
                        <a:latin typeface="Cambria Math" panose="02040503050406030204" pitchFamily="18" charset="0"/>
                      </a:rPr>
                      <m:t>(</m:t>
                    </m:r>
                    <m:r>
                      <a:rPr lang="pt-BR" i="1" dirty="0" smtClean="0">
                        <a:latin typeface="Cambria Math" panose="02040503050406030204" pitchFamily="18" charset="0"/>
                      </a:rPr>
                      <m:t>𝑠</m:t>
                    </m:r>
                    <m:r>
                      <a:rPr lang="pt-BR" i="1" dirty="0" smtClean="0">
                        <a:latin typeface="Cambria Math" panose="02040503050406030204" pitchFamily="18" charset="0"/>
                      </a:rPr>
                      <m:t>,</m:t>
                    </m:r>
                    <m:r>
                      <a:rPr lang="pt-BR" i="1" dirty="0" smtClean="0">
                        <a:latin typeface="Cambria Math" panose="02040503050406030204" pitchFamily="18" charset="0"/>
                      </a:rPr>
                      <m:t>𝑎</m:t>
                    </m:r>
                    <m:r>
                      <a:rPr lang="pt-BR" i="1" dirty="0" smtClean="0">
                        <a:latin typeface="Cambria Math" panose="02040503050406030204" pitchFamily="18" charset="0"/>
                      </a:rPr>
                      <m:t>)=</m:t>
                    </m:r>
                    <m:r>
                      <a:rPr lang="en-US" b="0" i="1" dirty="0" smtClean="0">
                        <a:latin typeface="Cambria Math" panose="02040503050406030204" pitchFamily="18" charset="0"/>
                      </a:rPr>
                      <m:t>𝑞</m:t>
                    </m:r>
                    <m:r>
                      <a:rPr lang="pt-BR" i="1" dirty="0" smtClean="0">
                        <a:latin typeface="Cambria Math" panose="02040503050406030204" pitchFamily="18" charset="0"/>
                      </a:rPr>
                      <m:t>(</m:t>
                    </m:r>
                    <m:r>
                      <a:rPr lang="pt-BR" i="1" dirty="0" smtClean="0">
                        <a:latin typeface="Cambria Math" panose="02040503050406030204" pitchFamily="18" charset="0"/>
                      </a:rPr>
                      <m:t>𝑠</m:t>
                    </m:r>
                    <m:r>
                      <a:rPr lang="pt-BR" i="1" dirty="0" smtClean="0">
                        <a:latin typeface="Cambria Math" panose="02040503050406030204" pitchFamily="18" charset="0"/>
                      </a:rPr>
                      <m:t>,</m:t>
                    </m:r>
                    <m:r>
                      <a:rPr lang="pt-BR" i="1" dirty="0" smtClean="0">
                        <a:latin typeface="Cambria Math" panose="02040503050406030204" pitchFamily="18" charset="0"/>
                      </a:rPr>
                      <m:t>𝑎</m:t>
                    </m:r>
                    <m:r>
                      <a:rPr lang="pt-BR" i="1" dirty="0" smtClean="0">
                        <a:latin typeface="Cambria Math" panose="02040503050406030204" pitchFamily="18" charset="0"/>
                      </a:rPr>
                      <m:t>)−</m:t>
                    </m:r>
                    <m:r>
                      <a:rPr lang="en-US" b="0" i="1" dirty="0" smtClean="0">
                        <a:latin typeface="Cambria Math" panose="02040503050406030204" pitchFamily="18" charset="0"/>
                      </a:rPr>
                      <m:t>𝑣</m:t>
                    </m:r>
                    <m:r>
                      <a:rPr lang="pt-BR" i="1" dirty="0" smtClean="0">
                        <a:latin typeface="Cambria Math" panose="02040503050406030204" pitchFamily="18" charset="0"/>
                      </a:rPr>
                      <m:t>(</m:t>
                    </m:r>
                    <m:r>
                      <a:rPr lang="pt-BR" i="1" dirty="0" smtClean="0">
                        <a:latin typeface="Cambria Math" panose="02040503050406030204" pitchFamily="18" charset="0"/>
                      </a:rPr>
                      <m:t>𝑠</m:t>
                    </m:r>
                    <m:r>
                      <a:rPr lang="pt-BR" i="1" dirty="0" smtClean="0">
                        <a:latin typeface="Cambria Math" panose="02040503050406030204" pitchFamily="18" charset="0"/>
                      </a:rPr>
                      <m:t>)</m:t>
                    </m:r>
                  </m:oMath>
                </a14:m>
                <a:endParaRPr lang="en-US" dirty="0"/>
              </a:p>
              <a:p>
                <a:pPr lvl="1"/>
                <a:r>
                  <a:rPr lang="en-US" dirty="0"/>
                  <a:t>TD error: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r>
                      <a:rPr lang="en-US" i="1">
                        <a:latin typeface="Cambria Math" panose="02040503050406030204" pitchFamily="18" charset="0"/>
                      </a:rPr>
                      <m:t>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oMath>
                </a14:m>
                <a:endParaRPr lang="en-US" dirty="0"/>
              </a:p>
              <a:p>
                <a:endParaRPr lang="en-US" dirty="0"/>
              </a:p>
              <a:p>
                <a:endParaRPr lang="en-US" dirty="0"/>
              </a:p>
            </p:txBody>
          </p:sp>
        </mc:Choice>
        <mc:Fallback xmlns="">
          <p:sp>
            <p:nvSpPr>
              <p:cNvPr id="3" name="Content Placeholder 2" descr="True policy gradient gradient of J (theta) equals E sub pi [q sub pi (s,a) gradient of log of pi (a given s)]. The update can use any signal X gradient of J (theta) is proportional to E sub pi [X gradient of log of pi (a given s)] as long as E sub pi [X given s,a] is proportional to q sub pi (s,a), i.e., if it tells us how good an action is. Examples of valid signals:. MC (REINFORCE): X equals G sub t. Advantage function: X equals A(s,a) equals q(s,a) minus v(s). TD error: X equals delta sub t equals R sub t plus 1, plus gamma v (S sub t plus 1) minus v(S sub t)">
                <a:extLst>
                  <a:ext uri="{FF2B5EF4-FFF2-40B4-BE49-F238E27FC236}">
                    <a16:creationId xmlns:a16="http://schemas.microsoft.com/office/drawing/2014/main" id="{B72662DD-E598-030D-12ED-27652D3DF7F1}"/>
                  </a:ext>
                </a:extLst>
              </p:cNvPr>
              <p:cNvSpPr>
                <a:spLocks noGrp="1" noRot="1" noChangeAspect="1" noMove="1" noResize="1" noEditPoints="1" noAdjustHandles="1" noChangeArrowheads="1" noChangeShapeType="1" noTextEdit="1"/>
              </p:cNvSpPr>
              <p:nvPr>
                <p:ph idx="1"/>
              </p:nvPr>
            </p:nvSpPr>
            <p:spPr>
              <a:blipFill>
                <a:blip r:embed="rId2"/>
                <a:stretch>
                  <a:fillRect l="-928" t="-31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descr="Advantage: Measures how much better a is compared with the current action in pi (s)">
                <a:extLst>
                  <a:ext uri="{FF2B5EF4-FFF2-40B4-BE49-F238E27FC236}">
                    <a16:creationId xmlns:a16="http://schemas.microsoft.com/office/drawing/2014/main" id="{4DDDB97C-A0EC-DBE3-8245-FF3B04A2682A}"/>
                  </a:ext>
                </a:extLst>
              </p:cNvPr>
              <p:cNvSpPr/>
              <p:nvPr/>
            </p:nvSpPr>
            <p:spPr>
              <a:xfrm>
                <a:off x="9613783" y="4655890"/>
                <a:ext cx="2369890" cy="935372"/>
              </a:xfrm>
              <a:prstGeom prst="wedgeRoundRectCallout">
                <a:avLst>
                  <a:gd name="adj1" fmla="val -134651"/>
                  <a:gd name="adj2" fmla="val 3200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Advantage: Measures how much better </a:t>
                </a:r>
                <a14:m>
                  <m:oMath xmlns:m="http://schemas.openxmlformats.org/officeDocument/2006/math">
                    <m:r>
                      <a:rPr lang="en-US" sz="1400" i="1" dirty="0" smtClean="0">
                        <a:latin typeface="Cambria Math" panose="02040503050406030204" pitchFamily="18" charset="0"/>
                      </a:rPr>
                      <m:t>𝑎</m:t>
                    </m:r>
                  </m:oMath>
                </a14:m>
                <a:r>
                  <a:rPr lang="en-US" sz="1400" dirty="0"/>
                  <a:t> is compared with the current action in </a:t>
                </a:r>
                <a14:m>
                  <m:oMath xmlns:m="http://schemas.openxmlformats.org/officeDocument/2006/math">
                    <m:r>
                      <a:rPr lang="en-US" sz="1400" b="0" i="1" smtClean="0">
                        <a:latin typeface="Cambria Math" panose="02040503050406030204" pitchFamily="18" charset="0"/>
                      </a:rPr>
                      <m:t>𝜋</m:t>
                    </m:r>
                    <m:r>
                      <a:rPr lang="en-US" sz="1400" b="0" i="1" smtClean="0">
                        <a:latin typeface="Cambria Math" panose="02040503050406030204" pitchFamily="18" charset="0"/>
                      </a:rPr>
                      <m:t>(</m:t>
                    </m:r>
                    <m:r>
                      <a:rPr lang="en-US" sz="1400" b="0" i="1" smtClean="0">
                        <a:latin typeface="Cambria Math" panose="02040503050406030204" pitchFamily="18" charset="0"/>
                      </a:rPr>
                      <m:t>𝑠</m:t>
                    </m:r>
                    <m:r>
                      <a:rPr lang="en-US" sz="1400" b="0" i="1" smtClean="0">
                        <a:latin typeface="Cambria Math" panose="02040503050406030204" pitchFamily="18" charset="0"/>
                      </a:rPr>
                      <m:t>)</m:t>
                    </m:r>
                  </m:oMath>
                </a14:m>
                <a:r>
                  <a:rPr lang="en-US" sz="1400" dirty="0"/>
                  <a:t>.</a:t>
                </a:r>
              </a:p>
            </p:txBody>
          </p:sp>
        </mc:Choice>
        <mc:Fallback xmlns="">
          <p:sp>
            <p:nvSpPr>
              <p:cNvPr id="4" name="Speech Bubble: Rectangle with Corners Rounded 3" descr="Advantage: Measures how much better a is compared with the current action in pi (s)">
                <a:extLst>
                  <a:ext uri="{FF2B5EF4-FFF2-40B4-BE49-F238E27FC236}">
                    <a16:creationId xmlns:a16="http://schemas.microsoft.com/office/drawing/2014/main" id="{4DDDB97C-A0EC-DBE3-8245-FF3B04A2682A}"/>
                  </a:ext>
                </a:extLst>
              </p:cNvPr>
              <p:cNvSpPr>
                <a:spLocks noRot="1" noChangeAspect="1" noMove="1" noResize="1" noEditPoints="1" noAdjustHandles="1" noChangeArrowheads="1" noChangeShapeType="1" noTextEdit="1"/>
              </p:cNvSpPr>
              <p:nvPr/>
            </p:nvSpPr>
            <p:spPr>
              <a:xfrm>
                <a:off x="9613783" y="4655890"/>
                <a:ext cx="2369890" cy="935372"/>
              </a:xfrm>
              <a:prstGeom prst="wedgeRoundRectCallout">
                <a:avLst>
                  <a:gd name="adj1" fmla="val -134651"/>
                  <a:gd name="adj2" fmla="val 32007"/>
                  <a:gd name="adj3" fmla="val 16667"/>
                </a:avLst>
              </a:prstGeom>
              <a:blipFill>
                <a:blip r:embed="rId3"/>
                <a:stretch>
                  <a:fillRect t="-1282" b="-5769"/>
                </a:stretch>
              </a:blipFill>
            </p:spPr>
            <p:txBody>
              <a:bodyPr/>
              <a:lstStyle/>
              <a:p>
                <a:r>
                  <a:rPr lang="en-US">
                    <a:noFill/>
                  </a:rPr>
                  <a:t> </a:t>
                </a:r>
              </a:p>
            </p:txBody>
          </p:sp>
        </mc:Fallback>
      </mc:AlternateContent>
    </p:spTree>
    <p:extLst>
      <p:ext uri="{BB962C8B-B14F-4D97-AF65-F5344CB8AC3E}">
        <p14:creationId xmlns:p14="http://schemas.microsoft.com/office/powerpoint/2010/main" val="284845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DFE1-72DC-68CD-CBDF-6806168FD6EE}"/>
              </a:ext>
            </a:extLst>
          </p:cNvPr>
          <p:cNvSpPr>
            <a:spLocks noGrp="1"/>
          </p:cNvSpPr>
          <p:nvPr>
            <p:ph type="title"/>
          </p:nvPr>
        </p:nvSpPr>
        <p:spPr/>
        <p:txBody>
          <a:bodyPr/>
          <a:lstStyle/>
          <a:p>
            <a:r>
              <a:rPr lang="en-US" dirty="0"/>
              <a:t>One-Step Actor-Critic Algorithm</a:t>
            </a:r>
          </a:p>
        </p:txBody>
      </p:sp>
      <p:pic>
        <p:nvPicPr>
          <p:cNvPr id="7" name="Picture 6" descr="Algorithm box: One-step Actor–Critic (episodic), for estimating pi_theta ≈ pi star. Input: a differentiable policy parameterization pi(a | s, theta). Input: a differentiable state-value function parameterization v hat(s, w). Parameters: step sizes alpha theta &gt; 0, alpha w &gt; 0. Initialize policy parameter theta in R^d′ and state-value weights w in R^d (e.g., to 0). Loop forever (for each episode): Initialize S (first state of episode); I ← 1; Loop while S is not terminal (for each time step): A ~ pi(· | S, theta); Take action A, observe S′, R; delta ← R + gamma v hat(S′, w) − v hat(S, w) (if S′ is terminal, then v hat(S′, w) = 0); w ← w + alpha w times delta times the gradient of v hat(S, w); theta ← theta + alpha theta times I delta times the gradient of ln pi(A | S, theta); I ← gamma I; S ← S′.">
            <a:extLst>
              <a:ext uri="{FF2B5EF4-FFF2-40B4-BE49-F238E27FC236}">
                <a16:creationId xmlns:a16="http://schemas.microsoft.com/office/drawing/2014/main" id="{2C127B90-B61D-6A2E-A61B-CCCEFCCC5B63}"/>
              </a:ext>
            </a:extLst>
          </p:cNvPr>
          <p:cNvPicPr>
            <a:picLocks noChangeAspect="1"/>
          </p:cNvPicPr>
          <p:nvPr/>
        </p:nvPicPr>
        <p:blipFill>
          <a:blip r:embed="rId2"/>
          <a:stretch>
            <a:fillRect/>
          </a:stretch>
        </p:blipFill>
        <p:spPr>
          <a:xfrm>
            <a:off x="1633938" y="1412757"/>
            <a:ext cx="8821552" cy="4989901"/>
          </a:xfrm>
          <a:prstGeom prst="rect">
            <a:avLst/>
          </a:prstGeom>
        </p:spPr>
      </p:pic>
      <p:sp>
        <p:nvSpPr>
          <p:cNvPr id="5" name="Speech Bubble: Rectangle with Corners Rounded 4">
            <a:extLst>
              <a:ext uri="{FF2B5EF4-FFF2-40B4-BE49-F238E27FC236}">
                <a16:creationId xmlns:a16="http://schemas.microsoft.com/office/drawing/2014/main" id="{D8C230AF-79C2-A184-7ED5-1506ABF95837}"/>
              </a:ext>
              <a:ext uri="{C183D7F6-B498-43B3-948B-1728B52AA6E4}">
                <adec:decorative xmlns:adec="http://schemas.microsoft.com/office/drawing/2017/decorative" val="1"/>
              </a:ext>
            </a:extLst>
          </p:cNvPr>
          <p:cNvSpPr/>
          <p:nvPr/>
        </p:nvSpPr>
        <p:spPr>
          <a:xfrm>
            <a:off x="9116078" y="2371412"/>
            <a:ext cx="865538" cy="259172"/>
          </a:xfrm>
          <a:prstGeom prst="wedgeRoundRectCallout">
            <a:avLst>
              <a:gd name="adj1" fmla="val -84315"/>
              <a:gd name="adj2" fmla="val 24880"/>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critic</a:t>
            </a:r>
          </a:p>
        </p:txBody>
      </p:sp>
      <p:sp>
        <p:nvSpPr>
          <p:cNvPr id="4" name="Speech Bubble: Rectangle with Corners Rounded 3">
            <a:extLst>
              <a:ext uri="{FF2B5EF4-FFF2-40B4-BE49-F238E27FC236}">
                <a16:creationId xmlns:a16="http://schemas.microsoft.com/office/drawing/2014/main" id="{F7A4F288-A0A2-EAB0-0BC3-B1E0033FD846}"/>
              </a:ext>
              <a:ext uri="{C183D7F6-B498-43B3-948B-1728B52AA6E4}">
                <adec:decorative xmlns:adec="http://schemas.microsoft.com/office/drawing/2017/decorative" val="1"/>
              </a:ext>
            </a:extLst>
          </p:cNvPr>
          <p:cNvSpPr/>
          <p:nvPr/>
        </p:nvSpPr>
        <p:spPr>
          <a:xfrm>
            <a:off x="8250540" y="1946286"/>
            <a:ext cx="865538" cy="259172"/>
          </a:xfrm>
          <a:prstGeom prst="wedgeRoundRectCallout">
            <a:avLst>
              <a:gd name="adj1" fmla="val -121411"/>
              <a:gd name="adj2" fmla="val 67368"/>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actor</a:t>
            </a:r>
          </a:p>
        </p:txBody>
      </p:sp>
      <mc:AlternateContent xmlns:mc="http://schemas.openxmlformats.org/markup-compatibility/2006">
        <mc:Choice xmlns:a14="http://schemas.microsoft.com/office/drawing/2010/main" Requires="a14">
          <p:sp>
            <p:nvSpPr>
              <p:cNvPr id="10" name="Speech Bubble: Rectangle with Corners Rounded 9">
                <a:extLst>
                  <a:ext uri="{FF2B5EF4-FFF2-40B4-BE49-F238E27FC236}">
                    <a16:creationId xmlns:a16="http://schemas.microsoft.com/office/drawing/2014/main" id="{13A4B9D4-E0AA-951D-C0AB-75C0453EEC3C}"/>
                  </a:ext>
                  <a:ext uri="{C183D7F6-B498-43B3-948B-1728B52AA6E4}">
                    <adec:decorative xmlns:adec="http://schemas.microsoft.com/office/drawing/2017/decorative" val="1"/>
                  </a:ext>
                </a:extLst>
              </p:cNvPr>
              <p:cNvSpPr/>
              <p:nvPr/>
            </p:nvSpPr>
            <p:spPr>
              <a:xfrm>
                <a:off x="90743" y="3409805"/>
                <a:ext cx="1543195" cy="975438"/>
              </a:xfrm>
              <a:prstGeom prst="wedgeRoundRectCallout">
                <a:avLst>
                  <a:gd name="adj1" fmla="val 89596"/>
                  <a:gd name="adj2" fmla="val -3783"/>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Discounting multiplier:  </a:t>
                </a:r>
                <a:br>
                  <a:rPr lang="en-US" sz="1600" b="0" i="0" dirty="0">
                    <a:latin typeface="Cambria Math" panose="02040503050406030204" pitchFamily="18" charset="0"/>
                  </a:rPr>
                </a:br>
                <a14:m>
                  <m:oMathPara xmlns:m="http://schemas.openxmlformats.org/officeDocument/2006/math">
                    <m:oMath>
                      <m:r>
                        <m:rPr>
                          <m:sty m:val="p"/>
                        </m:rPr>
                        <a:rPr lang="en-US" sz="1600" b="0" i="0" smtClean="0">
                          <a:latin typeface="Cambria Math" panose="02040503050406030204" pitchFamily="18" charset="0"/>
                        </a:rPr>
                        <m:t>I</m:t>
                      </m:r>
                      <m:r>
                        <a:rPr lang="en-US" sz="1600" b="0" i="0"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𝛾</m:t>
                          </m:r>
                        </m:e>
                        <m:sup>
                          <m:r>
                            <a:rPr lang="en-US" sz="1600" b="0" i="1" smtClean="0">
                              <a:latin typeface="Cambria Math" panose="02040503050406030204" pitchFamily="18" charset="0"/>
                            </a:rPr>
                            <m:t>𝑡</m:t>
                          </m:r>
                        </m:sup>
                      </m:sSup>
                    </m:oMath>
                  </m:oMathPara>
                </a14:m>
                <a:endParaRPr lang="en-US" sz="1600" dirty="0"/>
              </a:p>
            </p:txBody>
          </p:sp>
        </mc:Choice>
        <mc:Fallback>
          <p:sp>
            <p:nvSpPr>
              <p:cNvPr id="10" name="Speech Bubble: Rectangle with Corners Rounded 9">
                <a:extLst>
                  <a:ext uri="{FF2B5EF4-FFF2-40B4-BE49-F238E27FC236}">
                    <a16:creationId xmlns:a16="http://schemas.microsoft.com/office/drawing/2014/main" id="{13A4B9D4-E0AA-951D-C0AB-75C0453EEC3C}"/>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90743" y="3409805"/>
                <a:ext cx="1543195" cy="975438"/>
              </a:xfrm>
              <a:prstGeom prst="wedgeRoundRectCallout">
                <a:avLst>
                  <a:gd name="adj1" fmla="val 89596"/>
                  <a:gd name="adj2" fmla="val -3783"/>
                  <a:gd name="adj3" fmla="val 16667"/>
                </a:avLst>
              </a:prstGeom>
              <a:blipFill>
                <a:blip r:embed="rId3"/>
                <a:stretch>
                  <a:fillRect/>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05DCB902-4519-6052-12CC-ADD3BFE4DF5D}"/>
              </a:ext>
              <a:ext uri="{C183D7F6-B498-43B3-948B-1728B52AA6E4}">
                <adec:decorative xmlns:adec="http://schemas.microsoft.com/office/drawing/2017/decorative" val="1"/>
              </a:ext>
            </a:extLst>
          </p:cNvPr>
          <p:cNvSpPr/>
          <p:nvPr/>
        </p:nvSpPr>
        <p:spPr>
          <a:xfrm>
            <a:off x="2442225" y="4809326"/>
            <a:ext cx="3093036" cy="272226"/>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600"/>
          </a:p>
        </p:txBody>
      </p:sp>
      <mc:AlternateContent xmlns:mc="http://schemas.openxmlformats.org/markup-compatibility/2006">
        <mc:Choice xmlns:a14="http://schemas.microsoft.com/office/drawing/2010/main" Requires="a14">
          <p:sp>
            <p:nvSpPr>
              <p:cNvPr id="12" name="Speech Bubble: Rectangle with Corners Rounded 11">
                <a:extLst>
                  <a:ext uri="{FF2B5EF4-FFF2-40B4-BE49-F238E27FC236}">
                    <a16:creationId xmlns:a16="http://schemas.microsoft.com/office/drawing/2014/main" id="{A8ECFCE4-C642-EBAF-5270-39245F140766}"/>
                  </a:ext>
                  <a:ext uri="{C183D7F6-B498-43B3-948B-1728B52AA6E4}">
                    <adec:decorative xmlns:adec="http://schemas.microsoft.com/office/drawing/2017/decorative" val="1"/>
                  </a:ext>
                </a:extLst>
              </p:cNvPr>
              <p:cNvSpPr/>
              <p:nvPr/>
            </p:nvSpPr>
            <p:spPr>
              <a:xfrm>
                <a:off x="6494448" y="4385243"/>
                <a:ext cx="3512184" cy="336241"/>
              </a:xfrm>
              <a:prstGeom prst="wedgeRoundRectCallout">
                <a:avLst>
                  <a:gd name="adj1" fmla="val -78612"/>
                  <a:gd name="adj2" fmla="val 99114"/>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TD error: using </a:t>
                </a:r>
                <a14:m>
                  <m:oMath xmlns:m="http://schemas.openxmlformats.org/officeDocument/2006/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𝑣</m:t>
                        </m:r>
                      </m:e>
                    </m:acc>
                  </m:oMath>
                </a14:m>
                <a:r>
                  <a:rPr lang="en-US" sz="1600" dirty="0"/>
                  <a:t> estimates. </a:t>
                </a:r>
              </a:p>
            </p:txBody>
          </p:sp>
        </mc:Choice>
        <mc:Fallback>
          <p:sp>
            <p:nvSpPr>
              <p:cNvPr id="12" name="Speech Bubble: Rectangle with Corners Rounded 11">
                <a:extLst>
                  <a:ext uri="{FF2B5EF4-FFF2-40B4-BE49-F238E27FC236}">
                    <a16:creationId xmlns:a16="http://schemas.microsoft.com/office/drawing/2014/main" id="{A8ECFCE4-C642-EBAF-5270-39245F140766}"/>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6494448" y="4385243"/>
                <a:ext cx="3512184" cy="336241"/>
              </a:xfrm>
              <a:prstGeom prst="wedgeRoundRectCallout">
                <a:avLst>
                  <a:gd name="adj1" fmla="val -78612"/>
                  <a:gd name="adj2" fmla="val 99114"/>
                  <a:gd name="adj3" fmla="val 16667"/>
                </a:avLst>
              </a:prstGeom>
              <a:blipFill>
                <a:blip r:embed="rId4"/>
                <a:stretch>
                  <a:fillRect/>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44E06FFA-E200-E681-2E5D-039A57F537AC}"/>
              </a:ext>
              <a:ext uri="{C183D7F6-B498-43B3-948B-1728B52AA6E4}">
                <adec:decorative xmlns:adec="http://schemas.microsoft.com/office/drawing/2017/decorative" val="1"/>
              </a:ext>
            </a:extLst>
          </p:cNvPr>
          <p:cNvSpPr/>
          <p:nvPr/>
        </p:nvSpPr>
        <p:spPr>
          <a:xfrm>
            <a:off x="2442225" y="5377090"/>
            <a:ext cx="3093036" cy="272226"/>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600"/>
          </a:p>
        </p:txBody>
      </p:sp>
      <p:sp>
        <p:nvSpPr>
          <p:cNvPr id="14" name="Speech Bubble: Rectangle with Corners Rounded 13">
            <a:extLst>
              <a:ext uri="{FF2B5EF4-FFF2-40B4-BE49-F238E27FC236}">
                <a16:creationId xmlns:a16="http://schemas.microsoft.com/office/drawing/2014/main" id="{E94F9DD5-BDBE-9FDD-3254-2C368EE7BF6A}"/>
              </a:ext>
              <a:ext uri="{C183D7F6-B498-43B3-948B-1728B52AA6E4}">
                <adec:decorative xmlns:adec="http://schemas.microsoft.com/office/drawing/2017/decorative" val="1"/>
              </a:ext>
            </a:extLst>
          </p:cNvPr>
          <p:cNvSpPr/>
          <p:nvPr/>
        </p:nvSpPr>
        <p:spPr>
          <a:xfrm>
            <a:off x="6494448" y="5644274"/>
            <a:ext cx="4666816" cy="429123"/>
          </a:xfrm>
          <a:prstGeom prst="wedgeRoundRectCallout">
            <a:avLst>
              <a:gd name="adj1" fmla="val -80690"/>
              <a:gd name="adj2" fmla="val -60063"/>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Update the actor (policy) using the TD </a:t>
            </a:r>
            <a:r>
              <a:rPr lang="en-US" sz="1600"/>
              <a:t>error signal.</a:t>
            </a:r>
            <a:endParaRPr lang="en-US" sz="1600" dirty="0"/>
          </a:p>
        </p:txBody>
      </p:sp>
      <p:sp>
        <p:nvSpPr>
          <p:cNvPr id="3" name="Rectangle 2">
            <a:extLst>
              <a:ext uri="{FF2B5EF4-FFF2-40B4-BE49-F238E27FC236}">
                <a16:creationId xmlns:a16="http://schemas.microsoft.com/office/drawing/2014/main" id="{7975E55E-B47E-0E56-E14A-333A3D6DE67C}"/>
              </a:ext>
              <a:ext uri="{C183D7F6-B498-43B3-948B-1728B52AA6E4}">
                <adec:decorative xmlns:adec="http://schemas.microsoft.com/office/drawing/2017/decorative" val="1"/>
              </a:ext>
            </a:extLst>
          </p:cNvPr>
          <p:cNvSpPr/>
          <p:nvPr/>
        </p:nvSpPr>
        <p:spPr>
          <a:xfrm>
            <a:off x="2442225" y="5125835"/>
            <a:ext cx="3093036" cy="206971"/>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600"/>
          </a:p>
        </p:txBody>
      </p:sp>
      <mc:AlternateContent xmlns:mc="http://schemas.openxmlformats.org/markup-compatibility/2006">
        <mc:Choice xmlns:a14="http://schemas.microsoft.com/office/drawing/2010/main" Requires="a14">
          <p:sp>
            <p:nvSpPr>
              <p:cNvPr id="6" name="Speech Bubble: Rectangle with Corners Rounded 5">
                <a:extLst>
                  <a:ext uri="{FF2B5EF4-FFF2-40B4-BE49-F238E27FC236}">
                    <a16:creationId xmlns:a16="http://schemas.microsoft.com/office/drawing/2014/main" id="{4E143229-2BAE-E79E-F2D9-252EB18CD2C7}"/>
                  </a:ext>
                  <a:ext uri="{C183D7F6-B498-43B3-948B-1728B52AA6E4}">
                    <adec:decorative xmlns:adec="http://schemas.microsoft.com/office/drawing/2017/decorative" val="1"/>
                  </a:ext>
                </a:extLst>
              </p:cNvPr>
              <p:cNvSpPr/>
              <p:nvPr/>
            </p:nvSpPr>
            <p:spPr>
              <a:xfrm>
                <a:off x="6494448" y="5229320"/>
                <a:ext cx="4666816" cy="336241"/>
              </a:xfrm>
              <a:prstGeom prst="wedgeRoundRectCallout">
                <a:avLst>
                  <a:gd name="adj1" fmla="val -82308"/>
                  <a:gd name="adj2" fmla="val -47607"/>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Update the critic (value function) = </a:t>
                </a:r>
                <a14:m>
                  <m:oMath xmlns:m="http://schemas.openxmlformats.org/officeDocument/2006/math">
                    <m:r>
                      <a:rPr lang="en-US" sz="1600" i="1" dirty="0" smtClean="0">
                        <a:latin typeface="Cambria Math" panose="02040503050406030204" pitchFamily="18" charset="0"/>
                      </a:rPr>
                      <m:t>𝑇𝐷</m:t>
                    </m:r>
                    <m:r>
                      <a:rPr lang="en-US" sz="1600" i="1" dirty="0" smtClean="0">
                        <a:latin typeface="Cambria Math" panose="02040503050406030204" pitchFamily="18" charset="0"/>
                      </a:rPr>
                      <m:t>(0)</m:t>
                    </m:r>
                  </m:oMath>
                </a14:m>
                <a:endParaRPr lang="en-US" sz="1600" dirty="0"/>
              </a:p>
            </p:txBody>
          </p:sp>
        </mc:Choice>
        <mc:Fallback>
          <p:sp>
            <p:nvSpPr>
              <p:cNvPr id="6" name="Speech Bubble: Rectangle with Corners Rounded 5">
                <a:extLst>
                  <a:ext uri="{FF2B5EF4-FFF2-40B4-BE49-F238E27FC236}">
                    <a16:creationId xmlns:a16="http://schemas.microsoft.com/office/drawing/2014/main" id="{4E143229-2BAE-E79E-F2D9-252EB18CD2C7}"/>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6494448" y="5229320"/>
                <a:ext cx="4666816" cy="336241"/>
              </a:xfrm>
              <a:prstGeom prst="wedgeRoundRectCallout">
                <a:avLst>
                  <a:gd name="adj1" fmla="val -82308"/>
                  <a:gd name="adj2" fmla="val -47607"/>
                  <a:gd name="adj3" fmla="val 16667"/>
                </a:avLst>
              </a:prstGeom>
              <a:blipFill>
                <a:blip r:embed="rId5"/>
                <a:stretch>
                  <a:fillRect t="-3448" b="-17241"/>
                </a:stretch>
              </a:blipFill>
            </p:spPr>
            <p:txBody>
              <a:bodyPr/>
              <a:lstStyle/>
              <a:p>
                <a:r>
                  <a:rPr lang="en-US">
                    <a:noFill/>
                  </a:rPr>
                  <a:t> </a:t>
                </a:r>
              </a:p>
            </p:txBody>
          </p:sp>
        </mc:Fallback>
      </mc:AlternateContent>
      <p:sp>
        <p:nvSpPr>
          <p:cNvPr id="8" name="Speech Bubble: Rectangle with Corners Rounded 7">
            <a:extLst>
              <a:ext uri="{FF2B5EF4-FFF2-40B4-BE49-F238E27FC236}">
                <a16:creationId xmlns:a16="http://schemas.microsoft.com/office/drawing/2014/main" id="{F8A590B0-CF05-089A-C860-65AB7EBA7415}"/>
              </a:ext>
              <a:ext uri="{C183D7F6-B498-43B3-948B-1728B52AA6E4}">
                <adec:decorative xmlns:adec="http://schemas.microsoft.com/office/drawing/2017/decorative" val="1"/>
              </a:ext>
            </a:extLst>
          </p:cNvPr>
          <p:cNvSpPr/>
          <p:nvPr/>
        </p:nvSpPr>
        <p:spPr>
          <a:xfrm>
            <a:off x="146139" y="4597378"/>
            <a:ext cx="1960260" cy="915825"/>
          </a:xfrm>
          <a:prstGeom prst="wedgeRoundRectCallout">
            <a:avLst>
              <a:gd name="adj1" fmla="val 73862"/>
              <a:gd name="adj2" fmla="val -68427"/>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Policy approximation is soft, so it explores!</a:t>
            </a:r>
          </a:p>
        </p:txBody>
      </p:sp>
    </p:spTree>
    <p:extLst>
      <p:ext uri="{BB962C8B-B14F-4D97-AF65-F5344CB8AC3E}">
        <p14:creationId xmlns:p14="http://schemas.microsoft.com/office/powerpoint/2010/main" val="2787183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24713-0516-81AE-0D8E-4E55E57C3A9F}"/>
              </a:ext>
            </a:extLst>
          </p:cNvPr>
          <p:cNvSpPr>
            <a:spLocks noGrp="1"/>
          </p:cNvSpPr>
          <p:nvPr>
            <p:ph type="title"/>
          </p:nvPr>
        </p:nvSpPr>
        <p:spPr/>
        <p:txBody>
          <a:bodyPr/>
          <a:lstStyle/>
          <a:p>
            <a:r>
              <a:rPr lang="en-US" dirty="0"/>
              <a:t>Actor-Critic Methods with Eligibility Traces</a:t>
            </a:r>
          </a:p>
        </p:txBody>
      </p:sp>
      <p:pic>
        <p:nvPicPr>
          <p:cNvPr id="4" name="Picture 3" descr="Algorithm box: One-step Actor–Critic (episodic), for estimating pi_theta ≈ pi star. Input: a differentiable policy parameterization pi(a | s, theta). Input: a differentiable state-value function parameterization v hat(s, w). Parameters: step sizes alpha theta &gt; 0, alpha w &gt; 0. Initialize policy parameter theta in R^d′ and state-value weights w in R^d (e.g., to 0). Loop forever (for each episode): Initialize S (first state of episode); I ← 1; Loop while S is not terminal (for each time step): A ~ pi(· | S, theta); Take action A, observe S′, R; delta ← R + gamma v hat(S′, w) − v hat(S, w) (if S′ is terminal, then v hat(S′, w) = 0); w ← w + alpha w times delta times the gradient of v hat(S, w); theta ← theta + alpha theta times I delta times the gradient of ln pi(A | S, theta); I ← gamma I; S ← S′.">
            <a:extLst>
              <a:ext uri="{FF2B5EF4-FFF2-40B4-BE49-F238E27FC236}">
                <a16:creationId xmlns:a16="http://schemas.microsoft.com/office/drawing/2014/main" id="{896A9328-74A9-F680-EC07-D31CBF0CC855}"/>
              </a:ext>
            </a:extLst>
          </p:cNvPr>
          <p:cNvPicPr>
            <a:picLocks noChangeAspect="1"/>
          </p:cNvPicPr>
          <p:nvPr/>
        </p:nvPicPr>
        <p:blipFill>
          <a:blip r:embed="rId2"/>
          <a:stretch>
            <a:fillRect/>
          </a:stretch>
        </p:blipFill>
        <p:spPr>
          <a:xfrm>
            <a:off x="440871" y="1572643"/>
            <a:ext cx="7785950" cy="4404114"/>
          </a:xfrm>
          <a:prstGeom prst="rect">
            <a:avLst/>
          </a:prstGeom>
        </p:spPr>
      </p:pic>
      <p:pic>
        <p:nvPicPr>
          <p:cNvPr id="6" name="Content Placeholder 5" descr="Algorithm box: Actor–Critic with Eligibility Traces (episodic), for estimating pi_theta ≈ pi star. Input: a differentiable policy parameterization pi(a | s, theta). Input: a differentiable state-value function parameterization v hat(s, w). Parameters: trace-decay rates lambda theta in [0, 1], lambda w in [0, 1]; step sizes alpha theta &gt; 0, alpha w &gt; 0. Initialize policy parameter theta in R^d′ and state-value weights w in R^d (e.g., to 0). Loop forever (for each episode): Initialize S (first state of episode); z theta ← 0 (d′-component eligibility trace vector); z w ← 0 (d-component eligibility trace vector); I ← 1; Loop while S is not terminal (for each time step): A ~ pi(· | S, theta); Take action A, observe S′, R; delta ← R + gamma v hat(S′, w) − v hat(S, w) (if S′ is terminal, then v hat(S′, w) = 0); z w ← gamma lambda w z w + the gradient of v hat(S, w); z theta ← gamma lambda theta z theta + I times the gradient of ln pi(A | S, theta); w ← w + alpha w delta z w; theta ← theta + alpha theta delta z theta; I ← gamma I; S ← S′.">
            <a:extLst>
              <a:ext uri="{FF2B5EF4-FFF2-40B4-BE49-F238E27FC236}">
                <a16:creationId xmlns:a16="http://schemas.microsoft.com/office/drawing/2014/main" id="{F6F9B0EB-8F35-DF08-B752-F99DA815CD1F}"/>
              </a:ext>
            </a:extLst>
          </p:cNvPr>
          <p:cNvPicPr>
            <a:picLocks noGrp="1" noChangeAspect="1"/>
          </p:cNvPicPr>
          <p:nvPr>
            <p:ph idx="1"/>
          </p:nvPr>
        </p:nvPicPr>
        <p:blipFill>
          <a:blip r:embed="rId3"/>
          <a:srcRect l="1427" t="1399"/>
          <a:stretch>
            <a:fillRect/>
          </a:stretch>
        </p:blipFill>
        <p:spPr>
          <a:xfrm>
            <a:off x="3943786" y="1228507"/>
            <a:ext cx="7982109" cy="5524793"/>
          </a:xfrm>
          <a:prstGeom prst="rect">
            <a:avLst/>
          </a:prstGeom>
        </p:spPr>
      </p:pic>
      <p:sp>
        <p:nvSpPr>
          <p:cNvPr id="9" name="Arrow: Right 8">
            <a:extLst>
              <a:ext uri="{FF2B5EF4-FFF2-40B4-BE49-F238E27FC236}">
                <a16:creationId xmlns:a16="http://schemas.microsoft.com/office/drawing/2014/main" id="{B6502B4B-1176-6874-771C-42B8BEE99443}"/>
              </a:ext>
              <a:ext uri="{C183D7F6-B498-43B3-948B-1728B52AA6E4}">
                <adec:decorative xmlns:adec="http://schemas.microsoft.com/office/drawing/2017/decorative" val="1"/>
              </a:ext>
            </a:extLst>
          </p:cNvPr>
          <p:cNvSpPr/>
          <p:nvPr/>
        </p:nvSpPr>
        <p:spPr>
          <a:xfrm>
            <a:off x="3615719" y="3043347"/>
            <a:ext cx="544452"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E4E77FE-D52D-728F-AD4F-087E57697691}"/>
              </a:ext>
              <a:ext uri="{C183D7F6-B498-43B3-948B-1728B52AA6E4}">
                <adec:decorative xmlns:adec="http://schemas.microsoft.com/office/drawing/2017/decorative" val="1"/>
              </a:ext>
            </a:extLst>
          </p:cNvPr>
          <p:cNvSpPr/>
          <p:nvPr/>
        </p:nvSpPr>
        <p:spPr>
          <a:xfrm>
            <a:off x="4333847" y="3231814"/>
            <a:ext cx="859388" cy="53747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EFBAC85D-A273-33F7-8E27-C9BDD986CD29}"/>
              </a:ext>
            </a:extLst>
          </p:cNvPr>
          <p:cNvSpPr/>
          <p:nvPr/>
        </p:nvSpPr>
        <p:spPr>
          <a:xfrm>
            <a:off x="8990944" y="3231814"/>
            <a:ext cx="2170827" cy="610760"/>
          </a:xfrm>
          <a:prstGeom prst="roundRect">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Replace the gradients with traces</a:t>
            </a:r>
          </a:p>
        </p:txBody>
      </p:sp>
      <p:sp>
        <p:nvSpPr>
          <p:cNvPr id="7" name="Rectangle 6">
            <a:extLst>
              <a:ext uri="{FF2B5EF4-FFF2-40B4-BE49-F238E27FC236}">
                <a16:creationId xmlns:a16="http://schemas.microsoft.com/office/drawing/2014/main" id="{0B76B6D3-2AAE-A4FB-5186-AD95AD37C725}"/>
              </a:ext>
              <a:ext uri="{C183D7F6-B498-43B3-948B-1728B52AA6E4}">
                <adec:decorative xmlns:adec="http://schemas.microsoft.com/office/drawing/2017/decorative" val="1"/>
              </a:ext>
            </a:extLst>
          </p:cNvPr>
          <p:cNvSpPr/>
          <p:nvPr/>
        </p:nvSpPr>
        <p:spPr>
          <a:xfrm>
            <a:off x="4580164" y="4948993"/>
            <a:ext cx="3208565" cy="595993"/>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935245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9000-1199-6F7C-6812-37DA6DFCE941}"/>
              </a:ext>
            </a:extLst>
          </p:cNvPr>
          <p:cNvSpPr>
            <a:spLocks noGrp="1"/>
          </p:cNvSpPr>
          <p:nvPr>
            <p:ph type="title"/>
          </p:nvPr>
        </p:nvSpPr>
        <p:spPr/>
        <p:txBody>
          <a:bodyPr>
            <a:normAutofit fontScale="90000"/>
          </a:bodyPr>
          <a:lstStyle/>
          <a:p>
            <a:r>
              <a:rPr lang="en-US" dirty="0"/>
              <a:t>Off-Policy Learning with Policy Gradient Methods</a:t>
            </a:r>
          </a:p>
        </p:txBody>
      </p:sp>
      <p:sp>
        <p:nvSpPr>
          <p:cNvPr id="3" name="Content Placeholder 2">
            <a:extLst>
              <a:ext uri="{FF2B5EF4-FFF2-40B4-BE49-F238E27FC236}">
                <a16:creationId xmlns:a16="http://schemas.microsoft.com/office/drawing/2014/main" id="{928C7FF3-641D-4313-B780-E5F6466E03A2}"/>
              </a:ext>
            </a:extLst>
          </p:cNvPr>
          <p:cNvSpPr>
            <a:spLocks noGrp="1"/>
          </p:cNvSpPr>
          <p:nvPr>
            <p:ph idx="1"/>
          </p:nvPr>
        </p:nvSpPr>
        <p:spPr/>
        <p:txBody>
          <a:bodyPr>
            <a:normAutofit lnSpcReduction="10000"/>
          </a:bodyPr>
          <a:lstStyle/>
          <a:p>
            <a:r>
              <a:rPr lang="en-US" dirty="0"/>
              <a:t>We have only talked about on-policy methods. </a:t>
            </a:r>
            <a:br>
              <a:rPr lang="en-US" dirty="0"/>
            </a:br>
            <a:br>
              <a:rPr lang="en-US" dirty="0"/>
            </a:br>
            <a:r>
              <a:rPr lang="en-US" dirty="0"/>
              <a:t>This is fine since the parameterized policy can approximate the optimal deterministic policy.</a:t>
            </a:r>
          </a:p>
          <a:p>
            <a:endParaRPr lang="en-US" dirty="0"/>
          </a:p>
          <a:p>
            <a:r>
              <a:rPr lang="en-US" b="1" dirty="0"/>
              <a:t>Issue</a:t>
            </a:r>
            <a:r>
              <a:rPr lang="en-US" dirty="0"/>
              <a:t>: We cannot use data collected from a different policy!</a:t>
            </a:r>
          </a:p>
          <a:p>
            <a:endParaRPr lang="en-US" b="1" dirty="0"/>
          </a:p>
          <a:p>
            <a:r>
              <a:rPr lang="en-US" b="1" dirty="0"/>
              <a:t>Off-policy Actor-Critic methods </a:t>
            </a:r>
            <a:r>
              <a:rPr lang="en-US" dirty="0"/>
              <a:t>exist and are typically based on neural networks:</a:t>
            </a:r>
          </a:p>
          <a:p>
            <a:pPr lvl="1"/>
            <a:r>
              <a:rPr lang="en-US" dirty="0"/>
              <a:t>Deep Deterministic Policy Gradient (DDPG) </a:t>
            </a:r>
          </a:p>
          <a:p>
            <a:pPr lvl="1"/>
            <a:r>
              <a:rPr lang="en-US" dirty="0"/>
              <a:t>Twin Delayed DDPG (TD3) </a:t>
            </a:r>
          </a:p>
          <a:p>
            <a:pPr lvl="1"/>
            <a:r>
              <a:rPr lang="en-US" dirty="0"/>
              <a:t>Soft Actor Critic (SAC) </a:t>
            </a:r>
          </a:p>
          <a:p>
            <a:endParaRPr lang="en-US" dirty="0"/>
          </a:p>
        </p:txBody>
      </p:sp>
    </p:spTree>
    <p:extLst>
      <p:ext uri="{BB962C8B-B14F-4D97-AF65-F5344CB8AC3E}">
        <p14:creationId xmlns:p14="http://schemas.microsoft.com/office/powerpoint/2010/main" val="57481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018F7-7922-B7A4-0037-3D2D88C7B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7F379-8C49-6909-659E-FAA6B0C11DBB}"/>
              </a:ext>
            </a:extLst>
          </p:cNvPr>
          <p:cNvSpPr>
            <a:spLocks noGrp="1"/>
          </p:cNvSpPr>
          <p:nvPr>
            <p:ph type="title"/>
          </p:nvPr>
        </p:nvSpPr>
        <p:spPr/>
        <p:txBody>
          <a:bodyPr/>
          <a:lstStyle/>
          <a:p>
            <a:r>
              <a:rPr lang="en-US" dirty="0"/>
              <a:t>Continuous Actions</a:t>
            </a:r>
          </a:p>
        </p:txBody>
      </p:sp>
      <p:sp>
        <p:nvSpPr>
          <p:cNvPr id="3" name="Text Placeholder 2">
            <a:extLst>
              <a:ext uri="{FF2B5EF4-FFF2-40B4-BE49-F238E27FC236}">
                <a16:creationId xmlns:a16="http://schemas.microsoft.com/office/drawing/2014/main" id="{874BCC2E-EE3A-EE14-5F2E-240D71C7FDB5}"/>
              </a:ext>
            </a:extLst>
          </p:cNvPr>
          <p:cNvSpPr>
            <a:spLocks noGrp="1"/>
          </p:cNvSpPr>
          <p:nvPr>
            <p:ph type="body" idx="1"/>
          </p:nvPr>
        </p:nvSpPr>
        <p:spPr/>
        <p:txBody>
          <a:bodyPr/>
          <a:lstStyle/>
          <a:p>
            <a:r>
              <a:rPr lang="en-US" dirty="0"/>
              <a:t>Parameterized policies can represent continuous actions!</a:t>
            </a:r>
          </a:p>
        </p:txBody>
      </p:sp>
    </p:spTree>
    <p:extLst>
      <p:ext uri="{BB962C8B-B14F-4D97-AF65-F5344CB8AC3E}">
        <p14:creationId xmlns:p14="http://schemas.microsoft.com/office/powerpoint/2010/main" val="2939505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03BC6-1AD5-0AB4-998B-BD4B7EB7E6BB}"/>
              </a:ext>
            </a:extLst>
          </p:cNvPr>
          <p:cNvSpPr>
            <a:spLocks noGrp="1"/>
          </p:cNvSpPr>
          <p:nvPr>
            <p:ph type="title"/>
          </p:nvPr>
        </p:nvSpPr>
        <p:spPr/>
        <p:txBody>
          <a:bodyPr>
            <a:normAutofit fontScale="90000"/>
          </a:bodyPr>
          <a:lstStyle/>
          <a:p>
            <a:r>
              <a:rPr lang="en-US" dirty="0"/>
              <a:t>Policy Parameterization for Continuous Actions</a:t>
            </a:r>
          </a:p>
        </p:txBody>
      </p:sp>
      <mc:AlternateContent xmlns:mc="http://schemas.openxmlformats.org/markup-compatibility/2006" xmlns:a14="http://schemas.microsoft.com/office/drawing/2010/main">
        <mc:Choice Requires="a14">
          <p:sp>
            <p:nvSpPr>
              <p:cNvPr id="3" name="Content Placeholder 2" descr="Soft-max in action preferences works for a small number of discrete actions. For continuous actions: Choose action from a continuous distribution and learn the distribution parameters. Example: Choose the action (value) from a Gaussian distribution:. pi (a given s, theta) equals the fraction 1, over sigma (s, theta) the square root of 2 pi, end fraction exp of (minus the fraction (a minus mu (s, theta)) squared, over 2 sigma (s, theta) squared, end fraction). where often. mu (s, theta) equals theta transpose sub mu x sub mu (s). sigma (s, theta) equals exp(theta transpose sub sigma x sub sigma (s)). is learned with theta equals [theta sub mu, theta sub sigma]">
                <a:extLst>
                  <a:ext uri="{FF2B5EF4-FFF2-40B4-BE49-F238E27FC236}">
                    <a16:creationId xmlns:a16="http://schemas.microsoft.com/office/drawing/2014/main" id="{0FC10070-A5BD-C926-B21A-8D43C4EF0BE8}"/>
                  </a:ext>
                </a:extLst>
              </p:cNvPr>
              <p:cNvSpPr>
                <a:spLocks noGrp="1"/>
              </p:cNvSpPr>
              <p:nvPr>
                <p:ph idx="1"/>
              </p:nvPr>
            </p:nvSpPr>
            <p:spPr>
              <a:xfrm>
                <a:off x="852742" y="1397330"/>
                <a:ext cx="8019032" cy="4779633"/>
              </a:xfrm>
            </p:spPr>
            <p:txBody>
              <a:bodyPr>
                <a:normAutofit fontScale="70000" lnSpcReduction="20000"/>
              </a:bodyPr>
              <a:lstStyle/>
              <a:p>
                <a:pPr marL="0" indent="0">
                  <a:buNone/>
                </a:pPr>
                <a:r>
                  <a:rPr lang="en-US" b="1" dirty="0"/>
                  <a:t>Soft-max in action preferences </a:t>
                </a:r>
                <a:r>
                  <a:rPr lang="en-US" dirty="0"/>
                  <a:t>works for a small number of discrete actions.</a:t>
                </a:r>
              </a:p>
              <a:p>
                <a:pPr marL="0" indent="0">
                  <a:buNone/>
                </a:pPr>
                <a:endParaRPr lang="en-US" b="1" dirty="0"/>
              </a:p>
              <a:p>
                <a:pPr marL="0" indent="0">
                  <a:buNone/>
                </a:pPr>
                <a:r>
                  <a:rPr lang="en-US" b="1" dirty="0"/>
                  <a:t>For continuous actions</a:t>
                </a:r>
                <a:r>
                  <a:rPr lang="en-US" dirty="0"/>
                  <a:t>: Choose action from a continuous distribution and learn the distribution parameters.</a:t>
                </a:r>
              </a:p>
              <a:p>
                <a:pPr marL="0" indent="0">
                  <a:buNone/>
                </a:pPr>
                <a:endParaRPr lang="en-US" dirty="0"/>
              </a:p>
              <a:p>
                <a:pPr marL="0" indent="0">
                  <a:buNone/>
                </a:pPr>
                <a:r>
                  <a:rPr lang="en-US" b="1" dirty="0"/>
                  <a:t>Example</a:t>
                </a:r>
                <a:r>
                  <a:rPr lang="en-US" dirty="0"/>
                  <a:t>: Choose the action (value) from a Gaussian distribution:</a:t>
                </a:r>
              </a:p>
              <a:p>
                <a:pPr marL="0" indent="0">
                  <a:buNone/>
                </a:pPr>
                <a:endParaRPr lang="en-US" dirty="0"/>
              </a:p>
              <a:p>
                <a:pPr marL="0" indent="0">
                  <a:buNone/>
                </a:pPr>
                <a14:m>
                  <m:oMathPara xmlns:m="http://schemas.openxmlformats.org/officeDocument/2006/math">
                    <m:oMath>
                      <m:r>
                        <a:rPr lang="en-US" sz="2400" b="0" i="1" smtClean="0">
                          <a:latin typeface="Cambria Math" panose="02040503050406030204" pitchFamily="18" charset="0"/>
                        </a:rPr>
                        <m:t>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1" i="1" smtClean="0">
                              <a:latin typeface="Cambria Math" panose="02040503050406030204" pitchFamily="18" charset="0"/>
                            </a:rPr>
                            <m:t>𝜽</m:t>
                          </m:r>
                        </m:e>
                      </m:d>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𝜎</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1" i="1" smtClean="0">
                                  <a:latin typeface="Cambria Math" panose="02040503050406030204" pitchFamily="18" charset="0"/>
                                </a:rPr>
                                <m:t>𝜽</m:t>
                              </m:r>
                            </m:e>
                          </m:d>
                          <m:r>
                            <a:rPr lang="en-US" sz="2400" b="0" i="1" smtClean="0">
                              <a:latin typeface="Cambria Math" panose="02040503050406030204" pitchFamily="18" charset="0"/>
                            </a:rPr>
                            <m:t> </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2</m:t>
                              </m:r>
                              <m:r>
                                <a:rPr lang="en-US" sz="2400" b="0" i="1" smtClean="0">
                                  <a:latin typeface="Cambria Math" panose="02040503050406030204" pitchFamily="18" charset="0"/>
                                </a:rPr>
                                <m:t>𝜋</m:t>
                              </m:r>
                            </m:e>
                          </m:rad>
                        </m:den>
                      </m:f>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exp</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f>
                                <m:fPr>
                                  <m:ctrlPr>
                                    <a:rPr lang="en-US" sz="2400" b="1" i="1" smtClean="0">
                                      <a:latin typeface="Cambria Math" panose="02040503050406030204" pitchFamily="18" charset="0"/>
                                    </a:rPr>
                                  </m:ctrlPr>
                                </m:fPr>
                                <m:num>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1" i="1" smtClean="0">
                                                  <a:latin typeface="Cambria Math" panose="02040503050406030204" pitchFamily="18" charset="0"/>
                                                </a:rPr>
                                                <m:t>,</m:t>
                                              </m:r>
                                              <m:r>
                                                <a:rPr lang="en-US" sz="2400" b="1" i="1" smtClean="0">
                                                  <a:latin typeface="Cambria Math" panose="02040503050406030204" pitchFamily="18" charset="0"/>
                                                </a:rPr>
                                                <m:t>𝜽</m:t>
                                              </m:r>
                                            </m:e>
                                          </m:d>
                                        </m:e>
                                      </m:d>
                                    </m:e>
                                    <m:sup>
                                      <m:r>
                                        <a:rPr lang="en-US" sz="2400" b="1" i="1" smtClean="0">
                                          <a:latin typeface="Cambria Math" panose="02040503050406030204" pitchFamily="18" charset="0"/>
                                        </a:rPr>
                                        <m:t>𝟐</m:t>
                                      </m:r>
                                    </m:sup>
                                  </m:sSup>
                                </m:num>
                                <m:den>
                                  <m:r>
                                    <a:rPr lang="en-US" sz="2400" b="0" i="1" smtClean="0">
                                      <a:latin typeface="Cambria Math" panose="02040503050406030204" pitchFamily="18" charset="0"/>
                                    </a:rPr>
                                    <m:t>2</m:t>
                                  </m:r>
                                  <m:r>
                                    <a:rPr lang="en-US" sz="2400" b="0" i="1" smtClean="0">
                                      <a:latin typeface="Cambria Math" panose="02040503050406030204" pitchFamily="18" charset="0"/>
                                    </a:rPr>
                                    <m:t>𝜎</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1">
                                              <a:latin typeface="Cambria Math" panose="02040503050406030204" pitchFamily="18" charset="0"/>
                                            </a:rPr>
                                            <m:t>𝑠</m:t>
                                          </m:r>
                                          <m:r>
                                            <a:rPr lang="en-US" sz="2400" i="1">
                                              <a:latin typeface="Cambria Math" panose="02040503050406030204" pitchFamily="18" charset="0"/>
                                            </a:rPr>
                                            <m:t>,</m:t>
                                          </m:r>
                                          <m:r>
                                            <a:rPr lang="en-US" sz="2400" b="1" i="1">
                                              <a:latin typeface="Cambria Math" panose="02040503050406030204" pitchFamily="18" charset="0"/>
                                            </a:rPr>
                                            <m:t>𝜽</m:t>
                                          </m:r>
                                        </m:e>
                                      </m:d>
                                    </m:e>
                                    <m:sup>
                                      <m:r>
                                        <a:rPr lang="en-US" sz="2400" b="0" i="1" smtClean="0">
                                          <a:latin typeface="Cambria Math" panose="02040503050406030204" pitchFamily="18" charset="0"/>
                                        </a:rPr>
                                        <m:t>2</m:t>
                                      </m:r>
                                    </m:sup>
                                  </m:sSup>
                                </m:den>
                              </m:f>
                            </m:e>
                          </m:d>
                        </m:e>
                      </m:func>
                    </m:oMath>
                  </m:oMathPara>
                </a14:m>
                <a:endParaRPr lang="en-US" dirty="0"/>
              </a:p>
              <a:p>
                <a:pPr marL="0" indent="0">
                  <a:buNone/>
                </a:pPr>
                <a:endParaRPr lang="en-US" dirty="0"/>
              </a:p>
              <a:p>
                <a:pPr marL="0" indent="0">
                  <a:buNone/>
                </a:pPr>
                <a:r>
                  <a:rPr lang="en-US" dirty="0"/>
                  <a:t>where often</a:t>
                </a:r>
                <a14:m>
                  <m:oMath xmlns:m="http://schemas.openxmlformats.org/officeDocument/2006/math">
                    <m:r>
                      <a:rPr lang="en-US" b="0" i="0" smtClean="0">
                        <a:latin typeface="Cambria Math" panose="02040503050406030204" pitchFamily="18" charset="0"/>
                      </a:rPr>
                      <m:t> </m:t>
                    </m:r>
                  </m:oMath>
                </a14:m>
                <a:endParaRPr lang="en-US" b="0" i="0" dirty="0">
                  <a:latin typeface="Cambria Math" panose="02040503050406030204" pitchFamily="18" charset="0"/>
                </a:endParaRPr>
              </a:p>
              <a:p>
                <a:pPr marL="0" indent="0" algn="ctr">
                  <a:buNone/>
                </a:pPr>
                <a14:m>
                  <m:oMath xmlns:m="http://schemas.openxmlformats.org/officeDocument/2006/math">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r>
                          <a:rPr lang="en-US" b="1" i="1">
                            <a:latin typeface="Cambria Math" panose="02040503050406030204" pitchFamily="18" charset="0"/>
                          </a:rPr>
                          <m:t>,</m:t>
                        </m:r>
                        <m:r>
                          <a:rPr lang="en-US" b="1" i="1">
                            <a:latin typeface="Cambria Math" panose="02040503050406030204" pitchFamily="18" charset="0"/>
                          </a:rPr>
                          <m:t>𝜽</m:t>
                        </m:r>
                      </m:e>
                    </m:d>
                    <m:r>
                      <a:rPr lang="en-US" b="0" i="1" smtClean="0">
                        <a:latin typeface="Cambria Math" panose="02040503050406030204" pitchFamily="18" charset="0"/>
                      </a:rPr>
                      <m:t>=</m:t>
                    </m:r>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𝜽</m:t>
                        </m:r>
                      </m:e>
                      <m:sub>
                        <m:r>
                          <a:rPr lang="en-US" b="0" i="1" smtClean="0">
                            <a:latin typeface="Cambria Math" panose="02040503050406030204" pitchFamily="18" charset="0"/>
                          </a:rPr>
                          <m:t>𝜇</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𝜇</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a:t>
                </a:r>
              </a:p>
              <a:p>
                <a:pPr marL="0" indent="0">
                  <a:buNone/>
                </a:pPr>
                <a14:m>
                  <m:oMathPara xmlns:m="http://schemas.openxmlformats.org/officeDocument/2006/math">
                    <m:oMath>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r>
                        <a:rPr lang="en-US" b="0" i="1" smtClean="0">
                          <a:latin typeface="Cambria Math" panose="02040503050406030204" pitchFamily="18" charset="0"/>
                        </a:rPr>
                        <m:t>=</m:t>
                      </m:r>
                      <m:r>
                        <m:rPr>
                          <m:sty m:val="p"/>
                        </m:rPr>
                        <a:rPr lang="en-US" b="0" i="0" smtClean="0">
                          <a:latin typeface="Cambria Math" panose="02040503050406030204" pitchFamily="18" charset="0"/>
                        </a:rPr>
                        <m:t>exp</m:t>
                      </m:r>
                      <m:r>
                        <a:rPr lang="en-US" b="0" i="1" smtClean="0">
                          <a:latin typeface="Cambria Math" panose="02040503050406030204" pitchFamily="18" charset="0"/>
                        </a:rPr>
                        <m:t>⁡(</m:t>
                      </m:r>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𝜽</m:t>
                          </m:r>
                        </m:e>
                        <m:sub>
                          <m:r>
                            <a:rPr lang="en-US" b="0" i="1" smtClean="0">
                              <a:latin typeface="Cambria Math" panose="02040503050406030204" pitchFamily="18" charset="0"/>
                            </a:rPr>
                            <m:t>𝜎</m:t>
                          </m:r>
                        </m:sub>
                        <m:sup>
                          <m:r>
                            <a:rPr lang="en-US" b="0" i="1" smtClean="0">
                              <a:latin typeface="Cambria Math" panose="02040503050406030204" pitchFamily="18" charset="0"/>
                            </a:rPr>
                            <m:t>⊤</m:t>
                          </m:r>
                        </m:sup>
                      </m:sSubSup>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𝜎</m:t>
                          </m:r>
                        </m:sub>
                      </m:sSub>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s</m:t>
                          </m:r>
                        </m:e>
                      </m:d>
                      <m:r>
                        <a:rPr lang="en-US" b="0" i="0" smtClean="0">
                          <a:latin typeface="Cambria Math" panose="02040503050406030204" pitchFamily="18" charset="0"/>
                        </a:rPr>
                        <m:t>)</m:t>
                      </m:r>
                    </m:oMath>
                  </m:oMathPara>
                </a14:m>
                <a:endParaRPr lang="en-US" dirty="0"/>
              </a:p>
              <a:p>
                <a:pPr marL="0" indent="0">
                  <a:buNone/>
                </a:pPr>
                <a:r>
                  <a:rPr lang="en-US" dirty="0"/>
                  <a:t>is learned with </a:t>
                </a:r>
                <a14:m>
                  <m:oMath xmlns:m="http://schemas.openxmlformats.org/officeDocument/2006/math">
                    <m:r>
                      <a:rPr lang="en-US" b="1" i="1" smtClean="0">
                        <a:latin typeface="Cambria Math" panose="02040503050406030204" pitchFamily="18" charset="0"/>
                      </a:rPr>
                      <m:t>𝜽</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𝝁</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𝝈</m:t>
                        </m:r>
                      </m:sub>
                    </m:sSub>
                    <m:r>
                      <a:rPr lang="en-US" b="1" i="1" smtClean="0">
                        <a:latin typeface="Cambria Math" panose="02040503050406030204" pitchFamily="18" charset="0"/>
                      </a:rPr>
                      <m:t>]</m:t>
                    </m:r>
                  </m:oMath>
                </a14:m>
                <a:endParaRPr lang="en-US" b="1" dirty="0"/>
              </a:p>
            </p:txBody>
          </p:sp>
        </mc:Choice>
        <mc:Fallback xmlns="">
          <p:sp>
            <p:nvSpPr>
              <p:cNvPr id="3" name="Content Placeholder 2" descr="Soft-max in action preferences works for a small number of discrete actions. For continuous actions: Choose action from a continuous distribution and learn the distribution parameters. Example: Choose the action (value) from a Gaussian distribution:. pi (a given s, theta) equals the fraction 1, over sigma (s, theta) the square root of 2 pi, end fraction exp of (minus the fraction (a minus mu (s, theta)) squared, over 2 sigma (s, theta) squared, end fraction). where often. mu (s, theta) equals theta transpose sub mu x sub mu (s). sigma (s, theta) equals exp(theta transpose sub sigma x sub sigma (s)). is learned with theta equals [theta sub mu, theta sub sigma]">
                <a:extLst>
                  <a:ext uri="{FF2B5EF4-FFF2-40B4-BE49-F238E27FC236}">
                    <a16:creationId xmlns:a16="http://schemas.microsoft.com/office/drawing/2014/main" id="{0FC10070-A5BD-C926-B21A-8D43C4EF0BE8}"/>
                  </a:ext>
                </a:extLst>
              </p:cNvPr>
              <p:cNvSpPr>
                <a:spLocks noGrp="1" noRot="1" noChangeAspect="1" noMove="1" noResize="1" noEditPoints="1" noAdjustHandles="1" noChangeArrowheads="1" noChangeShapeType="1" noTextEdit="1"/>
              </p:cNvSpPr>
              <p:nvPr>
                <p:ph idx="1"/>
              </p:nvPr>
            </p:nvSpPr>
            <p:spPr>
              <a:xfrm>
                <a:off x="852742" y="1397330"/>
                <a:ext cx="8019032" cy="4779633"/>
              </a:xfrm>
              <a:blipFill>
                <a:blip r:embed="rId2"/>
                <a:stretch>
                  <a:fillRect l="-837" t="-2168" r="-228" b="-1403"/>
                </a:stretch>
              </a:blipFill>
            </p:spPr>
            <p:txBody>
              <a:bodyPr/>
              <a:lstStyle/>
              <a:p>
                <a:r>
                  <a:rPr lang="en-US">
                    <a:noFill/>
                  </a:rPr>
                  <a:t> </a:t>
                </a:r>
              </a:p>
            </p:txBody>
          </p:sp>
        </mc:Fallback>
      </mc:AlternateContent>
      <p:sp>
        <p:nvSpPr>
          <p:cNvPr id="6" name="Speech Bubble: Rectangle with Corners Rounded 5">
            <a:extLst>
              <a:ext uri="{FF2B5EF4-FFF2-40B4-BE49-F238E27FC236}">
                <a16:creationId xmlns:a16="http://schemas.microsoft.com/office/drawing/2014/main" id="{64DCB4DF-3E8B-74B4-3B48-FC51C4D49965}"/>
              </a:ext>
            </a:extLst>
          </p:cNvPr>
          <p:cNvSpPr/>
          <p:nvPr/>
        </p:nvSpPr>
        <p:spPr>
          <a:xfrm>
            <a:off x="5761701" y="5971772"/>
            <a:ext cx="1633355" cy="559712"/>
          </a:xfrm>
          <a:prstGeom prst="wedgeRoundRectCallout">
            <a:avLst>
              <a:gd name="adj1" fmla="val -61405"/>
              <a:gd name="adj2" fmla="val -9355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Linear in state features.</a:t>
            </a:r>
          </a:p>
        </p:txBody>
      </p:sp>
      <p:grpSp>
        <p:nvGrpSpPr>
          <p:cNvPr id="4" name="Group 3" descr="Line chart of four normal (Gaussian) probability density curves over x from −5 to 5: mean 0 and variance 0.2 (blue, tall and narrow, peak about 0.9); mean 0 and variance 1.0 (red, peak about 0.4); mean 0 and variance 5.0 (orange, low and wide); and mean −2 and variance 0.5 (green, peak about 0.56 at x = −2). Labels: Action value a; Probability density; Depend on state and learned parameters theta.">
            <a:extLst>
              <a:ext uri="{FF2B5EF4-FFF2-40B4-BE49-F238E27FC236}">
                <a16:creationId xmlns:a16="http://schemas.microsoft.com/office/drawing/2014/main" id="{349C750D-F8E1-36BD-49AE-6C2CA95CC6A5}"/>
              </a:ext>
            </a:extLst>
          </p:cNvPr>
          <p:cNvGrpSpPr/>
          <p:nvPr/>
        </p:nvGrpSpPr>
        <p:grpSpPr>
          <a:xfrm>
            <a:off x="7457388" y="2779573"/>
            <a:ext cx="4571704" cy="3779832"/>
            <a:chOff x="7503664" y="1334682"/>
            <a:chExt cx="4571704" cy="3779832"/>
          </a:xfrm>
        </p:grpSpPr>
        <p:grpSp>
          <p:nvGrpSpPr>
            <p:cNvPr id="10" name="Group 9" descr="Line chart of four normal (Gaussian) probability density curves over x from −5 to 5: mean 0 and variance 0.2 (blue, tall and narrow, peak about 0.9); mean 0 and variance 1.0 (red, peak about 0.4); mean 0 and variance 5.0 (orange, low and wide); and mean −2 and variance 0.5 (green, peak about 0.56 at x = −2). Labels: Action value a; Probability density.">
              <a:extLst>
                <a:ext uri="{FF2B5EF4-FFF2-40B4-BE49-F238E27FC236}">
                  <a16:creationId xmlns:a16="http://schemas.microsoft.com/office/drawing/2014/main" id="{112C6C46-BE85-72BE-F978-F6C465995015}"/>
                </a:ext>
              </a:extLst>
            </p:cNvPr>
            <p:cNvGrpSpPr/>
            <p:nvPr/>
          </p:nvGrpSpPr>
          <p:grpSpPr>
            <a:xfrm>
              <a:off x="7503664" y="2038453"/>
              <a:ext cx="4571704" cy="3076061"/>
              <a:chOff x="7389459" y="1276730"/>
              <a:chExt cx="4571704" cy="3076061"/>
            </a:xfrm>
          </p:grpSpPr>
          <p:pic>
            <p:nvPicPr>
              <p:cNvPr id="5" name="Picture 4" descr="Line chart of four normal (Gaussian) probability density curves over x from −5 to 5: mean 0 and variance 0.2 (blue, tall and narrow, peak about 0.9); mean 0 and variance 1.0 (red, peak about 0.4); mean 0 and variance 5.0 (orange, low and wide); and mean −2 and variance 0.5 (green, peak about 0.56 at x = −2).">
                <a:extLst>
                  <a:ext uri="{FF2B5EF4-FFF2-40B4-BE49-F238E27FC236}">
                    <a16:creationId xmlns:a16="http://schemas.microsoft.com/office/drawing/2014/main" id="{7E15FD6F-36C9-1393-6E83-57C176A7969A}"/>
                  </a:ext>
                </a:extLst>
              </p:cNvPr>
              <p:cNvPicPr>
                <a:picLocks noChangeAspect="1"/>
              </p:cNvPicPr>
              <p:nvPr/>
            </p:nvPicPr>
            <p:blipFill>
              <a:blip r:embed="rId3"/>
              <a:stretch>
                <a:fillRect/>
              </a:stretch>
            </p:blipFill>
            <p:spPr>
              <a:xfrm>
                <a:off x="7629306" y="1276730"/>
                <a:ext cx="4331857" cy="3015546"/>
              </a:xfrm>
              <a:prstGeom prst="rect">
                <a:avLst/>
              </a:prstGeom>
            </p:spPr>
          </p:pic>
          <mc:AlternateContent xmlns:mc="http://schemas.openxmlformats.org/markup-compatibility/2006" xmlns:a14="http://schemas.microsoft.com/office/drawing/2010/main">
            <mc:Choice Requires="a14">
              <p:sp>
                <p:nvSpPr>
                  <p:cNvPr id="7" name="TextBox 6" descr="Action value a">
                    <a:extLst>
                      <a:ext uri="{FF2B5EF4-FFF2-40B4-BE49-F238E27FC236}">
                        <a16:creationId xmlns:a16="http://schemas.microsoft.com/office/drawing/2014/main" id="{AFFB7FFE-E069-F7DB-74EE-277C693FB5F1}"/>
                      </a:ext>
                    </a:extLst>
                  </p:cNvPr>
                  <p:cNvSpPr txBox="1"/>
                  <p:nvPr/>
                </p:nvSpPr>
                <p:spPr>
                  <a:xfrm>
                    <a:off x="9154417" y="4045014"/>
                    <a:ext cx="1281633" cy="307777"/>
                  </a:xfrm>
                  <a:prstGeom prst="rect">
                    <a:avLst/>
                  </a:prstGeom>
                  <a:solidFill>
                    <a:schemeClr val="bg1"/>
                  </a:solidFill>
                </p:spPr>
                <p:txBody>
                  <a:bodyPr wrap="none" rtlCol="0">
                    <a:spAutoFit/>
                  </a:bodyPr>
                  <a:lstStyle/>
                  <a:p>
                    <a:r>
                      <a:rPr lang="en-US" sz="1400" dirty="0"/>
                      <a:t>Action value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xmlns="">
              <p:sp>
                <p:nvSpPr>
                  <p:cNvPr id="7" name="TextBox 6" descr="Action value a">
                    <a:extLst>
                      <a:ext uri="{FF2B5EF4-FFF2-40B4-BE49-F238E27FC236}">
                        <a16:creationId xmlns:a16="http://schemas.microsoft.com/office/drawing/2014/main" id="{AFFB7FFE-E069-F7DB-74EE-277C693FB5F1}"/>
                      </a:ext>
                    </a:extLst>
                  </p:cNvPr>
                  <p:cNvSpPr txBox="1">
                    <a:spLocks noRot="1" noChangeAspect="1" noMove="1" noResize="1" noEditPoints="1" noAdjustHandles="1" noChangeArrowheads="1" noChangeShapeType="1" noTextEdit="1"/>
                  </p:cNvSpPr>
                  <p:nvPr/>
                </p:nvSpPr>
                <p:spPr>
                  <a:xfrm>
                    <a:off x="9154417" y="4045014"/>
                    <a:ext cx="1281633" cy="307777"/>
                  </a:xfrm>
                  <a:prstGeom prst="rect">
                    <a:avLst/>
                  </a:prstGeom>
                  <a:blipFill>
                    <a:blip r:embed="rId4"/>
                    <a:stretch>
                      <a:fillRect l="-1422" t="-4000" b="-200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0F21EAB-E1E5-DE21-E644-7CFB3D1A72D8}"/>
                  </a:ext>
                </a:extLst>
              </p:cNvPr>
              <p:cNvSpPr txBox="1"/>
              <p:nvPr/>
            </p:nvSpPr>
            <p:spPr>
              <a:xfrm rot="16200000">
                <a:off x="6522399" y="2484545"/>
                <a:ext cx="2041898" cy="307777"/>
              </a:xfrm>
              <a:prstGeom prst="rect">
                <a:avLst/>
              </a:prstGeom>
              <a:solidFill>
                <a:schemeClr val="bg1"/>
              </a:solidFill>
            </p:spPr>
            <p:txBody>
              <a:bodyPr wrap="square" rtlCol="0">
                <a:spAutoFit/>
              </a:bodyPr>
              <a:lstStyle/>
              <a:p>
                <a:pPr algn="ctr"/>
                <a:r>
                  <a:rPr lang="en-US" sz="1400" dirty="0"/>
                  <a:t>Probability density</a:t>
                </a:r>
              </a:p>
            </p:txBody>
          </p:sp>
        </p:grpSp>
        <mc:AlternateContent xmlns:mc="http://schemas.openxmlformats.org/markup-compatibility/2006" xmlns:a14="http://schemas.microsoft.com/office/drawing/2010/main">
          <mc:Choice Requires="a14">
            <p:sp>
              <p:nvSpPr>
                <p:cNvPr id="9" name="Speech Bubble: Rectangle with Corners Rounded 8" descr="Depend on state and learned parameters theta">
                  <a:extLst>
                    <a:ext uri="{FF2B5EF4-FFF2-40B4-BE49-F238E27FC236}">
                      <a16:creationId xmlns:a16="http://schemas.microsoft.com/office/drawing/2014/main" id="{1C86F6D6-661C-D5B1-6444-946E823AFD3B}"/>
                    </a:ext>
                  </a:extLst>
                </p:cNvPr>
                <p:cNvSpPr/>
                <p:nvPr/>
              </p:nvSpPr>
              <p:spPr>
                <a:xfrm>
                  <a:off x="9102118" y="1334682"/>
                  <a:ext cx="2519835" cy="493286"/>
                </a:xfrm>
                <a:prstGeom prst="wedgeRoundRectCallout">
                  <a:avLst>
                    <a:gd name="adj1" fmla="val 25087"/>
                    <a:gd name="adj2" fmla="val 17428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Depend on state and learned parameters </a:t>
                  </a:r>
                  <a14:m>
                    <m:oMath xmlns:m="http://schemas.openxmlformats.org/officeDocument/2006/math">
                      <m:r>
                        <a:rPr lang="en-US" sz="1600" b="0" i="1" smtClean="0">
                          <a:latin typeface="Cambria Math" panose="02040503050406030204" pitchFamily="18" charset="0"/>
                        </a:rPr>
                        <m:t>𝜃</m:t>
                      </m:r>
                    </m:oMath>
                  </a14:m>
                  <a:endParaRPr lang="en-US" sz="1600" dirty="0"/>
                </a:p>
              </p:txBody>
            </p:sp>
          </mc:Choice>
          <mc:Fallback xmlns="">
            <p:sp>
              <p:nvSpPr>
                <p:cNvPr id="9" name="Speech Bubble: Rectangle with Corners Rounded 8" descr="Depend on state and learned parameters theta">
                  <a:extLst>
                    <a:ext uri="{FF2B5EF4-FFF2-40B4-BE49-F238E27FC236}">
                      <a16:creationId xmlns:a16="http://schemas.microsoft.com/office/drawing/2014/main" id="{1C86F6D6-661C-D5B1-6444-946E823AFD3B}"/>
                    </a:ext>
                  </a:extLst>
                </p:cNvPr>
                <p:cNvSpPr>
                  <a:spLocks noRot="1" noChangeAspect="1" noMove="1" noResize="1" noEditPoints="1" noAdjustHandles="1" noChangeArrowheads="1" noChangeShapeType="1" noTextEdit="1"/>
                </p:cNvSpPr>
                <p:nvPr/>
              </p:nvSpPr>
              <p:spPr>
                <a:xfrm>
                  <a:off x="9102118" y="1334682"/>
                  <a:ext cx="2519835" cy="493286"/>
                </a:xfrm>
                <a:prstGeom prst="wedgeRoundRectCallout">
                  <a:avLst>
                    <a:gd name="adj1" fmla="val 25087"/>
                    <a:gd name="adj2" fmla="val 174288"/>
                    <a:gd name="adj3" fmla="val 16667"/>
                  </a:avLst>
                </a:prstGeom>
                <a:blipFill>
                  <a:blip r:embed="rId5"/>
                  <a:stretch>
                    <a:fillRect t="-4813"/>
                  </a:stretch>
                </a:blipFill>
              </p:spPr>
              <p:txBody>
                <a:bodyPr/>
                <a:lstStyle/>
                <a:p>
                  <a:r>
                    <a:rPr lang="en-US">
                      <a:noFill/>
                    </a:rPr>
                    <a:t> </a:t>
                  </a:r>
                </a:p>
              </p:txBody>
            </p:sp>
          </mc:Fallback>
        </mc:AlternateContent>
      </p:grpSp>
    </p:spTree>
    <p:extLst>
      <p:ext uri="{BB962C8B-B14F-4D97-AF65-F5344CB8AC3E}">
        <p14:creationId xmlns:p14="http://schemas.microsoft.com/office/powerpoint/2010/main" val="406864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33AE40A-23C7-81D2-4AA7-611BEC39F394}"/>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882" b="-1"/>
          <a:stretch>
            <a:fillRect/>
          </a:stretch>
        </p:blipFill>
        <p:spPr bwMode="auto">
          <a:xfrm>
            <a:off x="2429051" y="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FF12E03-3109-78FE-32B4-A06B15065E7A}"/>
              </a:ext>
            </a:extLst>
          </p:cNvPr>
          <p:cNvSpPr>
            <a:spLocks noGrp="1"/>
          </p:cNvSpPr>
          <p:nvPr>
            <p:ph type="title"/>
          </p:nvPr>
        </p:nvSpPr>
        <p:spPr>
          <a:xfrm>
            <a:off x="838200" y="365125"/>
            <a:ext cx="3822189" cy="1899912"/>
          </a:xfrm>
        </p:spPr>
        <p:txBody>
          <a:bodyPr>
            <a:normAutofit/>
          </a:bodyPr>
          <a:lstStyle/>
          <a:p>
            <a:r>
              <a:rPr lang="en-US" sz="4000" dirty="0"/>
              <a:t>What do you need to know?</a:t>
            </a:r>
          </a:p>
        </p:txBody>
      </p:sp>
      <p:sp>
        <p:nvSpPr>
          <p:cNvPr id="3" name="Content Placeholder 2">
            <a:extLst>
              <a:ext uri="{FF2B5EF4-FFF2-40B4-BE49-F238E27FC236}">
                <a16:creationId xmlns:a16="http://schemas.microsoft.com/office/drawing/2014/main" id="{4B1B9043-0881-7F44-61EC-208B02038C0F}"/>
              </a:ext>
            </a:extLst>
          </p:cNvPr>
          <p:cNvSpPr>
            <a:spLocks noGrp="1"/>
          </p:cNvSpPr>
          <p:nvPr>
            <p:ph idx="1"/>
          </p:nvPr>
        </p:nvSpPr>
        <p:spPr>
          <a:xfrm>
            <a:off x="551432" y="2265037"/>
            <a:ext cx="5695805" cy="4167862"/>
          </a:xfrm>
        </p:spPr>
        <p:txBody>
          <a:bodyPr>
            <a:normAutofit fontScale="85000" lnSpcReduction="10000"/>
          </a:bodyPr>
          <a:lstStyle/>
          <a:p>
            <a:r>
              <a:rPr lang="en-US" sz="1600" dirty="0"/>
              <a:t>Learning a </a:t>
            </a:r>
            <a:r>
              <a:rPr lang="en-US" sz="1600" b="1" dirty="0"/>
              <a:t>parameterized policy </a:t>
            </a:r>
            <a:r>
              <a:rPr lang="en-US" sz="1600" dirty="0"/>
              <a:t>has many advantages:</a:t>
            </a:r>
          </a:p>
          <a:p>
            <a:pPr lvl="1"/>
            <a:r>
              <a:rPr lang="en-US" sz="1600" dirty="0"/>
              <a:t>Learn probabilities for taking an action (</a:t>
            </a:r>
            <a:r>
              <a:rPr lang="en-US" sz="1600" b="1" dirty="0"/>
              <a:t>stochastic policies</a:t>
            </a:r>
            <a:r>
              <a:rPr lang="en-US" sz="1600" dirty="0"/>
              <a:t>). </a:t>
            </a:r>
          </a:p>
          <a:p>
            <a:pPr lvl="1"/>
            <a:r>
              <a:rPr lang="en-US" sz="1600" dirty="0"/>
              <a:t>The policy starts typically soft and </a:t>
            </a:r>
            <a:r>
              <a:rPr lang="en-US" sz="1600" b="1" dirty="0"/>
              <a:t>automatically explores </a:t>
            </a:r>
            <a:r>
              <a:rPr lang="en-US" sz="1600" dirty="0"/>
              <a:t>and later can approximate the optimal discrete policy.</a:t>
            </a:r>
          </a:p>
          <a:p>
            <a:pPr lvl="1"/>
            <a:r>
              <a:rPr lang="en-US" sz="1600" dirty="0"/>
              <a:t>Can handle </a:t>
            </a:r>
            <a:r>
              <a:rPr lang="en-US" sz="1600" b="1" dirty="0"/>
              <a:t>continuous action </a:t>
            </a:r>
            <a:r>
              <a:rPr lang="en-US" sz="1600" dirty="0"/>
              <a:t>spaces.</a:t>
            </a:r>
          </a:p>
          <a:p>
            <a:pPr lvl="1"/>
            <a:r>
              <a:rPr lang="en-US" sz="1600" b="1" dirty="0"/>
              <a:t>Policy gradient theorem </a:t>
            </a:r>
            <a:r>
              <a:rPr lang="en-US" sz="1600" dirty="0"/>
              <a:t>provides strong performance bounds.</a:t>
            </a:r>
          </a:p>
          <a:p>
            <a:pPr lvl="1"/>
            <a:endParaRPr lang="en-US" sz="1600" dirty="0"/>
          </a:p>
          <a:p>
            <a:r>
              <a:rPr lang="en-US" sz="1600" dirty="0"/>
              <a:t>Important methods:</a:t>
            </a:r>
          </a:p>
          <a:p>
            <a:pPr lvl="1"/>
            <a:r>
              <a:rPr lang="en-US" sz="1600" b="1" dirty="0"/>
              <a:t>Soft-max in action preferences </a:t>
            </a:r>
            <a:r>
              <a:rPr lang="en-US" sz="1600" dirty="0"/>
              <a:t>is a very popular choice for parameterized policies with a small set of discrete actions.</a:t>
            </a:r>
            <a:endParaRPr lang="en-US" sz="1600" b="1" dirty="0"/>
          </a:p>
          <a:p>
            <a:pPr lvl="1"/>
            <a:r>
              <a:rPr lang="en-US" sz="1600" b="1" dirty="0"/>
              <a:t>REINFORCE: </a:t>
            </a:r>
            <a:r>
              <a:rPr lang="en-US" sz="1600" dirty="0"/>
              <a:t>Use MC to learn the policy parameters.</a:t>
            </a:r>
            <a:endParaRPr lang="en-US" sz="1600" b="1" dirty="0"/>
          </a:p>
          <a:p>
            <a:pPr lvl="1"/>
            <a:r>
              <a:rPr lang="en-US" sz="1600" b="1" dirty="0"/>
              <a:t>Actor-Critic Methods: </a:t>
            </a:r>
            <a:r>
              <a:rPr lang="en-US" sz="1600" dirty="0"/>
              <a:t>Estimate policy and value function parameters together using TD. Reduces REINFORCE’s variance and leads to more stable and faster learning.</a:t>
            </a:r>
            <a:endParaRPr lang="en-US" sz="1600" b="1" dirty="0"/>
          </a:p>
          <a:p>
            <a:pPr lvl="1"/>
            <a:endParaRPr lang="en-US" sz="1600" dirty="0"/>
          </a:p>
          <a:p>
            <a:r>
              <a:rPr lang="en-US" sz="1600" b="1" dirty="0"/>
              <a:t>Note</a:t>
            </a:r>
            <a:r>
              <a:rPr lang="en-US" sz="1600" dirty="0"/>
              <a:t>: Policy gradient methods (REINFORCE, actor-critic methods) have a different set of strengths and weaknesses compared to action-value methods, and the best choice depends on the problem.</a:t>
            </a:r>
          </a:p>
        </p:txBody>
      </p:sp>
    </p:spTree>
    <p:extLst>
      <p:ext uri="{BB962C8B-B14F-4D97-AF65-F5344CB8AC3E}">
        <p14:creationId xmlns:p14="http://schemas.microsoft.com/office/powerpoint/2010/main" val="36589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25704</TotalTime>
  <Words>2051</Words>
  <Application>Microsoft Macintosh PowerPoint</Application>
  <PresentationFormat>Widescreen</PresentationFormat>
  <Paragraphs>208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Cambria Math</vt:lpstr>
      <vt:lpstr>Office Theme</vt:lpstr>
      <vt:lpstr>Reinforcement Learning  Policy Gradient Methods Sutton/Barto* Chapter 13</vt:lpstr>
      <vt:lpstr>Topics of this Course</vt:lpstr>
      <vt:lpstr>Summary of Notation</vt:lpstr>
      <vt:lpstr>Parametrized Policies</vt:lpstr>
      <vt:lpstr>Learn a Parameterized Policy</vt:lpstr>
      <vt:lpstr>Policy Gradient Theorem</vt:lpstr>
      <vt:lpstr>Parametrized Policy Example</vt:lpstr>
      <vt:lpstr>Advantages Over ϵ-Greedy Action Selection</vt:lpstr>
      <vt:lpstr>REINFORCE</vt:lpstr>
      <vt:lpstr>REINFORCE Update</vt:lpstr>
      <vt:lpstr>REINFORCE Algorithm</vt:lpstr>
      <vt:lpstr>Actor-Critic Methods</vt:lpstr>
      <vt:lpstr>Actor-Critic Methods </vt:lpstr>
      <vt:lpstr>The Policy Gradient Update Signal</vt:lpstr>
      <vt:lpstr>One-Step Actor-Critic Algorithm</vt:lpstr>
      <vt:lpstr>Actor-Critic Methods with Eligibility Traces</vt:lpstr>
      <vt:lpstr>Off-Policy Learning with Policy Gradient Methods</vt:lpstr>
      <vt:lpstr>Continuous Actions</vt:lpstr>
      <vt:lpstr>Policy Parameterization for Continuous Actions</vt:lpstr>
      <vt:lpstr>What do you need to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254</cp:revision>
  <dcterms:created xsi:type="dcterms:W3CDTF">2025-09-08T14:44:49Z</dcterms:created>
  <dcterms:modified xsi:type="dcterms:W3CDTF">2026-10-15T22:54:43Z</dcterms:modified>
</cp:coreProperties>
</file>