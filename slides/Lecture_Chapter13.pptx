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81" r:id="rId4"/>
    <p:sldId id="393" r:id="rId5"/>
    <p:sldId id="394" r:id="rId6"/>
    <p:sldId id="397" r:id="rId7"/>
    <p:sldId id="395" r:id="rId8"/>
    <p:sldId id="396" r:id="rId9"/>
    <p:sldId id="479" r:id="rId10"/>
    <p:sldId id="398" r:id="rId11"/>
    <p:sldId id="405" r:id="rId12"/>
    <p:sldId id="403" r:id="rId13"/>
    <p:sldId id="404" r:id="rId14"/>
    <p:sldId id="399" r:id="rId15"/>
    <p:sldId id="400" r:id="rId16"/>
    <p:sldId id="480" r:id="rId17"/>
    <p:sldId id="401" r:id="rId18"/>
    <p:sldId id="40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1"/>
          </p14:sldIdLst>
        </p14:section>
        <p14:section name="Parameterized Policies" id="{C2DBD4EA-9EBA-4A8A-BF9F-3F181F6852A2}">
          <p14:sldIdLst>
            <p14:sldId id="393"/>
            <p14:sldId id="394"/>
            <p14:sldId id="397"/>
            <p14:sldId id="395"/>
            <p14:sldId id="396"/>
          </p14:sldIdLst>
        </p14:section>
        <p14:section name="REINFORCE" id="{DC5CCD00-AD22-4F6A-8C8C-DF356B4EAD58}">
          <p14:sldIdLst>
            <p14:sldId id="479"/>
            <p14:sldId id="398"/>
            <p14:sldId id="405"/>
          </p14:sldIdLst>
        </p14:section>
        <p14:section name="Actor-Critic Methods" id="{ABD167D0-30CE-47BC-8E3A-3E031318CAD0}">
          <p14:sldIdLst>
            <p14:sldId id="403"/>
            <p14:sldId id="404"/>
            <p14:sldId id="399"/>
            <p14:sldId id="400"/>
            <p14:sldId id="480"/>
            <p14:sldId id="401"/>
          </p14:sldIdLst>
        </p14:section>
        <p14:section name="Summary" id="{9768FDA7-56A0-4548-B94F-048401FDA23D}">
          <p14:sldIdLst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74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72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348852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Policy Gradient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9289" y="209383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1C24C8A-95D3-8F99-1FB0-70508AB77601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C3B0490-3071-FC79-8647-56FAA92E21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FB0167B-6BE4-3396-4D41-07DD00E5B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b="1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policies directly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01DBC-B58B-BC2C-2AE0-DB6472CC6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a Parameterized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Up to now</a:t>
                </a:r>
                <a:r>
                  <a:rPr lang="en-US" dirty="0"/>
                  <a:t>: Learn parameters for an approximate action-value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en-US" dirty="0"/>
                  <a:t> and then extract a greedy policy.</a:t>
                </a:r>
              </a:p>
              <a:p>
                <a:endParaRPr lang="en-US" dirty="0"/>
              </a:p>
              <a:p>
                <a:r>
                  <a:rPr lang="en-US" b="1" dirty="0"/>
                  <a:t>New idea</a:t>
                </a:r>
                <a:r>
                  <a:rPr lang="en-US" dirty="0"/>
                  <a:t>: Use a policy-based method that learn parameters for a policy.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Parameterized stochastic policy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b="0" i="1" dirty="0" err="1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| 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b="0" i="1" dirty="0" err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}, 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b="1" i="1" dirty="0" err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given a performance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</a:t>
                </a:r>
                <a:r>
                  <a:rPr lang="en-US" b="1" dirty="0"/>
                  <a:t>approximate gradient ascent</a:t>
                </a:r>
                <a:r>
                  <a:rPr lang="en-US" dirty="0"/>
                  <a:t>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Update rule</a:t>
                </a:r>
                <a:r>
                  <a:rPr lang="en-US" dirty="0"/>
                  <a:t>: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is a stochastic estimate of the gradient of the performance measure with respect to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. We use an estimate because getting the exact gradient is hard. 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  <a:blipFill>
                <a:blip r:embed="rId2"/>
                <a:stretch>
                  <a:fillRect l="-522" t="-2168" r="-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390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 guarantee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Gradient is unbiased and with reducing step size appropriately,  ascent </a:t>
                </a:r>
                <a:r>
                  <a:rPr lang="en-US" b="1" dirty="0"/>
                  <a:t>will converge to a local maximum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Does NOT guarantee: global optimum, fast convergence or stability (with non-linear approximation)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406" t="-15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  <a:blipFill>
                <a:blip r:embed="rId3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987531" y="4389919"/>
            <a:ext cx="2459919" cy="540281"/>
          </a:xfrm>
          <a:prstGeom prst="wedgeRoundRectCallout">
            <a:avLst>
              <a:gd name="adj1" fmla="val -66091"/>
              <a:gd name="adj2" fmla="val -12368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Depends on the policy approximation function.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68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D4D8-C225-0BFC-0002-168957131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Policy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40945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Requirements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needs to be </a:t>
                </a:r>
                <a:r>
                  <a:rPr lang="en-US" b="1" dirty="0"/>
                  <a:t>differentiable</a:t>
                </a:r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exists and is finite.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needs to stay soft to guarantee </a:t>
                </a:r>
                <a:r>
                  <a:rPr lang="en-US" b="1" dirty="0"/>
                  <a:t>exploration</a:t>
                </a:r>
                <a:r>
                  <a:rPr lang="en-US" dirty="0"/>
                  <a:t> and convergence.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Popular for a small, discrete action space: </a:t>
                </a:r>
                <a:r>
                  <a:rPr lang="en-US" b="1" dirty="0"/>
                  <a:t>Soft-max in action preferences</a:t>
                </a: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a </a:t>
                </a:r>
                <a:r>
                  <a:rPr lang="en-US" b="1" dirty="0"/>
                  <a:t>numerical preference </a:t>
                </a:r>
                <a:r>
                  <a:rPr lang="en-US" dirty="0"/>
                  <a:t>function where you prefer state-action combinations with larger scores.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Some options:</a:t>
                </a:r>
              </a:p>
              <a:p>
                <a:pPr lvl="2"/>
                <a:r>
                  <a:rPr lang="en-US" dirty="0"/>
                  <a:t>Linear approximation with state (transformed) features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ANN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as network weights.</a:t>
                </a:r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Giving the action with the highest preference in each state the highest probability is done using </a:t>
                </a:r>
                <a:r>
                  <a:rPr lang="en-US" b="1" dirty="0"/>
                  <a:t>soft-max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sup>
                            </m:sSup>
                          </m:e>
                        </m:nary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Gradient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40945"/>
              </a:xfrm>
              <a:blipFill>
                <a:blip r:embed="rId2"/>
                <a:stretch>
                  <a:fillRect l="-638" t="-2056" b="-8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C9085A-222B-CE19-B614-912564AF12F8}"/>
              </a:ext>
            </a:extLst>
          </p:cNvPr>
          <p:cNvSpPr txBox="1"/>
          <p:nvPr/>
        </p:nvSpPr>
        <p:spPr>
          <a:xfrm>
            <a:off x="7300208" y="4953510"/>
            <a:ext cx="3822493" cy="646331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Note</a:t>
            </a:r>
            <a:r>
              <a:rPr lang="en-US" dirty="0"/>
              <a:t>: Soft-max converts a set of scores into a probability distribution.</a:t>
            </a:r>
          </a:p>
        </p:txBody>
      </p:sp>
    </p:spTree>
    <p:extLst>
      <p:ext uri="{BB962C8B-B14F-4D97-AF65-F5344CB8AC3E}">
        <p14:creationId xmlns:p14="http://schemas.microsoft.com/office/powerpoint/2010/main" val="2059881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Advantages Over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Action Selection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Learns stochastic policies</a:t>
                </a:r>
                <a:endParaRPr lang="en-US" dirty="0"/>
              </a:p>
              <a:p>
                <a:pPr lvl="1"/>
                <a:r>
                  <a:rPr lang="en-US" dirty="0"/>
                  <a:t>Value-action methods cannot learn stochastic policies and are often stuck with learning on-policy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policy.</a:t>
                </a:r>
              </a:p>
              <a:p>
                <a:pPr lvl="1"/>
                <a:r>
                  <a:rPr lang="en-US" dirty="0"/>
                  <a:t>Soft-max defines stochastic policies (i.e., each action has a probability). </a:t>
                </a:r>
              </a:p>
              <a:p>
                <a:pPr lvl="1"/>
                <a:r>
                  <a:rPr lang="en-US" dirty="0"/>
                  <a:t>The policy will be driven to the optimal stochastic policy which can also approach a deterministic policy.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</a:t>
                </a:r>
                <a:r>
                  <a:rPr lang="en-US" dirty="0"/>
                  <a:t>: value-action methods cannot learn stochastic policies and are often stuck with learning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policy!</a:t>
                </a:r>
              </a:p>
              <a:p>
                <a:endParaRPr lang="en-US" dirty="0"/>
              </a:p>
              <a:p>
                <a:r>
                  <a:rPr lang="en-US" b="1" dirty="0"/>
                  <a:t>Smooth updates</a:t>
                </a:r>
                <a:endParaRPr lang="en-US" dirty="0"/>
              </a:p>
              <a:p>
                <a:pPr lvl="1"/>
                <a:r>
                  <a:rPr lang="en-US" dirty="0"/>
                  <a:t>Parameterized policy changes action probability smoothly while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policies jump when a different action becomes the maximum. </a:t>
                </a:r>
              </a:p>
              <a:p>
                <a:endParaRPr lang="en-US" dirty="0"/>
              </a:p>
              <a:p>
                <a:r>
                  <a:rPr lang="en-US" b="1" dirty="0"/>
                  <a:t>Incorporating prior knowledge is possible</a:t>
                </a:r>
              </a:p>
              <a:p>
                <a:pPr lvl="1"/>
                <a:r>
                  <a:rPr lang="en-US" dirty="0"/>
                  <a:t>Prior knowledge</a:t>
                </a:r>
                <a:r>
                  <a:rPr lang="en-US" b="1" dirty="0"/>
                  <a:t> </a:t>
                </a:r>
                <a:r>
                  <a:rPr lang="en-US" dirty="0"/>
                  <a:t>about the form of the policy can be incorporated into the way the policy is parameterized (i.e., the approximation can be biased). This can improve learning significantly.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4639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19D38-A32B-2F8F-C55D-301B4119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17E25-F763-6A54-0487-6923B0488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6F1A28-3C73-9B92-B1DA-A954CD0AD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 Carlo Policy Gradient Control </a:t>
            </a:r>
          </a:p>
        </p:txBody>
      </p:sp>
    </p:spTree>
    <p:extLst>
      <p:ext uri="{BB962C8B-B14F-4D97-AF65-F5344CB8AC3E}">
        <p14:creationId xmlns:p14="http://schemas.microsoft.com/office/powerpoint/2010/main" val="4000561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2237959"/>
                <a:ext cx="6176853" cy="329876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nary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2237959"/>
                <a:ext cx="6176853" cy="3298764"/>
              </a:xfrm>
              <a:blipFill>
                <a:blip r:embed="rId2"/>
                <a:stretch>
                  <a:fillRect r="-3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/>
              <p:nvPr/>
            </p:nvSpPr>
            <p:spPr>
              <a:xfrm>
                <a:off x="7305887" y="3156676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3156676"/>
                <a:ext cx="3783243" cy="369332"/>
              </a:xfrm>
              <a:prstGeom prst="rect">
                <a:avLst/>
              </a:prstGeom>
              <a:blipFill>
                <a:blip r:embed="rId3"/>
                <a:stretch>
                  <a:fillRect l="-1288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/>
              <p:nvPr/>
            </p:nvSpPr>
            <p:spPr>
              <a:xfrm>
                <a:off x="7305887" y="4280574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4280574"/>
                <a:ext cx="3783243" cy="369332"/>
              </a:xfrm>
              <a:prstGeom prst="rect">
                <a:avLst/>
              </a:prstGeom>
              <a:blipFill>
                <a:blip r:embed="rId4"/>
                <a:stretch>
                  <a:fillRect l="-1288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AA782C-5593-DAF1-4AC5-86DC24584F2B}"/>
                  </a:ext>
                </a:extLst>
              </p:cNvPr>
              <p:cNvSpPr txBox="1"/>
              <p:nvPr/>
            </p:nvSpPr>
            <p:spPr>
              <a:xfrm>
                <a:off x="7305887" y="2391815"/>
                <a:ext cx="41834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4AA782C-5593-DAF1-4AC5-86DC24584F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2391815"/>
                <a:ext cx="4183439" cy="369332"/>
              </a:xfrm>
              <a:prstGeom prst="rect">
                <a:avLst/>
              </a:prstGeom>
              <a:blipFill>
                <a:blip r:embed="rId5"/>
                <a:stretch>
                  <a:fillRect l="-1164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250DF70-B205-0F67-A022-8658B6D83F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129111"/>
                <a:ext cx="10169502" cy="999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dirty="0"/>
                  <a:t>Normal stochastic gradient-ascent algorithm update: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0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7250DF70-B205-0F67-A022-8658B6D83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129111"/>
                <a:ext cx="10169502" cy="999492"/>
              </a:xfrm>
              <a:prstGeom prst="rect">
                <a:avLst/>
              </a:prstGeom>
              <a:blipFill>
                <a:blip r:embed="rId6"/>
                <a:stretch>
                  <a:fillRect l="-599" t="-5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45850D-3559-27BA-E9D9-01CB3EECB739}"/>
                  </a:ext>
                </a:extLst>
              </p:cNvPr>
              <p:cNvSpPr txBox="1"/>
              <p:nvPr/>
            </p:nvSpPr>
            <p:spPr>
              <a:xfrm>
                <a:off x="7305887" y="5045435"/>
                <a:ext cx="3783243" cy="491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F45850D-3559-27BA-E9D9-01CB3EECB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5887" y="5045435"/>
                <a:ext cx="3783243" cy="491288"/>
              </a:xfrm>
              <a:prstGeom prst="rect">
                <a:avLst/>
              </a:prstGeom>
              <a:blipFill>
                <a:blip r:embed="rId7"/>
                <a:stretch>
                  <a:fillRect l="-128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0E0A6D4E-3C3A-D6B4-AF80-2EE6E3925191}"/>
                  </a:ext>
                </a:extLst>
              </p:cNvPr>
              <p:cNvSpPr/>
              <p:nvPr/>
            </p:nvSpPr>
            <p:spPr>
              <a:xfrm>
                <a:off x="1934314" y="5815800"/>
                <a:ext cx="5371573" cy="677074"/>
              </a:xfrm>
              <a:prstGeom prst="wedgeRoundRectCallout">
                <a:avLst>
                  <a:gd name="adj1" fmla="val -13697"/>
                  <a:gd name="adj2" fmla="val -9583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and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dirty="0"/>
                  <a:t>under the current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can be obtained via MC.</a:t>
                </a:r>
              </a:p>
            </p:txBody>
          </p:sp>
        </mc:Choice>
        <mc:Fallback xmlns="">
          <p:sp>
            <p:nvSpPr>
              <p:cNvPr id="11" name="Speech Bubble: Rectangle with Corners Rounded 10">
                <a:extLst>
                  <a:ext uri="{FF2B5EF4-FFF2-40B4-BE49-F238E27FC236}">
                    <a16:creationId xmlns:a16="http://schemas.microsoft.com/office/drawing/2014/main" id="{0E0A6D4E-3C3A-D6B4-AF80-2EE6E3925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314" y="5815800"/>
                <a:ext cx="5371573" cy="677074"/>
              </a:xfrm>
              <a:prstGeom prst="wedgeRoundRectCallout">
                <a:avLst>
                  <a:gd name="adj1" fmla="val -13697"/>
                  <a:gd name="adj2" fmla="val -95839"/>
                  <a:gd name="adj3" fmla="val 16667"/>
                </a:avLst>
              </a:prstGeom>
              <a:blipFill>
                <a:blip r:embed="rId8"/>
                <a:stretch>
                  <a:fillRect l="-22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014D84C1-60EA-82C5-B8D9-153A02B2C659}"/>
              </a:ext>
            </a:extLst>
          </p:cNvPr>
          <p:cNvSpPr/>
          <p:nvPr/>
        </p:nvSpPr>
        <p:spPr>
          <a:xfrm>
            <a:off x="7510072" y="1761344"/>
            <a:ext cx="2645764" cy="476615"/>
          </a:xfrm>
          <a:prstGeom prst="wedgeRoundRectCallout">
            <a:avLst>
              <a:gd name="adj1" fmla="val -106669"/>
              <a:gd name="adj2" fmla="val 8608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Policy Gradient Theorem</a:t>
            </a:r>
          </a:p>
        </p:txBody>
      </p:sp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  <p:bldP spid="7" grpId="0"/>
      <p:bldP spid="4" grpId="0"/>
      <p:bldP spid="10" grpId="0"/>
      <p:bldP spid="11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A846B-68DA-9665-F3C8-EFD6C97E6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F899-1499-8E06-0445-BD2138EDB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46DFC6-5448-DD38-1C4B-9AD716BBC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753" y="1124198"/>
            <a:ext cx="9759682" cy="35968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074B3E-757C-2A75-351C-454936CC129D}"/>
                  </a:ext>
                </a:extLst>
              </p:cNvPr>
              <p:cNvSpPr txBox="1"/>
              <p:nvPr/>
            </p:nvSpPr>
            <p:spPr>
              <a:xfrm>
                <a:off x="1412604" y="4909277"/>
                <a:ext cx="9173980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Notes: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MC sampling leads to high variance in the gradient estimate (which is worse than variance in the return estimate).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REINFORCE is often implemented with a baseline reward for each state to reduce variance: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074B3E-757C-2A75-351C-454936CC1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604" y="4909277"/>
                <a:ext cx="9173980" cy="1477328"/>
              </a:xfrm>
              <a:prstGeom prst="rect">
                <a:avLst/>
              </a:prstGeom>
              <a:blipFill>
                <a:blip r:embed="rId3"/>
                <a:stretch>
                  <a:fillRect l="-531" t="-1220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3499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235DA-6659-FCD2-0535-D2F5B36B0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04E83-698E-5514-E2C1-DE4C72B84B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Combining an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actor (a parameterized policy) with 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critic (using a parameterized value functions)</a:t>
            </a:r>
          </a:p>
        </p:txBody>
      </p:sp>
    </p:spTree>
    <p:extLst>
      <p:ext uri="{BB962C8B-B14F-4D97-AF65-F5344CB8AC3E}">
        <p14:creationId xmlns:p14="http://schemas.microsoft.com/office/powerpoint/2010/main" val="1039217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58F417-5DF6-F5B5-A385-666C67922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DE7457B-2499-5391-0012-F1D1EE0A7C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4254" y="1290909"/>
                <a:ext cx="7859652" cy="5081969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estimate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           parameterized policy + parameterized value function</a:t>
                </a:r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Actor</a:t>
                </a:r>
                <a:r>
                  <a:rPr lang="en-US" dirty="0"/>
                  <a:t>: estimates a parameterized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decides on actions.</a:t>
                </a:r>
              </a:p>
              <a:p>
                <a:r>
                  <a:rPr lang="en-US" b="1" dirty="0"/>
                  <a:t>Critic</a:t>
                </a:r>
                <a:r>
                  <a:rPr lang="en-US" dirty="0"/>
                  <a:t>: estimates the TD error using its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critic judges the actor’s action by comparing the received reward to the expected difference in value. </a:t>
                </a:r>
              </a:p>
              <a:p>
                <a:r>
                  <a:rPr lang="en-US" dirty="0"/>
                  <a:t>The TD error is used to update both approximations.</a:t>
                </a:r>
              </a:p>
              <a:p>
                <a:r>
                  <a:rPr lang="en-US" dirty="0"/>
                  <a:t>Some notes: </a:t>
                </a:r>
              </a:p>
              <a:p>
                <a:pPr lvl="1"/>
                <a:r>
                  <a:rPr lang="en-US" dirty="0"/>
                  <a:t>Positive TD error: the last action performed better than expected and the tendency to pick it should be strengthened.</a:t>
                </a:r>
              </a:p>
              <a:p>
                <a:pPr lvl="1"/>
                <a:r>
                  <a:rPr lang="en-US" dirty="0"/>
                  <a:t>Negative TD error: suggests the tendency should be weakened.</a:t>
                </a:r>
              </a:p>
              <a:p>
                <a:pPr lvl="1"/>
                <a:r>
                  <a:rPr lang="en-US" dirty="0"/>
                  <a:t>The critic’s value function estimate can be seen as an automatic baseline for REINFORCE. Therefore, variance is reduced and leads to more stable and faster learning.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DE7457B-2499-5391-0012-F1D1EE0A7C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4254" y="1290909"/>
                <a:ext cx="7859652" cy="5081969"/>
              </a:xfrm>
              <a:blipFill>
                <a:blip r:embed="rId2"/>
                <a:stretch>
                  <a:fillRect l="-543" t="-1921" b="-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DED067C-18CB-0247-F450-1737DF323D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13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89575" y="1349962"/>
            <a:ext cx="3362325" cy="333375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EE1EC02-0E85-59B4-53D1-CF80106110C6}"/>
              </a:ext>
            </a:extLst>
          </p:cNvPr>
          <p:cNvGrpSpPr/>
          <p:nvPr/>
        </p:nvGrpSpPr>
        <p:grpSpPr>
          <a:xfrm>
            <a:off x="3443130" y="3382666"/>
            <a:ext cx="1589562" cy="413183"/>
            <a:chOff x="3405695" y="3340656"/>
            <a:chExt cx="1689815" cy="532713"/>
          </a:xfrm>
        </p:grpSpPr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F21A47E0-5923-32BA-8CA1-9B8A44E0B299}"/>
                </a:ext>
              </a:extLst>
            </p:cNvPr>
            <p:cNvSpPr/>
            <p:nvPr/>
          </p:nvSpPr>
          <p:spPr>
            <a:xfrm rot="5400000">
              <a:off x="4168912" y="2577439"/>
              <a:ext cx="163381" cy="16898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E44EC0C-68CE-F46E-BDCD-00F436214356}"/>
                    </a:ext>
                  </a:extLst>
                </p:cNvPr>
                <p:cNvSpPr txBox="1"/>
                <p:nvPr/>
              </p:nvSpPr>
              <p:spPr>
                <a:xfrm>
                  <a:off x="3955535" y="3504037"/>
                  <a:ext cx="5901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E44EC0C-68CE-F46E-BDCD-00F4362143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5535" y="3504037"/>
                  <a:ext cx="590133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255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9827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One-Step Actor-Critic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938" y="141275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116078" y="23714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50540" y="19462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90743" y="3409805"/>
                <a:ext cx="1543195" cy="975438"/>
              </a:xfrm>
              <a:prstGeom prst="wedgeRoundRectCallout">
                <a:avLst>
                  <a:gd name="adj1" fmla="val 89596"/>
                  <a:gd name="adj2" fmla="val -3783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Discounting multiplier:  </a:t>
                </a:r>
                <a:br>
                  <a:rPr lang="en-US" sz="16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43" y="3409805"/>
                <a:ext cx="1543195" cy="975438"/>
              </a:xfrm>
              <a:prstGeom prst="wedgeRoundRectCallout">
                <a:avLst>
                  <a:gd name="adj1" fmla="val 89596"/>
                  <a:gd name="adj2" fmla="val -378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42225" y="4809326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096000" y="43852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TD error: how much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lang="en-US" sz="1600" dirty="0"/>
                  <a:t> better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sz="1600" dirty="0"/>
                  <a:t>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3852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  <a:blipFill>
                <a:blip r:embed="rId4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42225" y="53770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494448" y="5644274"/>
            <a:ext cx="4296868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the actor (policy) </a:t>
            </a:r>
            <a:r>
              <a:rPr lang="en-US" sz="1600"/>
              <a:t>= REINFORCE</a:t>
            </a:r>
            <a:endParaRPr lang="en-US" sz="16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442225" y="5125835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494448" y="5229320"/>
                <a:ext cx="4296868" cy="336241"/>
              </a:xfrm>
              <a:prstGeom prst="wedgeRoundRectCallout">
                <a:avLst>
                  <a:gd name="adj1" fmla="val -82308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448" y="5229320"/>
                <a:ext cx="4296868" cy="336241"/>
              </a:xfrm>
              <a:prstGeom prst="wedgeRoundRectCallout">
                <a:avLst>
                  <a:gd name="adj1" fmla="val -82308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3448" b="-18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8A590B0-CF05-089A-C860-65AB7EBA7415}"/>
              </a:ext>
            </a:extLst>
          </p:cNvPr>
          <p:cNvSpPr/>
          <p:nvPr/>
        </p:nvSpPr>
        <p:spPr>
          <a:xfrm>
            <a:off x="146139" y="4597378"/>
            <a:ext cx="1960260" cy="915825"/>
          </a:xfrm>
          <a:prstGeom prst="wedgeRoundRectCallout">
            <a:avLst>
              <a:gd name="adj1" fmla="val 73862"/>
              <a:gd name="adj2" fmla="val -6842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Policy approximation is soft, so it explores!</a:t>
            </a:r>
          </a:p>
        </p:txBody>
      </p:sp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24713-0516-81AE-0D8E-4E55E57C3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 with Eligibility Traces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6A9328-74A9-F680-EC07-D31CBF0CC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71" y="1572643"/>
            <a:ext cx="7785950" cy="440411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6F9B0EB-8F35-DF08-B752-F99DA815CD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427" t="1399"/>
          <a:stretch>
            <a:fillRect/>
          </a:stretch>
        </p:blipFill>
        <p:spPr>
          <a:xfrm>
            <a:off x="3943786" y="1228507"/>
            <a:ext cx="7982109" cy="55247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B76B6D3-2AAE-A4FB-5186-AD95AD37C725}"/>
              </a:ext>
            </a:extLst>
          </p:cNvPr>
          <p:cNvSpPr/>
          <p:nvPr/>
        </p:nvSpPr>
        <p:spPr>
          <a:xfrm>
            <a:off x="4580164" y="4948993"/>
            <a:ext cx="3208565" cy="595993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4E77FE-D52D-728F-AD4F-087E57697691}"/>
              </a:ext>
            </a:extLst>
          </p:cNvPr>
          <p:cNvSpPr/>
          <p:nvPr/>
        </p:nvSpPr>
        <p:spPr>
          <a:xfrm>
            <a:off x="4333847" y="3231814"/>
            <a:ext cx="859388" cy="537472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BAC85D-A273-33F7-8E27-C9BDD986CD29}"/>
              </a:ext>
            </a:extLst>
          </p:cNvPr>
          <p:cNvSpPr/>
          <p:nvPr/>
        </p:nvSpPr>
        <p:spPr>
          <a:xfrm>
            <a:off x="8990944" y="3231814"/>
            <a:ext cx="2170827" cy="61076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Replace the gradients with traces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6502B4B-1176-6874-771C-42B8BEE99443}"/>
              </a:ext>
            </a:extLst>
          </p:cNvPr>
          <p:cNvSpPr/>
          <p:nvPr/>
        </p:nvSpPr>
        <p:spPr>
          <a:xfrm>
            <a:off x="3615719" y="3043347"/>
            <a:ext cx="544452" cy="914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245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18F7-7922-B7A4-0037-3D2D88C7B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7F379-8C49-6909-659E-FAA6B0C11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Actions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BCC2E-EE3A-EE14-5F2E-240D71C7FD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Parameterized policies can represent continuous actions!</a:t>
            </a:r>
          </a:p>
        </p:txBody>
      </p:sp>
    </p:spTree>
    <p:extLst>
      <p:ext uri="{BB962C8B-B14F-4D97-AF65-F5344CB8AC3E}">
        <p14:creationId xmlns:p14="http://schemas.microsoft.com/office/powerpoint/2010/main" val="2939505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03BC6-1AD5-0AB4-998B-BD4B7EB7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Policy Parameterization for Continuous 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2742" y="1397330"/>
                <a:ext cx="8019032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Soft-max in action preferences </a:t>
                </a:r>
                <a:r>
                  <a:rPr lang="en-US" dirty="0"/>
                  <a:t>works for a small number of discrete actions.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For continuous actions</a:t>
                </a:r>
                <a:r>
                  <a:rPr lang="en-US" dirty="0"/>
                  <a:t>: Choose action from a continuous distribution and learn the distribution parameters.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</a:t>
                </a:r>
                <a:r>
                  <a:rPr lang="en-US" dirty="0"/>
                  <a:t>: Choose the action (value) from a Gaussian distribution: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𝜽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often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is learned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𝝈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2742" y="1397330"/>
                <a:ext cx="8019032" cy="4779633"/>
              </a:xfrm>
              <a:blipFill>
                <a:blip r:embed="rId2"/>
                <a:stretch>
                  <a:fillRect l="-837" t="-2168" r="-228" b="-14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4DCB4DF-3E8B-74B4-3B48-FC51C4D49965}"/>
              </a:ext>
            </a:extLst>
          </p:cNvPr>
          <p:cNvSpPr/>
          <p:nvPr/>
        </p:nvSpPr>
        <p:spPr>
          <a:xfrm>
            <a:off x="5577143" y="5865997"/>
            <a:ext cx="1633355" cy="559712"/>
          </a:xfrm>
          <a:prstGeom prst="wedgeRoundRectCallout">
            <a:avLst>
              <a:gd name="adj1" fmla="val -113279"/>
              <a:gd name="adj2" fmla="val -12802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Linear in state features.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9C750D-F8E1-36BD-49AE-6C2CA95CC6A5}"/>
              </a:ext>
            </a:extLst>
          </p:cNvPr>
          <p:cNvGrpSpPr/>
          <p:nvPr/>
        </p:nvGrpSpPr>
        <p:grpSpPr>
          <a:xfrm>
            <a:off x="7457388" y="2779573"/>
            <a:ext cx="4571704" cy="3779832"/>
            <a:chOff x="7503664" y="1334682"/>
            <a:chExt cx="4571704" cy="3779832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12C6C46-BE85-72BE-F978-F6C465995015}"/>
                </a:ext>
              </a:extLst>
            </p:cNvPr>
            <p:cNvGrpSpPr/>
            <p:nvPr/>
          </p:nvGrpSpPr>
          <p:grpSpPr>
            <a:xfrm>
              <a:off x="7503664" y="2038453"/>
              <a:ext cx="4571704" cy="3076061"/>
              <a:chOff x="7389459" y="1276730"/>
              <a:chExt cx="4571704" cy="3076061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E15FD6F-36C9-1393-6E83-57C176A796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29306" y="1276730"/>
                <a:ext cx="4331857" cy="301554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FFB7FFE-E069-F7DB-74EE-277C693FB5F1}"/>
                      </a:ext>
                    </a:extLst>
                  </p:cNvPr>
                  <p:cNvSpPr txBox="1"/>
                  <p:nvPr/>
                </p:nvSpPr>
                <p:spPr>
                  <a:xfrm>
                    <a:off x="9154417" y="4045014"/>
                    <a:ext cx="1281633" cy="307777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400" dirty="0"/>
                      <a:t>Action value </a:t>
                    </a:r>
                    <a14:m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AFFB7FFE-E069-F7DB-74EE-277C693FB5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4417" y="4045014"/>
                    <a:ext cx="1281633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422" t="-4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0F21EAB-E1E5-DE21-E644-7CFB3D1A72D8}"/>
                  </a:ext>
                </a:extLst>
              </p:cNvPr>
              <p:cNvSpPr txBox="1"/>
              <p:nvPr/>
            </p:nvSpPr>
            <p:spPr>
              <a:xfrm rot="16200000">
                <a:off x="6522399" y="2484545"/>
                <a:ext cx="2041898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/>
                  <a:t>Probability density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1C86F6D6-661C-D5B1-6444-946E823AFD3B}"/>
                    </a:ext>
                  </a:extLst>
                </p:cNvPr>
                <p:cNvSpPr/>
                <p:nvPr/>
              </p:nvSpPr>
              <p:spPr>
                <a:xfrm>
                  <a:off x="9102118" y="1334682"/>
                  <a:ext cx="2519835" cy="493286"/>
                </a:xfrm>
                <a:prstGeom prst="wedgeRoundRectCallout">
                  <a:avLst>
                    <a:gd name="adj1" fmla="val 25087"/>
                    <a:gd name="adj2" fmla="val 17428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Depend on state and learned parameters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1C86F6D6-661C-D5B1-6444-946E823AFD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2118" y="1334682"/>
                  <a:ext cx="2519835" cy="493286"/>
                </a:xfrm>
                <a:prstGeom prst="wedgeRoundRectCallout">
                  <a:avLst>
                    <a:gd name="adj1" fmla="val 25087"/>
                    <a:gd name="adj2" fmla="val 174288"/>
                    <a:gd name="adj3" fmla="val 16667"/>
                  </a:avLst>
                </a:prstGeom>
                <a:blipFill>
                  <a:blip r:embed="rId5"/>
                  <a:stretch>
                    <a:fillRect t="-48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864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3AE40A-23C7-81D2-4AA7-611BEC39F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2429051" y="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F12E03-3109-78FE-32B4-A06B15065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dirty="0"/>
              <a:t>What do you need to know?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B9043-0881-7F44-61EC-208B02038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32" y="2265037"/>
            <a:ext cx="5695805" cy="4167862"/>
          </a:xfrm>
        </p:spPr>
        <p:txBody>
          <a:bodyPr>
            <a:normAutofit fontScale="85000" lnSpcReduction="10000"/>
          </a:bodyPr>
          <a:lstStyle/>
          <a:p>
            <a:r>
              <a:rPr lang="en-US" sz="1600" dirty="0"/>
              <a:t>Learning a </a:t>
            </a:r>
            <a:r>
              <a:rPr lang="en-US" sz="1600" b="1" dirty="0"/>
              <a:t>parameterized policy </a:t>
            </a:r>
            <a:r>
              <a:rPr lang="en-US" sz="1600" dirty="0"/>
              <a:t>has many advantages:</a:t>
            </a:r>
          </a:p>
          <a:p>
            <a:pPr lvl="1"/>
            <a:r>
              <a:rPr lang="en-US" sz="1600" dirty="0"/>
              <a:t>Learn probabilities for taking an action (</a:t>
            </a:r>
            <a:r>
              <a:rPr lang="en-US" sz="1600" b="1" dirty="0"/>
              <a:t>stochastic policies</a:t>
            </a:r>
            <a:r>
              <a:rPr lang="en-US" sz="1600" dirty="0"/>
              <a:t>). </a:t>
            </a:r>
          </a:p>
          <a:p>
            <a:pPr lvl="1"/>
            <a:r>
              <a:rPr lang="en-US" sz="1600" dirty="0"/>
              <a:t>The policy starts typically soft and </a:t>
            </a:r>
            <a:r>
              <a:rPr lang="en-US" sz="1600" b="1" dirty="0"/>
              <a:t>automatically explores </a:t>
            </a:r>
            <a:r>
              <a:rPr lang="en-US" sz="1600" dirty="0"/>
              <a:t>and later can approximate the optimal discrete policy.</a:t>
            </a:r>
          </a:p>
          <a:p>
            <a:pPr lvl="1"/>
            <a:r>
              <a:rPr lang="en-US" sz="1600" dirty="0"/>
              <a:t>Can handle </a:t>
            </a:r>
            <a:r>
              <a:rPr lang="en-US" sz="1600" b="1" dirty="0"/>
              <a:t>continuous action </a:t>
            </a:r>
            <a:r>
              <a:rPr lang="en-US" sz="1600" dirty="0"/>
              <a:t>spaces.</a:t>
            </a:r>
          </a:p>
          <a:p>
            <a:pPr lvl="1"/>
            <a:r>
              <a:rPr lang="en-US" sz="1600" b="1" dirty="0"/>
              <a:t>Policy gradient theorem </a:t>
            </a:r>
            <a:r>
              <a:rPr lang="en-US" sz="1600" dirty="0"/>
              <a:t>provides strong performance bounds.</a:t>
            </a:r>
          </a:p>
          <a:p>
            <a:pPr lvl="1"/>
            <a:endParaRPr lang="en-US" sz="1600" dirty="0"/>
          </a:p>
          <a:p>
            <a:r>
              <a:rPr lang="en-US" sz="1600" dirty="0"/>
              <a:t>Important methods:</a:t>
            </a:r>
          </a:p>
          <a:p>
            <a:pPr lvl="1"/>
            <a:r>
              <a:rPr lang="en-US" sz="1600" b="1" dirty="0"/>
              <a:t>Soft-max in action preferences </a:t>
            </a:r>
            <a:r>
              <a:rPr lang="en-US" sz="1600" dirty="0"/>
              <a:t>is a very popular choice for parameterized policies with a small set of discrete actions.</a:t>
            </a:r>
            <a:endParaRPr lang="en-US" sz="1600" b="1" dirty="0"/>
          </a:p>
          <a:p>
            <a:pPr lvl="1"/>
            <a:r>
              <a:rPr lang="en-US" sz="1600" b="1" dirty="0"/>
              <a:t>REINFORCE: </a:t>
            </a:r>
            <a:r>
              <a:rPr lang="en-US" sz="1600" dirty="0"/>
              <a:t>Use MC to learn the policy parameters.</a:t>
            </a:r>
            <a:endParaRPr lang="en-US" sz="1600" b="1" dirty="0"/>
          </a:p>
          <a:p>
            <a:pPr lvl="1"/>
            <a:r>
              <a:rPr lang="en-US" sz="1600" b="1" dirty="0"/>
              <a:t>Actor-Critic Methods: </a:t>
            </a:r>
            <a:r>
              <a:rPr lang="en-US" sz="1600" dirty="0"/>
              <a:t>Estimate policy and value function parameters together. Reduces REINFORCE’s variance and leads to more stable and faster learning.</a:t>
            </a:r>
            <a:endParaRPr lang="en-US" sz="1600" b="1" dirty="0"/>
          </a:p>
          <a:p>
            <a:pPr lvl="1"/>
            <a:endParaRPr lang="en-US" sz="1600" dirty="0"/>
          </a:p>
          <a:p>
            <a:r>
              <a:rPr lang="en-US" sz="1600" b="1" dirty="0"/>
              <a:t>Note</a:t>
            </a:r>
            <a:r>
              <a:rPr lang="en-US" sz="1600" dirty="0"/>
              <a:t>: Policy gradient methods (REINFORCE, actor-critic methods) have a different set of strengths and weaknesses compared to action-value methods, and the best choice depends on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897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25354</TotalTime>
  <Words>1853</Words>
  <Application>Microsoft Office PowerPoint</Application>
  <PresentationFormat>Widescreen</PresentationFormat>
  <Paragraphs>189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Policy Gradient Methods Sutton/Barto* Chapter 13</vt:lpstr>
      <vt:lpstr>Topics of this Course</vt:lpstr>
      <vt:lpstr>Summary of Notation</vt:lpstr>
      <vt:lpstr>Parametrized Policies</vt:lpstr>
      <vt:lpstr>Learn a Parameterized Policy</vt:lpstr>
      <vt:lpstr>Policy Gradient Theorem</vt:lpstr>
      <vt:lpstr>Parametrized Policy Example</vt:lpstr>
      <vt:lpstr>Advantages Over ϵ-Greedy Action Selection</vt:lpstr>
      <vt:lpstr>REINFORCE</vt:lpstr>
      <vt:lpstr>REINFORCE Update</vt:lpstr>
      <vt:lpstr>REINFORCE Algorithm</vt:lpstr>
      <vt:lpstr>Actor-Critic Methods</vt:lpstr>
      <vt:lpstr>Actor-Critic Methods</vt:lpstr>
      <vt:lpstr>One-Step Actor-Critic Algorithm</vt:lpstr>
      <vt:lpstr>Actor-Critic Methods with Eligibility Traces</vt:lpstr>
      <vt:lpstr>Continuous Actions</vt:lpstr>
      <vt:lpstr>Policy Parameterization for Continuous Actions</vt:lpstr>
      <vt:lpstr>What do you need to know?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243</cp:revision>
  <dcterms:created xsi:type="dcterms:W3CDTF">2025-09-08T14:44:49Z</dcterms:created>
  <dcterms:modified xsi:type="dcterms:W3CDTF">2026-04-08T13:52:53Z</dcterms:modified>
</cp:coreProperties>
</file>