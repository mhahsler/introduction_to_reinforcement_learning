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4" r:id="rId3"/>
    <p:sldId id="393" r:id="rId4"/>
    <p:sldId id="394" r:id="rId5"/>
    <p:sldId id="395" r:id="rId6"/>
    <p:sldId id="396" r:id="rId7"/>
    <p:sldId id="397" r:id="rId8"/>
    <p:sldId id="398" r:id="rId9"/>
    <p:sldId id="399" r:id="rId10"/>
    <p:sldId id="400" r:id="rId11"/>
    <p:sldId id="401" r:id="rId12"/>
    <p:sldId id="40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4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348852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Policy Gradient Methods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13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Policies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B01DBC-B58B-BC2C-2AE0-DB6472CC6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a Parameterized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B2BB561-37FB-9C12-3C5B-EFF321CBC8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1220" y="1397330"/>
                <a:ext cx="10515600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Up to now</a:t>
                </a:r>
                <a:r>
                  <a:rPr lang="en-US" dirty="0"/>
                  <a:t>: Learn parameters for an approximate action value function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en-US" dirty="0"/>
                  <a:t> and then extract a greedy policy.</a:t>
                </a:r>
              </a:p>
              <a:p>
                <a:r>
                  <a:rPr lang="en-US" b="1" dirty="0"/>
                  <a:t>New idea</a:t>
                </a:r>
                <a:r>
                  <a:rPr lang="en-US" dirty="0"/>
                  <a:t>: Learn parameters for a policy directly.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Parameterized policy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𝑃𝑟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|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 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given a performance measure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approximate gradient ascent.</a:t>
                </a:r>
              </a:p>
              <a:p>
                <a:r>
                  <a:rPr lang="en-US" dirty="0"/>
                  <a:t>Update rule: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en-US" dirty="0"/>
                  <a:t> is a stochastic estimate of the gradient.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B2BB561-37FB-9C12-3C5B-EFF321CBC8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1220" y="1397330"/>
                <a:ext cx="10515600" cy="4779633"/>
              </a:xfrm>
              <a:blipFill>
                <a:blip r:embed="rId2"/>
                <a:stretch>
                  <a:fillRect l="-870" t="-2806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390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D4D8-C225-0BFC-0002-168957131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Parametrized Policy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77774-6B6B-EE26-5A32-0B807E450D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Requirements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 dirty="0"/>
                  <a:t> needs to be </a:t>
                </a:r>
                <a:r>
                  <a:rPr lang="en-US" b="1" dirty="0"/>
                  <a:t>differentiable</a:t>
                </a:r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n-US" dirty="0"/>
                  <a:t> exist and is finite.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needs to stay soft to guarantee </a:t>
                </a:r>
                <a:r>
                  <a:rPr lang="en-US" b="1" dirty="0"/>
                  <a:t>exploration</a:t>
                </a:r>
                <a:r>
                  <a:rPr lang="en-US" dirty="0"/>
                  <a:t> and convergence.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Popular for a small, discrete action space: </a:t>
                </a:r>
                <a:r>
                  <a:rPr lang="en-US" b="1" dirty="0"/>
                  <a:t>Soft-max in action preferences</a:t>
                </a: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Define a numerical preference function: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Some options:</a:t>
                </a:r>
              </a:p>
              <a:p>
                <a:pPr lvl="2"/>
                <a:r>
                  <a:rPr lang="en-US" dirty="0"/>
                  <a:t>ANN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US" dirty="0"/>
                  <a:t> as network weights</a:t>
                </a:r>
              </a:p>
              <a:p>
                <a:pPr lvl="2"/>
                <a:r>
                  <a:rPr lang="en-US" dirty="0"/>
                  <a:t>Linear in features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Give the action with the highest preference in each state the highest probability: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sup>
                        </m:sSup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</m:d>
                              </m:sup>
                            </m:sSup>
                          </m:e>
                        </m:nary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b="1" dirty="0"/>
              </a:p>
              <a:p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977774-6B6B-EE26-5A32-0B807E450D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 b="-14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9881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FACA19-50B4-D3C5-BCE2-036A25E0E6F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Advantages over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Action Selection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FACA19-50B4-D3C5-BCE2-036A25E0E6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AE168A-03EA-0E9A-AF35-DD24AAAC3F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Stochastic policies</a:t>
                </a:r>
                <a:r>
                  <a:rPr lang="en-US" dirty="0"/>
                  <a:t>: Soft-max defined stochastic policies (i.e., each action has a probability). The policy will be driven to the optimal stochastic policy which can also approach a deterministic policy.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Note: value-action methods cannot learn stochastic policies and are often stuck with learning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policy!</a:t>
                </a:r>
              </a:p>
              <a:p>
                <a:endParaRPr lang="en-US" dirty="0"/>
              </a:p>
              <a:p>
                <a:r>
                  <a:rPr lang="en-US" b="1" dirty="0"/>
                  <a:t>Smoothness</a:t>
                </a:r>
                <a:r>
                  <a:rPr lang="en-US" dirty="0"/>
                  <a:t>: Parameterized policy changes action probability smoothly while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policies jump when a different action becomes the maximum. </a:t>
                </a:r>
              </a:p>
              <a:p>
                <a:endParaRPr lang="en-US" dirty="0"/>
              </a:p>
              <a:p>
                <a:r>
                  <a:rPr lang="en-US" b="1" dirty="0"/>
                  <a:t>Prior knowledge </a:t>
                </a:r>
                <a:r>
                  <a:rPr lang="en-US" dirty="0"/>
                  <a:t>about the form of the policy can be incorporated into the way the policy is parameterized. This can improve learning significantly.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AE168A-03EA-0E9A-AF35-DD24AAAC3F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4639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define the performance measure as the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theorem also provides a </a:t>
                </a:r>
                <a:r>
                  <a:rPr lang="en-US" b="1" dirty="0"/>
                  <a:t>strong convergence guarantee</a:t>
                </a:r>
                <a:r>
                  <a:rPr lang="en-US" dirty="0"/>
                  <a:t>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b="-3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4572000" y="4914027"/>
                <a:ext cx="2380231" cy="677074"/>
              </a:xfrm>
              <a:prstGeom prst="wedgeRoundRectCallout">
                <a:avLst>
                  <a:gd name="adj1" fmla="val -14870"/>
                  <a:gd name="adj2" fmla="val -13501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914027"/>
                <a:ext cx="2380231" cy="677074"/>
              </a:xfrm>
              <a:prstGeom prst="wedgeRoundRectCallout">
                <a:avLst>
                  <a:gd name="adj1" fmla="val -14870"/>
                  <a:gd name="adj2" fmla="val -135014"/>
                  <a:gd name="adj3" fmla="val 16667"/>
                </a:avLst>
              </a:prstGeom>
              <a:blipFill>
                <a:blip r:embed="rId3"/>
                <a:stretch>
                  <a:fillRect b="-5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868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REINFORCE: MC Policy Gradient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92E5E-4E0F-A07A-A76B-D89BC62C99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4878545" cy="2218388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d>
                            </m:e>
                          </m:nary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692E5E-4E0F-A07A-A76B-D89BC62C99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4878545" cy="221838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F5430A8-A3FA-2729-7EE3-21CBB91D5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339" y="3651960"/>
            <a:ext cx="8158842" cy="300688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979B544-C519-EEE8-C07C-9B72B2FBA4AD}"/>
                  </a:ext>
                </a:extLst>
              </p:cNvPr>
              <p:cNvSpPr txBox="1"/>
              <p:nvPr/>
            </p:nvSpPr>
            <p:spPr>
              <a:xfrm>
                <a:off x="5344470" y="2137193"/>
                <a:ext cx="3783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(replace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by the sampled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979B544-C519-EEE8-C07C-9B72B2FBA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4470" y="2137193"/>
                <a:ext cx="3783243" cy="369332"/>
              </a:xfrm>
              <a:prstGeom prst="rect">
                <a:avLst/>
              </a:prstGeom>
              <a:blipFill>
                <a:blip r:embed="rId4"/>
                <a:stretch>
                  <a:fillRect l="-1452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1EACA7-2076-94B0-C327-E11E18E97FAC}"/>
                  </a:ext>
                </a:extLst>
              </p:cNvPr>
              <p:cNvSpPr txBox="1"/>
              <p:nvPr/>
            </p:nvSpPr>
            <p:spPr>
              <a:xfrm>
                <a:off x="5344469" y="3021374"/>
                <a:ext cx="37832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F1EACA7-2076-94B0-C327-E11E18E97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4469" y="3021374"/>
                <a:ext cx="3783243" cy="369332"/>
              </a:xfrm>
              <a:prstGeom prst="rect">
                <a:avLst/>
              </a:prstGeom>
              <a:blipFill>
                <a:blip r:embed="rId5"/>
                <a:stretch>
                  <a:fillRect l="-1452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9B37B05F-CD4B-9303-6D63-7FCA7489EA9C}"/>
                  </a:ext>
                </a:extLst>
              </p:cNvPr>
              <p:cNvSpPr/>
              <p:nvPr/>
            </p:nvSpPr>
            <p:spPr>
              <a:xfrm>
                <a:off x="9046278" y="5871849"/>
                <a:ext cx="1375090" cy="759072"/>
              </a:xfrm>
              <a:prstGeom prst="wedgeRoundRectCallout">
                <a:avLst>
                  <a:gd name="adj1" fmla="val -376702"/>
                  <a:gd name="adj2" fmla="val 5786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9B37B05F-CD4B-9303-6D63-7FCA7489EA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6278" y="5871849"/>
                <a:ext cx="1375090" cy="759072"/>
              </a:xfrm>
              <a:prstGeom prst="wedgeRoundRectCallout">
                <a:avLst>
                  <a:gd name="adj1" fmla="val -376702"/>
                  <a:gd name="adj2" fmla="val 5786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037" y="1419737"/>
            <a:ext cx="8821552" cy="4989901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9116078" y="2371412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250540" y="1946286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actor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13A4B9D4-E0AA-951D-C0AB-75C0453EEC3C}"/>
              </a:ext>
            </a:extLst>
          </p:cNvPr>
          <p:cNvSpPr/>
          <p:nvPr/>
        </p:nvSpPr>
        <p:spPr>
          <a:xfrm>
            <a:off x="243142" y="3429000"/>
            <a:ext cx="1634519" cy="670095"/>
          </a:xfrm>
          <a:prstGeom prst="wedgeRoundRectCallout">
            <a:avLst>
              <a:gd name="adj1" fmla="val 73313"/>
              <a:gd name="adj2" fmla="val 2269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Takes care of discounting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442225" y="4809325"/>
            <a:ext cx="3093036" cy="54445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A8ECFCE4-C642-EBAF-5270-39245F140766}"/>
              </a:ext>
            </a:extLst>
          </p:cNvPr>
          <p:cNvSpPr/>
          <p:nvPr/>
        </p:nvSpPr>
        <p:spPr>
          <a:xfrm>
            <a:off x="7481559" y="3699481"/>
            <a:ext cx="2130111" cy="885301"/>
          </a:xfrm>
          <a:prstGeom prst="wedgeRoundRectCallout">
            <a:avLst>
              <a:gd name="adj1" fmla="val -140668"/>
              <a:gd name="adj2" fmla="val 7709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critic using one-step bootstrapping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442225" y="5377090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7548451" y="5438263"/>
            <a:ext cx="2130111" cy="336241"/>
          </a:xfrm>
          <a:prstGeom prst="wedgeRoundRectCallout">
            <a:avLst>
              <a:gd name="adj1" fmla="val -147549"/>
              <a:gd name="adj2" fmla="val -3722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the actor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FF016670-6880-57C4-48DD-2CC156F4A715}"/>
                  </a:ext>
                </a:extLst>
              </p:cNvPr>
              <p:cNvSpPr/>
              <p:nvPr/>
            </p:nvSpPr>
            <p:spPr>
              <a:xfrm>
                <a:off x="4133992" y="5995512"/>
                <a:ext cx="2130111" cy="336241"/>
              </a:xfrm>
              <a:prstGeom prst="wedgeRoundRectCallout">
                <a:avLst>
                  <a:gd name="adj1" fmla="val -55796"/>
                  <a:gd name="adj2" fmla="val -16386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is used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FF016670-6880-57C4-48DD-2CC156F4A7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3992" y="5995512"/>
                <a:ext cx="2130111" cy="336241"/>
              </a:xfrm>
              <a:prstGeom prst="wedgeRoundRectCallout">
                <a:avLst>
                  <a:gd name="adj1" fmla="val -55796"/>
                  <a:gd name="adj2" fmla="val -163860"/>
                  <a:gd name="adj3" fmla="val 16667"/>
                </a:avLst>
              </a:prstGeom>
              <a:blipFill>
                <a:blip r:embed="rId3"/>
                <a:stretch>
                  <a:fillRect r="-8399" b="-137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24713-0516-81AE-0D8E-4E55E57C3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Actor-Critic Methods with Eligibility Traces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6A9328-74A9-F680-EC07-D31CBF0CC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71" y="1572643"/>
            <a:ext cx="7785950" cy="440411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6F9B0EB-8F35-DF08-B752-F99DA815CD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28286" y="1150127"/>
            <a:ext cx="8097609" cy="560317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B76B6D3-2AAE-A4FB-5186-AD95AD37C725}"/>
              </a:ext>
            </a:extLst>
          </p:cNvPr>
          <p:cNvSpPr/>
          <p:nvPr/>
        </p:nvSpPr>
        <p:spPr>
          <a:xfrm>
            <a:off x="4580164" y="4948993"/>
            <a:ext cx="3208565" cy="595993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4E77FE-D52D-728F-AD4F-087E57697691}"/>
              </a:ext>
            </a:extLst>
          </p:cNvPr>
          <p:cNvSpPr/>
          <p:nvPr/>
        </p:nvSpPr>
        <p:spPr>
          <a:xfrm>
            <a:off x="4333847" y="3231814"/>
            <a:ext cx="859388" cy="537472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245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03BC6-1AD5-0AB4-998B-BD4B7EB7E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Policy Parameterization for Continuous 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C10070-A5BD-C926-B21A-8D43C4EF0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2742" y="1397330"/>
                <a:ext cx="6604646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Soft-max in action preferences works for a small number of actions.</a:t>
                </a:r>
              </a:p>
              <a:p>
                <a:r>
                  <a:rPr lang="en-US" dirty="0"/>
                  <a:t>For continuous actions: learn parameters for a distribution.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Example</a:t>
                </a:r>
                <a:r>
                  <a:rPr lang="en-US" dirty="0"/>
                  <a:t>: choose a continuous actions from a Gaussian distribution: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ad>
                            <m:radPr>
                              <m:deg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sz="2400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2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  <m:r>
                                                <a:rPr lang="en-US" sz="24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sz="2400" b="1" i="1" smtClean="0">
                                                  <a:latin typeface="Cambria Math" panose="02040503050406030204" pitchFamily="18" charset="0"/>
                                                </a:rPr>
                                                <m:t>𝜽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b="1" i="1" smtClean="0">
                                          <a:latin typeface="Cambria Math" panose="02040503050406030204" pitchFamily="18" charset="0"/>
                                        </a:rPr>
                                        <m:t>𝟐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sSup>
                                    <m:sSup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often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i="0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Sup>
                        <m:sSubSup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>
                        <m:sSub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sub>
                      </m:sSub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Is learned with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𝝈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C10070-A5BD-C926-B21A-8D43C4EF0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2742" y="1397330"/>
                <a:ext cx="6604646" cy="4779633"/>
              </a:xfrm>
              <a:blipFill>
                <a:blip r:embed="rId2"/>
                <a:stretch>
                  <a:fillRect l="-1016" t="-2168" r="-12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112C6C46-BE85-72BE-F978-F6C465995015}"/>
              </a:ext>
            </a:extLst>
          </p:cNvPr>
          <p:cNvGrpSpPr/>
          <p:nvPr/>
        </p:nvGrpSpPr>
        <p:grpSpPr>
          <a:xfrm>
            <a:off x="7503664" y="2038453"/>
            <a:ext cx="4571704" cy="3076061"/>
            <a:chOff x="7389459" y="1276730"/>
            <a:chExt cx="4571704" cy="307606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E15FD6F-36C9-1393-6E83-57C176A796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29306" y="1276730"/>
              <a:ext cx="4331857" cy="3015546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FB7FFE-E069-F7DB-74EE-277C693FB5F1}"/>
                    </a:ext>
                  </a:extLst>
                </p:cNvPr>
                <p:cNvSpPr txBox="1"/>
                <p:nvPr/>
              </p:nvSpPr>
              <p:spPr>
                <a:xfrm>
                  <a:off x="9154417" y="4045014"/>
                  <a:ext cx="128163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Action value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FFB7FFE-E069-F7DB-74EE-277C693FB5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4417" y="4045014"/>
                  <a:ext cx="1281633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1422" t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0F21EAB-E1E5-DE21-E644-7CFB3D1A72D8}"/>
                </a:ext>
              </a:extLst>
            </p:cNvPr>
            <p:cNvSpPr txBox="1"/>
            <p:nvPr/>
          </p:nvSpPr>
          <p:spPr>
            <a:xfrm rot="16200000">
              <a:off x="6522399" y="2484545"/>
              <a:ext cx="2041898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Probability density</a:t>
              </a:r>
            </a:p>
          </p:txBody>
        </p: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4DCB4DF-3E8B-74B4-3B48-FC51C4D49965}"/>
              </a:ext>
            </a:extLst>
          </p:cNvPr>
          <p:cNvSpPr/>
          <p:nvPr/>
        </p:nvSpPr>
        <p:spPr>
          <a:xfrm>
            <a:off x="6652086" y="4961589"/>
            <a:ext cx="1633355" cy="559712"/>
          </a:xfrm>
          <a:prstGeom prst="wedgeRoundRectCallout">
            <a:avLst>
              <a:gd name="adj1" fmla="val -136356"/>
              <a:gd name="adj2" fmla="val -705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Linear in state features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1C86F6D6-661C-D5B1-6444-946E823AFD3B}"/>
                  </a:ext>
                </a:extLst>
              </p:cNvPr>
              <p:cNvSpPr/>
              <p:nvPr/>
            </p:nvSpPr>
            <p:spPr>
              <a:xfrm>
                <a:off x="9102118" y="1334682"/>
                <a:ext cx="2519835" cy="493286"/>
              </a:xfrm>
              <a:prstGeom prst="wedgeRoundRectCallout">
                <a:avLst>
                  <a:gd name="adj1" fmla="val 25087"/>
                  <a:gd name="adj2" fmla="val 1742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Depend on state and learned parameters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sz="1600" dirty="0"/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1C86F6D6-661C-D5B1-6444-946E823AFD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2118" y="1334682"/>
                <a:ext cx="2519835" cy="493286"/>
              </a:xfrm>
              <a:prstGeom prst="wedgeRoundRectCallout">
                <a:avLst>
                  <a:gd name="adj1" fmla="val 25087"/>
                  <a:gd name="adj2" fmla="val 174288"/>
                  <a:gd name="adj3" fmla="val 16667"/>
                </a:avLst>
              </a:prstGeom>
              <a:blipFill>
                <a:blip r:embed="rId5"/>
                <a:stretch>
                  <a:fillRect t="-4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86470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12E03-3109-78FE-32B4-A06B15065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B9043-0881-7F44-61EC-208B02038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Learning a parameterized policy without action-values estimates has many advantages:</a:t>
            </a:r>
          </a:p>
          <a:p>
            <a:pPr lvl="1"/>
            <a:r>
              <a:rPr lang="en-US" dirty="0"/>
              <a:t>Learn probabilities for taking an action (stochastic policies).</a:t>
            </a:r>
          </a:p>
          <a:p>
            <a:pPr lvl="1"/>
            <a:r>
              <a:rPr lang="en-US" dirty="0"/>
              <a:t>Can handle continuous action spaces.</a:t>
            </a:r>
          </a:p>
          <a:p>
            <a:pPr lvl="1"/>
            <a:r>
              <a:rPr lang="en-US" dirty="0"/>
              <a:t>Policy gradient theorem provides strong performance bounds.</a:t>
            </a:r>
          </a:p>
          <a:p>
            <a:pPr lvl="1"/>
            <a:endParaRPr lang="en-US" dirty="0"/>
          </a:p>
          <a:p>
            <a:r>
              <a:rPr lang="en-US" dirty="0"/>
              <a:t>In general, policy gradient methods, including actor-critic, have a different set of strengths and weaknesses compared to </a:t>
            </a:r>
            <a:r>
              <a:rPr lang="en-US"/>
              <a:t>action-value methods, </a:t>
            </a:r>
            <a:r>
              <a:rPr lang="en-US" dirty="0"/>
              <a:t>and </a:t>
            </a:r>
            <a:r>
              <a:rPr lang="en-US"/>
              <a:t>the best choice </a:t>
            </a:r>
            <a:r>
              <a:rPr lang="en-US" dirty="0"/>
              <a:t>depends on the problem.</a:t>
            </a:r>
          </a:p>
        </p:txBody>
      </p:sp>
    </p:spTree>
    <p:extLst>
      <p:ext uri="{BB962C8B-B14F-4D97-AF65-F5344CB8AC3E}">
        <p14:creationId xmlns:p14="http://schemas.microsoft.com/office/powerpoint/2010/main" val="365897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12181</TotalTime>
  <Words>1071</Words>
  <Application>Microsoft Office PowerPoint</Application>
  <PresentationFormat>Widescreen</PresentationFormat>
  <Paragraphs>114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Policy Gradient Methods Sutton/Barto* Chapter 13</vt:lpstr>
      <vt:lpstr>Summary of Notation</vt:lpstr>
      <vt:lpstr>Parametrized Policies</vt:lpstr>
      <vt:lpstr>Learn a Parameterized Policy</vt:lpstr>
      <vt:lpstr>Parametrized Policy Example</vt:lpstr>
      <vt:lpstr>Advantages over ϵ-greedy Action Selection</vt:lpstr>
      <vt:lpstr>Policy Gradient Theorem</vt:lpstr>
      <vt:lpstr>REINFORCE: MC Policy Gradient</vt:lpstr>
      <vt:lpstr>Actor-Critic Methods</vt:lpstr>
      <vt:lpstr>Actor-Critic Methods with Eligibility Traces</vt:lpstr>
      <vt:lpstr>Policy Parameterization for Continuous Actions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223</cp:revision>
  <dcterms:created xsi:type="dcterms:W3CDTF">2025-09-08T14:44:49Z</dcterms:created>
  <dcterms:modified xsi:type="dcterms:W3CDTF">2025-11-14T23:38:29Z</dcterms:modified>
</cp:coreProperties>
</file>